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347" r:id="rId3"/>
    <p:sldId id="266" r:id="rId4"/>
    <p:sldId id="258" r:id="rId5"/>
    <p:sldId id="348" r:id="rId6"/>
    <p:sldId id="349" r:id="rId7"/>
    <p:sldId id="257" r:id="rId8"/>
    <p:sldId id="351" r:id="rId9"/>
    <p:sldId id="353" r:id="rId10"/>
    <p:sldId id="352" r:id="rId11"/>
    <p:sldId id="267" r:id="rId12"/>
    <p:sldId id="356" r:id="rId13"/>
    <p:sldId id="350" r:id="rId14"/>
    <p:sldId id="268" r:id="rId15"/>
    <p:sldId id="354" r:id="rId16"/>
    <p:sldId id="261" r:id="rId17"/>
    <p:sldId id="269" r:id="rId18"/>
    <p:sldId id="355" r:id="rId19"/>
    <p:sldId id="270" r:id="rId20"/>
    <p:sldId id="260" r:id="rId21"/>
    <p:sldId id="357" r:id="rId22"/>
    <p:sldId id="358" r:id="rId23"/>
    <p:sldId id="263" r:id="rId24"/>
    <p:sldId id="360" r:id="rId25"/>
    <p:sldId id="36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83B26-9D32-45CD-AC6F-866AF08E9D5D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58AB9-022C-44A7-B232-2E5B41DCA0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99320"/>
            <a:ext cx="7772400" cy="1057672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Unit-III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038328"/>
            <a:ext cx="6400800" cy="69492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LPU Online - Apps on Google Play">
            <a:extLst>
              <a:ext uri="{FF2B5EF4-FFF2-40B4-BE49-F238E27FC236}">
                <a16:creationId xmlns:a16="http://schemas.microsoft.com/office/drawing/2014/main" id="{6B3057BF-37B3-6E24-DCD8-D9A923974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663" y="82550"/>
            <a:ext cx="34671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07F3945-0DB0-EEA9-9299-59B58A922AAA}"/>
              </a:ext>
            </a:extLst>
          </p:cNvPr>
          <p:cNvSpPr txBox="1">
            <a:spLocks/>
          </p:cNvSpPr>
          <p:nvPr/>
        </p:nvSpPr>
        <p:spPr bwMode="auto">
          <a:xfrm>
            <a:off x="3779912" y="5924550"/>
            <a:ext cx="6477000" cy="822325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B050"/>
                </a:solidFill>
              </a:rPr>
              <a:t>p. b. Narendra Kiran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800" dirty="0">
                <a:solidFill>
                  <a:srgbClr val="002060"/>
                </a:solidFill>
              </a:rPr>
              <a:t>Assistant professor</a:t>
            </a:r>
            <a:endParaRPr lang="en-SG" sz="3600" dirty="0">
              <a:solidFill>
                <a:srgbClr val="00206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5A2378-AF6E-520E-7DC4-3768994EB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7" y="1483518"/>
            <a:ext cx="2271713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latin typeface="Tw Cen MT" panose="020B0602020104020603" pitchFamily="34" charset="0"/>
              </a:rPr>
              <a:t>MGN-502</a:t>
            </a:r>
          </a:p>
        </p:txBody>
      </p:sp>
      <p:pic>
        <p:nvPicPr>
          <p:cNvPr id="7" name="Picture 2" descr="E-learning education: 10 tips to get the most out of it - CAE">
            <a:extLst>
              <a:ext uri="{FF2B5EF4-FFF2-40B4-BE49-F238E27FC236}">
                <a16:creationId xmlns:a16="http://schemas.microsoft.com/office/drawing/2014/main" id="{F5018E06-B16C-AC13-9F61-379BAEE64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85"/>
          <a:stretch/>
        </p:blipFill>
        <p:spPr bwMode="auto">
          <a:xfrm>
            <a:off x="3290888" y="3391901"/>
            <a:ext cx="2562225" cy="173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620688"/>
            <a:ext cx="7772400" cy="14700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0484" y="2348880"/>
            <a:ext cx="7086600" cy="2855168"/>
          </a:xfrm>
          <a:solidFill>
            <a:srgbClr val="FFFF00"/>
          </a:solidFill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</a:rPr>
              <a:t>At the end of this lecture, you will be able to-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Importance of Learning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Nature and Principles of Learning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Process of Learning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Theories of Learning</a:t>
            </a:r>
          </a:p>
        </p:txBody>
      </p:sp>
      <p:pic>
        <p:nvPicPr>
          <p:cNvPr id="8194" name="Picture 2" descr="Importance of learning outcomes">
            <a:extLst>
              <a:ext uri="{FF2B5EF4-FFF2-40B4-BE49-F238E27FC236}">
                <a16:creationId xmlns:a16="http://schemas.microsoft.com/office/drawing/2014/main" id="{B47583F4-8948-5073-C534-EECD4AA4A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405" y="753104"/>
            <a:ext cx="2595190" cy="133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Learning is the process of acquiring new understanding, knowledge, behaviors, skills, values, attitudes, and preferences. </a:t>
            </a:r>
          </a:p>
          <a:p>
            <a:pPr algn="just"/>
            <a:r>
              <a:rPr lang="en-US" dirty="0"/>
              <a:t>The ability to learn is possessed by humans, animals, and some machines.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Learning is “</a:t>
            </a:r>
            <a:r>
              <a:rPr lang="en-US" b="1" dirty="0"/>
              <a:t>a process that leads to change</a:t>
            </a:r>
            <a:r>
              <a:rPr lang="en-US" dirty="0"/>
              <a:t>, which occurs as a result of experience and increases the potential for improved performance and future learning”</a:t>
            </a:r>
          </a:p>
          <a:p>
            <a:pPr algn="just"/>
            <a:r>
              <a:rPr lang="en-US" dirty="0"/>
              <a:t>The change in the learner may happen at the level of knowledge, attitude or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1E93678-32EF-CF38-55FD-CF7F4E200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Definition of Learning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EF39B32-9B83-375A-0D20-3F32733878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is:</a:t>
            </a:r>
          </a:p>
          <a:p>
            <a:pPr lvl="1" eaLnBrk="1" hangingPunct="1"/>
            <a:r>
              <a:rPr lang="en-US" altLang="en-US"/>
              <a:t>An experiential process</a:t>
            </a:r>
          </a:p>
          <a:p>
            <a:pPr lvl="1" eaLnBrk="1" hangingPunct="1"/>
            <a:r>
              <a:rPr lang="en-US" altLang="en-US"/>
              <a:t>Resulting in a relatively permanent change</a:t>
            </a:r>
          </a:p>
          <a:p>
            <a:pPr lvl="1" eaLnBrk="1" hangingPunct="1"/>
            <a:r>
              <a:rPr lang="en-US" altLang="en-US"/>
              <a:t>Not explained by temporary states, maturation, or innate response tendencies.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A3634-D2E3-397D-EE2F-916EF515E6F1}"/>
              </a:ext>
            </a:extLst>
          </p:cNvPr>
          <p:cNvSpPr txBox="1">
            <a:spLocks/>
          </p:cNvSpPr>
          <p:nvPr/>
        </p:nvSpPr>
        <p:spPr>
          <a:xfrm>
            <a:off x="683568" y="365919"/>
            <a:ext cx="8229600" cy="1143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Definition of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2E703A5-A68F-4B55-67D4-369F2CEE6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Three Limits on the Definition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E4F33A4-8D17-0772-CBB1-5E55D4A920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change that occurs during learning is a potential for behavior that depends on other conditions.</a:t>
            </a:r>
          </a:p>
          <a:p>
            <a:pPr eaLnBrk="1" hangingPunct="1"/>
            <a:r>
              <a:rPr lang="en-US" altLang="en-US"/>
              <a:t>Learning is not always a permanent change.</a:t>
            </a:r>
          </a:p>
          <a:p>
            <a:pPr lvl="1" eaLnBrk="1" hangingPunct="1"/>
            <a:r>
              <a:rPr lang="en-US" altLang="en-US"/>
              <a:t>What can be learned can be unlearned.</a:t>
            </a:r>
          </a:p>
          <a:p>
            <a:pPr eaLnBrk="1" hangingPunct="1"/>
            <a:r>
              <a:rPr lang="en-US" altLang="en-US"/>
              <a:t>Changes also occur for other reasons – maturation, motivation.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8618D-8A86-3D0B-D832-9F225F5F9FD8}"/>
              </a:ext>
            </a:extLst>
          </p:cNvPr>
          <p:cNvSpPr txBox="1">
            <a:spLocks/>
          </p:cNvSpPr>
          <p:nvPr/>
        </p:nvSpPr>
        <p:spPr>
          <a:xfrm>
            <a:off x="755576" y="274638"/>
            <a:ext cx="8229600" cy="1143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Three limits on the definition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includes---- </a:t>
            </a:r>
          </a:p>
          <a:p>
            <a:pPr lvl="1"/>
            <a:r>
              <a:rPr lang="en-US" dirty="0"/>
              <a:t>Knowledge </a:t>
            </a:r>
          </a:p>
          <a:p>
            <a:pPr lvl="1"/>
            <a:r>
              <a:rPr lang="en-US" dirty="0"/>
              <a:t>Experience </a:t>
            </a:r>
          </a:p>
          <a:p>
            <a:pPr lvl="1"/>
            <a:r>
              <a:rPr lang="en-US" dirty="0"/>
              <a:t>Change </a:t>
            </a:r>
          </a:p>
          <a:p>
            <a:pPr lvl="1"/>
            <a:r>
              <a:rPr lang="en-US" dirty="0"/>
              <a:t>Improvement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Nature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Learning is a process</a:t>
            </a:r>
          </a:p>
          <a:p>
            <a:r>
              <a:rPr lang="en-US" dirty="0"/>
              <a:t>It involves all those experiences and training of an individual which helps to change his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r>
              <a:rPr lang="en-US" dirty="0"/>
              <a:t>Learning prepares the individual to adjust and adopt in the situations.</a:t>
            </a:r>
          </a:p>
          <a:p>
            <a:r>
              <a:rPr lang="en-US" dirty="0"/>
              <a:t>All the learning is purposeful and goal oriented</a:t>
            </a:r>
          </a:p>
          <a:p>
            <a:r>
              <a:rPr lang="en-US" dirty="0"/>
              <a:t>Learning is universal and continuous.</a:t>
            </a:r>
          </a:p>
          <a:p>
            <a:r>
              <a:rPr lang="en-US" dirty="0"/>
              <a:t>It is a continuous and never ending process that goes from womb to tomb.</a:t>
            </a:r>
          </a:p>
        </p:txBody>
      </p:sp>
    </p:spTree>
    <p:extLst>
      <p:ext uri="{BB962C8B-B14F-4D97-AF65-F5344CB8AC3E}">
        <p14:creationId xmlns:p14="http://schemas.microsoft.com/office/powerpoint/2010/main" val="3390567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How learning is helpful?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Learning helps in attainment of teaching – learning objectives</a:t>
            </a:r>
          </a:p>
          <a:p>
            <a:r>
              <a:rPr lang="en-US" sz="2600" dirty="0"/>
              <a:t>Learning helps in the proper growth and development</a:t>
            </a:r>
          </a:p>
          <a:p>
            <a:r>
              <a:rPr lang="en-US" sz="2600" dirty="0"/>
              <a:t>Learning helps in the balanced development of the personality</a:t>
            </a:r>
          </a:p>
          <a:p>
            <a:r>
              <a:rPr lang="en-US" sz="2600" dirty="0"/>
              <a:t>Learning helps in proper adjustment</a:t>
            </a:r>
          </a:p>
          <a:p>
            <a:r>
              <a:rPr lang="en-US" sz="2600" dirty="0"/>
              <a:t>Learning helps in the realization of goals of life</a:t>
            </a:r>
          </a:p>
          <a:p>
            <a:r>
              <a:rPr lang="en-US" sz="2600" dirty="0"/>
              <a:t>Learning does not necessarily imply improvement.</a:t>
            </a:r>
          </a:p>
        </p:txBody>
      </p:sp>
    </p:spTree>
    <p:extLst>
      <p:ext uri="{BB962C8B-B14F-4D97-AF65-F5344CB8AC3E}">
        <p14:creationId xmlns:p14="http://schemas.microsoft.com/office/powerpoint/2010/main" val="212294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Law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Law of readiness (Person ready to learn)</a:t>
            </a:r>
          </a:p>
          <a:p>
            <a:r>
              <a:rPr lang="en-US" dirty="0"/>
              <a:t>Law of effect (Stressful situation)</a:t>
            </a:r>
          </a:p>
          <a:p>
            <a:r>
              <a:rPr lang="en-US" dirty="0"/>
              <a:t>Law of exercise (practice number of time)</a:t>
            </a:r>
          </a:p>
          <a:p>
            <a:r>
              <a:rPr lang="en-US" dirty="0"/>
              <a:t>Law of disuse (which is not practiced become decays)</a:t>
            </a:r>
          </a:p>
          <a:p>
            <a:r>
              <a:rPr lang="en-US" dirty="0"/>
              <a:t>Law of primacy (interested novels)</a:t>
            </a:r>
          </a:p>
          <a:p>
            <a:r>
              <a:rPr lang="en-US" dirty="0"/>
              <a:t>Law of purpose (work towards goal)</a:t>
            </a:r>
          </a:p>
          <a:p>
            <a:r>
              <a:rPr lang="en-US" dirty="0"/>
              <a:t>Law of association</a:t>
            </a:r>
          </a:p>
        </p:txBody>
      </p:sp>
    </p:spTree>
    <p:extLst>
      <p:ext uri="{BB962C8B-B14F-4D97-AF65-F5344CB8AC3E}">
        <p14:creationId xmlns:p14="http://schemas.microsoft.com/office/powerpoint/2010/main" val="38195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5 principles of learning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Participation</a:t>
            </a:r>
          </a:p>
          <a:p>
            <a:r>
              <a:rPr lang="en-US" dirty="0"/>
              <a:t>Repetition</a:t>
            </a:r>
          </a:p>
          <a:p>
            <a:r>
              <a:rPr lang="en-US" dirty="0"/>
              <a:t>Relevance</a:t>
            </a:r>
          </a:p>
          <a:p>
            <a:r>
              <a:rPr lang="en-US" dirty="0"/>
              <a:t>Transference</a:t>
            </a:r>
          </a:p>
          <a:p>
            <a:r>
              <a:rPr lang="en-US" dirty="0"/>
              <a:t>Feedback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Types of learning 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99802-6EB8-68B7-9599-DF4390E0BF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7785" r="5000" b="7980"/>
          <a:stretch/>
        </p:blipFill>
        <p:spPr>
          <a:xfrm>
            <a:off x="457200" y="1628800"/>
            <a:ext cx="8229600" cy="43924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216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Domains of learning  </a:t>
            </a:r>
            <a:r>
              <a:rPr lang="en-US" sz="3100" b="1" dirty="0"/>
              <a:t>(3 levels of mind)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Cognitive Domain </a:t>
            </a:r>
          </a:p>
          <a:p>
            <a:pPr lvl="1"/>
            <a:r>
              <a:rPr lang="en-US" dirty="0"/>
              <a:t>Knowledge, comprehension, Application, analysis, synthesis and Evaluation</a:t>
            </a:r>
          </a:p>
          <a:p>
            <a:r>
              <a:rPr lang="en-US" dirty="0"/>
              <a:t>Affective Domain</a:t>
            </a:r>
          </a:p>
          <a:p>
            <a:pPr lvl="1"/>
            <a:r>
              <a:rPr lang="en-US" dirty="0"/>
              <a:t>Receiving Phenomena, Responding to phenomena, valuing, organization, characterization.</a:t>
            </a:r>
          </a:p>
          <a:p>
            <a:r>
              <a:rPr lang="en-US" dirty="0"/>
              <a:t>Psychomotor Domain</a:t>
            </a:r>
          </a:p>
          <a:p>
            <a:pPr lvl="1"/>
            <a:r>
              <a:rPr lang="en-US" dirty="0"/>
              <a:t>Perception, Set, Guided Response, Mechanism, complex overt response, adaptation, origination.</a:t>
            </a:r>
          </a:p>
        </p:txBody>
      </p:sp>
    </p:spTree>
    <p:extLst>
      <p:ext uri="{BB962C8B-B14F-4D97-AF65-F5344CB8AC3E}">
        <p14:creationId xmlns:p14="http://schemas.microsoft.com/office/powerpoint/2010/main" val="592870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3116"/>
            <a:ext cx="8229600" cy="2654296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IN" sz="4800" b="1" dirty="0"/>
              <a:t>Learning Theories in Organisational Behaviour</a:t>
            </a:r>
            <a:endParaRPr lang="en-US" sz="48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Learning 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  <a:latin typeface="+mj-lt"/>
              </a:rPr>
              <a:t>The most basic purpose of learning theory like any other is to better explain how learning occurs. </a:t>
            </a:r>
          </a:p>
          <a:p>
            <a:pPr algn="just"/>
            <a:endParaRPr lang="en-US" sz="2600" b="0" i="0" dirty="0">
              <a:solidFill>
                <a:srgbClr val="000000"/>
              </a:solidFill>
              <a:effectLst/>
              <a:latin typeface="+mj-lt"/>
            </a:endParaRP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  <a:latin typeface="+mj-lt"/>
              </a:rPr>
              <a:t>Attempts have been made by the psychologists and </a:t>
            </a:r>
            <a:r>
              <a:rPr lang="en-US" sz="2600" b="0" i="0" dirty="0" err="1">
                <a:solidFill>
                  <a:srgbClr val="000000"/>
                </a:solidFill>
                <a:effectLst/>
                <a:latin typeface="+mj-lt"/>
              </a:rPr>
              <a:t>behavioural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+mj-lt"/>
              </a:rPr>
              <a:t> scientists to develop theories of learning.</a:t>
            </a:r>
          </a:p>
          <a:p>
            <a:pPr algn="just"/>
            <a:endParaRPr lang="en-US" sz="2600" b="0" i="0" dirty="0">
              <a:solidFill>
                <a:srgbClr val="000000"/>
              </a:solidFill>
              <a:effectLst/>
              <a:latin typeface="+mj-lt"/>
            </a:endParaRP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  <a:latin typeface="+mj-lt"/>
              </a:rPr>
              <a:t>How do we learn? Four theories have been offered to explain the process by which we acquire patterns of </a:t>
            </a:r>
            <a:r>
              <a:rPr lang="en-US" sz="2600" b="0" i="0" dirty="0" err="1">
                <a:solidFill>
                  <a:srgbClr val="000000"/>
                </a:solidFill>
                <a:effectLst/>
                <a:latin typeface="+mj-lt"/>
              </a:rPr>
              <a:t>behaviour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+mj-lt"/>
              </a:rPr>
              <a:t>:</a:t>
            </a:r>
          </a:p>
          <a:p>
            <a:endParaRPr lang="en-US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1955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Theories</a:t>
            </a:r>
          </a:p>
        </p:txBody>
      </p:sp>
      <p:pic>
        <p:nvPicPr>
          <p:cNvPr id="1026" name="Picture 2" descr="4 Theories Of Learning | Classical, Operant Conditioning, Social, Cognitive">
            <a:extLst>
              <a:ext uri="{FF2B5EF4-FFF2-40B4-BE49-F238E27FC236}">
                <a16:creationId xmlns:a16="http://schemas.microsoft.com/office/drawing/2014/main" id="{7ED7305E-CD47-E643-8B21-813BE5AF7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4" b="30050"/>
          <a:stretch/>
        </p:blipFill>
        <p:spPr bwMode="auto">
          <a:xfrm>
            <a:off x="457200" y="1628800"/>
            <a:ext cx="7899400" cy="452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Classical conditioning theory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Classical conditioning is a behaviorist theory of learning developed by </a:t>
            </a:r>
            <a:r>
              <a:rPr lang="en-US" dirty="0" err="1"/>
              <a:t>Ivon</a:t>
            </a:r>
            <a:r>
              <a:rPr lang="en-US" dirty="0"/>
              <a:t> Pavlov (Russian Psychologist). </a:t>
            </a:r>
          </a:p>
          <a:p>
            <a:pPr algn="just"/>
            <a:r>
              <a:rPr lang="en-US" dirty="0"/>
              <a:t>It posits that when a naturally occurring stimulus and an environmental stimulus are repeatedly paired, the environmental stimulus will eventually elicit a similar response to the natural stimulus. 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Classical conditioning theory  </a:t>
            </a:r>
          </a:p>
        </p:txBody>
      </p:sp>
      <p:sp>
        <p:nvSpPr>
          <p:cNvPr id="1026" name="AutoShape 2" descr="Pavlov&amp;#39;s Dogs Study and Pavlovian Conditioning Explained | Simply Psych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avlov&amp;#39;s Dogs Study and Pavlovian Conditioning Explained | Simply Psych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Pavlov&amp;#39;s Dogs Study and Pavlovian Conditioning Explained | Simply Psych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Pavlov&amp;#39;s Dogs Study and Pavlovian Conditioning Explained | Simply Psych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Pavlov&amp;#39;s Dogs Study and Pavlovian Conditioning Explained | Simply Psych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D6BEB1-4CD8-226D-EC92-EDDDD1D56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20586" r="5000" b="7980"/>
          <a:stretch/>
        </p:blipFill>
        <p:spPr>
          <a:xfrm>
            <a:off x="457200" y="1531939"/>
            <a:ext cx="8229600" cy="40573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8550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Operant conditioning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Operant conditioning is a type of associative learning process through which the strength of a behavior is modified by reinforcement or punishment. </a:t>
            </a:r>
          </a:p>
          <a:p>
            <a:pPr algn="just"/>
            <a:r>
              <a:rPr lang="en-US" dirty="0"/>
              <a:t>It is also a procedure that is used to bring about such learning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Operant conditioning theory</a:t>
            </a:r>
          </a:p>
        </p:txBody>
      </p:sp>
      <p:sp>
        <p:nvSpPr>
          <p:cNvPr id="9218" name="AutoShape 2" descr="What Is Operant Conditioning and How Does It Work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F4AE5-B430-6C18-1D94-A6925EF691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20586" r="5000" b="7980"/>
          <a:stretch/>
        </p:blipFill>
        <p:spPr>
          <a:xfrm>
            <a:off x="457200" y="1592795"/>
            <a:ext cx="8229600" cy="41404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Operant conditioning theory</a:t>
            </a:r>
          </a:p>
        </p:txBody>
      </p:sp>
      <p:sp>
        <p:nvSpPr>
          <p:cNvPr id="9218" name="AutoShape 2" descr="What Is Operant Conditioning and How Does It Work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440CF-3364-D3DE-871B-F119D35AFE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87" t="20586" r="5001" b="7980"/>
          <a:stretch/>
        </p:blipFill>
        <p:spPr>
          <a:xfrm>
            <a:off x="534380" y="1557568"/>
            <a:ext cx="8075240" cy="41716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3481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Operant conditioning</a:t>
            </a:r>
          </a:p>
        </p:txBody>
      </p:sp>
      <p:sp>
        <p:nvSpPr>
          <p:cNvPr id="9218" name="AutoShape 2" descr="What Is Operant Conditioning and How Does It Work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577B2-BB96-1FB5-CFFE-97EC1DEC2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50" t="10876" r="16138" b="9380"/>
          <a:stretch/>
        </p:blipFill>
        <p:spPr>
          <a:xfrm>
            <a:off x="661515" y="1508121"/>
            <a:ext cx="7820969" cy="511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25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Cognitive Learning theory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25D298-252E-168F-9B9B-95F0EE3AC5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71" t="21010" r="4847" b="7556"/>
          <a:stretch/>
        </p:blipFill>
        <p:spPr>
          <a:xfrm>
            <a:off x="477130" y="1592796"/>
            <a:ext cx="8209670" cy="4500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Social Learning theory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F70BA-FDB1-B452-6CE9-B08B670983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85" t="20695" r="4715" b="7871"/>
          <a:stretch/>
        </p:blipFill>
        <p:spPr>
          <a:xfrm>
            <a:off x="446856" y="1592796"/>
            <a:ext cx="8229600" cy="39964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1517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285884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IN" sz="6600" b="1" dirty="0"/>
              <a:t>THANK YOU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231145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634</Words>
  <Application>Microsoft Office PowerPoint</Application>
  <PresentationFormat>On-screen Show (4:3)</PresentationFormat>
  <Paragraphs>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Tw Cen MT</vt:lpstr>
      <vt:lpstr>Office Theme</vt:lpstr>
      <vt:lpstr>Unit-III</vt:lpstr>
      <vt:lpstr>PowerPoint Presentation</vt:lpstr>
      <vt:lpstr>Learning</vt:lpstr>
      <vt:lpstr>Learning</vt:lpstr>
      <vt:lpstr>A Definition of Learning</vt:lpstr>
      <vt:lpstr>Three Limits on the Definition</vt:lpstr>
      <vt:lpstr>Learning</vt:lpstr>
      <vt:lpstr>Nature of Learning</vt:lpstr>
      <vt:lpstr>How learning is helpful?</vt:lpstr>
      <vt:lpstr>Law of Learning</vt:lpstr>
      <vt:lpstr> 5 principles of learning  </vt:lpstr>
      <vt:lpstr> Types of learning  </vt:lpstr>
      <vt:lpstr> Domains of learning  (3 levels of mind) </vt:lpstr>
      <vt:lpstr>Learning Theories in Organisational Behaviour</vt:lpstr>
      <vt:lpstr>Learning Theories</vt:lpstr>
      <vt:lpstr>Theories</vt:lpstr>
      <vt:lpstr>Classical conditioning theory </vt:lpstr>
      <vt:lpstr>Classical conditioning theory  </vt:lpstr>
      <vt:lpstr>Operant conditioning theory</vt:lpstr>
      <vt:lpstr>Operant conditioning theory</vt:lpstr>
      <vt:lpstr>Operant conditioning theory</vt:lpstr>
      <vt:lpstr>Operant conditioning</vt:lpstr>
      <vt:lpstr>Cognitive Learning theory</vt:lpstr>
      <vt:lpstr>Social Learning theory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</dc:title>
  <dc:creator>user</dc:creator>
  <cp:lastModifiedBy>NARENDRA KIRAN</cp:lastModifiedBy>
  <cp:revision>6</cp:revision>
  <dcterms:created xsi:type="dcterms:W3CDTF">2021-10-17T02:14:37Z</dcterms:created>
  <dcterms:modified xsi:type="dcterms:W3CDTF">2022-09-25T14:16:18Z</dcterms:modified>
</cp:coreProperties>
</file>