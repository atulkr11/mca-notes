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33"/>
  </p:notesMasterIdLst>
  <p:sldIdLst>
    <p:sldId id="387" r:id="rId2"/>
    <p:sldId id="394" r:id="rId3"/>
    <p:sldId id="388" r:id="rId4"/>
    <p:sldId id="395" r:id="rId5"/>
    <p:sldId id="389" r:id="rId6"/>
    <p:sldId id="390" r:id="rId7"/>
    <p:sldId id="391" r:id="rId8"/>
    <p:sldId id="392" r:id="rId9"/>
    <p:sldId id="393" r:id="rId10"/>
    <p:sldId id="396" r:id="rId11"/>
    <p:sldId id="398" r:id="rId12"/>
    <p:sldId id="403" r:id="rId13"/>
    <p:sldId id="399" r:id="rId14"/>
    <p:sldId id="400" r:id="rId15"/>
    <p:sldId id="401" r:id="rId16"/>
    <p:sldId id="402" r:id="rId17"/>
    <p:sldId id="397" r:id="rId18"/>
    <p:sldId id="419" r:id="rId19"/>
    <p:sldId id="404" r:id="rId20"/>
    <p:sldId id="409" r:id="rId21"/>
    <p:sldId id="410" r:id="rId22"/>
    <p:sldId id="405" r:id="rId23"/>
    <p:sldId id="421" r:id="rId24"/>
    <p:sldId id="422" r:id="rId25"/>
    <p:sldId id="424" r:id="rId26"/>
    <p:sldId id="423" r:id="rId27"/>
    <p:sldId id="411" r:id="rId28"/>
    <p:sldId id="412" r:id="rId29"/>
    <p:sldId id="415" r:id="rId30"/>
    <p:sldId id="416" r:id="rId31"/>
    <p:sldId id="417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4A01"/>
    <a:srgbClr val="FFF3E7"/>
    <a:srgbClr val="5EEC3C"/>
    <a:srgbClr val="007033"/>
    <a:srgbClr val="FFFF99"/>
    <a:srgbClr val="FE9202"/>
    <a:srgbClr val="FFDC47"/>
    <a:srgbClr val="CCCC00"/>
    <a:srgbClr val="FFCC66"/>
    <a:srgbClr val="9900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8600" autoAdjust="0"/>
    <p:restoredTop sz="82215" autoAdjust="0"/>
  </p:normalViewPr>
  <p:slideViewPr>
    <p:cSldViewPr>
      <p:cViewPr>
        <p:scale>
          <a:sx n="80" d="100"/>
          <a:sy n="80" d="100"/>
        </p:scale>
        <p:origin x="-1387" y="-6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DFC15-1F8E-4527-8FE8-067A809073A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75D32-7422-4FC5-AA05-948798ADE3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003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3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1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8CDD009C-B9D2-4912-9537-F6CEE0CEED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209550"/>
            <a:ext cx="8839199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3350"/>
            <a:ext cx="91440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3350"/>
            <a:ext cx="9144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3350"/>
            <a:ext cx="91440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" y="133350"/>
            <a:ext cx="90678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" y="133350"/>
            <a:ext cx="90678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81915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09551"/>
            <a:ext cx="91440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93D2AE79-4739-418C-8D93-2208608DB145}"/>
              </a:ext>
            </a:extLst>
          </p:cNvPr>
          <p:cNvSpPr txBox="1"/>
          <p:nvPr/>
        </p:nvSpPr>
        <p:spPr>
          <a:xfrm>
            <a:off x="517358" y="610821"/>
            <a:ext cx="8073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 Black" panose="020F0A02020204030203" pitchFamily="34" charset="0"/>
              </a:rPr>
              <a:t>Annuity</a:t>
            </a:r>
            <a:endParaRPr lang="en-IN" sz="44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 Black" panose="020F0A0202020403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EDA9B346-ED90-4DA2-B07E-47821B7E68CA}"/>
              </a:ext>
            </a:extLst>
          </p:cNvPr>
          <p:cNvSpPr txBox="1"/>
          <p:nvPr/>
        </p:nvSpPr>
        <p:spPr>
          <a:xfrm>
            <a:off x="682365" y="1673271"/>
            <a:ext cx="765327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Annuity represents to the payment/receipt after equal interval. A payment can be called as annuity provided: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5353"/>
                </a:solidFill>
                <a:latin typeface="+mj-lt"/>
              </a:rPr>
              <a:t>Time Gap 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between two installments is same.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5353"/>
                </a:solidFill>
                <a:latin typeface="+mj-lt"/>
              </a:rPr>
              <a:t>Amount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each installment is same.</a:t>
            </a:r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96879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514350"/>
            <a:ext cx="7772400" cy="914400"/>
          </a:xfrm>
        </p:spPr>
        <p:txBody>
          <a:bodyPr/>
          <a:lstStyle/>
          <a:p>
            <a:r>
              <a:rPr lang="en-IN" altLang="en-US" sz="4800" b="1" smtClean="0"/>
              <a:t>What is an Annuity? </a:t>
            </a:r>
          </a:p>
        </p:txBody>
      </p:sp>
      <p:sp>
        <p:nvSpPr>
          <p:cNvPr id="6147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76200" y="1543050"/>
            <a:ext cx="8991600" cy="35433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altLang="en-US" sz="3200" b="1" i="1" smtClean="0"/>
              <a:t>Annuity</a:t>
            </a:r>
            <a:r>
              <a:rPr lang="en-IN" altLang="en-US" sz="2400" smtClean="0"/>
              <a:t> </a:t>
            </a:r>
            <a:r>
              <a:rPr lang="en-IN" altLang="en-US" sz="2800" smtClean="0"/>
              <a:t>is a fixed payment or receipt each year for a specified number of years.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smtClean="0"/>
              <a:t>If you rent a flat and promise to make a series of payments over an agreed period, you have created an annuity. The equal-instalment loans from the house financing companies or employers are common examples of annuities.</a:t>
            </a:r>
            <a:endParaRPr lang="en-IN" altLang="en-US" sz="2800" smtClean="0"/>
          </a:p>
          <a:p>
            <a:pPr algn="just">
              <a:lnSpc>
                <a:spcPct val="150000"/>
              </a:lnSpc>
            </a:pPr>
            <a:endParaRPr lang="en-IN" altLang="en-US" sz="2400" smtClean="0"/>
          </a:p>
        </p:txBody>
      </p:sp>
    </p:spTree>
  </p:cSld>
  <p:clrMapOvr>
    <a:masterClrMapping/>
  </p:clrMapOvr>
  <p:transition advClick="0" advTm="2147255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40005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b="1" smtClean="0"/>
              <a:t>Types of Annuity </a:t>
            </a:r>
            <a:endParaRPr lang="en-IN" altLang="en-US" b="1" smtClean="0"/>
          </a:p>
        </p:txBody>
      </p:sp>
      <p:sp>
        <p:nvSpPr>
          <p:cNvPr id="7171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76200" y="1257300"/>
            <a:ext cx="8991600" cy="382905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b="1" i="1" dirty="0" smtClean="0"/>
              <a:t>Ordinary Annuity: </a:t>
            </a:r>
            <a:r>
              <a:rPr lang="en-US" altLang="en-US" sz="3200" dirty="0" smtClean="0"/>
              <a:t>An ordinary annuity makes (or requires) payments at the end of each period. E.g. bonds interest payment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b="1" i="1" dirty="0" smtClean="0"/>
              <a:t>Annuity Due: </a:t>
            </a:r>
            <a:r>
              <a:rPr lang="en-US" altLang="en-US" sz="3200" dirty="0" smtClean="0"/>
              <a:t>With an annuity due, payments come at the beginning of each period. E.g. Rent charged by landlords</a:t>
            </a:r>
            <a:endParaRPr lang="en-IN" altLang="en-US" sz="3200" dirty="0" smtClean="0"/>
          </a:p>
          <a:p>
            <a:endParaRPr lang="en-IN" altLang="en-US" dirty="0" smtClean="0"/>
          </a:p>
        </p:txBody>
      </p:sp>
    </p:spTree>
  </p:cSld>
  <p:clrMapOvr>
    <a:masterClrMapping/>
  </p:clrMapOvr>
  <p:transition advClick="0" advTm="2147255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C6957E11-453E-48DE-99FB-47BE866439BF}"/>
              </a:ext>
            </a:extLst>
          </p:cNvPr>
          <p:cNvSpPr txBox="1"/>
          <p:nvPr/>
        </p:nvSpPr>
        <p:spPr>
          <a:xfrm>
            <a:off x="8335635" y="120748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defRPr>
            </a:lvl1pPr>
          </a:lstStyle>
          <a:p>
            <a:r>
              <a:rPr lang="en-US" dirty="0"/>
              <a:t>32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645449D-DCC4-4B46-A02F-7C9E58A3AA08}"/>
              </a:ext>
            </a:extLst>
          </p:cNvPr>
          <p:cNvSpPr txBox="1"/>
          <p:nvPr/>
        </p:nvSpPr>
        <p:spPr>
          <a:xfrm>
            <a:off x="463212" y="695792"/>
            <a:ext cx="8217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 Black" panose="020F0A02020204030203" pitchFamily="34" charset="0"/>
              </a:rPr>
              <a:t>Future Value of Annuity (at the end of Year)</a:t>
            </a:r>
            <a:endParaRPr lang="en-IN" sz="3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 Black" panose="020F0A0202020403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5DEFC8E-BE43-4DA3-A866-B2FD47DD07D9}"/>
              </a:ext>
            </a:extLst>
          </p:cNvPr>
          <p:cNvSpPr txBox="1"/>
          <p:nvPr/>
        </p:nvSpPr>
        <p:spPr>
          <a:xfrm>
            <a:off x="682365" y="1493042"/>
            <a:ext cx="75272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future value of the ordinary annuity (FVA Ordinary) the receipts are assumed to be at the end of the period where rate of interest is compounded annually.</a:t>
            </a:r>
            <a:endParaRPr lang="en-I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Group 39">
            <a:extLst>
              <a:ext uri="{FF2B5EF4-FFF2-40B4-BE49-F238E27FC236}">
                <a16:creationId xmlns="" xmlns:a16="http://schemas.microsoft.com/office/drawing/2014/main" id="{CD09A446-6F73-44F6-BA84-421D261A362D}"/>
              </a:ext>
            </a:extLst>
          </p:cNvPr>
          <p:cNvGrpSpPr/>
          <p:nvPr/>
        </p:nvGrpSpPr>
        <p:grpSpPr>
          <a:xfrm>
            <a:off x="1742725" y="3056178"/>
            <a:ext cx="5826179" cy="1301069"/>
            <a:chOff x="1215828" y="3886710"/>
            <a:chExt cx="5826179" cy="1734759"/>
          </a:xfrm>
        </p:grpSpPr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A401F0CD-3BAC-48B5-B55B-C2702C1B69A1}"/>
                </a:ext>
              </a:extLst>
            </p:cNvPr>
            <p:cNvSpPr txBox="1"/>
            <p:nvPr/>
          </p:nvSpPr>
          <p:spPr>
            <a:xfrm>
              <a:off x="1215828" y="4264047"/>
              <a:ext cx="1435767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5353"/>
                  </a:solidFill>
                  <a:latin typeface="+mj-lt"/>
                </a:rPr>
                <a:t>FVA =</a:t>
              </a:r>
              <a:endParaRPr lang="en-IN" sz="36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981ABBA2-5280-4E82-A552-379D8FCB5A21}"/>
                </a:ext>
              </a:extLst>
            </p:cNvPr>
            <p:cNvSpPr txBox="1"/>
            <p:nvPr/>
          </p:nvSpPr>
          <p:spPr>
            <a:xfrm>
              <a:off x="3929470" y="4025210"/>
              <a:ext cx="1407138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5353"/>
                  </a:solidFill>
                  <a:latin typeface="+mj-lt"/>
                </a:rPr>
                <a:t>(1+r) </a:t>
              </a:r>
              <a:endParaRPr lang="en-IN" sz="36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CEBE9446-C872-483F-810B-79B7E3E8E636}"/>
                </a:ext>
              </a:extLst>
            </p:cNvPr>
            <p:cNvSpPr txBox="1"/>
            <p:nvPr/>
          </p:nvSpPr>
          <p:spPr>
            <a:xfrm>
              <a:off x="4867018" y="3886710"/>
              <a:ext cx="46959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n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2" name="Minus Sign 31">
              <a:extLst>
                <a:ext uri="{FF2B5EF4-FFF2-40B4-BE49-F238E27FC236}">
                  <a16:creationId xmlns="" xmlns:a16="http://schemas.microsoft.com/office/drawing/2014/main" id="{7B486364-90F2-43B8-8456-A6987E826A04}"/>
                </a:ext>
              </a:extLst>
            </p:cNvPr>
            <p:cNvSpPr/>
            <p:nvPr/>
          </p:nvSpPr>
          <p:spPr>
            <a:xfrm>
              <a:off x="5265485" y="4202853"/>
              <a:ext cx="444013" cy="361937"/>
            </a:xfrm>
            <a:prstGeom prst="mathMinus">
              <a:avLst/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3B17D92D-D042-47E6-95AF-7EB73B6BE24E}"/>
                </a:ext>
              </a:extLst>
            </p:cNvPr>
            <p:cNvSpPr txBox="1"/>
            <p:nvPr/>
          </p:nvSpPr>
          <p:spPr>
            <a:xfrm>
              <a:off x="5773745" y="4056075"/>
              <a:ext cx="575578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600" dirty="0">
                  <a:solidFill>
                    <a:srgbClr val="FF5353"/>
                  </a:solidFill>
                  <a:latin typeface="+mj-lt"/>
                </a:rPr>
                <a:t>1 </a:t>
              </a:r>
              <a:endParaRPr lang="en-IN" sz="36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4" name="Minus Sign 33">
              <a:extLst>
                <a:ext uri="{FF2B5EF4-FFF2-40B4-BE49-F238E27FC236}">
                  <a16:creationId xmlns="" xmlns:a16="http://schemas.microsoft.com/office/drawing/2014/main" id="{7856070B-C50A-4D24-A741-1A9412E619AD}"/>
                </a:ext>
              </a:extLst>
            </p:cNvPr>
            <p:cNvSpPr/>
            <p:nvPr/>
          </p:nvSpPr>
          <p:spPr>
            <a:xfrm>
              <a:off x="3332336" y="4548441"/>
              <a:ext cx="3709671" cy="361937"/>
            </a:xfrm>
            <a:prstGeom prst="mathMinus">
              <a:avLst/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D7137AF0-2D25-46B6-ABF3-24E8A1748D41}"/>
                </a:ext>
              </a:extLst>
            </p:cNvPr>
            <p:cNvSpPr txBox="1"/>
            <p:nvPr/>
          </p:nvSpPr>
          <p:spPr>
            <a:xfrm>
              <a:off x="4627700" y="4759694"/>
              <a:ext cx="575578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600" dirty="0">
                  <a:solidFill>
                    <a:srgbClr val="FF5353"/>
                  </a:solidFill>
                  <a:latin typeface="+mj-lt"/>
                </a:rPr>
                <a:t>r </a:t>
              </a:r>
              <a:endParaRPr lang="en-IN" sz="3600" dirty="0">
                <a:solidFill>
                  <a:srgbClr val="FF5353"/>
                </a:solidFill>
                <a:latin typeface="+mj-lt"/>
              </a:endParaRPr>
            </a:p>
          </p:txBody>
        </p:sp>
        <p:grpSp>
          <p:nvGrpSpPr>
            <p:cNvPr id="3" name="Group 38">
              <a:extLst>
                <a:ext uri="{FF2B5EF4-FFF2-40B4-BE49-F238E27FC236}">
                  <a16:creationId xmlns="" xmlns:a16="http://schemas.microsoft.com/office/drawing/2014/main" id="{B96D74E3-530C-4110-A2EE-538B676CA925}"/>
                </a:ext>
              </a:extLst>
            </p:cNvPr>
            <p:cNvGrpSpPr/>
            <p:nvPr/>
          </p:nvGrpSpPr>
          <p:grpSpPr>
            <a:xfrm>
              <a:off x="2761777" y="4201981"/>
              <a:ext cx="1112555" cy="970950"/>
              <a:chOff x="2312741" y="4065353"/>
              <a:chExt cx="1112555" cy="970950"/>
            </a:xfrm>
          </p:grpSpPr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5F534547-4F8C-423E-9F8D-FB964F707969}"/>
                  </a:ext>
                </a:extLst>
              </p:cNvPr>
              <p:cNvSpPr txBox="1"/>
              <p:nvPr/>
            </p:nvSpPr>
            <p:spPr>
              <a:xfrm>
                <a:off x="2312741" y="4065353"/>
                <a:ext cx="57557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FF5353"/>
                    </a:solidFill>
                    <a:latin typeface="+mj-lt"/>
                  </a:rPr>
                  <a:t>A </a:t>
                </a:r>
                <a:endParaRPr lang="en-IN" sz="3600" dirty="0">
                  <a:solidFill>
                    <a:srgbClr val="FF5353"/>
                  </a:solidFill>
                  <a:latin typeface="+mj-lt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B67F5523-FA7D-4134-9665-B4D8846D7EE6}"/>
                  </a:ext>
                </a:extLst>
              </p:cNvPr>
              <p:cNvSpPr txBox="1"/>
              <p:nvPr/>
            </p:nvSpPr>
            <p:spPr>
              <a:xfrm>
                <a:off x="2849718" y="4174528"/>
                <a:ext cx="575578" cy="861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FF5353"/>
                    </a:solidFill>
                    <a:latin typeface="+mj-lt"/>
                  </a:rPr>
                  <a:t>* </a:t>
                </a:r>
                <a:endParaRPr lang="en-IN" sz="3600" dirty="0">
                  <a:solidFill>
                    <a:srgbClr val="FF5353"/>
                  </a:solidFill>
                  <a:latin typeface="+mj-lt"/>
                </a:endParaRPr>
              </a:p>
            </p:txBody>
          </p:sp>
        </p:grpSp>
      </p:grpSp>
      <p:grpSp>
        <p:nvGrpSpPr>
          <p:cNvPr id="4" name="Group 61">
            <a:extLst>
              <a:ext uri="{FF2B5EF4-FFF2-40B4-BE49-F238E27FC236}">
                <a16:creationId xmlns="" xmlns:a16="http://schemas.microsoft.com/office/drawing/2014/main" id="{AFD49734-17CE-4EA0-AFCD-904A7A8D1C7F}"/>
              </a:ext>
            </a:extLst>
          </p:cNvPr>
          <p:cNvGrpSpPr/>
          <p:nvPr/>
        </p:nvGrpSpPr>
        <p:grpSpPr>
          <a:xfrm>
            <a:off x="713871" y="4117877"/>
            <a:ext cx="5847351" cy="659839"/>
            <a:chOff x="713870" y="5490502"/>
            <a:chExt cx="5847351" cy="879785"/>
          </a:xfrm>
        </p:grpSpPr>
        <p:grpSp>
          <p:nvGrpSpPr>
            <p:cNvPr id="5" name="Group 40">
              <a:extLst>
                <a:ext uri="{FF2B5EF4-FFF2-40B4-BE49-F238E27FC236}">
                  <a16:creationId xmlns="" xmlns:a16="http://schemas.microsoft.com/office/drawing/2014/main" id="{E51304F9-7C1D-4CEF-82F6-F7371AB4DCF1}"/>
                </a:ext>
              </a:extLst>
            </p:cNvPr>
            <p:cNvGrpSpPr/>
            <p:nvPr/>
          </p:nvGrpSpPr>
          <p:grpSpPr>
            <a:xfrm>
              <a:off x="1281580" y="5490502"/>
              <a:ext cx="1771501" cy="879785"/>
              <a:chOff x="3246976" y="3886710"/>
              <a:chExt cx="3709671" cy="879785"/>
            </a:xfrm>
          </p:grpSpPr>
          <p:sp>
            <p:nvSpPr>
              <p:cNvPr id="43" name="TextBox 42">
                <a:extLst>
                  <a:ext uri="{FF2B5EF4-FFF2-40B4-BE49-F238E27FC236}">
                    <a16:creationId xmlns="" xmlns:a16="http://schemas.microsoft.com/office/drawing/2014/main" id="{1824A879-566E-46BE-B0B2-4830D024C3AA}"/>
                  </a:ext>
                </a:extLst>
              </p:cNvPr>
              <p:cNvSpPr txBox="1"/>
              <p:nvPr/>
            </p:nvSpPr>
            <p:spPr>
              <a:xfrm>
                <a:off x="3929469" y="4025210"/>
                <a:ext cx="1407138" cy="410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(1+r) </a:t>
                </a:r>
                <a:endPara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="" xmlns:a16="http://schemas.microsoft.com/office/drawing/2014/main" id="{49CC892D-175D-4B8D-AFB8-99FC9B276DC3}"/>
                  </a:ext>
                </a:extLst>
              </p:cNvPr>
              <p:cNvSpPr txBox="1"/>
              <p:nvPr/>
            </p:nvSpPr>
            <p:spPr>
              <a:xfrm>
                <a:off x="4867018" y="3886710"/>
                <a:ext cx="469590" cy="410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endPara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5" name="Minus Sign 44">
                <a:extLst>
                  <a:ext uri="{FF2B5EF4-FFF2-40B4-BE49-F238E27FC236}">
                    <a16:creationId xmlns="" xmlns:a16="http://schemas.microsoft.com/office/drawing/2014/main" id="{0536018F-DF86-40BB-B0EB-8A3505517432}"/>
                  </a:ext>
                </a:extLst>
              </p:cNvPr>
              <p:cNvSpPr/>
              <p:nvPr/>
            </p:nvSpPr>
            <p:spPr>
              <a:xfrm>
                <a:off x="5324114" y="4162940"/>
                <a:ext cx="469588" cy="145653"/>
              </a:xfrm>
              <a:prstGeom prst="mathMinus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4C5D4F57-A9FB-4141-8117-7410CAE63FF5}"/>
                  </a:ext>
                </a:extLst>
              </p:cNvPr>
              <p:cNvSpPr txBox="1"/>
              <p:nvPr/>
            </p:nvSpPr>
            <p:spPr>
              <a:xfrm>
                <a:off x="5773745" y="4056077"/>
                <a:ext cx="575578" cy="410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1 </a:t>
                </a:r>
                <a:endPara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7" name="Minus Sign 46">
                <a:extLst>
                  <a:ext uri="{FF2B5EF4-FFF2-40B4-BE49-F238E27FC236}">
                    <a16:creationId xmlns="" xmlns:a16="http://schemas.microsoft.com/office/drawing/2014/main" id="{3EED9F66-F849-4821-98DE-DDA43522B40F}"/>
                  </a:ext>
                </a:extLst>
              </p:cNvPr>
              <p:cNvSpPr/>
              <p:nvPr/>
            </p:nvSpPr>
            <p:spPr>
              <a:xfrm>
                <a:off x="3246976" y="4341305"/>
                <a:ext cx="3709671" cy="105018"/>
              </a:xfrm>
              <a:prstGeom prst="mathMinus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="" xmlns:a16="http://schemas.microsoft.com/office/drawing/2014/main" id="{4FC18773-5C32-4411-A847-D4A325F19934}"/>
                  </a:ext>
                </a:extLst>
              </p:cNvPr>
              <p:cNvSpPr txBox="1"/>
              <p:nvPr/>
            </p:nvSpPr>
            <p:spPr>
              <a:xfrm>
                <a:off x="4702337" y="4356126"/>
                <a:ext cx="621777" cy="410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 </a:t>
                </a:r>
                <a:endPara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4E73F158-AC49-4448-AC09-DA820F857B49}"/>
                </a:ext>
              </a:extLst>
            </p:cNvPr>
            <p:cNvSpPr txBox="1"/>
            <p:nvPr/>
          </p:nvSpPr>
          <p:spPr>
            <a:xfrm>
              <a:off x="713870" y="5838963"/>
              <a:ext cx="975553" cy="41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Where</a:t>
              </a:r>
              <a:endPara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="" xmlns:a16="http://schemas.microsoft.com/office/drawing/2014/main" id="{24493290-B5FE-4ADC-8E3C-60B6DDAC43E7}"/>
                </a:ext>
              </a:extLst>
            </p:cNvPr>
            <p:cNvSpPr txBox="1"/>
            <p:nvPr/>
          </p:nvSpPr>
          <p:spPr>
            <a:xfrm>
              <a:off x="2933946" y="5806030"/>
              <a:ext cx="3627275" cy="41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= Future Value Interest Factor (FVIFA)</a:t>
              </a:r>
              <a:endPara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17842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645449D-DCC4-4B46-A02F-7C9E58A3AA08}"/>
              </a:ext>
            </a:extLst>
          </p:cNvPr>
          <p:cNvSpPr txBox="1"/>
          <p:nvPr/>
        </p:nvSpPr>
        <p:spPr>
          <a:xfrm>
            <a:off x="463212" y="695792"/>
            <a:ext cx="82175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 Black" panose="020F0A02020204030203" pitchFamily="34" charset="0"/>
              </a:rPr>
              <a:t>Future Value of Annuity (at the end of Year, example)</a:t>
            </a:r>
            <a:endParaRPr lang="en-IN" sz="26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 Black" panose="020F0A0202020403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5DEFC8E-BE43-4DA3-A866-B2FD47DD07D9}"/>
              </a:ext>
            </a:extLst>
          </p:cNvPr>
          <p:cNvSpPr txBox="1"/>
          <p:nvPr/>
        </p:nvSpPr>
        <p:spPr>
          <a:xfrm>
            <a:off x="725033" y="1482046"/>
            <a:ext cx="752727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Ms. Kusum will retire in 20 years. She wants a corpus of 2 crore at her retirement age. How much money she should deposit each year to accumulate the mentioned amount in 20 years assuming rate of interest 15% p.a.</a:t>
            </a: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BF1E944D-CE10-4B71-A401-69AD2F362637}"/>
              </a:ext>
            </a:extLst>
          </p:cNvPr>
          <p:cNvSpPr txBox="1"/>
          <p:nvPr/>
        </p:nvSpPr>
        <p:spPr>
          <a:xfrm>
            <a:off x="8335635" y="120748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defRPr>
            </a:lvl1pPr>
          </a:lstStyle>
          <a:p>
            <a:r>
              <a:rPr lang="en-US" dirty="0"/>
              <a:t>33</a:t>
            </a:r>
            <a:endParaRPr lang="en-IN" dirty="0"/>
          </a:p>
        </p:txBody>
      </p:sp>
      <p:grpSp>
        <p:nvGrpSpPr>
          <p:cNvPr id="2" name="Group 28">
            <a:extLst>
              <a:ext uri="{FF2B5EF4-FFF2-40B4-BE49-F238E27FC236}">
                <a16:creationId xmlns="" xmlns:a16="http://schemas.microsoft.com/office/drawing/2014/main" id="{DC6F76AC-7D38-4912-ACF6-F2A199026BCA}"/>
              </a:ext>
            </a:extLst>
          </p:cNvPr>
          <p:cNvGrpSpPr/>
          <p:nvPr/>
        </p:nvGrpSpPr>
        <p:grpSpPr>
          <a:xfrm>
            <a:off x="987065" y="2321012"/>
            <a:ext cx="6499665" cy="946509"/>
            <a:chOff x="1215828" y="3943263"/>
            <a:chExt cx="5031164" cy="1262012"/>
          </a:xfrm>
        </p:grpSpPr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6BAA48B3-7C2F-4597-9445-1FE4A488E061}"/>
                </a:ext>
              </a:extLst>
            </p:cNvPr>
            <p:cNvSpPr txBox="1"/>
            <p:nvPr/>
          </p:nvSpPr>
          <p:spPr>
            <a:xfrm>
              <a:off x="1215828" y="4264047"/>
              <a:ext cx="224153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2,00,00,000 =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03878399-1349-46D6-BF40-BBA8F3B1A063}"/>
                </a:ext>
              </a:extLst>
            </p:cNvPr>
            <p:cNvSpPr txBox="1"/>
            <p:nvPr/>
          </p:nvSpPr>
          <p:spPr>
            <a:xfrm>
              <a:off x="3849425" y="4042190"/>
              <a:ext cx="2052173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(1+0.15) 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EE850E25-F5ED-4311-9437-CA47C8A5F809}"/>
                </a:ext>
              </a:extLst>
            </p:cNvPr>
            <p:cNvSpPr txBox="1"/>
            <p:nvPr/>
          </p:nvSpPr>
          <p:spPr>
            <a:xfrm>
              <a:off x="4645114" y="3943263"/>
              <a:ext cx="469590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5353"/>
                  </a:solidFill>
                  <a:latin typeface="+mj-lt"/>
                </a:rPr>
                <a:t>20</a:t>
              </a:r>
              <a:endParaRPr lang="en-IN" sz="16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3" name="Minus Sign 32">
              <a:extLst>
                <a:ext uri="{FF2B5EF4-FFF2-40B4-BE49-F238E27FC236}">
                  <a16:creationId xmlns="" xmlns:a16="http://schemas.microsoft.com/office/drawing/2014/main" id="{F72EFFFD-F237-4905-AE31-163EB03D1AB2}"/>
                </a:ext>
              </a:extLst>
            </p:cNvPr>
            <p:cNvSpPr/>
            <p:nvPr/>
          </p:nvSpPr>
          <p:spPr>
            <a:xfrm>
              <a:off x="4979004" y="4205036"/>
              <a:ext cx="271400" cy="218685"/>
            </a:xfrm>
            <a:prstGeom prst="mathMinus">
              <a:avLst/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024D02DF-4D25-42E0-A903-B2F4553DD7CD}"/>
                </a:ext>
              </a:extLst>
            </p:cNvPr>
            <p:cNvSpPr txBox="1"/>
            <p:nvPr/>
          </p:nvSpPr>
          <p:spPr>
            <a:xfrm>
              <a:off x="5114704" y="4046734"/>
              <a:ext cx="42070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1 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35" name="Minus Sign 34">
              <a:extLst>
                <a:ext uri="{FF2B5EF4-FFF2-40B4-BE49-F238E27FC236}">
                  <a16:creationId xmlns="" xmlns:a16="http://schemas.microsoft.com/office/drawing/2014/main" id="{451B3DB9-D657-424D-8936-378D55751B7F}"/>
                </a:ext>
              </a:extLst>
            </p:cNvPr>
            <p:cNvSpPr/>
            <p:nvPr/>
          </p:nvSpPr>
          <p:spPr>
            <a:xfrm>
              <a:off x="3295103" y="4380141"/>
              <a:ext cx="2951889" cy="412766"/>
            </a:xfrm>
            <a:prstGeom prst="mathMinus">
              <a:avLst>
                <a:gd name="adj1" fmla="val 14655"/>
              </a:avLst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14F575FE-1CC8-4593-B059-994E37876908}"/>
                </a:ext>
              </a:extLst>
            </p:cNvPr>
            <p:cNvSpPr txBox="1"/>
            <p:nvPr/>
          </p:nvSpPr>
          <p:spPr>
            <a:xfrm>
              <a:off x="3942530" y="4589722"/>
              <a:ext cx="102671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0.15 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grpSp>
          <p:nvGrpSpPr>
            <p:cNvPr id="3" name="Group 36">
              <a:extLst>
                <a:ext uri="{FF2B5EF4-FFF2-40B4-BE49-F238E27FC236}">
                  <a16:creationId xmlns="" xmlns:a16="http://schemas.microsoft.com/office/drawing/2014/main" id="{2E29238C-16C3-4DC2-A059-C96AB6FA3C79}"/>
                </a:ext>
              </a:extLst>
            </p:cNvPr>
            <p:cNvGrpSpPr/>
            <p:nvPr/>
          </p:nvGrpSpPr>
          <p:grpSpPr>
            <a:xfrm>
              <a:off x="2978575" y="4226178"/>
              <a:ext cx="587069" cy="700530"/>
              <a:chOff x="2529539" y="4089550"/>
              <a:chExt cx="587069" cy="700530"/>
            </a:xfrm>
          </p:grpSpPr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66A19675-0F49-40D0-BB18-F60B45E829AA}"/>
                  </a:ext>
                </a:extLst>
              </p:cNvPr>
              <p:cNvSpPr txBox="1"/>
              <p:nvPr/>
            </p:nvSpPr>
            <p:spPr>
              <a:xfrm>
                <a:off x="2529539" y="4089550"/>
                <a:ext cx="575578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5353"/>
                    </a:solidFill>
                    <a:latin typeface="+mj-lt"/>
                  </a:rPr>
                  <a:t>A </a:t>
                </a:r>
                <a:endParaRPr lang="en-IN" sz="2400" dirty="0">
                  <a:solidFill>
                    <a:srgbClr val="FF5353"/>
                  </a:solidFill>
                  <a:latin typeface="+mj-lt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063FD215-9D0C-4B80-8EB4-FE101BF52407}"/>
                  </a:ext>
                </a:extLst>
              </p:cNvPr>
              <p:cNvSpPr txBox="1"/>
              <p:nvPr/>
            </p:nvSpPr>
            <p:spPr>
              <a:xfrm>
                <a:off x="2849718" y="4174527"/>
                <a:ext cx="266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5353"/>
                    </a:solidFill>
                    <a:latin typeface="+mj-lt"/>
                  </a:rPr>
                  <a:t>* </a:t>
                </a:r>
                <a:endParaRPr lang="en-IN" sz="2400" dirty="0">
                  <a:solidFill>
                    <a:srgbClr val="FF5353"/>
                  </a:solidFill>
                  <a:latin typeface="+mj-lt"/>
                </a:endParaRPr>
              </a:p>
            </p:txBody>
          </p:sp>
        </p:grpSp>
      </p:grpSp>
      <p:grpSp>
        <p:nvGrpSpPr>
          <p:cNvPr id="4" name="Group 39">
            <a:extLst>
              <a:ext uri="{FF2B5EF4-FFF2-40B4-BE49-F238E27FC236}">
                <a16:creationId xmlns="" xmlns:a16="http://schemas.microsoft.com/office/drawing/2014/main" id="{55B59327-33DD-4CCA-A24F-D25E03C4CB28}"/>
              </a:ext>
            </a:extLst>
          </p:cNvPr>
          <p:cNvGrpSpPr/>
          <p:nvPr/>
        </p:nvGrpSpPr>
        <p:grpSpPr>
          <a:xfrm>
            <a:off x="966548" y="3277457"/>
            <a:ext cx="6053457" cy="868863"/>
            <a:chOff x="1215828" y="3981741"/>
            <a:chExt cx="4685770" cy="1158484"/>
          </a:xfrm>
        </p:grpSpPr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9F620D4F-4A8B-4F45-A3D4-29B5049EB6C3}"/>
                </a:ext>
              </a:extLst>
            </p:cNvPr>
            <p:cNvSpPr txBox="1"/>
            <p:nvPr/>
          </p:nvSpPr>
          <p:spPr>
            <a:xfrm>
              <a:off x="1215828" y="4264046"/>
              <a:ext cx="2241539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2,00,00,000 =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BEBB7A30-33EE-4130-B174-6A17E57A7BED}"/>
                </a:ext>
              </a:extLst>
            </p:cNvPr>
            <p:cNvSpPr txBox="1"/>
            <p:nvPr/>
          </p:nvSpPr>
          <p:spPr>
            <a:xfrm>
              <a:off x="3849425" y="4042189"/>
              <a:ext cx="2052173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16.37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44" name="Minus Sign 43">
              <a:extLst>
                <a:ext uri="{FF2B5EF4-FFF2-40B4-BE49-F238E27FC236}">
                  <a16:creationId xmlns="" xmlns:a16="http://schemas.microsoft.com/office/drawing/2014/main" id="{3906E0F1-93DF-432E-8601-A886FE375F85}"/>
                </a:ext>
              </a:extLst>
            </p:cNvPr>
            <p:cNvSpPr/>
            <p:nvPr/>
          </p:nvSpPr>
          <p:spPr>
            <a:xfrm>
              <a:off x="4607887" y="4205036"/>
              <a:ext cx="152309" cy="183656"/>
            </a:xfrm>
            <a:prstGeom prst="mathMinus">
              <a:avLst/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AD56AFA8-33BD-4188-810B-282F90FF089C}"/>
                </a:ext>
              </a:extLst>
            </p:cNvPr>
            <p:cNvSpPr txBox="1"/>
            <p:nvPr/>
          </p:nvSpPr>
          <p:spPr>
            <a:xfrm>
              <a:off x="4634938" y="3981741"/>
              <a:ext cx="420704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1 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46" name="Minus Sign 45">
              <a:extLst>
                <a:ext uri="{FF2B5EF4-FFF2-40B4-BE49-F238E27FC236}">
                  <a16:creationId xmlns="" xmlns:a16="http://schemas.microsoft.com/office/drawing/2014/main" id="{96A441C5-A889-4389-8CB1-DA8BAEB3D51E}"/>
                </a:ext>
              </a:extLst>
            </p:cNvPr>
            <p:cNvSpPr/>
            <p:nvPr/>
          </p:nvSpPr>
          <p:spPr>
            <a:xfrm>
              <a:off x="3705154" y="4316904"/>
              <a:ext cx="1603710" cy="412766"/>
            </a:xfrm>
            <a:prstGeom prst="mathMinus">
              <a:avLst>
                <a:gd name="adj1" fmla="val 14655"/>
              </a:avLst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1006132D-FDD4-4EA9-BC3D-7351A97855B1}"/>
                </a:ext>
              </a:extLst>
            </p:cNvPr>
            <p:cNvSpPr txBox="1"/>
            <p:nvPr/>
          </p:nvSpPr>
          <p:spPr>
            <a:xfrm>
              <a:off x="4087475" y="4524671"/>
              <a:ext cx="658292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0.15 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grpSp>
          <p:nvGrpSpPr>
            <p:cNvPr id="5" name="Group 47">
              <a:extLst>
                <a:ext uri="{FF2B5EF4-FFF2-40B4-BE49-F238E27FC236}">
                  <a16:creationId xmlns="" xmlns:a16="http://schemas.microsoft.com/office/drawing/2014/main" id="{AF6F517B-781F-465F-AD6F-103F9AF76AAF}"/>
                </a:ext>
              </a:extLst>
            </p:cNvPr>
            <p:cNvGrpSpPr/>
            <p:nvPr/>
          </p:nvGrpSpPr>
          <p:grpSpPr>
            <a:xfrm>
              <a:off x="2978575" y="4226177"/>
              <a:ext cx="587069" cy="700530"/>
              <a:chOff x="2529539" y="4089549"/>
              <a:chExt cx="587069" cy="700530"/>
            </a:xfrm>
          </p:grpSpPr>
          <p:sp>
            <p:nvSpPr>
              <p:cNvPr id="49" name="TextBox 48">
                <a:extLst>
                  <a:ext uri="{FF2B5EF4-FFF2-40B4-BE49-F238E27FC236}">
                    <a16:creationId xmlns="" xmlns:a16="http://schemas.microsoft.com/office/drawing/2014/main" id="{4AA2B15A-2E98-4438-97FB-5ADDF8753B76}"/>
                  </a:ext>
                </a:extLst>
              </p:cNvPr>
              <p:cNvSpPr txBox="1"/>
              <p:nvPr/>
            </p:nvSpPr>
            <p:spPr>
              <a:xfrm>
                <a:off x="2529539" y="4089549"/>
                <a:ext cx="575578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5353"/>
                    </a:solidFill>
                    <a:latin typeface="+mj-lt"/>
                  </a:rPr>
                  <a:t>A </a:t>
                </a:r>
                <a:endParaRPr lang="en-IN" sz="2400" dirty="0">
                  <a:solidFill>
                    <a:srgbClr val="FF5353"/>
                  </a:solidFill>
                  <a:latin typeface="+mj-lt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="" xmlns:a16="http://schemas.microsoft.com/office/drawing/2014/main" id="{F801728E-C099-4504-886D-ACEC25A50A75}"/>
                  </a:ext>
                </a:extLst>
              </p:cNvPr>
              <p:cNvSpPr txBox="1"/>
              <p:nvPr/>
            </p:nvSpPr>
            <p:spPr>
              <a:xfrm>
                <a:off x="2849718" y="4174526"/>
                <a:ext cx="2668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5353"/>
                    </a:solidFill>
                    <a:latin typeface="+mj-lt"/>
                  </a:rPr>
                  <a:t>* </a:t>
                </a:r>
                <a:endParaRPr lang="en-IN" sz="2400" dirty="0">
                  <a:solidFill>
                    <a:srgbClr val="FF5353"/>
                  </a:solidFill>
                  <a:latin typeface="+mj-lt"/>
                </a:endParaRPr>
              </a:p>
            </p:txBody>
          </p:sp>
        </p:grpSp>
      </p:grpSp>
      <p:cxnSp>
        <p:nvCxnSpPr>
          <p:cNvPr id="57" name="Straight Connector 56">
            <a:extLst>
              <a:ext uri="{FF2B5EF4-FFF2-40B4-BE49-F238E27FC236}">
                <a16:creationId xmlns="" xmlns:a16="http://schemas.microsoft.com/office/drawing/2014/main" id="{8DF0D2F2-205B-4335-BE89-D57097AE2B09}"/>
              </a:ext>
            </a:extLst>
          </p:cNvPr>
          <p:cNvCxnSpPr/>
          <p:nvPr/>
        </p:nvCxnSpPr>
        <p:spPr>
          <a:xfrm>
            <a:off x="6929216" y="3237277"/>
            <a:ext cx="0" cy="799709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67">
            <a:extLst>
              <a:ext uri="{FF2B5EF4-FFF2-40B4-BE49-F238E27FC236}">
                <a16:creationId xmlns="" xmlns:a16="http://schemas.microsoft.com/office/drawing/2014/main" id="{470E49A2-4B01-4D27-8902-5EE1231F6DF8}"/>
              </a:ext>
            </a:extLst>
          </p:cNvPr>
          <p:cNvGrpSpPr/>
          <p:nvPr/>
        </p:nvGrpSpPr>
        <p:grpSpPr>
          <a:xfrm>
            <a:off x="7090515" y="3272739"/>
            <a:ext cx="1708924" cy="810838"/>
            <a:chOff x="6906031" y="4475944"/>
            <a:chExt cx="1708924" cy="1081117"/>
          </a:xfrm>
        </p:grpSpPr>
        <p:cxnSp>
          <p:nvCxnSpPr>
            <p:cNvPr id="62" name="Straight Connector 61">
              <a:extLst>
                <a:ext uri="{FF2B5EF4-FFF2-40B4-BE49-F238E27FC236}">
                  <a16:creationId xmlns="" xmlns:a16="http://schemas.microsoft.com/office/drawing/2014/main" id="{83D014FB-147D-4B10-A229-16F150E7D2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79312" y="4388765"/>
              <a:ext cx="0" cy="1066279"/>
            </a:xfrm>
            <a:prstGeom prst="line">
              <a:avLst/>
            </a:prstGeom>
            <a:ln w="28575">
              <a:solidFill>
                <a:srgbClr val="FF53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6">
              <a:extLst>
                <a:ext uri="{FF2B5EF4-FFF2-40B4-BE49-F238E27FC236}">
                  <a16:creationId xmlns="" xmlns:a16="http://schemas.microsoft.com/office/drawing/2014/main" id="{7506552E-92D5-4B2F-AE10-90434BE2864F}"/>
                </a:ext>
              </a:extLst>
            </p:cNvPr>
            <p:cNvGrpSpPr/>
            <p:nvPr/>
          </p:nvGrpSpPr>
          <p:grpSpPr>
            <a:xfrm>
              <a:off x="6906031" y="4475944"/>
              <a:ext cx="1708924" cy="1081117"/>
              <a:chOff x="6906031" y="4475944"/>
              <a:chExt cx="1708924" cy="1081117"/>
            </a:xfrm>
          </p:grpSpPr>
          <p:sp>
            <p:nvSpPr>
              <p:cNvPr id="58" name="TextBox 57">
                <a:extLst>
                  <a:ext uri="{FF2B5EF4-FFF2-40B4-BE49-F238E27FC236}">
                    <a16:creationId xmlns="" xmlns:a16="http://schemas.microsoft.com/office/drawing/2014/main" id="{9C1E88E3-AB82-4EE8-B6CF-9C2D9D7C9F29}"/>
                  </a:ext>
                </a:extLst>
              </p:cNvPr>
              <p:cNvSpPr txBox="1"/>
              <p:nvPr/>
            </p:nvSpPr>
            <p:spPr>
              <a:xfrm>
                <a:off x="7603955" y="4941507"/>
                <a:ext cx="1011000" cy="615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5353"/>
                    </a:solidFill>
                    <a:latin typeface="+mj-lt"/>
                  </a:rPr>
                  <a:t>0.15</a:t>
                </a:r>
                <a:endParaRPr lang="en-IN" sz="2400" dirty="0">
                  <a:solidFill>
                    <a:srgbClr val="FF5353"/>
                  </a:solidFill>
                  <a:latin typeface="+mj-lt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="" xmlns:a16="http://schemas.microsoft.com/office/drawing/2014/main" id="{72FD8E9E-9C5E-4DFB-9398-43D439BC8996}"/>
                  </a:ext>
                </a:extLst>
              </p:cNvPr>
              <p:cNvSpPr txBox="1"/>
              <p:nvPr/>
            </p:nvSpPr>
            <p:spPr>
              <a:xfrm>
                <a:off x="7553096" y="4475944"/>
                <a:ext cx="101100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5353"/>
                    </a:solidFill>
                    <a:latin typeface="+mj-lt"/>
                  </a:rPr>
                  <a:t>15.37</a:t>
                </a:r>
                <a:endParaRPr lang="en-IN" sz="2400" dirty="0">
                  <a:solidFill>
                    <a:srgbClr val="FF5353"/>
                  </a:solidFill>
                  <a:latin typeface="+mj-lt"/>
                </a:endParaRPr>
              </a:p>
            </p:txBody>
          </p:sp>
          <p:sp>
            <p:nvSpPr>
              <p:cNvPr id="65" name="Equals 64">
                <a:extLst>
                  <a:ext uri="{FF2B5EF4-FFF2-40B4-BE49-F238E27FC236}">
                    <a16:creationId xmlns="" xmlns:a16="http://schemas.microsoft.com/office/drawing/2014/main" id="{E122E826-AB1F-43B1-92EC-6431900A4938}"/>
                  </a:ext>
                </a:extLst>
              </p:cNvPr>
              <p:cNvSpPr/>
              <p:nvPr/>
            </p:nvSpPr>
            <p:spPr>
              <a:xfrm>
                <a:off x="6906031" y="4784924"/>
                <a:ext cx="464705" cy="273959"/>
              </a:xfrm>
              <a:prstGeom prst="mathEqual">
                <a:avLst/>
              </a:prstGeom>
              <a:solidFill>
                <a:srgbClr val="FF53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" name="Group 69">
            <a:extLst>
              <a:ext uri="{FF2B5EF4-FFF2-40B4-BE49-F238E27FC236}">
                <a16:creationId xmlns="" xmlns:a16="http://schemas.microsoft.com/office/drawing/2014/main" id="{51464456-F7C2-4C29-B35B-06AF4A643D9F}"/>
              </a:ext>
            </a:extLst>
          </p:cNvPr>
          <p:cNvGrpSpPr/>
          <p:nvPr/>
        </p:nvGrpSpPr>
        <p:grpSpPr>
          <a:xfrm>
            <a:off x="936011" y="4036985"/>
            <a:ext cx="6296067" cy="869441"/>
            <a:chOff x="751526" y="5494942"/>
            <a:chExt cx="6296067" cy="1159254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8F3DB2B9-9BC2-4905-9BE5-5A17223C6E8B}"/>
                </a:ext>
              </a:extLst>
            </p:cNvPr>
            <p:cNvSpPr txBox="1"/>
            <p:nvPr/>
          </p:nvSpPr>
          <p:spPr>
            <a:xfrm>
              <a:off x="751526" y="5640683"/>
              <a:ext cx="72996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5353"/>
                  </a:solidFill>
                  <a:latin typeface="+mj-lt"/>
                </a:defRPr>
              </a:lvl1pPr>
            </a:lstStyle>
            <a:p>
              <a:r>
                <a:rPr lang="en-US" dirty="0"/>
                <a:t>A =</a:t>
              </a:r>
              <a:endParaRPr lang="en-IN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6E6E253A-7F48-4FCD-9538-359C82C74D34}"/>
                </a:ext>
              </a:extLst>
            </p:cNvPr>
            <p:cNvSpPr txBox="1"/>
            <p:nvPr/>
          </p:nvSpPr>
          <p:spPr>
            <a:xfrm>
              <a:off x="1788145" y="5494942"/>
              <a:ext cx="18329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2,00,00,000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52" name="Minus Sign 51">
              <a:extLst>
                <a:ext uri="{FF2B5EF4-FFF2-40B4-BE49-F238E27FC236}">
                  <a16:creationId xmlns="" xmlns:a16="http://schemas.microsoft.com/office/drawing/2014/main" id="{5A5581BB-893F-4AC6-B45E-B84FBEC38AF2}"/>
                </a:ext>
              </a:extLst>
            </p:cNvPr>
            <p:cNvSpPr/>
            <p:nvPr/>
          </p:nvSpPr>
          <p:spPr>
            <a:xfrm>
              <a:off x="1312336" y="5773865"/>
              <a:ext cx="2738895" cy="412766"/>
            </a:xfrm>
            <a:prstGeom prst="mathMinus">
              <a:avLst>
                <a:gd name="adj1" fmla="val 14655"/>
              </a:avLst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8D22A33F-A090-490B-BF1D-36FD535BEDC2}"/>
                </a:ext>
              </a:extLst>
            </p:cNvPr>
            <p:cNvSpPr txBox="1"/>
            <p:nvPr/>
          </p:nvSpPr>
          <p:spPr>
            <a:xfrm>
              <a:off x="2070922" y="6038643"/>
              <a:ext cx="117893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102.47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66" name="Equals 65">
              <a:extLst>
                <a:ext uri="{FF2B5EF4-FFF2-40B4-BE49-F238E27FC236}">
                  <a16:creationId xmlns="" xmlns:a16="http://schemas.microsoft.com/office/drawing/2014/main" id="{0D9D7D58-1A37-4645-B828-81C6D449E991}"/>
                </a:ext>
              </a:extLst>
            </p:cNvPr>
            <p:cNvSpPr/>
            <p:nvPr/>
          </p:nvSpPr>
          <p:spPr>
            <a:xfrm>
              <a:off x="3928647" y="5819627"/>
              <a:ext cx="464705" cy="273959"/>
            </a:xfrm>
            <a:prstGeom prst="mathEqual">
              <a:avLst/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11DEE721-F675-48B0-90E9-D4723DAD70D0}"/>
                </a:ext>
              </a:extLst>
            </p:cNvPr>
            <p:cNvSpPr txBox="1"/>
            <p:nvPr/>
          </p:nvSpPr>
          <p:spPr>
            <a:xfrm>
              <a:off x="4571995" y="5725774"/>
              <a:ext cx="247559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5353"/>
                  </a:solidFill>
                  <a:latin typeface="+mj-lt"/>
                </a:defRPr>
              </a:lvl1pPr>
            </a:lstStyle>
            <a:p>
              <a:r>
                <a:rPr lang="en-US" dirty="0"/>
                <a:t>Rs. 1,95,179 p.a.</a:t>
              </a:r>
              <a:endParaRPr lang="en-IN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12101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CC00A57-9C57-48C4-A2A2-57E6BBE5034F}"/>
              </a:ext>
            </a:extLst>
          </p:cNvPr>
          <p:cNvSpPr txBox="1"/>
          <p:nvPr/>
        </p:nvSpPr>
        <p:spPr>
          <a:xfrm>
            <a:off x="609600" y="133350"/>
            <a:ext cx="75272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Lato" panose="020F0502020204030203" pitchFamily="34" charset="0"/>
              </a:rPr>
              <a:t>What is the future value of Rs. 20,000 invested now for a period of 5 years at an interest rate of 8% p.a. compounded quarterly?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xmlns="" id="{77471DAF-736E-4C1A-91B4-30C7496AE25F}"/>
              </a:ext>
            </a:extLst>
          </p:cNvPr>
          <p:cNvGrpSpPr/>
          <p:nvPr/>
        </p:nvGrpSpPr>
        <p:grpSpPr>
          <a:xfrm>
            <a:off x="1351373" y="2865135"/>
            <a:ext cx="6907500" cy="1411853"/>
            <a:chOff x="1450452" y="3988764"/>
            <a:chExt cx="6907500" cy="1882470"/>
          </a:xfrm>
        </p:grpSpPr>
        <p:sp>
          <p:nvSpPr>
            <p:cNvPr id="47" name="Minus Sign 46">
              <a:extLst>
                <a:ext uri="{FF2B5EF4-FFF2-40B4-BE49-F238E27FC236}">
                  <a16:creationId xmlns:a16="http://schemas.microsoft.com/office/drawing/2014/main" xmlns="" id="{5645F95E-BCF2-4269-8F35-E05163784F6D}"/>
                </a:ext>
              </a:extLst>
            </p:cNvPr>
            <p:cNvSpPr/>
            <p:nvPr/>
          </p:nvSpPr>
          <p:spPr>
            <a:xfrm>
              <a:off x="6250065" y="4859172"/>
              <a:ext cx="1144365" cy="273767"/>
            </a:xfrm>
            <a:prstGeom prst="mathMinus">
              <a:avLst/>
            </a:prstGeom>
            <a:solidFill>
              <a:srgbClr val="FF53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5353"/>
                  </a:solidFill>
                </a:rPr>
                <a:t>  </a:t>
              </a:r>
              <a:endParaRPr lang="en-IN" dirty="0">
                <a:solidFill>
                  <a:srgbClr val="FF5353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FBB61DB-1264-429C-A127-48941D9F7962}"/>
                </a:ext>
              </a:extLst>
            </p:cNvPr>
            <p:cNvSpPr txBox="1"/>
            <p:nvPr/>
          </p:nvSpPr>
          <p:spPr>
            <a:xfrm>
              <a:off x="6532068" y="5009460"/>
              <a:ext cx="58035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5353"/>
                  </a:solidFill>
                  <a:latin typeface="+mj-lt"/>
                </a:rPr>
                <a:t>4</a:t>
              </a:r>
              <a:endParaRPr lang="en-IN" sz="36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49" name="Right Bracket 48">
              <a:extLst>
                <a:ext uri="{FF2B5EF4-FFF2-40B4-BE49-F238E27FC236}">
                  <a16:creationId xmlns:a16="http://schemas.microsoft.com/office/drawing/2014/main" xmlns="" id="{7F16C908-0707-4F70-8035-8DF07AE0CFBD}"/>
                </a:ext>
              </a:extLst>
            </p:cNvPr>
            <p:cNvSpPr/>
            <p:nvPr/>
          </p:nvSpPr>
          <p:spPr>
            <a:xfrm>
              <a:off x="7154534" y="4311417"/>
              <a:ext cx="428984" cy="1306150"/>
            </a:xfrm>
            <a:prstGeom prst="rightBracket">
              <a:avLst>
                <a:gd name="adj" fmla="val 152238"/>
              </a:avLst>
            </a:prstGeom>
            <a:ln w="57150">
              <a:solidFill>
                <a:srgbClr val="FF53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5353"/>
                </a:solidFill>
              </a:endParaRPr>
            </a:p>
          </p:txBody>
        </p:sp>
        <p:sp>
          <p:nvSpPr>
            <p:cNvPr id="50" name="Right Bracket 49">
              <a:extLst>
                <a:ext uri="{FF2B5EF4-FFF2-40B4-BE49-F238E27FC236}">
                  <a16:creationId xmlns:a16="http://schemas.microsoft.com/office/drawing/2014/main" xmlns="" id="{D9EF8062-4E19-4EEA-85D1-CC981431AE68}"/>
                </a:ext>
              </a:extLst>
            </p:cNvPr>
            <p:cNvSpPr/>
            <p:nvPr/>
          </p:nvSpPr>
          <p:spPr>
            <a:xfrm flipH="1">
              <a:off x="4885150" y="4347287"/>
              <a:ext cx="317914" cy="1305430"/>
            </a:xfrm>
            <a:prstGeom prst="rightBracket">
              <a:avLst>
                <a:gd name="adj" fmla="val 205312"/>
              </a:avLst>
            </a:prstGeom>
            <a:ln w="57150">
              <a:solidFill>
                <a:srgbClr val="FF53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5353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62F235C7-22B8-43CD-93CC-52623CE38F26}"/>
                </a:ext>
              </a:extLst>
            </p:cNvPr>
            <p:cNvSpPr txBox="1"/>
            <p:nvPr/>
          </p:nvSpPr>
          <p:spPr>
            <a:xfrm>
              <a:off x="5056446" y="4504566"/>
              <a:ext cx="1321493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FF5353"/>
                  </a:solidFill>
                  <a:latin typeface="+mj-lt"/>
                </a:rPr>
                <a:t>1 +</a:t>
              </a:r>
              <a:endParaRPr lang="en-IN" sz="54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D537DD02-2577-43A1-B4C1-42A14D97F136}"/>
                </a:ext>
              </a:extLst>
            </p:cNvPr>
            <p:cNvSpPr txBox="1"/>
            <p:nvPr/>
          </p:nvSpPr>
          <p:spPr>
            <a:xfrm>
              <a:off x="6300636" y="4382993"/>
              <a:ext cx="1144268" cy="779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5353"/>
                  </a:solidFill>
                  <a:latin typeface="+mj-lt"/>
                </a:rPr>
                <a:t>0.08</a:t>
              </a:r>
              <a:endParaRPr lang="en-IN" sz="32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5266B770-06EB-4702-8A19-9A5060EA5920}"/>
                </a:ext>
              </a:extLst>
            </p:cNvPr>
            <p:cNvSpPr txBox="1"/>
            <p:nvPr/>
          </p:nvSpPr>
          <p:spPr>
            <a:xfrm>
              <a:off x="7382296" y="3991837"/>
              <a:ext cx="95333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5353"/>
                  </a:solidFill>
                  <a:latin typeface="+mj-lt"/>
                </a:rPr>
                <a:t>5*4</a:t>
              </a:r>
              <a:endParaRPr lang="en-IN" sz="2400" dirty="0">
                <a:solidFill>
                  <a:srgbClr val="FF5353"/>
                </a:solidFill>
                <a:latin typeface="+mj-lt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xmlns="" id="{591CD9D1-A4CC-47A2-9B82-6ADCBFDC0A38}"/>
                </a:ext>
              </a:extLst>
            </p:cNvPr>
            <p:cNvGrpSpPr/>
            <p:nvPr/>
          </p:nvGrpSpPr>
          <p:grpSpPr>
            <a:xfrm>
              <a:off x="6272382" y="3988764"/>
              <a:ext cx="2085570" cy="1879396"/>
              <a:chOff x="6272382" y="3988764"/>
              <a:chExt cx="2085570" cy="1879396"/>
            </a:xfrm>
          </p:grpSpPr>
          <p:sp>
            <p:nvSpPr>
              <p:cNvPr id="54" name="Minus Sign 53">
                <a:extLst>
                  <a:ext uri="{FF2B5EF4-FFF2-40B4-BE49-F238E27FC236}">
                    <a16:creationId xmlns:a16="http://schemas.microsoft.com/office/drawing/2014/main" xmlns="" id="{D3833B9E-14EE-4DB1-9BC2-3A6A162D7FC8}"/>
                  </a:ext>
                </a:extLst>
              </p:cNvPr>
              <p:cNvSpPr/>
              <p:nvPr/>
            </p:nvSpPr>
            <p:spPr>
              <a:xfrm>
                <a:off x="6272382" y="4856099"/>
                <a:ext cx="1144365" cy="273767"/>
              </a:xfrm>
              <a:prstGeom prst="mathMinus">
                <a:avLst/>
              </a:prstGeom>
              <a:solidFill>
                <a:srgbClr val="FF53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FF5353"/>
                    </a:solidFill>
                  </a:rPr>
                  <a:t>  </a:t>
                </a:r>
                <a:endParaRPr lang="en-IN" dirty="0">
                  <a:solidFill>
                    <a:srgbClr val="FF5353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71F3AC7D-EABF-4D78-8305-ED39D4178F53}"/>
                  </a:ext>
                </a:extLst>
              </p:cNvPr>
              <p:cNvSpPr txBox="1"/>
              <p:nvPr/>
            </p:nvSpPr>
            <p:spPr>
              <a:xfrm>
                <a:off x="6554385" y="5006386"/>
                <a:ext cx="58035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FF5353"/>
                    </a:solidFill>
                    <a:latin typeface="+mj-lt"/>
                  </a:rPr>
                  <a:t>4</a:t>
                </a:r>
                <a:endParaRPr lang="en-IN" sz="3600" dirty="0">
                  <a:solidFill>
                    <a:srgbClr val="FF5353"/>
                  </a:solidFill>
                  <a:latin typeface="+mj-lt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E512282B-F2C7-4D68-ACF4-149E4C4B86F3}"/>
                  </a:ext>
                </a:extLst>
              </p:cNvPr>
              <p:cNvSpPr txBox="1"/>
              <p:nvPr/>
            </p:nvSpPr>
            <p:spPr>
              <a:xfrm>
                <a:off x="6322953" y="4379920"/>
                <a:ext cx="1144268" cy="77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FF5353"/>
                    </a:solidFill>
                    <a:latin typeface="+mj-lt"/>
                  </a:rPr>
                  <a:t>0.08</a:t>
                </a:r>
                <a:endParaRPr lang="en-IN" sz="3200" dirty="0">
                  <a:solidFill>
                    <a:srgbClr val="FF5353"/>
                  </a:solidFill>
                  <a:latin typeface="+mj-lt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BD812775-F0B9-412E-B2CF-463AC3314A6F}"/>
                  </a:ext>
                </a:extLst>
              </p:cNvPr>
              <p:cNvSpPr txBox="1"/>
              <p:nvPr/>
            </p:nvSpPr>
            <p:spPr>
              <a:xfrm>
                <a:off x="7404613" y="3988764"/>
                <a:ext cx="953339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5353"/>
                    </a:solidFill>
                    <a:latin typeface="+mj-lt"/>
                  </a:rPr>
                  <a:t>5*4</a:t>
                </a:r>
                <a:endParaRPr lang="en-IN" sz="2400" dirty="0">
                  <a:solidFill>
                    <a:srgbClr val="FF5353"/>
                  </a:solidFill>
                  <a:latin typeface="+mj-lt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AA6B2DBF-B8FC-4556-80DE-47E34BF9D887}"/>
                </a:ext>
              </a:extLst>
            </p:cNvPr>
            <p:cNvSpPr txBox="1"/>
            <p:nvPr/>
          </p:nvSpPr>
          <p:spPr>
            <a:xfrm>
              <a:off x="2780565" y="4493832"/>
              <a:ext cx="225482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FF5353"/>
                  </a:solidFill>
                  <a:latin typeface="+mj-lt"/>
                </a:rPr>
                <a:t>20,000</a:t>
              </a:r>
              <a:endParaRPr lang="en-IN" sz="4800" dirty="0">
                <a:solidFill>
                  <a:srgbClr val="FF5353"/>
                </a:solidFill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FF9DE9C0-8C8F-4210-9CCE-184C5438CB67}"/>
                </a:ext>
              </a:extLst>
            </p:cNvPr>
            <p:cNvSpPr txBox="1"/>
            <p:nvPr/>
          </p:nvSpPr>
          <p:spPr>
            <a:xfrm>
              <a:off x="1450452" y="4563182"/>
              <a:ext cx="1380895" cy="1025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rgbClr val="FF5353"/>
                  </a:solidFill>
                  <a:latin typeface="+mj-lt"/>
                </a:rPr>
                <a:t>FV = </a:t>
              </a:r>
              <a:endParaRPr lang="en-IN" sz="4400" dirty="0">
                <a:solidFill>
                  <a:srgbClr val="FF5353"/>
                </a:solidFill>
                <a:latin typeface="+mj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D80EA40-F943-43F5-A352-730C32E408EF}"/>
              </a:ext>
            </a:extLst>
          </p:cNvPr>
          <p:cNvSpPr txBox="1"/>
          <p:nvPr/>
        </p:nvSpPr>
        <p:spPr>
          <a:xfrm>
            <a:off x="2170685" y="4108051"/>
            <a:ext cx="5313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5353"/>
                </a:solidFill>
                <a:latin typeface="+mj-lt"/>
              </a:rPr>
              <a:t>= Rs. 29,718</a:t>
            </a:r>
            <a:endParaRPr lang="en-IN" sz="6000" dirty="0">
              <a:solidFill>
                <a:srgbClr val="FF535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5505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3050" cy="5143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628650"/>
            <a:ext cx="7772400" cy="914400"/>
          </a:xfrm>
        </p:spPr>
        <p:txBody>
          <a:bodyPr/>
          <a:lstStyle/>
          <a:p>
            <a:r>
              <a:rPr lang="en-IN" altLang="en-US" sz="4800" b="1" smtClean="0"/>
              <a:t>What Is Perpetuity?</a:t>
            </a:r>
          </a:p>
        </p:txBody>
      </p:sp>
      <p:sp>
        <p:nvSpPr>
          <p:cNvPr id="6147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152400" y="1600200"/>
            <a:ext cx="8839200" cy="3429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The Present Value of Perpetuity represents to annuity ending till perpetuity/ forever or till one’s life, i.e., there is no defined ending period of the annuity.</a:t>
            </a:r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 advClick="0" advTm="21472550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971550"/>
          </a:xfrm>
        </p:spPr>
        <p:txBody>
          <a:bodyPr/>
          <a:lstStyle/>
          <a:p>
            <a:r>
              <a:rPr lang="en-IN" altLang="en-US" sz="4800" b="1" smtClean="0"/>
              <a:t>Present Value of Perpetuity </a:t>
            </a:r>
          </a:p>
        </p:txBody>
      </p:sp>
      <p:sp>
        <p:nvSpPr>
          <p:cNvPr id="3" name="Subtitle 2"/>
          <p:cNvSpPr>
            <a:spLocks noGrp="1" noRot="1" noChangeAspect="1" noMove="1" noResize="1" noEditPoints="1" noAdjustHandles="1" noChangeArrowheads="1" noChangeShapeType="1" noTextEdit="1"/>
          </p:cNvSpPr>
          <p:nvPr>
            <p:ph type="subTitle" idx="1"/>
          </p:nvPr>
        </p:nvSpPr>
        <p:spPr>
          <a:xfrm>
            <a:off x="152400" y="1657350"/>
            <a:ext cx="8839200" cy="3371850"/>
          </a:xfrm>
          <a:blipFill>
            <a:blip r:embed="rId2"/>
            <a:stretch>
              <a:fillRect l="-2483"/>
            </a:stretch>
          </a:blipFill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</p:spTree>
  </p:cSld>
  <p:clrMapOvr>
    <a:masterClrMapping/>
  </p:clrMapOvr>
  <p:transition advClick="0" advTm="2147255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400050"/>
            <a:ext cx="7772400" cy="742950"/>
          </a:xfrm>
        </p:spPr>
        <p:txBody>
          <a:bodyPr>
            <a:normAutofit fontScale="90000"/>
          </a:bodyPr>
          <a:lstStyle/>
          <a:p>
            <a:r>
              <a:rPr lang="en-IN" altLang="en-US" sz="4400" b="1" smtClean="0"/>
              <a:t>Illustration</a:t>
            </a:r>
            <a:r>
              <a:rPr lang="en-IN" altLang="en-US" b="1" smtClean="0"/>
              <a:t> </a:t>
            </a:r>
          </a:p>
        </p:txBody>
      </p:sp>
      <p:sp>
        <p:nvSpPr>
          <p:cNvPr id="10243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152400" y="1200150"/>
            <a:ext cx="8839200" cy="382905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b="1" smtClean="0"/>
              <a:t>An investor expects a perpetual sum of ₹ 500 annually from his investment. What is the present value of this perpetuity if interest rate is 10%? </a:t>
            </a:r>
          </a:p>
          <a:p>
            <a:pPr algn="just">
              <a:lnSpc>
                <a:spcPct val="150000"/>
              </a:lnSpc>
              <a:buFont typeface="Calibri" pitchFamily="34" charset="0"/>
              <a:buAutoNum type="alphaUcPeriod"/>
            </a:pPr>
            <a:r>
              <a:rPr lang="en-US" altLang="en-US" sz="2400" smtClean="0"/>
              <a:t>₹ 5000</a:t>
            </a:r>
          </a:p>
          <a:p>
            <a:pPr algn="just">
              <a:lnSpc>
                <a:spcPct val="150000"/>
              </a:lnSpc>
              <a:buFont typeface="Calibri" pitchFamily="34" charset="0"/>
              <a:buAutoNum type="alphaUcPeriod"/>
            </a:pPr>
            <a:r>
              <a:rPr lang="en-US" altLang="en-US" sz="2400" smtClean="0"/>
              <a:t>₹ 6000</a:t>
            </a:r>
          </a:p>
          <a:p>
            <a:pPr algn="just">
              <a:lnSpc>
                <a:spcPct val="150000"/>
              </a:lnSpc>
              <a:buFont typeface="Calibri" pitchFamily="34" charset="0"/>
              <a:buAutoNum type="alphaUcPeriod"/>
            </a:pPr>
            <a:r>
              <a:rPr lang="en-US" altLang="en-US" sz="2400" smtClean="0"/>
              <a:t>₹ 6500</a:t>
            </a:r>
          </a:p>
          <a:p>
            <a:pPr algn="just">
              <a:lnSpc>
                <a:spcPct val="150000"/>
              </a:lnSpc>
              <a:buFont typeface="Calibri" pitchFamily="34" charset="0"/>
              <a:buAutoNum type="alphaUcPeriod"/>
            </a:pPr>
            <a:r>
              <a:rPr lang="en-US" altLang="en-US" sz="2400" smtClean="0"/>
              <a:t>₹ 5500</a:t>
            </a:r>
          </a:p>
          <a:p>
            <a:pPr algn="just">
              <a:lnSpc>
                <a:spcPct val="150000"/>
              </a:lnSpc>
            </a:pPr>
            <a:endParaRPr lang="en-US" altLang="en-US" sz="2800" smtClean="0"/>
          </a:p>
          <a:p>
            <a:pPr algn="just">
              <a:lnSpc>
                <a:spcPct val="150000"/>
              </a:lnSpc>
            </a:pPr>
            <a:endParaRPr lang="en-IN" altLang="en-US" sz="2400" smtClean="0"/>
          </a:p>
        </p:txBody>
      </p:sp>
    </p:spTree>
  </p:cSld>
  <p:clrMapOvr>
    <a:masterClrMapping/>
  </p:clrMapOvr>
  <p:transition advClick="0" advTm="21472550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1028700"/>
          </a:xfrm>
        </p:spPr>
        <p:txBody>
          <a:bodyPr/>
          <a:lstStyle/>
          <a:p>
            <a:r>
              <a:rPr lang="en-IN" altLang="en-US" sz="4800" b="1" smtClean="0"/>
              <a:t>PV of Growing Perpetuity</a:t>
            </a:r>
          </a:p>
        </p:txBody>
      </p:sp>
      <p:sp>
        <p:nvSpPr>
          <p:cNvPr id="3" name="Subtitle 2"/>
          <p:cNvSpPr>
            <a:spLocks noGrp="1" noRot="1" noChangeAspect="1" noMove="1" noResize="1" noEditPoints="1" noAdjustHandles="1" noChangeArrowheads="1" noChangeShapeType="1" noTextEdit="1"/>
          </p:cNvSpPr>
          <p:nvPr>
            <p:ph type="subTitle" idx="1"/>
          </p:nvPr>
        </p:nvSpPr>
        <p:spPr>
          <a:xfrm>
            <a:off x="152400" y="1657350"/>
            <a:ext cx="8839200" cy="3371850"/>
          </a:xfrm>
          <a:blipFill>
            <a:blip r:embed="rId2"/>
            <a:stretch>
              <a:fillRect l="-2759"/>
            </a:stretch>
          </a:blipFill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</p:spTree>
  </p:cSld>
  <p:clrMapOvr>
    <a:masterClrMapping/>
  </p:clrMapOvr>
  <p:transition advClick="0" advTm="214725500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ctrTitle"/>
          </p:nvPr>
        </p:nvSpPr>
        <p:spPr>
          <a:xfrm>
            <a:off x="685800" y="40005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b="1" smtClean="0"/>
              <a:t>Illustration </a:t>
            </a:r>
            <a:endParaRPr lang="en-IN" altLang="en-US" b="1" smtClean="0"/>
          </a:p>
        </p:txBody>
      </p:sp>
      <p:sp>
        <p:nvSpPr>
          <p:cNvPr id="9219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76200" y="1314450"/>
            <a:ext cx="8991600" cy="37719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  <a:defRPr/>
            </a:pPr>
            <a:r>
              <a:rPr lang="en-US" sz="2800" b="1" dirty="0"/>
              <a:t>An annual cash flow of $1000 that will continue indefinitely. This cash flow is expected to grow at 5% per year and the required return used for the discount rate is 10%. What would be present value of a growing perpetuity?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sz="2400" dirty="0"/>
              <a:t>$ 20000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sz="2400" dirty="0"/>
              <a:t>$ 20500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sz="2400" dirty="0"/>
              <a:t>$ 21000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sz="2400" dirty="0"/>
              <a:t>$ 21500</a:t>
            </a:r>
          </a:p>
          <a:p>
            <a:pPr algn="just">
              <a:lnSpc>
                <a:spcPct val="150000"/>
              </a:lnSpc>
              <a:defRPr/>
            </a:pPr>
            <a:endParaRPr lang="en-US" sz="2400" dirty="0"/>
          </a:p>
          <a:p>
            <a:pPr algn="just">
              <a:lnSpc>
                <a:spcPct val="150000"/>
              </a:lnSpc>
              <a:defRPr/>
            </a:pPr>
            <a:endParaRPr lang="en-IN" sz="2400" dirty="0"/>
          </a:p>
          <a:p>
            <a:pPr algn="just">
              <a:lnSpc>
                <a:spcPct val="150000"/>
              </a:lnSpc>
              <a:defRPr/>
            </a:pPr>
            <a:endParaRPr lang="en-IN" altLang="en-US" sz="2400" dirty="0"/>
          </a:p>
        </p:txBody>
      </p:sp>
    </p:spTree>
  </p:cSld>
  <p:clrMapOvr>
    <a:masterClrMapping/>
  </p:clrMapOvr>
  <p:transition advClick="0" advTm="2147255000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5100</TotalTime>
  <Words>480</Words>
  <Application>Microsoft Office PowerPoint</Application>
  <PresentationFormat>On-screen Show (16:9)</PresentationFormat>
  <Paragraphs>80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What is an Annuity? </vt:lpstr>
      <vt:lpstr>Types of Annuity </vt:lpstr>
      <vt:lpstr>Slide 22</vt:lpstr>
      <vt:lpstr>Slide 23</vt:lpstr>
      <vt:lpstr>Slide 24</vt:lpstr>
      <vt:lpstr>Slide 25</vt:lpstr>
      <vt:lpstr>Slide 26</vt:lpstr>
      <vt:lpstr>What Is Perpetuity?</vt:lpstr>
      <vt:lpstr>Present Value of Perpetuity </vt:lpstr>
      <vt:lpstr>Illustration </vt:lpstr>
      <vt:lpstr>PV of Growing Perpetuity</vt:lpstr>
      <vt:lpstr>Illustration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Dr. Navneet Raj</cp:lastModifiedBy>
  <cp:revision>373</cp:revision>
  <dcterms:created xsi:type="dcterms:W3CDTF">2013-08-21T19:17:07Z</dcterms:created>
  <dcterms:modified xsi:type="dcterms:W3CDTF">2023-02-13T00:23:07Z</dcterms:modified>
</cp:coreProperties>
</file>