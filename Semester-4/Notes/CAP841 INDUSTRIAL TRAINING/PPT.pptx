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9"/>
  </p:notesMasterIdLst>
  <p:sldIdLst>
    <p:sldId id="278" r:id="rId2"/>
    <p:sldId id="279" r:id="rId3"/>
    <p:sldId id="280" r:id="rId4"/>
    <p:sldId id="281" r:id="rId5"/>
    <p:sldId id="283" r:id="rId6"/>
    <p:sldId id="284" r:id="rId7"/>
    <p:sldId id="294" r:id="rId8"/>
    <p:sldId id="295" r:id="rId9"/>
    <p:sldId id="296" r:id="rId10"/>
    <p:sldId id="297" r:id="rId11"/>
    <p:sldId id="298" r:id="rId12"/>
    <p:sldId id="299" r:id="rId13"/>
    <p:sldId id="282" r:id="rId14"/>
    <p:sldId id="291" r:id="rId15"/>
    <p:sldId id="300" r:id="rId16"/>
    <p:sldId id="292" r:id="rId17"/>
    <p:sldId id="293" r:id="rId18"/>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9" autoAdjust="0"/>
  </p:normalViewPr>
  <p:slideViewPr>
    <p:cSldViewPr snapToGrid="0" snapToObjects="1">
      <p:cViewPr varScale="1">
        <p:scale>
          <a:sx n="78" d="100"/>
          <a:sy n="78" d="100"/>
        </p:scale>
        <p:origin x="878" y="62"/>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2852486" y="963563"/>
            <a:ext cx="6645476" cy="2577722"/>
          </a:xfrm>
        </p:spPr>
        <p:txBody>
          <a:bodyPr/>
          <a:lstStyle/>
          <a:p>
            <a:r>
              <a:rPr lang="en-US" sz="2400" dirty="0"/>
              <a:t>CAP-841 INDUSTRIAL TRAINING </a:t>
            </a:r>
            <a:br>
              <a:rPr lang="en-US" sz="2400" dirty="0"/>
            </a:br>
            <a:r>
              <a:rPr lang="en-US" sz="2400" dirty="0"/>
              <a:t>LOVELY PROFESSIONAL UNIVERSITY</a:t>
            </a:r>
            <a:br>
              <a:rPr lang="en-US" sz="2400" dirty="0"/>
            </a:br>
            <a:r>
              <a:rPr lang="en-US" sz="2400" dirty="0"/>
              <a:t>PHAGWARA, PUNJAB</a:t>
            </a:r>
          </a:p>
        </p:txBody>
      </p:sp>
      <p:sp>
        <p:nvSpPr>
          <p:cNvPr id="3" name="Subtitle 2">
            <a:extLst>
              <a:ext uri="{FF2B5EF4-FFF2-40B4-BE49-F238E27FC236}">
                <a16:creationId xmlns:a16="http://schemas.microsoft.com/office/drawing/2014/main" id="{86C1060B-300F-3CE3-E5AA-D8E29791C960}"/>
              </a:ext>
            </a:extLst>
          </p:cNvPr>
          <p:cNvSpPr>
            <a:spLocks noGrp="1"/>
          </p:cNvSpPr>
          <p:nvPr>
            <p:ph type="subTitle" idx="1"/>
          </p:nvPr>
        </p:nvSpPr>
        <p:spPr>
          <a:xfrm>
            <a:off x="4349496" y="3280386"/>
            <a:ext cx="3493008" cy="878908"/>
          </a:xfrm>
        </p:spPr>
        <p:txBody>
          <a:bodyPr/>
          <a:lstStyle/>
          <a:p>
            <a:r>
              <a:rPr lang="en-US" dirty="0">
                <a:cs typeface="Arial" panose="020B0604020202020204" pitchFamily="34" charset="0"/>
              </a:rPr>
              <a:t>ATUL KUMAR</a:t>
            </a:r>
          </a:p>
          <a:p>
            <a:r>
              <a:rPr lang="en-US" dirty="0">
                <a:cs typeface="Arial" panose="020B0604020202020204" pitchFamily="34" charset="0"/>
              </a:rPr>
              <a:t>12102801</a:t>
            </a:r>
          </a:p>
          <a:p>
            <a:endParaRPr lang="en-US" dirty="0"/>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a:xfrm>
            <a:off x="1499616" y="1184192"/>
            <a:ext cx="5693664" cy="768096"/>
          </a:xfrm>
        </p:spPr>
        <p:txBody>
          <a:bodyPr/>
          <a:lstStyle/>
          <a:p>
            <a:r>
              <a:rPr lang="en-US" sz="4400" b="1" dirty="0">
                <a:solidFill>
                  <a:schemeClr val="accent6"/>
                </a:solidFill>
                <a:latin typeface="Arial Black" panose="020B0604020202020204" pitchFamily="34" charset="0"/>
                <a:ea typeface="Arial Regular" pitchFamily="34" charset="-122"/>
                <a:cs typeface="Arial" panose="020B0604020202020204" pitchFamily="34" charset="0"/>
              </a:rPr>
              <a:t>AGENDA</a:t>
            </a:r>
            <a:endParaRPr lang="en-US" sz="4400" b="1" dirty="0">
              <a:solidFill>
                <a:schemeClr val="accent6"/>
              </a:solidFill>
              <a:latin typeface="Arial Black"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082383"/>
            <a:ext cx="5693664" cy="3122168"/>
          </a:xfrm>
        </p:spPr>
        <p:txBody>
          <a:bodyPr/>
          <a:lstStyle/>
          <a:p>
            <a:r>
              <a:rPr lang="en-US" dirty="0">
                <a:cs typeface="Arial" panose="020B0604020202020204" pitchFamily="34" charset="0"/>
              </a:rPr>
              <a:t>Company Profile </a:t>
            </a:r>
          </a:p>
          <a:p>
            <a:r>
              <a:rPr lang="en-US" dirty="0">
                <a:cs typeface="Arial" panose="020B0604020202020204" pitchFamily="34" charset="0"/>
              </a:rPr>
              <a:t>About Internship </a:t>
            </a:r>
          </a:p>
          <a:p>
            <a:r>
              <a:rPr lang="en-US" dirty="0">
                <a:cs typeface="Arial" panose="020B0604020202020204" pitchFamily="34" charset="0"/>
              </a:rPr>
              <a:t>​Course Syllabus</a:t>
            </a:r>
          </a:p>
          <a:p>
            <a:r>
              <a:rPr lang="en-US" dirty="0">
                <a:cs typeface="Arial" panose="020B0604020202020204" pitchFamily="34" charset="0"/>
              </a:rPr>
              <a:t>Domain: .NET Framework </a:t>
            </a:r>
          </a:p>
          <a:p>
            <a:r>
              <a:rPr lang="en-US" dirty="0">
                <a:cs typeface="Arial" panose="020B0604020202020204" pitchFamily="34" charset="0"/>
              </a:rPr>
              <a:t>Milestone Assessment </a:t>
            </a:r>
          </a:p>
          <a:p>
            <a:r>
              <a:rPr lang="en-US" dirty="0">
                <a:cs typeface="Arial" panose="020B0604020202020204" pitchFamily="34" charset="0"/>
              </a:rPr>
              <a:t>Certificate </a:t>
            </a:r>
          </a:p>
          <a:p>
            <a:r>
              <a:rPr lang="en-US" dirty="0">
                <a:cs typeface="Arial" panose="020B0604020202020204" pitchFamily="34" charset="0"/>
              </a:rPr>
              <a:t>​Summary​</a:t>
            </a:r>
          </a:p>
          <a:p>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553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1234632"/>
            <a:ext cx="6766560" cy="768096"/>
          </a:xfrm>
        </p:spPr>
        <p:txBody>
          <a:bodyPr/>
          <a:lstStyle/>
          <a:p>
            <a:pPr algn="ctr"/>
            <a:r>
              <a:rPr lang="en-US" dirty="0"/>
              <a:t>COMPANY PROFILE</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4509663" y="3354072"/>
            <a:ext cx="6766560" cy="2700528"/>
          </a:xfrm>
        </p:spPr>
        <p:txBody>
          <a:bodyPr/>
          <a:lstStyle/>
          <a:p>
            <a:pPr algn="just"/>
            <a:r>
              <a:rPr lang="en-US" sz="2400" b="0" i="0" dirty="0">
                <a:effectLst/>
                <a:cs typeface="Arial" panose="020B0604020202020204" pitchFamily="34" charset="0"/>
              </a:rPr>
              <a:t>LTIMindtree Limited is an Indian multinational information technology services and consulting company based in Mumbai. A subsidiary of Larsen &amp; Toubro, the company was incorporated in 1996 and employs more than 84,000 people. It is one of the top Big Tech companies.</a:t>
            </a:r>
            <a:endParaRPr lang="en-US" sz="2400" dirty="0">
              <a:cs typeface="Arial" panose="020B0604020202020204" pitchFamily="34" charset="0"/>
            </a:endParaRPr>
          </a:p>
          <a:p>
            <a:endParaRPr lang="en-US" dirty="0"/>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3993070" y="594360"/>
            <a:ext cx="3200400" cy="274320"/>
          </a:xfrm>
        </p:spPr>
        <p:txBody>
          <a:bodyPr/>
          <a:lstStyle/>
          <a:p>
            <a:r>
              <a:rPr lang="en-US" dirty="0"/>
              <a:t>Industrial Training Presentation </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a:t>
            </a:fld>
            <a:endParaRPr lang="en-US" dirty="0"/>
          </a:p>
        </p:txBody>
      </p:sp>
      <p:pic>
        <p:nvPicPr>
          <p:cNvPr id="5" name="Picture 4" descr="A blue text on a white background&#10;&#10;Description automatically generated with medium confidence">
            <a:extLst>
              <a:ext uri="{FF2B5EF4-FFF2-40B4-BE49-F238E27FC236}">
                <a16:creationId xmlns:a16="http://schemas.microsoft.com/office/drawing/2014/main" id="{51AE3D6E-36AC-7EEC-9D64-593DF48409AB}"/>
              </a:ext>
            </a:extLst>
          </p:cNvPr>
          <p:cNvPicPr>
            <a:picLocks noChangeAspect="1"/>
          </p:cNvPicPr>
          <p:nvPr/>
        </p:nvPicPr>
        <p:blipFill>
          <a:blip r:embed="rId2"/>
          <a:stretch>
            <a:fillRect/>
          </a:stretch>
        </p:blipFill>
        <p:spPr>
          <a:xfrm>
            <a:off x="5593270" y="2082864"/>
            <a:ext cx="4029075" cy="1133475"/>
          </a:xfrm>
          <a:prstGeom prst="rect">
            <a:avLst/>
          </a:prstGeom>
        </p:spPr>
      </p:pic>
    </p:spTree>
    <p:extLst>
      <p:ext uri="{BB962C8B-B14F-4D97-AF65-F5344CB8AC3E}">
        <p14:creationId xmlns:p14="http://schemas.microsoft.com/office/powerpoint/2010/main" val="97962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989008" y="980375"/>
            <a:ext cx="5820695" cy="2146283"/>
          </a:xfrm>
        </p:spPr>
        <p:txBody>
          <a:bodyPr/>
          <a:lstStyle/>
          <a:p>
            <a:r>
              <a:rPr lang="en-US" sz="4000" dirty="0">
                <a:latin typeface="Arial Black" panose="020B0604020202020204" pitchFamily="34" charset="0"/>
                <a:cs typeface="Arial Black" panose="020B0604020202020204" pitchFamily="34" charset="0"/>
              </a:rPr>
              <a:t>About internship</a:t>
            </a:r>
            <a:br>
              <a:rPr lang="en-US" sz="4000" dirty="0">
                <a:latin typeface="Arial Black" panose="020B0604020202020204" pitchFamily="34" charset="0"/>
                <a:cs typeface="Arial Black" panose="020B0604020202020204" pitchFamily="34" charset="0"/>
              </a:rPr>
            </a:br>
            <a:r>
              <a:rPr lang="en-US" sz="4000" dirty="0">
                <a:latin typeface="Arial Black" panose="020B0604020202020204" pitchFamily="34" charset="0"/>
                <a:cs typeface="Arial Black" panose="020B0604020202020204" pitchFamily="34" charset="0"/>
              </a:rPr>
              <a:t>(ignite) </a:t>
            </a:r>
            <a:endParaRPr lang="en-US" sz="4000" b="1" dirty="0">
              <a:solidFill>
                <a:schemeClr val="accent6"/>
              </a:solidFill>
              <a:latin typeface="Arial Black" panose="020B0604020202020204" pitchFamily="34" charset="0"/>
              <a:cs typeface="Arial Black" panose="020B0604020202020204" pitchFamily="34" charset="0"/>
            </a:endParaRPr>
          </a:p>
        </p:txBody>
      </p:sp>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386782" y="2939847"/>
            <a:ext cx="7199670" cy="3500282"/>
          </a:xfrm>
        </p:spPr>
        <p:txBody>
          <a:bodyPr/>
          <a:lstStyle/>
          <a:p>
            <a:endParaRPr lang="en-US" sz="2400" dirty="0">
              <a:solidFill>
                <a:schemeClr val="accent6"/>
              </a:solidFill>
              <a:latin typeface="Sabon Next LT" panose="02000500000000000000" pitchFamily="2" charset="0"/>
              <a:cs typeface="Sabon Next LT" panose="02000500000000000000" pitchFamily="2" charset="0"/>
            </a:endParaRPr>
          </a:p>
          <a:p>
            <a:pPr>
              <a:lnSpc>
                <a:spcPct val="150000"/>
              </a:lnSpc>
            </a:pPr>
            <a:r>
              <a:rPr lang="en-US" i="0" u="none" strike="noStrike" baseline="0" dirty="0">
                <a:cs typeface="Arial" panose="020B0604020202020204" pitchFamily="34" charset="0"/>
              </a:rPr>
              <a:t>Internship Duration : 9 to 12 weeks </a:t>
            </a:r>
          </a:p>
          <a:p>
            <a:pPr>
              <a:lnSpc>
                <a:spcPct val="150000"/>
              </a:lnSpc>
            </a:pPr>
            <a:r>
              <a:rPr lang="fr-FR" i="0" u="none" strike="noStrike" baseline="0" dirty="0">
                <a:cs typeface="Arial" panose="020B0604020202020204" pitchFamily="34" charset="0"/>
              </a:rPr>
              <a:t>Commencement Date : 21 Feb 2023 to 31 May 2023 </a:t>
            </a:r>
            <a:endParaRPr lang="fr-FR" dirty="0">
              <a:cs typeface="Arial" panose="020B0604020202020204" pitchFamily="34" charset="0"/>
            </a:endParaRPr>
          </a:p>
          <a:p>
            <a:pPr>
              <a:lnSpc>
                <a:spcPct val="150000"/>
              </a:lnSpc>
            </a:pPr>
            <a:r>
              <a:rPr lang="en-US" i="0" u="none" strike="noStrike" baseline="0" dirty="0">
                <a:cs typeface="Arial" panose="020B0604020202020204" pitchFamily="34" charset="0"/>
              </a:rPr>
              <a:t>Location : Remote </a:t>
            </a:r>
          </a:p>
          <a:p>
            <a:pPr>
              <a:lnSpc>
                <a:spcPct val="150000"/>
              </a:lnSpc>
            </a:pPr>
            <a:r>
              <a:rPr lang="en-US" dirty="0">
                <a:cs typeface="Arial" panose="020B0604020202020204" pitchFamily="34" charset="0"/>
              </a:rPr>
              <a:t>Domain Allotted: DOTNET</a:t>
            </a:r>
            <a:endParaRPr lang="en-US" sz="3200" dirty="0">
              <a:cs typeface="Arial" panose="020B0604020202020204" pitchFamily="34" charset="0"/>
            </a:endParaRP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25542-D540-B766-0FA1-10DE2ED0495C}"/>
              </a:ext>
            </a:extLst>
          </p:cNvPr>
          <p:cNvSpPr>
            <a:spLocks noGrp="1"/>
          </p:cNvSpPr>
          <p:nvPr>
            <p:ph type="title"/>
          </p:nvPr>
        </p:nvSpPr>
        <p:spPr>
          <a:xfrm>
            <a:off x="758952" y="980620"/>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Course Syllabus </a:t>
            </a:r>
          </a:p>
        </p:txBody>
      </p:sp>
      <p:sp>
        <p:nvSpPr>
          <p:cNvPr id="6" name="Footer Placeholder 5">
            <a:extLst>
              <a:ext uri="{FF2B5EF4-FFF2-40B4-BE49-F238E27FC236}">
                <a16:creationId xmlns:a16="http://schemas.microsoft.com/office/drawing/2014/main" id="{A6DDBB02-9464-CEB2-1790-240E71187667}"/>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p:txBody>
      </p:sp>
      <p:sp>
        <p:nvSpPr>
          <p:cNvPr id="7" name="Slide Number Placeholder 6">
            <a:extLst>
              <a:ext uri="{FF2B5EF4-FFF2-40B4-BE49-F238E27FC236}">
                <a16:creationId xmlns:a16="http://schemas.microsoft.com/office/drawing/2014/main" id="{712D1D31-1A67-703B-DF69-CA8142BF6A2D}"/>
              </a:ext>
            </a:extLst>
          </p:cNvPr>
          <p:cNvSpPr>
            <a:spLocks noGrp="1"/>
          </p:cNvSpPr>
          <p:nvPr>
            <p:ph type="sldNum" sz="quarter" idx="12"/>
          </p:nvPr>
        </p:nvSpPr>
        <p:spPr/>
        <p:txBody>
          <a:bodyPr/>
          <a:lstStyle/>
          <a:p>
            <a:fld id="{48F63A3B-78C7-47BE-AE5E-E10140E04643}" type="slidenum">
              <a:rPr lang="en-US" smtClean="0"/>
              <a:t>5</a:t>
            </a:fld>
            <a:endParaRPr lang="en-US" dirty="0"/>
          </a:p>
        </p:txBody>
      </p:sp>
      <p:sp>
        <p:nvSpPr>
          <p:cNvPr id="4" name="Content Placeholder 3">
            <a:extLst>
              <a:ext uri="{FF2B5EF4-FFF2-40B4-BE49-F238E27FC236}">
                <a16:creationId xmlns:a16="http://schemas.microsoft.com/office/drawing/2014/main" id="{F00ADAD7-4DE0-6C26-A03B-B0AE0E15AA2A}"/>
              </a:ext>
            </a:extLst>
          </p:cNvPr>
          <p:cNvSpPr>
            <a:spLocks noGrp="1"/>
          </p:cNvSpPr>
          <p:nvPr>
            <p:ph sz="half" idx="1"/>
          </p:nvPr>
        </p:nvSpPr>
        <p:spPr>
          <a:xfrm>
            <a:off x="539496" y="1964092"/>
            <a:ext cx="11119104" cy="4434840"/>
          </a:xfrm>
        </p:spPr>
        <p:txBody>
          <a:bodyPr/>
          <a:lstStyle/>
          <a:p>
            <a:pPr marL="0" indent="0">
              <a:buNone/>
            </a:pPr>
            <a:r>
              <a:rPr lang="en-US" b="1" dirty="0"/>
              <a:t>Topic Covered Under Internship</a:t>
            </a:r>
          </a:p>
          <a:p>
            <a:r>
              <a:rPr lang="en-US" dirty="0">
                <a:cs typeface="Arial" panose="020B0604020202020204" pitchFamily="34" charset="0"/>
              </a:rPr>
              <a:t>Foundation Programme</a:t>
            </a:r>
          </a:p>
          <a:p>
            <a:pPr lvl="1"/>
            <a:r>
              <a:rPr lang="en-US" dirty="0">
                <a:cs typeface="Arial" panose="020B0604020202020204" pitchFamily="34" charset="0"/>
              </a:rPr>
              <a:t>Java</a:t>
            </a:r>
          </a:p>
          <a:p>
            <a:pPr lvl="1"/>
            <a:r>
              <a:rPr lang="en-US" dirty="0">
                <a:cs typeface="Arial" panose="020B0604020202020204" pitchFamily="34" charset="0"/>
              </a:rPr>
              <a:t>OOPs</a:t>
            </a:r>
          </a:p>
          <a:p>
            <a:pPr lvl="1"/>
            <a:r>
              <a:rPr lang="en-US" dirty="0">
                <a:cs typeface="Arial" panose="020B0604020202020204" pitchFamily="34" charset="0"/>
              </a:rPr>
              <a:t>SQL</a:t>
            </a:r>
          </a:p>
          <a:p>
            <a:pPr lvl="1"/>
            <a:r>
              <a:rPr lang="en-US" dirty="0">
                <a:cs typeface="Arial" panose="020B0604020202020204" pitchFamily="34" charset="0"/>
              </a:rPr>
              <a:t>JavaScript Basic</a:t>
            </a:r>
          </a:p>
          <a:p>
            <a:r>
              <a:rPr lang="en-US" dirty="0">
                <a:cs typeface="Arial" panose="020B0604020202020204" pitchFamily="34" charset="0"/>
              </a:rPr>
              <a:t>Programming with C Sharp (C#)</a:t>
            </a:r>
          </a:p>
          <a:p>
            <a:pPr lvl="1"/>
            <a:r>
              <a:rPr lang="en-US" dirty="0">
                <a:cs typeface="Arial" panose="020B0604020202020204" pitchFamily="34" charset="0"/>
              </a:rPr>
              <a:t>OOPs</a:t>
            </a:r>
          </a:p>
          <a:p>
            <a:pPr lvl="1"/>
            <a:r>
              <a:rPr lang="en-US" dirty="0">
                <a:cs typeface="Arial" panose="020B0604020202020204" pitchFamily="34" charset="0"/>
              </a:rPr>
              <a:t>Syntax &amp; Datatype </a:t>
            </a:r>
          </a:p>
          <a:p>
            <a:pPr lvl="1"/>
            <a:r>
              <a:rPr lang="en-US" dirty="0">
                <a:cs typeface="Arial" panose="020B0604020202020204" pitchFamily="34" charset="0"/>
              </a:rPr>
              <a:t>Variables &amp; Operators </a:t>
            </a:r>
          </a:p>
          <a:p>
            <a:r>
              <a:rPr lang="en-US" dirty="0">
                <a:cs typeface="Arial" panose="020B0604020202020204" pitchFamily="34" charset="0"/>
              </a:rPr>
              <a:t>Typescript &amp; Angular</a:t>
            </a:r>
          </a:p>
          <a:p>
            <a:pPr lvl="1"/>
            <a:r>
              <a:rPr lang="en-US" dirty="0">
                <a:cs typeface="Arial" panose="020B0604020202020204" pitchFamily="34" charset="0"/>
              </a:rPr>
              <a:t>Variables &amp; Operators </a:t>
            </a:r>
          </a:p>
          <a:p>
            <a:pPr lvl="1"/>
            <a:r>
              <a:rPr lang="en-US" dirty="0">
                <a:cs typeface="Arial" panose="020B0604020202020204" pitchFamily="34" charset="0"/>
              </a:rPr>
              <a:t>Components &amp; Templates </a:t>
            </a:r>
          </a:p>
          <a:p>
            <a:pPr lvl="1"/>
            <a:r>
              <a:rPr lang="en-US" dirty="0">
                <a:cs typeface="Arial" panose="020B0604020202020204" pitchFamily="34" charset="0"/>
              </a:rPr>
              <a:t>Directives &amp; Routing </a:t>
            </a:r>
          </a:p>
          <a:p>
            <a:pPr lvl="1"/>
            <a:endParaRPr lang="en-US" dirty="0"/>
          </a:p>
        </p:txBody>
      </p:sp>
    </p:spTree>
    <p:extLst>
      <p:ext uri="{BB962C8B-B14F-4D97-AF65-F5344CB8AC3E}">
        <p14:creationId xmlns:p14="http://schemas.microsoft.com/office/powerpoint/2010/main" val="2903841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758952" y="2631998"/>
            <a:ext cx="10671048" cy="2313628"/>
          </a:xfrm>
        </p:spPr>
        <p:txBody>
          <a:bodyPr/>
          <a:lstStyle/>
          <a:p>
            <a:r>
              <a:rPr lang="en-US" dirty="0">
                <a:latin typeface="Arial Black" panose="020B0604020202020204" pitchFamily="34" charset="0"/>
                <a:cs typeface="Arial Black" panose="020B0604020202020204" pitchFamily="34" charset="0"/>
              </a:rPr>
              <a:t>Introduction to dot</a:t>
            </a:r>
            <a:r>
              <a:rPr lang="en-US" sz="4400" b="1" dirty="0">
                <a:solidFill>
                  <a:schemeClr val="accent6"/>
                </a:solidFill>
                <a:latin typeface="Arial Black" panose="020B0604020202020204" pitchFamily="34" charset="0"/>
                <a:cs typeface="Arial Black" panose="020B0604020202020204" pitchFamily="34" charset="0"/>
              </a:rPr>
              <a:t>net framework</a:t>
            </a: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6</a:t>
            </a:fld>
            <a:endParaRPr lang="en-US" dirty="0"/>
          </a:p>
        </p:txBody>
      </p:sp>
    </p:spTree>
    <p:extLst>
      <p:ext uri="{BB962C8B-B14F-4D97-AF65-F5344CB8AC3E}">
        <p14:creationId xmlns:p14="http://schemas.microsoft.com/office/powerpoint/2010/main" val="2886474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p:txBody>
          <a:bodyPr/>
          <a:lstStyle/>
          <a:p>
            <a:r>
              <a:rPr lang="en-US" dirty="0">
                <a:latin typeface="Arial Black" panose="020B0604020202020204" pitchFamily="34" charset="0"/>
                <a:cs typeface="Arial Black" panose="020B0604020202020204" pitchFamily="34" charset="0"/>
              </a:rPr>
              <a:t>What is dot</a:t>
            </a:r>
            <a:r>
              <a:rPr lang="en-US" sz="4400" b="1" dirty="0">
                <a:solidFill>
                  <a:schemeClr val="accent6"/>
                </a:solidFill>
                <a:latin typeface="Arial Black" panose="020B0604020202020204" pitchFamily="34" charset="0"/>
                <a:cs typeface="Arial Black" panose="020B0604020202020204" pitchFamily="34" charset="0"/>
              </a:rPr>
              <a:t>net framework</a:t>
            </a:r>
          </a:p>
        </p:txBody>
      </p:sp>
      <p:sp>
        <p:nvSpPr>
          <p:cNvPr id="3" name="Content Placeholder 2">
            <a:extLst>
              <a:ext uri="{FF2B5EF4-FFF2-40B4-BE49-F238E27FC236}">
                <a16:creationId xmlns:a16="http://schemas.microsoft.com/office/drawing/2014/main" id="{7B6C6C70-2188-61DF-5D6E-29CC0C971E06}"/>
              </a:ext>
            </a:extLst>
          </p:cNvPr>
          <p:cNvSpPr>
            <a:spLocks noGrp="1"/>
          </p:cNvSpPr>
          <p:nvPr>
            <p:ph sz="half" idx="1"/>
          </p:nvPr>
        </p:nvSpPr>
        <p:spPr>
          <a:xfrm>
            <a:off x="755904" y="2284722"/>
            <a:ext cx="10680192" cy="2834640"/>
          </a:xfrm>
        </p:spPr>
        <p:txBody>
          <a:bodyPr/>
          <a:lstStyle/>
          <a:p>
            <a:pPr algn="just" eaLnBrk="1" hangingPunct="1"/>
            <a:r>
              <a:rPr lang="en-US" altLang="en-US" sz="3200" dirty="0" err="1"/>
              <a:t>.Net</a:t>
            </a:r>
            <a:r>
              <a:rPr lang="en-US" altLang="en-US" sz="3200" dirty="0"/>
              <a:t> is a new framework for developing web-based and windows-based applications within the Microsoft environment.</a:t>
            </a:r>
          </a:p>
          <a:p>
            <a:pPr algn="just" eaLnBrk="1" hangingPunct="1"/>
            <a:r>
              <a:rPr lang="en-US" altLang="en-US" sz="3200" dirty="0"/>
              <a:t>The framework offers a fundamental shift in Microsoft strategy: it moves application development from client-centric to server-centric.</a:t>
            </a:r>
          </a:p>
          <a:p>
            <a:pPr algn="just"/>
            <a:endParaRPr lang="en-US" sz="3200" dirty="0"/>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7</a:t>
            </a:fld>
            <a:endParaRPr lang="en-US" dirty="0"/>
          </a:p>
        </p:txBody>
      </p:sp>
    </p:spTree>
    <p:extLst>
      <p:ext uri="{BB962C8B-B14F-4D97-AF65-F5344CB8AC3E}">
        <p14:creationId xmlns:p14="http://schemas.microsoft.com/office/powerpoint/2010/main" val="4079288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p:txBody>
          <a:bodyPr/>
          <a:lstStyle/>
          <a:p>
            <a:r>
              <a:rPr lang="en-US" dirty="0">
                <a:latin typeface="Arial Black" panose="020B0604020202020204" pitchFamily="34" charset="0"/>
                <a:cs typeface="Arial Black" panose="020B0604020202020204" pitchFamily="34" charset="0"/>
              </a:rPr>
              <a:t>What is dot</a:t>
            </a:r>
            <a:r>
              <a:rPr lang="en-US" sz="4400" b="1" dirty="0">
                <a:solidFill>
                  <a:schemeClr val="accent6"/>
                </a:solidFill>
                <a:latin typeface="Arial Black" panose="020B0604020202020204" pitchFamily="34" charset="0"/>
                <a:cs typeface="Arial Black" panose="020B0604020202020204" pitchFamily="34" charset="0"/>
              </a:rPr>
              <a:t>net framework</a:t>
            </a: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8</a:t>
            </a:fld>
            <a:endParaRPr lang="en-US" dirty="0"/>
          </a:p>
        </p:txBody>
      </p:sp>
      <p:sp>
        <p:nvSpPr>
          <p:cNvPr id="4" name="Rectangle 5">
            <a:extLst>
              <a:ext uri="{FF2B5EF4-FFF2-40B4-BE49-F238E27FC236}">
                <a16:creationId xmlns:a16="http://schemas.microsoft.com/office/drawing/2014/main" id="{8538D51F-9E26-06A1-E7EB-BC3B9F219134}"/>
              </a:ext>
            </a:extLst>
          </p:cNvPr>
          <p:cNvSpPr>
            <a:spLocks noChangeArrowheads="1"/>
          </p:cNvSpPr>
          <p:nvPr/>
        </p:nvSpPr>
        <p:spPr bwMode="auto">
          <a:xfrm>
            <a:off x="3822192" y="4645153"/>
            <a:ext cx="3962400" cy="914400"/>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800" dirty="0">
                <a:latin typeface="Arial" panose="020B0604020202020204" pitchFamily="34" charset="0"/>
                <a:cs typeface="Arial" panose="020B0604020202020204" pitchFamily="34" charset="0"/>
              </a:rPr>
              <a:t>Operating System + Hardware</a:t>
            </a:r>
          </a:p>
        </p:txBody>
      </p:sp>
      <p:grpSp>
        <p:nvGrpSpPr>
          <p:cNvPr id="5" name="Group 6">
            <a:extLst>
              <a:ext uri="{FF2B5EF4-FFF2-40B4-BE49-F238E27FC236}">
                <a16:creationId xmlns:a16="http://schemas.microsoft.com/office/drawing/2014/main" id="{5C261184-C5F9-844D-71A1-0C19A3536ADC}"/>
              </a:ext>
            </a:extLst>
          </p:cNvPr>
          <p:cNvGrpSpPr>
            <a:grpSpLocks/>
          </p:cNvGrpSpPr>
          <p:nvPr/>
        </p:nvGrpSpPr>
        <p:grpSpPr bwMode="auto">
          <a:xfrm>
            <a:off x="4355592" y="3654553"/>
            <a:ext cx="2895600" cy="1219200"/>
            <a:chOff x="2016" y="2064"/>
            <a:chExt cx="1824" cy="768"/>
          </a:xfrm>
        </p:grpSpPr>
        <p:sp>
          <p:nvSpPr>
            <p:cNvPr id="6" name="Rectangle 7">
              <a:extLst>
                <a:ext uri="{FF2B5EF4-FFF2-40B4-BE49-F238E27FC236}">
                  <a16:creationId xmlns:a16="http://schemas.microsoft.com/office/drawing/2014/main" id="{4EF7C6BD-29BE-AC51-847D-3F8E5F73CA47}"/>
                </a:ext>
              </a:extLst>
            </p:cNvPr>
            <p:cNvSpPr>
              <a:spLocks noChangeArrowheads="1"/>
            </p:cNvSpPr>
            <p:nvPr/>
          </p:nvSpPr>
          <p:spPr bwMode="auto">
            <a:xfrm>
              <a:off x="2016" y="2064"/>
              <a:ext cx="1824" cy="57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800" dirty="0">
                  <a:latin typeface="Arial" panose="020B0604020202020204" pitchFamily="34" charset="0"/>
                  <a:cs typeface="Arial" panose="020B0604020202020204" pitchFamily="34" charset="0"/>
                </a:rPr>
                <a:t>.NET Framework</a:t>
              </a:r>
            </a:p>
          </p:txBody>
        </p:sp>
        <p:sp>
          <p:nvSpPr>
            <p:cNvPr id="9" name="AutoShape 8">
              <a:extLst>
                <a:ext uri="{FF2B5EF4-FFF2-40B4-BE49-F238E27FC236}">
                  <a16:creationId xmlns:a16="http://schemas.microsoft.com/office/drawing/2014/main" id="{3E359032-32DA-3B70-C220-B5B28F5A1FFB}"/>
                </a:ext>
              </a:extLst>
            </p:cNvPr>
            <p:cNvSpPr>
              <a:spLocks noChangeArrowheads="1"/>
            </p:cNvSpPr>
            <p:nvPr/>
          </p:nvSpPr>
          <p:spPr bwMode="auto">
            <a:xfrm>
              <a:off x="2832" y="2544"/>
              <a:ext cx="192" cy="288"/>
            </a:xfrm>
            <a:prstGeom prst="downArrow">
              <a:avLst>
                <a:gd name="adj1" fmla="val 50000"/>
                <a:gd name="adj2" fmla="val 37500"/>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grpSp>
        <p:nvGrpSpPr>
          <p:cNvPr id="10" name="Group 9">
            <a:extLst>
              <a:ext uri="{FF2B5EF4-FFF2-40B4-BE49-F238E27FC236}">
                <a16:creationId xmlns:a16="http://schemas.microsoft.com/office/drawing/2014/main" id="{1608C936-0EFD-C317-BF45-3CEC73BF6216}"/>
              </a:ext>
            </a:extLst>
          </p:cNvPr>
          <p:cNvGrpSpPr>
            <a:grpSpLocks/>
          </p:cNvGrpSpPr>
          <p:nvPr/>
        </p:nvGrpSpPr>
        <p:grpSpPr bwMode="auto">
          <a:xfrm>
            <a:off x="4888992" y="2602895"/>
            <a:ext cx="1828800" cy="1219200"/>
            <a:chOff x="2352" y="1440"/>
            <a:chExt cx="1152" cy="768"/>
          </a:xfrm>
        </p:grpSpPr>
        <p:sp>
          <p:nvSpPr>
            <p:cNvPr id="11" name="Rectangle 10">
              <a:extLst>
                <a:ext uri="{FF2B5EF4-FFF2-40B4-BE49-F238E27FC236}">
                  <a16:creationId xmlns:a16="http://schemas.microsoft.com/office/drawing/2014/main" id="{1DCE9F0E-7ED0-68DC-D5C7-98CB6296E9B9}"/>
                </a:ext>
              </a:extLst>
            </p:cNvPr>
            <p:cNvSpPr>
              <a:spLocks noChangeArrowheads="1"/>
            </p:cNvSpPr>
            <p:nvPr/>
          </p:nvSpPr>
          <p:spPr bwMode="auto">
            <a:xfrm>
              <a:off x="2352" y="1440"/>
              <a:ext cx="1152" cy="576"/>
            </a:xfrm>
            <a:prstGeom prst="rect">
              <a:avLst/>
            </a:prstGeom>
            <a:solidFill>
              <a:srgbClr val="FF99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800" dirty="0">
                  <a:latin typeface="Arial" panose="020B0604020202020204" pitchFamily="34" charset="0"/>
                  <a:cs typeface="Arial" panose="020B0604020202020204" pitchFamily="34" charset="0"/>
                </a:rPr>
                <a:t>.NET Application</a:t>
              </a:r>
            </a:p>
          </p:txBody>
        </p:sp>
        <p:sp>
          <p:nvSpPr>
            <p:cNvPr id="12" name="AutoShape 11">
              <a:extLst>
                <a:ext uri="{FF2B5EF4-FFF2-40B4-BE49-F238E27FC236}">
                  <a16:creationId xmlns:a16="http://schemas.microsoft.com/office/drawing/2014/main" id="{03DB6BBB-21EC-3772-B178-E4412FB582E9}"/>
                </a:ext>
              </a:extLst>
            </p:cNvPr>
            <p:cNvSpPr>
              <a:spLocks noChangeArrowheads="1"/>
            </p:cNvSpPr>
            <p:nvPr/>
          </p:nvSpPr>
          <p:spPr bwMode="auto">
            <a:xfrm>
              <a:off x="2832" y="1872"/>
              <a:ext cx="192" cy="336"/>
            </a:xfrm>
            <a:prstGeom prst="upDownArrow">
              <a:avLst>
                <a:gd name="adj1" fmla="val 50000"/>
                <a:gd name="adj2" fmla="val 35000"/>
              </a:avLst>
            </a:prstGeom>
            <a:solidFill>
              <a:srgbClr val="CC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a:p>
          </p:txBody>
        </p:sp>
      </p:grpSp>
    </p:spTree>
    <p:extLst>
      <p:ext uri="{BB962C8B-B14F-4D97-AF65-F5344CB8AC3E}">
        <p14:creationId xmlns:p14="http://schemas.microsoft.com/office/powerpoint/2010/main" val="54787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1"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p:txBody>
          <a:bodyPr/>
          <a:lstStyle/>
          <a:p>
            <a:r>
              <a:rPr lang="en-US" dirty="0">
                <a:latin typeface="Arial Black" panose="020B0604020202020204" pitchFamily="34" charset="0"/>
                <a:cs typeface="Arial Black" panose="020B0604020202020204" pitchFamily="34" charset="0"/>
              </a:rPr>
              <a:t>dot</a:t>
            </a:r>
            <a:r>
              <a:rPr lang="en-US" sz="4400" b="1" dirty="0">
                <a:solidFill>
                  <a:schemeClr val="accent6"/>
                </a:solidFill>
                <a:latin typeface="Arial Black" panose="020B0604020202020204" pitchFamily="34" charset="0"/>
                <a:cs typeface="Arial Black" panose="020B0604020202020204" pitchFamily="34" charset="0"/>
              </a:rPr>
              <a:t>net framework services</a:t>
            </a:r>
          </a:p>
        </p:txBody>
      </p:sp>
      <p:sp>
        <p:nvSpPr>
          <p:cNvPr id="3" name="Content Placeholder 2">
            <a:extLst>
              <a:ext uri="{FF2B5EF4-FFF2-40B4-BE49-F238E27FC236}">
                <a16:creationId xmlns:a16="http://schemas.microsoft.com/office/drawing/2014/main" id="{7B6C6C70-2188-61DF-5D6E-29CC0C971E06}"/>
              </a:ext>
            </a:extLst>
          </p:cNvPr>
          <p:cNvSpPr>
            <a:spLocks noGrp="1"/>
          </p:cNvSpPr>
          <p:nvPr>
            <p:ph sz="half" idx="1"/>
          </p:nvPr>
        </p:nvSpPr>
        <p:spPr>
          <a:xfrm>
            <a:off x="758952" y="2422373"/>
            <a:ext cx="10680192" cy="2834640"/>
          </a:xfrm>
        </p:spPr>
        <p:txBody>
          <a:bodyPr/>
          <a:lstStyle/>
          <a:p>
            <a:pPr algn="just" eaLnBrk="1" hangingPunct="1">
              <a:lnSpc>
                <a:spcPct val="85000"/>
              </a:lnSpc>
            </a:pPr>
            <a:r>
              <a:rPr lang="en-US" altLang="en-US" sz="2800" dirty="0"/>
              <a:t>Common Language Runtime</a:t>
            </a:r>
          </a:p>
          <a:p>
            <a:pPr algn="just" eaLnBrk="1" hangingPunct="1">
              <a:lnSpc>
                <a:spcPct val="85000"/>
              </a:lnSpc>
            </a:pPr>
            <a:r>
              <a:rPr lang="en-US" altLang="en-US" sz="2800" dirty="0"/>
              <a:t>Windows</a:t>
            </a:r>
            <a:r>
              <a:rPr lang="en-US" altLang="en-US" sz="2800" baseline="30000" dirty="0"/>
              <a:t>®</a:t>
            </a:r>
            <a:r>
              <a:rPr lang="en-US" altLang="en-US" sz="2800" dirty="0"/>
              <a:t> Forms</a:t>
            </a:r>
          </a:p>
          <a:p>
            <a:pPr algn="just" eaLnBrk="1" hangingPunct="1">
              <a:lnSpc>
                <a:spcPct val="85000"/>
              </a:lnSpc>
            </a:pPr>
            <a:r>
              <a:rPr lang="en-US" altLang="en-US" sz="2800" dirty="0"/>
              <a:t>ASP.NET</a:t>
            </a:r>
          </a:p>
          <a:p>
            <a:pPr lvl="1" algn="just" eaLnBrk="1" hangingPunct="1">
              <a:lnSpc>
                <a:spcPct val="85000"/>
              </a:lnSpc>
            </a:pPr>
            <a:r>
              <a:rPr lang="en-US" altLang="en-US" sz="2400" dirty="0"/>
              <a:t>Web Forms</a:t>
            </a:r>
          </a:p>
          <a:p>
            <a:pPr lvl="1" algn="just" eaLnBrk="1" hangingPunct="1">
              <a:lnSpc>
                <a:spcPct val="85000"/>
              </a:lnSpc>
            </a:pPr>
            <a:r>
              <a:rPr lang="en-US" altLang="en-US" sz="2400" dirty="0"/>
              <a:t>Web Services</a:t>
            </a:r>
          </a:p>
          <a:p>
            <a:pPr algn="just" eaLnBrk="1" hangingPunct="1">
              <a:lnSpc>
                <a:spcPct val="85000"/>
              </a:lnSpc>
            </a:pPr>
            <a:r>
              <a:rPr lang="en-US" altLang="en-US" sz="2800" dirty="0"/>
              <a:t>ADO.NET, evolution of ADO</a:t>
            </a:r>
          </a:p>
          <a:p>
            <a:pPr algn="just" eaLnBrk="1" hangingPunct="1">
              <a:lnSpc>
                <a:spcPct val="85000"/>
              </a:lnSpc>
            </a:pPr>
            <a:r>
              <a:rPr lang="en-US" altLang="en-US" sz="2800" dirty="0"/>
              <a:t>Visual Studio.NET</a:t>
            </a:r>
          </a:p>
          <a:p>
            <a:pPr marL="0" indent="0" algn="just" eaLnBrk="1" hangingPunct="1">
              <a:buNone/>
            </a:pPr>
            <a:endParaRPr lang="en-US" sz="4400" dirty="0"/>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9</a:t>
            </a:fld>
            <a:endParaRPr lang="en-US" dirty="0"/>
          </a:p>
        </p:txBody>
      </p:sp>
    </p:spTree>
    <p:extLst>
      <p:ext uri="{BB962C8B-B14F-4D97-AF65-F5344CB8AC3E}">
        <p14:creationId xmlns:p14="http://schemas.microsoft.com/office/powerpoint/2010/main" val="4247824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621792" y="760573"/>
            <a:ext cx="10671048" cy="768096"/>
          </a:xfrm>
        </p:spPr>
        <p:txBody>
          <a:bodyPr/>
          <a:lstStyle/>
          <a:p>
            <a:r>
              <a:rPr lang="en-US" sz="3600" b="1" dirty="0">
                <a:solidFill>
                  <a:schemeClr val="accent6"/>
                </a:solidFill>
                <a:latin typeface="Arial Black" panose="020B0604020202020204" pitchFamily="34" charset="0"/>
                <a:cs typeface="Arial Black" panose="020B0604020202020204" pitchFamily="34" charset="0"/>
              </a:rPr>
              <a:t>Framework, languages &amp; tools</a:t>
            </a: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80359"/>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10</a:t>
            </a:fld>
            <a:endParaRPr lang="en-US" dirty="0"/>
          </a:p>
        </p:txBody>
      </p:sp>
      <p:sp>
        <p:nvSpPr>
          <p:cNvPr id="4" name="Rectangle 23">
            <a:extLst>
              <a:ext uri="{FF2B5EF4-FFF2-40B4-BE49-F238E27FC236}">
                <a16:creationId xmlns:a16="http://schemas.microsoft.com/office/drawing/2014/main" id="{5C605630-90ED-5001-27E1-C3364EF2F5AC}"/>
              </a:ext>
            </a:extLst>
          </p:cNvPr>
          <p:cNvSpPr>
            <a:spLocks noChangeArrowheads="1"/>
          </p:cNvSpPr>
          <p:nvPr/>
        </p:nvSpPr>
        <p:spPr bwMode="auto">
          <a:xfrm>
            <a:off x="1783997" y="5184573"/>
            <a:ext cx="6355675" cy="485517"/>
          </a:xfrm>
          <a:prstGeom prst="rect">
            <a:avLst/>
          </a:prstGeom>
          <a:gradFill rotWithShape="0">
            <a:gsLst>
              <a:gs pos="0">
                <a:srgbClr val="895A96"/>
              </a:gs>
              <a:gs pos="100000">
                <a:srgbClr val="895A96">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95A96"/>
            </a:extrusionClr>
            <a:contourClr>
              <a:srgbClr val="895A96"/>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Base Class Library</a:t>
            </a:r>
          </a:p>
        </p:txBody>
      </p:sp>
      <p:sp>
        <p:nvSpPr>
          <p:cNvPr id="5" name="Rectangle 24">
            <a:extLst>
              <a:ext uri="{FF2B5EF4-FFF2-40B4-BE49-F238E27FC236}">
                <a16:creationId xmlns:a16="http://schemas.microsoft.com/office/drawing/2014/main" id="{9CAF1040-4AC2-40AD-090C-E7B88BA072A6}"/>
              </a:ext>
            </a:extLst>
          </p:cNvPr>
          <p:cNvSpPr>
            <a:spLocks noChangeArrowheads="1"/>
          </p:cNvSpPr>
          <p:nvPr/>
        </p:nvSpPr>
        <p:spPr bwMode="auto">
          <a:xfrm>
            <a:off x="1897616" y="2695767"/>
            <a:ext cx="6242057" cy="425119"/>
          </a:xfrm>
          <a:prstGeom prst="rect">
            <a:avLst/>
          </a:prstGeom>
          <a:solidFill>
            <a:srgbClr val="C0C0C0">
              <a:alpha val="39999"/>
            </a:srgbClr>
          </a:solidFill>
          <a:ln w="12700" algn="ctr">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C0C0C0"/>
            </a:extrusionClr>
            <a:contourClr>
              <a:srgbClr val="C0C0C0"/>
            </a:contourClr>
          </a:sp3d>
        </p:spPr>
        <p:txBody>
          <a:bodyPr wrap="none" anchor="ctr">
            <a:flatTx/>
          </a:bodyPr>
          <a:lstStyle/>
          <a:p>
            <a:pPr algn="ctr">
              <a:defRPr/>
            </a:pPr>
            <a:r>
              <a:rPr lang="en-US" b="1">
                <a:effectLst>
                  <a:outerShdw blurRad="38100" dist="38100" dir="2700000" algn="tl">
                    <a:srgbClr val="FFFFFF"/>
                  </a:outerShdw>
                </a:effectLst>
                <a:latin typeface="Arial" panose="020B0604020202020204" pitchFamily="34" charset="0"/>
              </a:rPr>
              <a:t>Common Language Specification</a:t>
            </a:r>
          </a:p>
        </p:txBody>
      </p:sp>
      <p:sp>
        <p:nvSpPr>
          <p:cNvPr id="6" name="Rectangle 25">
            <a:extLst>
              <a:ext uri="{FF2B5EF4-FFF2-40B4-BE49-F238E27FC236}">
                <a16:creationId xmlns:a16="http://schemas.microsoft.com/office/drawing/2014/main" id="{48FAA84B-66E7-9BA6-AA3A-EC0D8E700FF7}"/>
              </a:ext>
            </a:extLst>
          </p:cNvPr>
          <p:cNvSpPr>
            <a:spLocks noChangeArrowheads="1"/>
          </p:cNvSpPr>
          <p:nvPr/>
        </p:nvSpPr>
        <p:spPr bwMode="auto">
          <a:xfrm>
            <a:off x="1742414" y="6003236"/>
            <a:ext cx="6397259" cy="395747"/>
          </a:xfrm>
          <a:prstGeom prst="rect">
            <a:avLst/>
          </a:prstGeom>
          <a:gradFill rotWithShape="0">
            <a:gsLst>
              <a:gs pos="0">
                <a:srgbClr val="FF9D67"/>
              </a:gs>
              <a:gs pos="100000">
                <a:srgbClr val="FF9D67">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FF9D67"/>
            </a:extrusionClr>
            <a:contourClr>
              <a:srgbClr val="FF9D67"/>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Common Language Runtime</a:t>
            </a:r>
          </a:p>
        </p:txBody>
      </p:sp>
      <p:sp>
        <p:nvSpPr>
          <p:cNvPr id="9" name="Rectangle 26">
            <a:extLst>
              <a:ext uri="{FF2B5EF4-FFF2-40B4-BE49-F238E27FC236}">
                <a16:creationId xmlns:a16="http://schemas.microsoft.com/office/drawing/2014/main" id="{205860BD-DDC7-8EBD-4C9B-060A0329C6DD}"/>
              </a:ext>
            </a:extLst>
          </p:cNvPr>
          <p:cNvSpPr>
            <a:spLocks noChangeArrowheads="1"/>
          </p:cNvSpPr>
          <p:nvPr/>
        </p:nvSpPr>
        <p:spPr bwMode="auto">
          <a:xfrm>
            <a:off x="1788281" y="4356078"/>
            <a:ext cx="6351392" cy="485517"/>
          </a:xfrm>
          <a:prstGeom prst="rect">
            <a:avLst/>
          </a:prstGeom>
          <a:gradFill rotWithShape="0">
            <a:gsLst>
              <a:gs pos="0">
                <a:srgbClr val="895A96"/>
              </a:gs>
              <a:gs pos="100000">
                <a:srgbClr val="895A96">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95A96"/>
            </a:extrusionClr>
            <a:contourClr>
              <a:srgbClr val="895A96"/>
            </a:contourClr>
          </a:sp3d>
        </p:spPr>
        <p:txBody>
          <a:bodyPr wrap="none" anchor="ctr">
            <a:flatTx/>
          </a:bodyPr>
          <a:lstStyle/>
          <a:p>
            <a:pPr algn="ctr">
              <a:defRPr/>
            </a:pPr>
            <a:r>
              <a:rPr lang="en-US" b="1">
                <a:effectLst>
                  <a:outerShdw blurRad="38100" dist="38100" dir="2700000" algn="tl">
                    <a:srgbClr val="FFFFFF"/>
                  </a:outerShdw>
                </a:effectLst>
                <a:latin typeface="Arial" panose="020B0604020202020204" pitchFamily="34" charset="0"/>
              </a:rPr>
              <a:t>ADO.NET: Data and XML</a:t>
            </a:r>
          </a:p>
        </p:txBody>
      </p:sp>
      <p:sp>
        <p:nvSpPr>
          <p:cNvPr id="10" name="Rectangle 27">
            <a:extLst>
              <a:ext uri="{FF2B5EF4-FFF2-40B4-BE49-F238E27FC236}">
                <a16:creationId xmlns:a16="http://schemas.microsoft.com/office/drawing/2014/main" id="{B17DD3CF-9000-73E6-A4F9-3119A07D99F7}"/>
              </a:ext>
            </a:extLst>
          </p:cNvPr>
          <p:cNvSpPr>
            <a:spLocks noChangeArrowheads="1"/>
          </p:cNvSpPr>
          <p:nvPr/>
        </p:nvSpPr>
        <p:spPr bwMode="auto">
          <a:xfrm>
            <a:off x="2034135" y="1862424"/>
            <a:ext cx="882593" cy="560143"/>
          </a:xfrm>
          <a:prstGeom prst="rect">
            <a:avLst/>
          </a:prstGeom>
          <a:gradFill rotWithShape="0">
            <a:gsLst>
              <a:gs pos="0">
                <a:srgbClr val="008FF0"/>
              </a:gs>
              <a:gs pos="100000">
                <a:srgbClr val="008FF0">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008FF0"/>
            </a:extrusionClr>
            <a:contourClr>
              <a:srgbClr val="008FF0"/>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VB</a:t>
            </a:r>
          </a:p>
        </p:txBody>
      </p:sp>
      <p:sp>
        <p:nvSpPr>
          <p:cNvPr id="11" name="Rectangle 28">
            <a:extLst>
              <a:ext uri="{FF2B5EF4-FFF2-40B4-BE49-F238E27FC236}">
                <a16:creationId xmlns:a16="http://schemas.microsoft.com/office/drawing/2014/main" id="{F33A7304-432B-E237-A068-B6E248A1EB9F}"/>
              </a:ext>
            </a:extLst>
          </p:cNvPr>
          <p:cNvSpPr>
            <a:spLocks noChangeArrowheads="1"/>
          </p:cNvSpPr>
          <p:nvPr/>
        </p:nvSpPr>
        <p:spPr bwMode="auto">
          <a:xfrm>
            <a:off x="3266758" y="1871823"/>
            <a:ext cx="851670" cy="559925"/>
          </a:xfrm>
          <a:prstGeom prst="rect">
            <a:avLst/>
          </a:prstGeom>
          <a:gradFill rotWithShape="0">
            <a:gsLst>
              <a:gs pos="0">
                <a:srgbClr val="008FF0"/>
              </a:gs>
              <a:gs pos="100000">
                <a:srgbClr val="008FF0">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008FF0"/>
            </a:extrusionClr>
            <a:contourClr>
              <a:srgbClr val="008FF0"/>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VC++</a:t>
            </a:r>
          </a:p>
        </p:txBody>
      </p:sp>
      <p:sp>
        <p:nvSpPr>
          <p:cNvPr id="12" name="Rectangle 29">
            <a:extLst>
              <a:ext uri="{FF2B5EF4-FFF2-40B4-BE49-F238E27FC236}">
                <a16:creationId xmlns:a16="http://schemas.microsoft.com/office/drawing/2014/main" id="{D4C21D37-EB8B-BDF8-C0DB-C5C5369E7DCB}"/>
              </a:ext>
            </a:extLst>
          </p:cNvPr>
          <p:cNvSpPr>
            <a:spLocks noChangeArrowheads="1"/>
          </p:cNvSpPr>
          <p:nvPr/>
        </p:nvSpPr>
        <p:spPr bwMode="auto">
          <a:xfrm>
            <a:off x="4501590" y="1862424"/>
            <a:ext cx="930034" cy="567723"/>
          </a:xfrm>
          <a:prstGeom prst="rect">
            <a:avLst/>
          </a:prstGeom>
          <a:gradFill rotWithShape="0">
            <a:gsLst>
              <a:gs pos="0">
                <a:srgbClr val="008FF0"/>
              </a:gs>
              <a:gs pos="100000">
                <a:srgbClr val="008FF0">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008FF0"/>
            </a:extrusionClr>
            <a:contourClr>
              <a:srgbClr val="008FF0"/>
            </a:contourClr>
          </a:sp3d>
        </p:spPr>
        <p:txBody>
          <a:bodyPr wrap="none" anchor="ctr">
            <a:flatTx/>
          </a:bodyPr>
          <a:lstStyle/>
          <a:p>
            <a:pPr algn="ctr">
              <a:defRPr/>
            </a:pPr>
            <a:r>
              <a:rPr lang="en-US" b="1">
                <a:effectLst>
                  <a:outerShdw blurRad="38100" dist="38100" dir="2700000" algn="tl">
                    <a:srgbClr val="FFFFFF"/>
                  </a:outerShdw>
                </a:effectLst>
                <a:latin typeface="Arial" panose="020B0604020202020204" pitchFamily="34" charset="0"/>
              </a:rPr>
              <a:t>VC#</a:t>
            </a:r>
          </a:p>
        </p:txBody>
      </p:sp>
      <p:sp>
        <p:nvSpPr>
          <p:cNvPr id="13" name="Rectangle 30">
            <a:extLst>
              <a:ext uri="{FF2B5EF4-FFF2-40B4-BE49-F238E27FC236}">
                <a16:creationId xmlns:a16="http://schemas.microsoft.com/office/drawing/2014/main" id="{14D8129B-E274-4E64-97F7-86535BFB1447}"/>
              </a:ext>
            </a:extLst>
          </p:cNvPr>
          <p:cNvSpPr>
            <a:spLocks noChangeArrowheads="1"/>
          </p:cNvSpPr>
          <p:nvPr/>
        </p:nvSpPr>
        <p:spPr bwMode="auto">
          <a:xfrm>
            <a:off x="8696031" y="1901124"/>
            <a:ext cx="1155886" cy="4456471"/>
          </a:xfrm>
          <a:prstGeom prst="rect">
            <a:avLst/>
          </a:prstGeom>
          <a:gradFill rotWithShape="0">
            <a:gsLst>
              <a:gs pos="0">
                <a:srgbClr val="2AA478"/>
              </a:gs>
              <a:gs pos="100000">
                <a:srgbClr val="2AA478">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2AA478"/>
            </a:extrusionClr>
            <a:contourClr>
              <a:srgbClr val="2AA478"/>
            </a:contourClr>
          </a:sp3d>
        </p:spPr>
        <p:txBody>
          <a:bodyPr vert="eaVert"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Visual Studio.NET</a:t>
            </a:r>
          </a:p>
        </p:txBody>
      </p:sp>
      <p:sp>
        <p:nvSpPr>
          <p:cNvPr id="14" name="Rectangle 31">
            <a:extLst>
              <a:ext uri="{FF2B5EF4-FFF2-40B4-BE49-F238E27FC236}">
                <a16:creationId xmlns:a16="http://schemas.microsoft.com/office/drawing/2014/main" id="{E2D7606C-D80B-534B-0828-7F43B4B32B37}"/>
              </a:ext>
            </a:extLst>
          </p:cNvPr>
          <p:cNvSpPr>
            <a:spLocks noChangeArrowheads="1"/>
          </p:cNvSpPr>
          <p:nvPr/>
        </p:nvSpPr>
        <p:spPr bwMode="auto">
          <a:xfrm>
            <a:off x="1788281" y="3502228"/>
            <a:ext cx="4248716" cy="485517"/>
          </a:xfrm>
          <a:prstGeom prst="rect">
            <a:avLst/>
          </a:prstGeom>
          <a:gradFill rotWithShape="0">
            <a:gsLst>
              <a:gs pos="0">
                <a:srgbClr val="895A96"/>
              </a:gs>
              <a:gs pos="100000">
                <a:srgbClr val="895A96">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95A96"/>
            </a:extrusionClr>
            <a:contourClr>
              <a:srgbClr val="895A96"/>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ASP.NET: Web Services</a:t>
            </a:r>
          </a:p>
          <a:p>
            <a:pPr algn="ctr">
              <a:defRPr/>
            </a:pPr>
            <a:r>
              <a:rPr lang="en-US" b="1" dirty="0">
                <a:effectLst>
                  <a:outerShdw blurRad="38100" dist="38100" dir="2700000" algn="tl">
                    <a:srgbClr val="FFFFFF"/>
                  </a:outerShdw>
                </a:effectLst>
                <a:latin typeface="Arial" panose="020B0604020202020204" pitchFamily="34" charset="0"/>
              </a:rPr>
              <a:t>and Web Forms</a:t>
            </a:r>
          </a:p>
        </p:txBody>
      </p:sp>
      <p:sp>
        <p:nvSpPr>
          <p:cNvPr id="15" name="Rectangle 32">
            <a:extLst>
              <a:ext uri="{FF2B5EF4-FFF2-40B4-BE49-F238E27FC236}">
                <a16:creationId xmlns:a16="http://schemas.microsoft.com/office/drawing/2014/main" id="{78180928-0A02-7AD1-23AE-16F28664A0F5}"/>
              </a:ext>
            </a:extLst>
          </p:cNvPr>
          <p:cNvSpPr>
            <a:spLocks noChangeArrowheads="1"/>
          </p:cNvSpPr>
          <p:nvPr/>
        </p:nvSpPr>
        <p:spPr bwMode="auto">
          <a:xfrm>
            <a:off x="5781653" y="1870683"/>
            <a:ext cx="1003480" cy="555544"/>
          </a:xfrm>
          <a:prstGeom prst="rect">
            <a:avLst/>
          </a:prstGeom>
          <a:gradFill rotWithShape="0">
            <a:gsLst>
              <a:gs pos="0">
                <a:srgbClr val="008FF0"/>
              </a:gs>
              <a:gs pos="100000">
                <a:srgbClr val="008FF0">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008FF0"/>
            </a:extrusionClr>
            <a:contourClr>
              <a:srgbClr val="008FF0"/>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JScript</a:t>
            </a:r>
          </a:p>
        </p:txBody>
      </p:sp>
      <p:sp>
        <p:nvSpPr>
          <p:cNvPr id="16" name="Rectangle 33">
            <a:extLst>
              <a:ext uri="{FF2B5EF4-FFF2-40B4-BE49-F238E27FC236}">
                <a16:creationId xmlns:a16="http://schemas.microsoft.com/office/drawing/2014/main" id="{18856119-6BDE-E1F8-4C0F-21D4ED815C10}"/>
              </a:ext>
            </a:extLst>
          </p:cNvPr>
          <p:cNvSpPr>
            <a:spLocks noChangeArrowheads="1"/>
          </p:cNvSpPr>
          <p:nvPr/>
        </p:nvSpPr>
        <p:spPr bwMode="auto">
          <a:xfrm>
            <a:off x="7135162" y="1901124"/>
            <a:ext cx="881266" cy="512064"/>
          </a:xfrm>
          <a:prstGeom prst="rect">
            <a:avLst/>
          </a:prstGeom>
          <a:gradFill rotWithShape="0">
            <a:gsLst>
              <a:gs pos="0">
                <a:srgbClr val="008FF0"/>
              </a:gs>
              <a:gs pos="100000">
                <a:srgbClr val="008FF0">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008FF0"/>
            </a:extrusionClr>
            <a:contourClr>
              <a:srgbClr val="008FF0"/>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a:t>
            </a:r>
          </a:p>
        </p:txBody>
      </p:sp>
      <p:sp>
        <p:nvSpPr>
          <p:cNvPr id="17" name="Rectangle 34">
            <a:extLst>
              <a:ext uri="{FF2B5EF4-FFF2-40B4-BE49-F238E27FC236}">
                <a16:creationId xmlns:a16="http://schemas.microsoft.com/office/drawing/2014/main" id="{88DD6404-ADD1-718E-6CA8-044D994756F1}"/>
              </a:ext>
            </a:extLst>
          </p:cNvPr>
          <p:cNvSpPr>
            <a:spLocks noChangeArrowheads="1"/>
          </p:cNvSpPr>
          <p:nvPr/>
        </p:nvSpPr>
        <p:spPr bwMode="auto">
          <a:xfrm>
            <a:off x="6343960" y="3463864"/>
            <a:ext cx="1795712" cy="516319"/>
          </a:xfrm>
          <a:prstGeom prst="rect">
            <a:avLst/>
          </a:prstGeom>
          <a:gradFill rotWithShape="0">
            <a:gsLst>
              <a:gs pos="0">
                <a:srgbClr val="895A96"/>
              </a:gs>
              <a:gs pos="100000">
                <a:srgbClr val="895A96">
                  <a:gamma/>
                  <a:shade val="60000"/>
                  <a:invGamma/>
                </a:srgbClr>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rgbClr val="895A96"/>
            </a:extrusionClr>
            <a:contourClr>
              <a:srgbClr val="895A96"/>
            </a:contourClr>
          </a:sp3d>
        </p:spPr>
        <p:txBody>
          <a:bodyPr wrap="none" anchor="ctr">
            <a:flatTx/>
          </a:bodyPr>
          <a:lstStyle/>
          <a:p>
            <a:pPr algn="ctr">
              <a:defRPr/>
            </a:pPr>
            <a:r>
              <a:rPr lang="en-US" b="1" dirty="0">
                <a:effectLst>
                  <a:outerShdw blurRad="38100" dist="38100" dir="2700000" algn="tl">
                    <a:srgbClr val="FFFFFF"/>
                  </a:outerShdw>
                </a:effectLst>
                <a:latin typeface="Arial" panose="020B0604020202020204" pitchFamily="34" charset="0"/>
              </a:rPr>
              <a:t>Windows</a:t>
            </a:r>
            <a:br>
              <a:rPr lang="en-US" b="1" dirty="0">
                <a:effectLst>
                  <a:outerShdw blurRad="38100" dist="38100" dir="2700000" algn="tl">
                    <a:srgbClr val="FFFFFF"/>
                  </a:outerShdw>
                </a:effectLst>
                <a:latin typeface="Arial" panose="020B0604020202020204" pitchFamily="34" charset="0"/>
              </a:rPr>
            </a:br>
            <a:r>
              <a:rPr lang="en-US" b="1" dirty="0">
                <a:effectLst>
                  <a:outerShdw blurRad="38100" dist="38100" dir="2700000" algn="tl">
                    <a:srgbClr val="FFFFFF"/>
                  </a:outerShdw>
                </a:effectLst>
                <a:latin typeface="Arial" panose="020B0604020202020204" pitchFamily="34" charset="0"/>
              </a:rPr>
              <a:t>Forms</a:t>
            </a:r>
          </a:p>
        </p:txBody>
      </p:sp>
    </p:spTree>
    <p:extLst>
      <p:ext uri="{BB962C8B-B14F-4D97-AF65-F5344CB8AC3E}">
        <p14:creationId xmlns:p14="http://schemas.microsoft.com/office/powerpoint/2010/main" val="3905760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758952" y="980177"/>
            <a:ext cx="10671048" cy="768096"/>
          </a:xfrm>
        </p:spPr>
        <p:txBody>
          <a:bodyPr/>
          <a:lstStyle/>
          <a:p>
            <a:r>
              <a:rPr lang="en-US" dirty="0">
                <a:latin typeface="Arial Black" panose="020B0604020202020204" pitchFamily="34" charset="0"/>
                <a:cs typeface="Arial Black" panose="020B0604020202020204" pitchFamily="34" charset="0"/>
              </a:rPr>
              <a:t>Compilation in dot</a:t>
            </a:r>
            <a:r>
              <a:rPr lang="en-US" sz="4400" b="1" dirty="0">
                <a:solidFill>
                  <a:schemeClr val="accent6"/>
                </a:solidFill>
                <a:latin typeface="Arial Black" panose="020B0604020202020204" pitchFamily="34" charset="0"/>
                <a:cs typeface="Arial Black" panose="020B0604020202020204" pitchFamily="34" charset="0"/>
              </a:rPr>
              <a:t>net</a:t>
            </a: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11</a:t>
            </a:fld>
            <a:endParaRPr lang="en-US" dirty="0"/>
          </a:p>
        </p:txBody>
      </p:sp>
      <p:sp>
        <p:nvSpPr>
          <p:cNvPr id="48" name="Rectangle 5">
            <a:extLst>
              <a:ext uri="{FF2B5EF4-FFF2-40B4-BE49-F238E27FC236}">
                <a16:creationId xmlns:a16="http://schemas.microsoft.com/office/drawing/2014/main" id="{CF1EACDB-CFFD-CF9A-BBDE-005347DD7B3F}"/>
              </a:ext>
            </a:extLst>
          </p:cNvPr>
          <p:cNvSpPr>
            <a:spLocks noChangeArrowheads="1"/>
          </p:cNvSpPr>
          <p:nvPr/>
        </p:nvSpPr>
        <p:spPr bwMode="auto">
          <a:xfrm>
            <a:off x="2910346" y="2091814"/>
            <a:ext cx="1676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dirty="0"/>
              <a:t>Code in VB.NET</a:t>
            </a:r>
          </a:p>
        </p:txBody>
      </p:sp>
      <p:sp>
        <p:nvSpPr>
          <p:cNvPr id="49" name="Rectangle 6">
            <a:extLst>
              <a:ext uri="{FF2B5EF4-FFF2-40B4-BE49-F238E27FC236}">
                <a16:creationId xmlns:a16="http://schemas.microsoft.com/office/drawing/2014/main" id="{C9CDDDC6-016B-1342-95CF-BB1245443F9B}"/>
              </a:ext>
            </a:extLst>
          </p:cNvPr>
          <p:cNvSpPr>
            <a:spLocks noChangeArrowheads="1"/>
          </p:cNvSpPr>
          <p:nvPr/>
        </p:nvSpPr>
        <p:spPr bwMode="auto">
          <a:xfrm>
            <a:off x="5043946" y="2091814"/>
            <a:ext cx="1676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Code in C#</a:t>
            </a:r>
          </a:p>
        </p:txBody>
      </p:sp>
      <p:sp>
        <p:nvSpPr>
          <p:cNvPr id="50" name="Rectangle 7">
            <a:extLst>
              <a:ext uri="{FF2B5EF4-FFF2-40B4-BE49-F238E27FC236}">
                <a16:creationId xmlns:a16="http://schemas.microsoft.com/office/drawing/2014/main" id="{FB6D2363-FB30-1E82-E57B-14C94AFA9653}"/>
              </a:ext>
            </a:extLst>
          </p:cNvPr>
          <p:cNvSpPr>
            <a:spLocks noChangeArrowheads="1"/>
          </p:cNvSpPr>
          <p:nvPr/>
        </p:nvSpPr>
        <p:spPr bwMode="auto">
          <a:xfrm>
            <a:off x="7253746" y="2091814"/>
            <a:ext cx="1676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Code in another </a:t>
            </a:r>
          </a:p>
          <a:p>
            <a:pPr algn="ctr" eaLnBrk="1" hangingPunct="1">
              <a:spcBef>
                <a:spcPct val="0"/>
              </a:spcBef>
              <a:buFontTx/>
              <a:buNone/>
            </a:pPr>
            <a:r>
              <a:rPr lang="en-US" altLang="en-US" sz="1600"/>
              <a:t>.NET Language</a:t>
            </a:r>
          </a:p>
        </p:txBody>
      </p:sp>
      <p:sp>
        <p:nvSpPr>
          <p:cNvPr id="51" name="AutoShape 11">
            <a:extLst>
              <a:ext uri="{FF2B5EF4-FFF2-40B4-BE49-F238E27FC236}">
                <a16:creationId xmlns:a16="http://schemas.microsoft.com/office/drawing/2014/main" id="{0B4AEC54-F165-9E4E-87CB-D9067CE2C11A}"/>
              </a:ext>
            </a:extLst>
          </p:cNvPr>
          <p:cNvSpPr>
            <a:spLocks noChangeArrowheads="1"/>
          </p:cNvSpPr>
          <p:nvPr/>
        </p:nvSpPr>
        <p:spPr bwMode="auto">
          <a:xfrm>
            <a:off x="2910346" y="3463414"/>
            <a:ext cx="1752600" cy="457200"/>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VB.NET compiler</a:t>
            </a:r>
          </a:p>
        </p:txBody>
      </p:sp>
      <p:sp>
        <p:nvSpPr>
          <p:cNvPr id="52" name="AutoShape 12">
            <a:extLst>
              <a:ext uri="{FF2B5EF4-FFF2-40B4-BE49-F238E27FC236}">
                <a16:creationId xmlns:a16="http://schemas.microsoft.com/office/drawing/2014/main" id="{166C0211-0BEA-8BE8-3EB6-27724147B25F}"/>
              </a:ext>
            </a:extLst>
          </p:cNvPr>
          <p:cNvSpPr>
            <a:spLocks noChangeArrowheads="1"/>
          </p:cNvSpPr>
          <p:nvPr/>
        </p:nvSpPr>
        <p:spPr bwMode="auto">
          <a:xfrm>
            <a:off x="5043946" y="3463414"/>
            <a:ext cx="1752600" cy="457200"/>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C# compiler</a:t>
            </a:r>
          </a:p>
        </p:txBody>
      </p:sp>
      <p:sp>
        <p:nvSpPr>
          <p:cNvPr id="53" name="AutoShape 13">
            <a:extLst>
              <a:ext uri="{FF2B5EF4-FFF2-40B4-BE49-F238E27FC236}">
                <a16:creationId xmlns:a16="http://schemas.microsoft.com/office/drawing/2014/main" id="{62BA943D-B96C-9702-6E5D-B80E2A31DDCE}"/>
              </a:ext>
            </a:extLst>
          </p:cNvPr>
          <p:cNvSpPr>
            <a:spLocks noChangeArrowheads="1"/>
          </p:cNvSpPr>
          <p:nvPr/>
        </p:nvSpPr>
        <p:spPr bwMode="auto">
          <a:xfrm>
            <a:off x="7253746" y="3463414"/>
            <a:ext cx="1676400" cy="457200"/>
          </a:xfrm>
          <a:prstGeom prst="roundRect">
            <a:avLst>
              <a:gd name="adj" fmla="val 1666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Appropriate</a:t>
            </a:r>
          </a:p>
          <a:p>
            <a:pPr algn="ctr" eaLnBrk="1" hangingPunct="1">
              <a:spcBef>
                <a:spcPct val="0"/>
              </a:spcBef>
              <a:buFontTx/>
              <a:buNone/>
            </a:pPr>
            <a:r>
              <a:rPr lang="en-US" altLang="en-US" sz="1600"/>
              <a:t>Compiler</a:t>
            </a:r>
          </a:p>
        </p:txBody>
      </p:sp>
      <p:sp>
        <p:nvSpPr>
          <p:cNvPr id="54" name="Rectangle 14">
            <a:extLst>
              <a:ext uri="{FF2B5EF4-FFF2-40B4-BE49-F238E27FC236}">
                <a16:creationId xmlns:a16="http://schemas.microsoft.com/office/drawing/2014/main" id="{A09C78A6-2CAD-2A6E-7621-9E7CCB8BCAF8}"/>
              </a:ext>
            </a:extLst>
          </p:cNvPr>
          <p:cNvSpPr>
            <a:spLocks noChangeArrowheads="1"/>
          </p:cNvSpPr>
          <p:nvPr/>
        </p:nvSpPr>
        <p:spPr bwMode="auto">
          <a:xfrm>
            <a:off x="5120146" y="4530214"/>
            <a:ext cx="16002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a:t>IL(Intermediate</a:t>
            </a:r>
          </a:p>
          <a:p>
            <a:pPr algn="ctr" eaLnBrk="1" hangingPunct="1">
              <a:spcBef>
                <a:spcPct val="0"/>
              </a:spcBef>
              <a:buFontTx/>
              <a:buNone/>
            </a:pPr>
            <a:r>
              <a:rPr lang="en-US" altLang="en-US" sz="1600"/>
              <a:t>Language) code</a:t>
            </a:r>
          </a:p>
        </p:txBody>
      </p:sp>
      <p:sp>
        <p:nvSpPr>
          <p:cNvPr id="55" name="Rectangle 15">
            <a:extLst>
              <a:ext uri="{FF2B5EF4-FFF2-40B4-BE49-F238E27FC236}">
                <a16:creationId xmlns:a16="http://schemas.microsoft.com/office/drawing/2014/main" id="{3A026C31-6FDE-1124-97B1-82661403272A}"/>
              </a:ext>
            </a:extLst>
          </p:cNvPr>
          <p:cNvSpPr>
            <a:spLocks noChangeArrowheads="1"/>
          </p:cNvSpPr>
          <p:nvPr/>
        </p:nvSpPr>
        <p:spPr bwMode="auto">
          <a:xfrm>
            <a:off x="5120146" y="5597014"/>
            <a:ext cx="16002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1600" dirty="0"/>
              <a:t>CLR just-in-time</a:t>
            </a:r>
          </a:p>
          <a:p>
            <a:pPr algn="ctr" eaLnBrk="1" hangingPunct="1">
              <a:spcBef>
                <a:spcPct val="0"/>
              </a:spcBef>
              <a:buFontTx/>
              <a:buNone/>
            </a:pPr>
            <a:r>
              <a:rPr lang="en-US" altLang="en-US" sz="1600" dirty="0"/>
              <a:t>execution</a:t>
            </a:r>
          </a:p>
        </p:txBody>
      </p:sp>
      <p:sp>
        <p:nvSpPr>
          <p:cNvPr id="56" name="Freeform 16">
            <a:extLst>
              <a:ext uri="{FF2B5EF4-FFF2-40B4-BE49-F238E27FC236}">
                <a16:creationId xmlns:a16="http://schemas.microsoft.com/office/drawing/2014/main" id="{29E79689-ECF4-CCC0-5DC4-7665072618DE}"/>
              </a:ext>
            </a:extLst>
          </p:cNvPr>
          <p:cNvSpPr>
            <a:spLocks/>
          </p:cNvSpPr>
          <p:nvPr/>
        </p:nvSpPr>
        <p:spPr bwMode="auto">
          <a:xfrm>
            <a:off x="3672346" y="2701414"/>
            <a:ext cx="7938" cy="762000"/>
          </a:xfrm>
          <a:custGeom>
            <a:avLst/>
            <a:gdLst>
              <a:gd name="T0" fmla="*/ 0 w 5"/>
              <a:gd name="T1" fmla="*/ 0 h 480"/>
              <a:gd name="T2" fmla="*/ 12602369 w 5"/>
              <a:gd name="T3" fmla="*/ 1209675000 h 480"/>
              <a:gd name="T4" fmla="*/ 0 60000 65536"/>
              <a:gd name="T5" fmla="*/ 0 60000 65536"/>
            </a:gdLst>
            <a:ahLst/>
            <a:cxnLst>
              <a:cxn ang="T4">
                <a:pos x="T0" y="T1"/>
              </a:cxn>
              <a:cxn ang="T5">
                <a:pos x="T2" y="T3"/>
              </a:cxn>
            </a:cxnLst>
            <a:rect l="0" t="0" r="r" b="b"/>
            <a:pathLst>
              <a:path w="5" h="480">
                <a:moveTo>
                  <a:pt x="0" y="0"/>
                </a:moveTo>
                <a:lnTo>
                  <a:pt x="5" y="480"/>
                </a:ln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7" name="Freeform 17">
            <a:extLst>
              <a:ext uri="{FF2B5EF4-FFF2-40B4-BE49-F238E27FC236}">
                <a16:creationId xmlns:a16="http://schemas.microsoft.com/office/drawing/2014/main" id="{B6A36E48-81D7-5548-F5DB-BBE479B85BC9}"/>
              </a:ext>
            </a:extLst>
          </p:cNvPr>
          <p:cNvSpPr>
            <a:spLocks/>
          </p:cNvSpPr>
          <p:nvPr/>
        </p:nvSpPr>
        <p:spPr bwMode="auto">
          <a:xfrm>
            <a:off x="5882146" y="2701414"/>
            <a:ext cx="7938" cy="762000"/>
          </a:xfrm>
          <a:custGeom>
            <a:avLst/>
            <a:gdLst>
              <a:gd name="T0" fmla="*/ 0 w 5"/>
              <a:gd name="T1" fmla="*/ 0 h 480"/>
              <a:gd name="T2" fmla="*/ 12602369 w 5"/>
              <a:gd name="T3" fmla="*/ 1209675000 h 480"/>
              <a:gd name="T4" fmla="*/ 0 60000 65536"/>
              <a:gd name="T5" fmla="*/ 0 60000 65536"/>
            </a:gdLst>
            <a:ahLst/>
            <a:cxnLst>
              <a:cxn ang="T4">
                <a:pos x="T0" y="T1"/>
              </a:cxn>
              <a:cxn ang="T5">
                <a:pos x="T2" y="T3"/>
              </a:cxn>
            </a:cxnLst>
            <a:rect l="0" t="0" r="r" b="b"/>
            <a:pathLst>
              <a:path w="5" h="480">
                <a:moveTo>
                  <a:pt x="0" y="0"/>
                </a:moveTo>
                <a:lnTo>
                  <a:pt x="5" y="480"/>
                </a:ln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8" name="Freeform 18">
            <a:extLst>
              <a:ext uri="{FF2B5EF4-FFF2-40B4-BE49-F238E27FC236}">
                <a16:creationId xmlns:a16="http://schemas.microsoft.com/office/drawing/2014/main" id="{875EAB07-387D-0D20-6F76-A805EDF08B43}"/>
              </a:ext>
            </a:extLst>
          </p:cNvPr>
          <p:cNvSpPr>
            <a:spLocks/>
          </p:cNvSpPr>
          <p:nvPr/>
        </p:nvSpPr>
        <p:spPr bwMode="auto">
          <a:xfrm>
            <a:off x="8091946" y="2701414"/>
            <a:ext cx="7938" cy="762000"/>
          </a:xfrm>
          <a:custGeom>
            <a:avLst/>
            <a:gdLst>
              <a:gd name="T0" fmla="*/ 0 w 5"/>
              <a:gd name="T1" fmla="*/ 0 h 480"/>
              <a:gd name="T2" fmla="*/ 12602369 w 5"/>
              <a:gd name="T3" fmla="*/ 1209675000 h 480"/>
              <a:gd name="T4" fmla="*/ 0 60000 65536"/>
              <a:gd name="T5" fmla="*/ 0 60000 65536"/>
            </a:gdLst>
            <a:ahLst/>
            <a:cxnLst>
              <a:cxn ang="T4">
                <a:pos x="T0" y="T1"/>
              </a:cxn>
              <a:cxn ang="T5">
                <a:pos x="T2" y="T3"/>
              </a:cxn>
            </a:cxnLst>
            <a:rect l="0" t="0" r="r" b="b"/>
            <a:pathLst>
              <a:path w="5" h="480">
                <a:moveTo>
                  <a:pt x="0" y="0"/>
                </a:moveTo>
                <a:lnTo>
                  <a:pt x="5" y="480"/>
                </a:lnTo>
              </a:path>
            </a:pathLst>
          </a:custGeom>
          <a:noFill/>
          <a:ln w="9525" cap="flat" cmpd="sng">
            <a:solidFill>
              <a:schemeClr val="tx1"/>
            </a:solidFill>
            <a:prstDash val="solid"/>
            <a:miter lim="800000"/>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59" name="Line 19">
            <a:extLst>
              <a:ext uri="{FF2B5EF4-FFF2-40B4-BE49-F238E27FC236}">
                <a16:creationId xmlns:a16="http://schemas.microsoft.com/office/drawing/2014/main" id="{7BC0C02A-25C2-EAAB-2337-544D616C4769}"/>
              </a:ext>
            </a:extLst>
          </p:cNvPr>
          <p:cNvSpPr>
            <a:spLocks noChangeShapeType="1"/>
          </p:cNvSpPr>
          <p:nvPr/>
        </p:nvSpPr>
        <p:spPr bwMode="auto">
          <a:xfrm>
            <a:off x="3748546" y="3920614"/>
            <a:ext cx="137160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0" name="Line 20">
            <a:extLst>
              <a:ext uri="{FF2B5EF4-FFF2-40B4-BE49-F238E27FC236}">
                <a16:creationId xmlns:a16="http://schemas.microsoft.com/office/drawing/2014/main" id="{13C844AB-5332-B12F-43CD-FBE47A149D0E}"/>
              </a:ext>
            </a:extLst>
          </p:cNvPr>
          <p:cNvSpPr>
            <a:spLocks noChangeShapeType="1"/>
          </p:cNvSpPr>
          <p:nvPr/>
        </p:nvSpPr>
        <p:spPr bwMode="auto">
          <a:xfrm flipH="1">
            <a:off x="6720346" y="3920614"/>
            <a:ext cx="137160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1" name="Line 21">
            <a:extLst>
              <a:ext uri="{FF2B5EF4-FFF2-40B4-BE49-F238E27FC236}">
                <a16:creationId xmlns:a16="http://schemas.microsoft.com/office/drawing/2014/main" id="{557C42D3-8A77-0859-F4E7-5B6381B1CE25}"/>
              </a:ext>
            </a:extLst>
          </p:cNvPr>
          <p:cNvSpPr>
            <a:spLocks noChangeShapeType="1"/>
          </p:cNvSpPr>
          <p:nvPr/>
        </p:nvSpPr>
        <p:spPr bwMode="auto">
          <a:xfrm>
            <a:off x="5882146" y="3920614"/>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62" name="Line 22">
            <a:extLst>
              <a:ext uri="{FF2B5EF4-FFF2-40B4-BE49-F238E27FC236}">
                <a16:creationId xmlns:a16="http://schemas.microsoft.com/office/drawing/2014/main" id="{DF246767-71D2-871F-367B-F8CA72AF757B}"/>
              </a:ext>
            </a:extLst>
          </p:cNvPr>
          <p:cNvSpPr>
            <a:spLocks noChangeShapeType="1"/>
          </p:cNvSpPr>
          <p:nvPr/>
        </p:nvSpPr>
        <p:spPr bwMode="auto">
          <a:xfrm>
            <a:off x="5882146" y="5216014"/>
            <a:ext cx="0" cy="381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2342882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311B-3177-0658-3585-6639F26A9BF6}"/>
              </a:ext>
            </a:extLst>
          </p:cNvPr>
          <p:cNvSpPr>
            <a:spLocks noGrp="1"/>
          </p:cNvSpPr>
          <p:nvPr>
            <p:ph type="title"/>
          </p:nvPr>
        </p:nvSpPr>
        <p:spPr>
          <a:xfrm>
            <a:off x="758952" y="980177"/>
            <a:ext cx="10671048" cy="768096"/>
          </a:xfrm>
        </p:spPr>
        <p:txBody>
          <a:bodyPr/>
          <a:lstStyle/>
          <a:p>
            <a:r>
              <a:rPr lang="en-US" sz="4400" b="1" dirty="0">
                <a:solidFill>
                  <a:schemeClr val="accent6"/>
                </a:solidFill>
                <a:latin typeface="Arial Black" panose="020B0604020202020204" pitchFamily="34" charset="0"/>
                <a:cs typeface="Arial Black" panose="020B0604020202020204" pitchFamily="34" charset="0"/>
              </a:rPr>
              <a:t>Languages </a:t>
            </a:r>
          </a:p>
        </p:txBody>
      </p:sp>
      <p:sp>
        <p:nvSpPr>
          <p:cNvPr id="7" name="Footer Placeholder 6">
            <a:extLst>
              <a:ext uri="{FF2B5EF4-FFF2-40B4-BE49-F238E27FC236}">
                <a16:creationId xmlns:a16="http://schemas.microsoft.com/office/drawing/2014/main" id="{3A122237-B06F-5E42-B051-D7859FC21D7D}"/>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8" name="Slide Number Placeholder 7">
            <a:extLst>
              <a:ext uri="{FF2B5EF4-FFF2-40B4-BE49-F238E27FC236}">
                <a16:creationId xmlns:a16="http://schemas.microsoft.com/office/drawing/2014/main" id="{AECF22D2-2B16-C40D-AA90-609B5CD08B3D}"/>
              </a:ext>
            </a:extLst>
          </p:cNvPr>
          <p:cNvSpPr>
            <a:spLocks noGrp="1"/>
          </p:cNvSpPr>
          <p:nvPr>
            <p:ph type="sldNum" sz="quarter" idx="12"/>
          </p:nvPr>
        </p:nvSpPr>
        <p:spPr/>
        <p:txBody>
          <a:bodyPr/>
          <a:lstStyle/>
          <a:p>
            <a:fld id="{48F63A3B-78C7-47BE-AE5E-E10140E04643}" type="slidenum">
              <a:rPr lang="en-US" smtClean="0"/>
              <a:t>12</a:t>
            </a:fld>
            <a:endParaRPr lang="en-US" dirty="0"/>
          </a:p>
        </p:txBody>
      </p:sp>
      <p:sp>
        <p:nvSpPr>
          <p:cNvPr id="3" name="TextBox 2">
            <a:extLst>
              <a:ext uri="{FF2B5EF4-FFF2-40B4-BE49-F238E27FC236}">
                <a16:creationId xmlns:a16="http://schemas.microsoft.com/office/drawing/2014/main" id="{42E82043-6F73-E688-5F8E-D3F53D920C31}"/>
              </a:ext>
            </a:extLst>
          </p:cNvPr>
          <p:cNvSpPr txBox="1"/>
          <p:nvPr/>
        </p:nvSpPr>
        <p:spPr>
          <a:xfrm>
            <a:off x="760476" y="2035278"/>
            <a:ext cx="10671048" cy="3754874"/>
          </a:xfrm>
          <a:prstGeom prst="rect">
            <a:avLst/>
          </a:prstGeom>
          <a:noFill/>
        </p:spPr>
        <p:txBody>
          <a:bodyPr wrap="square" rtlCol="0">
            <a:spAutoFit/>
          </a:bodyPr>
          <a:lstStyle/>
          <a:p>
            <a:pPr marL="542925" indent="-542925" eaLnBrk="1" hangingPunct="1">
              <a:lnSpc>
                <a:spcPct val="150000"/>
              </a:lnSpc>
              <a:buFont typeface="Arial" panose="020B0604020202020204" pitchFamily="34" charset="0"/>
              <a:buChar char="•"/>
            </a:pPr>
            <a:r>
              <a:rPr lang="en-US" altLang="en-US" sz="2800" dirty="0">
                <a:solidFill>
                  <a:schemeClr val="accent6"/>
                </a:solidFill>
              </a:rPr>
              <a:t>Languages provided by MS</a:t>
            </a:r>
          </a:p>
          <a:p>
            <a:pPr marL="1014413" lvl="1" indent="-469900" algn="just" eaLnBrk="1" hangingPunct="1">
              <a:lnSpc>
                <a:spcPct val="150000"/>
              </a:lnSpc>
              <a:buFont typeface="Arial" panose="020B0604020202020204" pitchFamily="34" charset="0"/>
              <a:buChar char="•"/>
            </a:pPr>
            <a:r>
              <a:rPr lang="en-US" altLang="en-US" sz="2800" dirty="0">
                <a:solidFill>
                  <a:schemeClr val="accent6"/>
                </a:solidFill>
              </a:rPr>
              <a:t>VB, C++, C#, J#, JScript</a:t>
            </a:r>
          </a:p>
          <a:p>
            <a:pPr marL="542925" indent="-542925" eaLnBrk="1" hangingPunct="1">
              <a:lnSpc>
                <a:spcPct val="150000"/>
              </a:lnSpc>
              <a:buFont typeface="Arial" panose="020B0604020202020204" pitchFamily="34" charset="0"/>
              <a:buChar char="•"/>
            </a:pPr>
            <a:r>
              <a:rPr lang="en-US" altLang="en-US" sz="2800" dirty="0">
                <a:solidFill>
                  <a:schemeClr val="accent6"/>
                </a:solidFill>
              </a:rPr>
              <a:t>Third-parties are building</a:t>
            </a:r>
          </a:p>
          <a:p>
            <a:pPr marL="1014413" lvl="1" indent="-469900" eaLnBrk="1" hangingPunct="1">
              <a:lnSpc>
                <a:spcPct val="150000"/>
              </a:lnSpc>
              <a:buFont typeface="Arial" panose="020B0604020202020204" pitchFamily="34" charset="0"/>
              <a:buChar char="•"/>
            </a:pPr>
            <a:r>
              <a:rPr lang="en-US" altLang="en-US" sz="2800" dirty="0">
                <a:solidFill>
                  <a:schemeClr val="accent6"/>
                </a:solidFill>
              </a:rPr>
              <a:t>APL, COBOL, Pascal, Eiffel, Haskell, ML, Oberon, Perl, Python, Scheme, Smalltalk…</a:t>
            </a:r>
          </a:p>
          <a:p>
            <a:endParaRPr lang="en-US" sz="2800" dirty="0">
              <a:solidFill>
                <a:schemeClr val="accent6"/>
              </a:solidFill>
            </a:endParaRPr>
          </a:p>
        </p:txBody>
      </p:sp>
    </p:spTree>
    <p:extLst>
      <p:ext uri="{BB962C8B-B14F-4D97-AF65-F5344CB8AC3E}">
        <p14:creationId xmlns:p14="http://schemas.microsoft.com/office/powerpoint/2010/main" val="128444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4814634" y="987377"/>
            <a:ext cx="7013448" cy="1627632"/>
          </a:xfrm>
        </p:spPr>
        <p:txBody>
          <a:bodyPr/>
          <a:lstStyle/>
          <a:p>
            <a:pPr algn="ctr"/>
            <a:r>
              <a:rPr lang="en-US" dirty="0">
                <a:latin typeface="+mj-lt"/>
              </a:rPr>
              <a:t>Milestone assessment (neocoder)</a:t>
            </a:r>
          </a:p>
        </p:txBody>
      </p:sp>
      <p:sp>
        <p:nvSpPr>
          <p:cNvPr id="4" name="Text Placeholder 3">
            <a:extLst>
              <a:ext uri="{FF2B5EF4-FFF2-40B4-BE49-F238E27FC236}">
                <a16:creationId xmlns:a16="http://schemas.microsoft.com/office/drawing/2014/main" id="{D2BBD890-6A99-C160-C084-2916E2310718}"/>
              </a:ext>
            </a:extLst>
          </p:cNvPr>
          <p:cNvSpPr>
            <a:spLocks noGrp="1"/>
          </p:cNvSpPr>
          <p:nvPr>
            <p:ph type="body" sz="quarter" idx="13"/>
          </p:nvPr>
        </p:nvSpPr>
        <p:spPr>
          <a:xfrm>
            <a:off x="4330127" y="2283030"/>
            <a:ext cx="7360304" cy="3822802"/>
          </a:xfrm>
        </p:spPr>
        <p:txBody>
          <a:bodyPr/>
          <a:lstStyle/>
          <a:p>
            <a:pPr marL="285750" indent="-285750">
              <a:buFont typeface="Wingdings" panose="05000000000000000000" pitchFamily="2" charset="2"/>
              <a:buChar char="Ø"/>
            </a:pPr>
            <a:r>
              <a:rPr lang="en-US" sz="1800" b="0" i="0" u="none" strike="noStrike" baseline="0" dirty="0" err="1"/>
              <a:t>NeoCoder</a:t>
            </a:r>
            <a:r>
              <a:rPr lang="en-US" sz="1800" b="0" i="0" u="none" strike="noStrike" baseline="0" dirty="0"/>
              <a:t> is the platform used to write tests in the IGNITE program. All tests like weekly and milestones were written on this platform. </a:t>
            </a:r>
          </a:p>
          <a:p>
            <a:endParaRPr lang="en-US" sz="1800" b="0" i="0" u="none" strike="noStrike" baseline="0" dirty="0"/>
          </a:p>
          <a:p>
            <a:pPr marL="285750" indent="-285750">
              <a:buFont typeface="Arial" panose="020B0604020202020204" pitchFamily="34" charset="0"/>
              <a:buChar char="•"/>
            </a:pPr>
            <a:r>
              <a:rPr lang="en-US" sz="1800" b="0" i="0" u="none" strike="noStrike" baseline="0" dirty="0"/>
              <a:t>The exam consists of 40% MCQ’s and 60% coding questions. </a:t>
            </a:r>
          </a:p>
          <a:p>
            <a:pPr marL="285750" indent="-285750">
              <a:buFont typeface="Arial" panose="020B0604020202020204" pitchFamily="34" charset="0"/>
              <a:buChar char="•"/>
            </a:pPr>
            <a:r>
              <a:rPr lang="en-US" sz="1800" b="0" i="0" u="none" strike="noStrike" baseline="0" dirty="0"/>
              <a:t>Exam Duration is 2hr 45 minutes. </a:t>
            </a:r>
          </a:p>
          <a:p>
            <a:pPr marL="285750" indent="-285750">
              <a:buFont typeface="Arial" panose="020B0604020202020204" pitchFamily="34" charset="0"/>
              <a:buChar char="•"/>
            </a:pPr>
            <a:r>
              <a:rPr lang="en-US" sz="1800" b="0" i="0" u="none" strike="noStrike" baseline="0" dirty="0"/>
              <a:t>45 minutes for MCQ’s </a:t>
            </a:r>
          </a:p>
          <a:p>
            <a:pPr marL="285750" indent="-285750">
              <a:buFont typeface="Arial" panose="020B0604020202020204" pitchFamily="34" charset="0"/>
              <a:buChar char="•"/>
            </a:pPr>
            <a:r>
              <a:rPr lang="en-US" sz="1800" b="0" i="0" u="none" strike="noStrike" baseline="0" dirty="0"/>
              <a:t>2 hours for Coding Questions </a:t>
            </a:r>
          </a:p>
          <a:p>
            <a:pPr marL="285750" indent="-285750">
              <a:buFont typeface="Arial" panose="020B0604020202020204" pitchFamily="34" charset="0"/>
              <a:buChar char="•"/>
            </a:pPr>
            <a:r>
              <a:rPr lang="en-US" sz="1800" b="0" i="0" u="none" strike="noStrike" baseline="0" dirty="0"/>
              <a:t>Passing criteria is 60% </a:t>
            </a:r>
          </a:p>
          <a:p>
            <a:endParaRPr lang="en-US" sz="1800" b="0" i="0" u="none" strike="noStrike" baseline="0" dirty="0"/>
          </a:p>
          <a:p>
            <a:pPr marL="285750" indent="-285750">
              <a:buFont typeface="Wingdings" panose="05000000000000000000" pitchFamily="2" charset="2"/>
              <a:buChar char="Ø"/>
            </a:pPr>
            <a:r>
              <a:rPr lang="en-US" sz="1800" b="0" i="0" u="none" strike="noStrike" baseline="0" dirty="0"/>
              <a:t>I have cleared all the 3 MILESTONES with more than 60%.</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t>13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71CEB5-0F43-BA22-C4E7-3A84E631DA11}"/>
              </a:ext>
            </a:extLst>
          </p:cNvPr>
          <p:cNvSpPr>
            <a:spLocks noGrp="1"/>
          </p:cNvSpPr>
          <p:nvPr>
            <p:ph type="title"/>
          </p:nvPr>
        </p:nvSpPr>
        <p:spPr>
          <a:xfrm>
            <a:off x="705759" y="968968"/>
            <a:ext cx="10671048" cy="768096"/>
          </a:xfrm>
        </p:spPr>
        <p:txBody>
          <a:bodyPr/>
          <a:lstStyle/>
          <a:p>
            <a:r>
              <a:rPr lang="en-US" dirty="0"/>
              <a:t>Milestone score</a:t>
            </a:r>
          </a:p>
        </p:txBody>
      </p:sp>
      <p:sp>
        <p:nvSpPr>
          <p:cNvPr id="101" name="Footer Placeholder 100">
            <a:extLst>
              <a:ext uri="{FF2B5EF4-FFF2-40B4-BE49-F238E27FC236}">
                <a16:creationId xmlns:a16="http://schemas.microsoft.com/office/drawing/2014/main" id="{A45E958A-ABCE-B639-C555-90CCC88988C5}"/>
              </a:ext>
            </a:extLst>
          </p:cNvPr>
          <p:cNvSpPr>
            <a:spLocks noGrp="1"/>
          </p:cNvSpPr>
          <p:nvPr>
            <p:ph type="ftr" sz="quarter" idx="11"/>
          </p:nvPr>
        </p:nvSpPr>
        <p:spPr>
          <a:xfrm>
            <a:off x="621792" y="594360"/>
            <a:ext cx="3200400" cy="274320"/>
          </a:xfrm>
        </p:spPr>
        <p:txBody>
          <a:bodyPr/>
          <a:lstStyle/>
          <a:p>
            <a:r>
              <a:rPr lang="en-US" dirty="0"/>
              <a:t>Industrial Training Presentation </a:t>
            </a:r>
          </a:p>
          <a:p>
            <a:endParaRPr lang="en-US" dirty="0"/>
          </a:p>
          <a:p>
            <a:endParaRPr lang="en-US" dirty="0"/>
          </a:p>
        </p:txBody>
      </p:sp>
      <p:sp>
        <p:nvSpPr>
          <p:cNvPr id="102" name="Slide Number Placeholder 101">
            <a:extLst>
              <a:ext uri="{FF2B5EF4-FFF2-40B4-BE49-F238E27FC236}">
                <a16:creationId xmlns:a16="http://schemas.microsoft.com/office/drawing/2014/main" id="{51BDF1B8-4D26-9C08-3102-6224AA6A4D20}"/>
              </a:ext>
            </a:extLst>
          </p:cNvPr>
          <p:cNvSpPr>
            <a:spLocks noGrp="1"/>
          </p:cNvSpPr>
          <p:nvPr>
            <p:ph type="sldNum" sz="quarter" idx="12"/>
          </p:nvPr>
        </p:nvSpPr>
        <p:spPr/>
        <p:txBody>
          <a:bodyPr/>
          <a:lstStyle/>
          <a:p>
            <a:fld id="{48F63A3B-78C7-47BE-AE5E-E10140E04643}" type="slidenum">
              <a:rPr lang="en-US" smtClean="0"/>
              <a:pPr/>
              <a:t>14</a:t>
            </a:fld>
            <a:endParaRPr lang="en-US" dirty="0"/>
          </a:p>
        </p:txBody>
      </p:sp>
      <p:sp>
        <p:nvSpPr>
          <p:cNvPr id="2" name="Text Placeholder 1">
            <a:extLst>
              <a:ext uri="{FF2B5EF4-FFF2-40B4-BE49-F238E27FC236}">
                <a16:creationId xmlns:a16="http://schemas.microsoft.com/office/drawing/2014/main" id="{5FC63C25-FE2A-0C11-2CEA-A80AA78FC365}"/>
              </a:ext>
            </a:extLst>
          </p:cNvPr>
          <p:cNvSpPr>
            <a:spLocks noGrp="1"/>
          </p:cNvSpPr>
          <p:nvPr>
            <p:ph type="body" idx="1"/>
          </p:nvPr>
        </p:nvSpPr>
        <p:spPr>
          <a:xfrm>
            <a:off x="713232" y="2428564"/>
            <a:ext cx="3328416" cy="3557016"/>
          </a:xfrm>
        </p:spPr>
        <p:txBody>
          <a:bodyPr/>
          <a:lstStyle/>
          <a:p>
            <a:r>
              <a:rPr lang="en-US" sz="2400" dirty="0"/>
              <a:t>Milestone 1</a:t>
            </a:r>
          </a:p>
        </p:txBody>
      </p:sp>
      <p:pic>
        <p:nvPicPr>
          <p:cNvPr id="72" name="Picture Placeholder 71" descr="abacus icon">
            <a:extLst>
              <a:ext uri="{FF2B5EF4-FFF2-40B4-BE49-F238E27FC236}">
                <a16:creationId xmlns:a16="http://schemas.microsoft.com/office/drawing/2014/main" id="{FD5AE93E-9743-FD3B-C935-638BF9D159CC}"/>
              </a:ext>
            </a:extLst>
          </p:cNvPr>
          <p:cNvPicPr>
            <a:picLocks noGrp="1" noChangeAspect="1"/>
          </p:cNvPicPr>
          <p:nvPr>
            <p:ph type="pic" sz="quarter" idx="23"/>
          </p:nvPr>
        </p:nvPicPr>
        <p:blipFill rotWithShape="1">
          <a:blip r:embed="rId2"/>
          <a:srcRect/>
          <a:stretch/>
        </p:blipFill>
        <p:spPr>
          <a:xfrm>
            <a:off x="1911096" y="1943932"/>
            <a:ext cx="932688" cy="932688"/>
          </a:xfrm>
        </p:spPr>
      </p:pic>
      <p:sp>
        <p:nvSpPr>
          <p:cNvPr id="6" name="Text Placeholder 5">
            <a:extLst>
              <a:ext uri="{FF2B5EF4-FFF2-40B4-BE49-F238E27FC236}">
                <a16:creationId xmlns:a16="http://schemas.microsoft.com/office/drawing/2014/main" id="{5AD6749A-51D8-599C-7C31-9922CF228D32}"/>
              </a:ext>
            </a:extLst>
          </p:cNvPr>
          <p:cNvSpPr>
            <a:spLocks noGrp="1"/>
          </p:cNvSpPr>
          <p:nvPr>
            <p:ph type="body" sz="quarter" idx="18"/>
          </p:nvPr>
        </p:nvSpPr>
        <p:spPr>
          <a:xfrm>
            <a:off x="992124" y="3783055"/>
            <a:ext cx="2770632" cy="2206752"/>
          </a:xfrm>
        </p:spPr>
        <p:txBody>
          <a:bodyPr/>
          <a:lstStyle/>
          <a:p>
            <a:pPr marL="0" indent="0" algn="ctr">
              <a:buNone/>
            </a:pPr>
            <a:r>
              <a:rPr lang="en-US" sz="2400" dirty="0"/>
              <a:t>Test Score</a:t>
            </a:r>
          </a:p>
          <a:p>
            <a:pPr marL="0" indent="0" algn="ctr">
              <a:buNone/>
            </a:pPr>
            <a:r>
              <a:rPr lang="en-US" sz="2400" dirty="0"/>
              <a:t>72.00/80.00</a:t>
            </a:r>
          </a:p>
          <a:p>
            <a:pPr marL="0" indent="0" algn="ctr">
              <a:buNone/>
            </a:pPr>
            <a:r>
              <a:rPr lang="en-US" sz="2400" dirty="0"/>
              <a:t>Percentage</a:t>
            </a:r>
          </a:p>
          <a:p>
            <a:pPr marL="0" indent="0" algn="ctr">
              <a:buNone/>
            </a:pPr>
            <a:r>
              <a:rPr lang="en-US" sz="2400" dirty="0"/>
              <a:t>90%</a:t>
            </a:r>
            <a:endParaRPr lang="en-US" dirty="0"/>
          </a:p>
        </p:txBody>
      </p:sp>
      <p:sp>
        <p:nvSpPr>
          <p:cNvPr id="3" name="Text Placeholder 2">
            <a:extLst>
              <a:ext uri="{FF2B5EF4-FFF2-40B4-BE49-F238E27FC236}">
                <a16:creationId xmlns:a16="http://schemas.microsoft.com/office/drawing/2014/main" id="{A8753AB0-02A6-E89E-7E23-593DBF52F4E8}"/>
              </a:ext>
            </a:extLst>
          </p:cNvPr>
          <p:cNvSpPr>
            <a:spLocks noGrp="1"/>
          </p:cNvSpPr>
          <p:nvPr>
            <p:ph type="body" sz="quarter" idx="15"/>
          </p:nvPr>
        </p:nvSpPr>
        <p:spPr>
          <a:xfrm>
            <a:off x="4443984" y="2428564"/>
            <a:ext cx="3328416" cy="3557016"/>
          </a:xfrm>
        </p:spPr>
        <p:txBody>
          <a:bodyPr/>
          <a:lstStyle/>
          <a:p>
            <a:r>
              <a:rPr lang="en-US" sz="2400" dirty="0"/>
              <a:t>Milestone 2</a:t>
            </a:r>
          </a:p>
        </p:txBody>
      </p:sp>
      <p:pic>
        <p:nvPicPr>
          <p:cNvPr id="76" name="Picture Placeholder 75" descr="increasing chart icon">
            <a:extLst>
              <a:ext uri="{FF2B5EF4-FFF2-40B4-BE49-F238E27FC236}">
                <a16:creationId xmlns:a16="http://schemas.microsoft.com/office/drawing/2014/main" id="{7541E72A-A0CB-A011-55A9-1126F707D889}"/>
              </a:ext>
            </a:extLst>
          </p:cNvPr>
          <p:cNvPicPr>
            <a:picLocks noGrp="1" noChangeAspect="1"/>
          </p:cNvPicPr>
          <p:nvPr>
            <p:ph type="pic" sz="quarter" idx="25"/>
          </p:nvPr>
        </p:nvPicPr>
        <p:blipFill rotWithShape="1">
          <a:blip r:embed="rId3"/>
          <a:srcRect/>
          <a:stretch/>
        </p:blipFill>
        <p:spPr>
          <a:xfrm>
            <a:off x="5641848" y="1943932"/>
            <a:ext cx="932688" cy="932688"/>
          </a:xfrm>
        </p:spPr>
      </p:pic>
      <p:sp>
        <p:nvSpPr>
          <p:cNvPr id="7" name="Text Placeholder 6">
            <a:extLst>
              <a:ext uri="{FF2B5EF4-FFF2-40B4-BE49-F238E27FC236}">
                <a16:creationId xmlns:a16="http://schemas.microsoft.com/office/drawing/2014/main" id="{0BF56CE2-ADEB-1E22-50FB-9F2AB3786483}"/>
              </a:ext>
            </a:extLst>
          </p:cNvPr>
          <p:cNvSpPr>
            <a:spLocks noGrp="1"/>
          </p:cNvSpPr>
          <p:nvPr>
            <p:ph type="body" sz="quarter" idx="21"/>
          </p:nvPr>
        </p:nvSpPr>
        <p:spPr>
          <a:xfrm>
            <a:off x="4722876" y="3783054"/>
            <a:ext cx="2770632" cy="2206752"/>
          </a:xfrm>
        </p:spPr>
        <p:txBody>
          <a:bodyPr/>
          <a:lstStyle/>
          <a:p>
            <a:pPr marL="0" indent="0" algn="ctr">
              <a:buNone/>
            </a:pPr>
            <a:r>
              <a:rPr lang="en-US" sz="2400" dirty="0"/>
              <a:t>Test Score</a:t>
            </a:r>
          </a:p>
          <a:p>
            <a:pPr marL="0" indent="0" algn="ctr">
              <a:buNone/>
            </a:pPr>
            <a:r>
              <a:rPr lang="en-US" sz="2400" dirty="0"/>
              <a:t>88.00/100.00</a:t>
            </a:r>
          </a:p>
          <a:p>
            <a:pPr marL="0" indent="0" algn="ctr">
              <a:buNone/>
            </a:pPr>
            <a:r>
              <a:rPr lang="en-US" sz="2400" dirty="0"/>
              <a:t>Percentage</a:t>
            </a:r>
          </a:p>
          <a:p>
            <a:pPr marL="0" indent="0" algn="ctr">
              <a:buNone/>
            </a:pPr>
            <a:r>
              <a:rPr lang="en-US" sz="2400" dirty="0"/>
              <a:t>88%</a:t>
            </a:r>
          </a:p>
          <a:p>
            <a:pPr marL="0" indent="0">
              <a:buNone/>
            </a:pPr>
            <a:endParaRPr lang="en-US" sz="2400" dirty="0"/>
          </a:p>
        </p:txBody>
      </p:sp>
      <p:sp>
        <p:nvSpPr>
          <p:cNvPr id="4" name="Text Placeholder 3">
            <a:extLst>
              <a:ext uri="{FF2B5EF4-FFF2-40B4-BE49-F238E27FC236}">
                <a16:creationId xmlns:a16="http://schemas.microsoft.com/office/drawing/2014/main" id="{03745CA7-A767-9133-8871-800B16D5D722}"/>
              </a:ext>
            </a:extLst>
          </p:cNvPr>
          <p:cNvSpPr>
            <a:spLocks noGrp="1"/>
          </p:cNvSpPr>
          <p:nvPr>
            <p:ph type="body" sz="quarter" idx="17"/>
          </p:nvPr>
        </p:nvSpPr>
        <p:spPr>
          <a:xfrm>
            <a:off x="8092440" y="2428564"/>
            <a:ext cx="3328416" cy="3557016"/>
          </a:xfrm>
        </p:spPr>
        <p:txBody>
          <a:bodyPr/>
          <a:lstStyle/>
          <a:p>
            <a:r>
              <a:rPr lang="en-US" sz="2400" dirty="0"/>
              <a:t>Milestone 3</a:t>
            </a:r>
          </a:p>
        </p:txBody>
      </p:sp>
      <p:pic>
        <p:nvPicPr>
          <p:cNvPr id="80" name="Picture Placeholder 79" descr="chain link icon">
            <a:extLst>
              <a:ext uri="{FF2B5EF4-FFF2-40B4-BE49-F238E27FC236}">
                <a16:creationId xmlns:a16="http://schemas.microsoft.com/office/drawing/2014/main" id="{FCC17566-BE36-5CE0-25C6-8AC132D1479D}"/>
              </a:ext>
            </a:extLst>
          </p:cNvPr>
          <p:cNvPicPr>
            <a:picLocks noGrp="1" noChangeAspect="1"/>
          </p:cNvPicPr>
          <p:nvPr>
            <p:ph type="pic" sz="quarter" idx="24"/>
          </p:nvPr>
        </p:nvPicPr>
        <p:blipFill rotWithShape="1">
          <a:blip r:embed="rId4"/>
          <a:srcRect t="85" b="85"/>
          <a:stretch/>
        </p:blipFill>
        <p:spPr>
          <a:xfrm>
            <a:off x="9290304" y="1943932"/>
            <a:ext cx="932688" cy="932688"/>
          </a:xfrm>
        </p:spPr>
      </p:pic>
      <p:sp>
        <p:nvSpPr>
          <p:cNvPr id="8" name="Text Placeholder 7">
            <a:extLst>
              <a:ext uri="{FF2B5EF4-FFF2-40B4-BE49-F238E27FC236}">
                <a16:creationId xmlns:a16="http://schemas.microsoft.com/office/drawing/2014/main" id="{7063C991-877C-CD1D-A03D-547E04121FE0}"/>
              </a:ext>
            </a:extLst>
          </p:cNvPr>
          <p:cNvSpPr>
            <a:spLocks noGrp="1"/>
          </p:cNvSpPr>
          <p:nvPr>
            <p:ph type="body" sz="quarter" idx="22"/>
          </p:nvPr>
        </p:nvSpPr>
        <p:spPr>
          <a:xfrm>
            <a:off x="8371332" y="3783056"/>
            <a:ext cx="2770632" cy="2206752"/>
          </a:xfrm>
        </p:spPr>
        <p:txBody>
          <a:bodyPr/>
          <a:lstStyle/>
          <a:p>
            <a:pPr marL="0" indent="0" algn="ctr">
              <a:buNone/>
            </a:pPr>
            <a:r>
              <a:rPr lang="en-US" sz="2400" dirty="0"/>
              <a:t>Test Score</a:t>
            </a:r>
          </a:p>
          <a:p>
            <a:pPr marL="0" indent="0" algn="ctr">
              <a:buNone/>
            </a:pPr>
            <a:r>
              <a:rPr lang="en-US" sz="2400" dirty="0"/>
              <a:t>87.00/100.00</a:t>
            </a:r>
          </a:p>
          <a:p>
            <a:pPr marL="0" indent="0" algn="ctr">
              <a:buNone/>
            </a:pPr>
            <a:r>
              <a:rPr lang="en-US" sz="2400" dirty="0"/>
              <a:t>Percentage</a:t>
            </a:r>
          </a:p>
          <a:p>
            <a:pPr marL="0" indent="0" algn="ctr">
              <a:buNone/>
            </a:pPr>
            <a:r>
              <a:rPr lang="en-US" sz="2400" dirty="0"/>
              <a:t>87%</a:t>
            </a:r>
          </a:p>
          <a:p>
            <a:endParaRPr lang="en-US" sz="2400" dirty="0"/>
          </a:p>
        </p:txBody>
      </p:sp>
      <p:pic>
        <p:nvPicPr>
          <p:cNvPr id="9" name="Picture Placeholder 71" descr="abacus icon">
            <a:extLst>
              <a:ext uri="{FF2B5EF4-FFF2-40B4-BE49-F238E27FC236}">
                <a16:creationId xmlns:a16="http://schemas.microsoft.com/office/drawing/2014/main" id="{A2AAEAB5-A08A-D809-3501-DAD9F2C56C23}"/>
              </a:ext>
            </a:extLst>
          </p:cNvPr>
          <p:cNvPicPr>
            <a:picLocks noChangeAspect="1"/>
          </p:cNvPicPr>
          <p:nvPr/>
        </p:nvPicPr>
        <p:blipFill rotWithShape="1">
          <a:blip r:embed="rId2"/>
          <a:srcRect/>
          <a:stretch/>
        </p:blipFill>
        <p:spPr>
          <a:xfrm>
            <a:off x="5641848" y="1945358"/>
            <a:ext cx="932688" cy="932688"/>
          </a:xfrm>
          <a:prstGeom prst="ellipse">
            <a:avLst/>
          </a:prstGeom>
          <a:solidFill>
            <a:schemeClr val="accent3"/>
          </a:solidFill>
        </p:spPr>
      </p:pic>
      <p:pic>
        <p:nvPicPr>
          <p:cNvPr id="12" name="Picture Placeholder 71" descr="abacus icon">
            <a:extLst>
              <a:ext uri="{FF2B5EF4-FFF2-40B4-BE49-F238E27FC236}">
                <a16:creationId xmlns:a16="http://schemas.microsoft.com/office/drawing/2014/main" id="{4E7F7675-BA4F-6289-A1CE-38C53951CC47}"/>
              </a:ext>
            </a:extLst>
          </p:cNvPr>
          <p:cNvPicPr>
            <a:picLocks noChangeAspect="1"/>
          </p:cNvPicPr>
          <p:nvPr/>
        </p:nvPicPr>
        <p:blipFill rotWithShape="1">
          <a:blip r:embed="rId2"/>
          <a:srcRect/>
          <a:stretch/>
        </p:blipFill>
        <p:spPr>
          <a:xfrm>
            <a:off x="9284454" y="1945358"/>
            <a:ext cx="932688" cy="932688"/>
          </a:xfrm>
          <a:prstGeom prst="ellipse">
            <a:avLst/>
          </a:prstGeom>
          <a:solidFill>
            <a:schemeClr val="accent3"/>
          </a:solidFill>
        </p:spPr>
      </p:pic>
    </p:spTree>
    <p:extLst>
      <p:ext uri="{BB962C8B-B14F-4D97-AF65-F5344CB8AC3E}">
        <p14:creationId xmlns:p14="http://schemas.microsoft.com/office/powerpoint/2010/main" val="249904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a:xfrm>
            <a:off x="4224528" y="1008490"/>
            <a:ext cx="6766560" cy="768096"/>
          </a:xfrm>
        </p:spPr>
        <p:txBody>
          <a:bodyPr/>
          <a:lstStyle/>
          <a:p>
            <a:pPr algn="ctr"/>
            <a:r>
              <a:rPr lang="en-US" dirty="0"/>
              <a:t>Certificate </a:t>
            </a:r>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a:xfrm>
            <a:off x="3993070" y="594360"/>
            <a:ext cx="3200400" cy="274320"/>
          </a:xfrm>
        </p:spPr>
        <p:txBody>
          <a:bodyPr/>
          <a:lstStyle/>
          <a:p>
            <a:r>
              <a:rPr lang="en-US" dirty="0"/>
              <a:t>Industrial Training Presentation </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15</a:t>
            </a:fld>
            <a:endParaRPr lang="en-US" dirty="0"/>
          </a:p>
        </p:txBody>
      </p:sp>
      <p:pic>
        <p:nvPicPr>
          <p:cNvPr id="8" name="Picture 7">
            <a:extLst>
              <a:ext uri="{FF2B5EF4-FFF2-40B4-BE49-F238E27FC236}">
                <a16:creationId xmlns:a16="http://schemas.microsoft.com/office/drawing/2014/main" id="{BB62BED6-3645-8A19-3518-1602D83E6BDD}"/>
              </a:ext>
            </a:extLst>
          </p:cNvPr>
          <p:cNvPicPr>
            <a:picLocks noChangeAspect="1"/>
          </p:cNvPicPr>
          <p:nvPr/>
        </p:nvPicPr>
        <p:blipFill>
          <a:blip r:embed="rId2"/>
          <a:stretch>
            <a:fillRect/>
          </a:stretch>
        </p:blipFill>
        <p:spPr>
          <a:xfrm>
            <a:off x="4425383" y="1874910"/>
            <a:ext cx="6565705" cy="4587090"/>
          </a:xfrm>
          <a:prstGeom prst="rect">
            <a:avLst/>
          </a:prstGeom>
        </p:spPr>
      </p:pic>
      <p:pic>
        <p:nvPicPr>
          <p:cNvPr id="9" name="Picture 8" descr="A blue text on a white background&#10;&#10;Description automatically generated with medium confidence">
            <a:extLst>
              <a:ext uri="{FF2B5EF4-FFF2-40B4-BE49-F238E27FC236}">
                <a16:creationId xmlns:a16="http://schemas.microsoft.com/office/drawing/2014/main" id="{8DDDED1B-5DDF-BAFA-57BB-073C846511AD}"/>
              </a:ext>
            </a:extLst>
          </p:cNvPr>
          <p:cNvPicPr>
            <a:picLocks noChangeAspect="1"/>
          </p:cNvPicPr>
          <p:nvPr/>
        </p:nvPicPr>
        <p:blipFill>
          <a:blip r:embed="rId3"/>
          <a:stretch>
            <a:fillRect/>
          </a:stretch>
        </p:blipFill>
        <p:spPr>
          <a:xfrm rot="16200000">
            <a:off x="-2504763" y="2504763"/>
            <a:ext cx="6858000" cy="1848471"/>
          </a:xfrm>
          <a:prstGeom prst="rect">
            <a:avLst/>
          </a:prstGeom>
          <a:scene3d>
            <a:camera prst="perspectiveBelow"/>
            <a:lightRig rig="threePt" dir="t"/>
          </a:scene3d>
        </p:spPr>
      </p:pic>
    </p:spTree>
    <p:extLst>
      <p:ext uri="{BB962C8B-B14F-4D97-AF65-F5344CB8AC3E}">
        <p14:creationId xmlns:p14="http://schemas.microsoft.com/office/powerpoint/2010/main" val="3590027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390775" y="1333055"/>
            <a:ext cx="6766560" cy="768096"/>
          </a:xfrm>
        </p:spPr>
        <p:txBody>
          <a:bodyPr/>
          <a:lstStyle/>
          <a:p>
            <a:r>
              <a:rPr lang="en-US" dirty="0"/>
              <a:t>SUMMARY </a:t>
            </a:r>
          </a:p>
        </p:txBody>
      </p:sp>
      <p:sp>
        <p:nvSpPr>
          <p:cNvPr id="4" name="Footer Placeholder 3">
            <a:extLst>
              <a:ext uri="{FF2B5EF4-FFF2-40B4-BE49-F238E27FC236}">
                <a16:creationId xmlns:a16="http://schemas.microsoft.com/office/drawing/2014/main" id="{D5BA2433-990B-A170-369A-3DF4A9B33BFA}"/>
              </a:ext>
            </a:extLst>
          </p:cNvPr>
          <p:cNvSpPr>
            <a:spLocks noGrp="1"/>
          </p:cNvSpPr>
          <p:nvPr>
            <p:ph type="ftr" sz="quarter" idx="13"/>
          </p:nvPr>
        </p:nvSpPr>
        <p:spPr>
          <a:xfrm>
            <a:off x="621792" y="594360"/>
            <a:ext cx="3200400" cy="526026"/>
          </a:xfrm>
        </p:spPr>
        <p:txBody>
          <a:bodyPr/>
          <a:lstStyle/>
          <a:p>
            <a:r>
              <a:rPr lang="en-US" dirty="0"/>
              <a:t>Industrial Training Presentation </a:t>
            </a:r>
          </a:p>
          <a:p>
            <a:endParaRPr lang="en-US" dirty="0"/>
          </a:p>
          <a:p>
            <a:endParaRPr lang="en-US" dirty="0"/>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16</a:t>
            </a:fld>
            <a:endParaRPr lang="en-US" dirty="0"/>
          </a:p>
        </p:txBody>
      </p:sp>
      <p:sp>
        <p:nvSpPr>
          <p:cNvPr id="3" name="Content Placeholder 2">
            <a:extLst>
              <a:ext uri="{FF2B5EF4-FFF2-40B4-BE49-F238E27FC236}">
                <a16:creationId xmlns:a16="http://schemas.microsoft.com/office/drawing/2014/main" id="{2BE8FDE3-DBA4-6A04-C75D-E56FE92EF368}"/>
              </a:ext>
            </a:extLst>
          </p:cNvPr>
          <p:cNvSpPr>
            <a:spLocks noGrp="1"/>
          </p:cNvSpPr>
          <p:nvPr>
            <p:ph idx="1"/>
          </p:nvPr>
        </p:nvSpPr>
        <p:spPr>
          <a:xfrm>
            <a:off x="1410436" y="2205665"/>
            <a:ext cx="7045305" cy="3150160"/>
          </a:xfrm>
        </p:spPr>
        <p:txBody>
          <a:bodyPr/>
          <a:lstStyle/>
          <a:p>
            <a:pPr algn="just"/>
            <a:r>
              <a:rPr lang="en-US" sz="2400" b="0" i="0" u="none" strike="noStrike" baseline="0" dirty="0"/>
              <a:t>The Internship period in LTIMindtree has been very productive and helpful. There is a big difference in the academic course and the tasks and activities during the actual work. In college we learn how quality is important and some basic quality software benefits and features, where during internship, it is learnt far more than the basics. </a:t>
            </a:r>
          </a:p>
          <a:p>
            <a:pPr algn="just"/>
            <a:endParaRPr lang="en-US" sz="2800" dirty="0"/>
          </a:p>
        </p:txBody>
      </p:sp>
    </p:spTree>
    <p:extLst>
      <p:ext uri="{BB962C8B-B14F-4D97-AF65-F5344CB8AC3E}">
        <p14:creationId xmlns:p14="http://schemas.microsoft.com/office/powerpoint/2010/main" val="94818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212416" y="2622164"/>
            <a:ext cx="5817648" cy="1613671"/>
          </a:xfrm>
        </p:spPr>
        <p:txBody>
          <a:bodyPr/>
          <a:lstStyle/>
          <a:p>
            <a:r>
              <a:rPr lang="en-US" sz="5400" dirty="0"/>
              <a:t>THANK YOU</a:t>
            </a:r>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{3558C8CB-B97C-4C0E-A6E5-BA3F1986E067}tf78438558_win32</Template>
  <TotalTime>129</TotalTime>
  <Words>570</Words>
  <Application>Microsoft Office PowerPoint</Application>
  <PresentationFormat>Widescreen</PresentationFormat>
  <Paragraphs>137</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Arial Black</vt:lpstr>
      <vt:lpstr>Sabon Next LT</vt:lpstr>
      <vt:lpstr>Times New Roman</vt:lpstr>
      <vt:lpstr>Wingdings</vt:lpstr>
      <vt:lpstr>Office Theme</vt:lpstr>
      <vt:lpstr>CAP-841 INDUSTRIAL TRAINING  LOVELY PROFESSIONAL UNIVERSITY PHAGWARA, PUNJAB</vt:lpstr>
      <vt:lpstr>AGENDA</vt:lpstr>
      <vt:lpstr>COMPANY PROFILE</vt:lpstr>
      <vt:lpstr>About internship (ignite) </vt:lpstr>
      <vt:lpstr>Course Syllabus </vt:lpstr>
      <vt:lpstr>Introduction to dotnet framework</vt:lpstr>
      <vt:lpstr>What is dotnet framework</vt:lpstr>
      <vt:lpstr>What is dotnet framework</vt:lpstr>
      <vt:lpstr>dotnet framework services</vt:lpstr>
      <vt:lpstr>Framework, languages &amp; tools</vt:lpstr>
      <vt:lpstr>Compilation in dotnet</vt:lpstr>
      <vt:lpstr>Languages </vt:lpstr>
      <vt:lpstr>Milestone assessment (neocoder)</vt:lpstr>
      <vt:lpstr>Milestone score</vt:lpstr>
      <vt:lpstr>Certificate </vt:lpstr>
      <vt:lpstr>SUMMARY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CAP-841 INDUSTRIAL TRAINING  LOVELY PROFESSIONAL UNIVERSITY PHAGWARA, PUNJAB</dc:title>
  <dc:subject/>
  <dc:creator>Atul Kumar</dc:creator>
  <cp:lastModifiedBy>Atul Kumar</cp:lastModifiedBy>
  <cp:revision>62</cp:revision>
  <dcterms:created xsi:type="dcterms:W3CDTF">2023-06-26T04:48:35Z</dcterms:created>
  <dcterms:modified xsi:type="dcterms:W3CDTF">2023-06-27T05:03:51Z</dcterms:modified>
</cp:coreProperties>
</file>