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468" r:id="rId2"/>
    <p:sldId id="470" r:id="rId3"/>
    <p:sldId id="471" r:id="rId4"/>
    <p:sldId id="472" r:id="rId5"/>
    <p:sldId id="473" r:id="rId6"/>
    <p:sldId id="474" r:id="rId7"/>
    <p:sldId id="475" r:id="rId8"/>
    <p:sldId id="476" r:id="rId9"/>
    <p:sldId id="477" r:id="rId10"/>
  </p:sldIdLst>
  <p:sldSz cx="9144000" cy="6858000" type="screen4x3"/>
  <p:notesSz cx="6858000" cy="9144000"/>
  <p:defaultTextStyle>
    <a:defPPr>
      <a:defRPr lang="en-US"/>
    </a:defPPr>
    <a:lvl1pPr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1pPr>
    <a:lvl2pPr marL="457200"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2pPr>
    <a:lvl3pPr marL="914400"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3pPr>
    <a:lvl4pPr marL="1371600"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4pPr>
    <a:lvl5pPr marL="1828800" algn="ctr" rtl="0" fontAlgn="base">
      <a:spcBef>
        <a:spcPct val="20000"/>
      </a:spcBef>
      <a:spcAft>
        <a:spcPct val="0"/>
      </a:spcAft>
      <a:buChar char="•"/>
      <a:defRPr sz="2000" kern="1200">
        <a:solidFill>
          <a:schemeClr val="tx1"/>
        </a:solidFill>
        <a:latin typeface="Times New Roman" panose="02020603050405020304" pitchFamily="18" charset="0"/>
        <a:ea typeface="+mn-ea"/>
        <a:cs typeface="+mn-cs"/>
      </a:defRPr>
    </a:lvl5pPr>
    <a:lvl6pPr marL="2286000" algn="l" defTabSz="914400" rtl="0" eaLnBrk="1" latinLnBrk="0" hangingPunct="1">
      <a:defRPr sz="2000" kern="1200">
        <a:solidFill>
          <a:schemeClr val="tx1"/>
        </a:solidFill>
        <a:latin typeface="Times New Roman" panose="02020603050405020304" pitchFamily="18" charset="0"/>
        <a:ea typeface="+mn-ea"/>
        <a:cs typeface="+mn-cs"/>
      </a:defRPr>
    </a:lvl6pPr>
    <a:lvl7pPr marL="2743200" algn="l" defTabSz="914400" rtl="0" eaLnBrk="1" latinLnBrk="0" hangingPunct="1">
      <a:defRPr sz="2000" kern="1200">
        <a:solidFill>
          <a:schemeClr val="tx1"/>
        </a:solidFill>
        <a:latin typeface="Times New Roman" panose="02020603050405020304" pitchFamily="18" charset="0"/>
        <a:ea typeface="+mn-ea"/>
        <a:cs typeface="+mn-cs"/>
      </a:defRPr>
    </a:lvl7pPr>
    <a:lvl8pPr marL="3200400" algn="l" defTabSz="914400" rtl="0" eaLnBrk="1" latinLnBrk="0" hangingPunct="1">
      <a:defRPr sz="2000" kern="1200">
        <a:solidFill>
          <a:schemeClr val="tx1"/>
        </a:solidFill>
        <a:latin typeface="Times New Roman" panose="02020603050405020304" pitchFamily="18" charset="0"/>
        <a:ea typeface="+mn-ea"/>
        <a:cs typeface="+mn-cs"/>
      </a:defRPr>
    </a:lvl8pPr>
    <a:lvl9pPr marL="3657600" algn="l" defTabSz="914400" rtl="0" eaLnBrk="1" latinLnBrk="0" hangingPunct="1">
      <a:defRPr sz="2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9900"/>
    <a:srgbClr val="008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89785" autoAdjust="0"/>
  </p:normalViewPr>
  <p:slideViewPr>
    <p:cSldViewPr>
      <p:cViewPr varScale="1">
        <p:scale>
          <a:sx n="62" d="100"/>
          <a:sy n="62" d="100"/>
        </p:scale>
        <p:origin x="140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94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5F0C08-518E-4C25-A444-DF4EA3859C4B}" type="datetimeFigureOut">
              <a:rPr lang="en-IN" smtClean="0"/>
              <a:t>03-04-2023</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9F7498-9D51-4233-A941-BC24B48B9367}" type="slidenum">
              <a:rPr lang="en-IN" smtClean="0"/>
              <a:t>‹#›</a:t>
            </a:fld>
            <a:endParaRPr lang="en-IN"/>
          </a:p>
        </p:txBody>
      </p:sp>
    </p:spTree>
    <p:extLst>
      <p:ext uri="{BB962C8B-B14F-4D97-AF65-F5344CB8AC3E}">
        <p14:creationId xmlns:p14="http://schemas.microsoft.com/office/powerpoint/2010/main" val="2271348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DF790BDB-E038-6FF4-BAB4-94F3FD52BBD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65412FF-EFEE-5A22-9A2C-ADC13EC1F69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B2C481A-5F40-E712-5A85-A8B4011F4475}"/>
              </a:ext>
            </a:extLst>
          </p:cNvPr>
          <p:cNvSpPr>
            <a:spLocks noGrp="1" noChangeArrowheads="1"/>
          </p:cNvSpPr>
          <p:nvPr>
            <p:ph type="sldNum" sz="quarter" idx="12"/>
          </p:nvPr>
        </p:nvSpPr>
        <p:spPr>
          <a:ln/>
        </p:spPr>
        <p:txBody>
          <a:bodyPr/>
          <a:lstStyle>
            <a:lvl1pPr>
              <a:defRPr/>
            </a:lvl1pPr>
          </a:lstStyle>
          <a:p>
            <a:fld id="{D8DAE27C-668C-4E07-B8D3-974BE0F4B582}" type="slidenum">
              <a:rPr lang="en-US" altLang="en-US"/>
              <a:pPr/>
              <a:t>‹#›</a:t>
            </a:fld>
            <a:endParaRPr lang="en-US" altLang="en-US"/>
          </a:p>
        </p:txBody>
      </p:sp>
    </p:spTree>
    <p:extLst>
      <p:ext uri="{BB962C8B-B14F-4D97-AF65-F5344CB8AC3E}">
        <p14:creationId xmlns:p14="http://schemas.microsoft.com/office/powerpoint/2010/main" val="180535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8BFAD74-0F4C-6794-C541-FE1C275F04E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09C0452-8E8B-E8BA-EA2F-7AC53110569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A3C2F9E-A512-D68E-105C-70B5A0441B05}"/>
              </a:ext>
            </a:extLst>
          </p:cNvPr>
          <p:cNvSpPr>
            <a:spLocks noGrp="1" noChangeArrowheads="1"/>
          </p:cNvSpPr>
          <p:nvPr>
            <p:ph type="sldNum" sz="quarter" idx="12"/>
          </p:nvPr>
        </p:nvSpPr>
        <p:spPr>
          <a:ln/>
        </p:spPr>
        <p:txBody>
          <a:bodyPr/>
          <a:lstStyle>
            <a:lvl1pPr>
              <a:defRPr/>
            </a:lvl1pPr>
          </a:lstStyle>
          <a:p>
            <a:fld id="{616A0DA3-449F-4F25-B69E-1F8704D931E0}" type="slidenum">
              <a:rPr lang="en-US" altLang="en-US"/>
              <a:pPr/>
              <a:t>‹#›</a:t>
            </a:fld>
            <a:endParaRPr lang="en-US" altLang="en-US"/>
          </a:p>
        </p:txBody>
      </p:sp>
    </p:spTree>
    <p:extLst>
      <p:ext uri="{BB962C8B-B14F-4D97-AF65-F5344CB8AC3E}">
        <p14:creationId xmlns:p14="http://schemas.microsoft.com/office/powerpoint/2010/main" val="2143475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C201EBFD-98B3-1717-A0E0-C7726C35425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54E4066-7EA9-E978-E44A-85DC6D0BE89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6D18B5F-A8CA-D2CE-038E-E700747C12FF}"/>
              </a:ext>
            </a:extLst>
          </p:cNvPr>
          <p:cNvSpPr>
            <a:spLocks noGrp="1" noChangeArrowheads="1"/>
          </p:cNvSpPr>
          <p:nvPr>
            <p:ph type="sldNum" sz="quarter" idx="12"/>
          </p:nvPr>
        </p:nvSpPr>
        <p:spPr>
          <a:ln/>
        </p:spPr>
        <p:txBody>
          <a:bodyPr/>
          <a:lstStyle>
            <a:lvl1pPr>
              <a:defRPr/>
            </a:lvl1pPr>
          </a:lstStyle>
          <a:p>
            <a:fld id="{6CEB5816-AC8E-4192-9079-D1DE9A98542D}" type="slidenum">
              <a:rPr lang="en-US" altLang="en-US"/>
              <a:pPr/>
              <a:t>‹#›</a:t>
            </a:fld>
            <a:endParaRPr lang="en-US" altLang="en-US"/>
          </a:p>
        </p:txBody>
      </p:sp>
    </p:spTree>
    <p:extLst>
      <p:ext uri="{BB962C8B-B14F-4D97-AF65-F5344CB8AC3E}">
        <p14:creationId xmlns:p14="http://schemas.microsoft.com/office/powerpoint/2010/main" val="3894855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67BBD0AE-D163-E8DA-1D83-AB940D03360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896EC5A-58C0-D9EC-59F9-005554A3A04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31D4CB8-698B-2791-3446-26BE741C1764}"/>
              </a:ext>
            </a:extLst>
          </p:cNvPr>
          <p:cNvSpPr>
            <a:spLocks noGrp="1" noChangeArrowheads="1"/>
          </p:cNvSpPr>
          <p:nvPr>
            <p:ph type="sldNum" sz="quarter" idx="12"/>
          </p:nvPr>
        </p:nvSpPr>
        <p:spPr>
          <a:ln/>
        </p:spPr>
        <p:txBody>
          <a:bodyPr/>
          <a:lstStyle>
            <a:lvl1pPr>
              <a:defRPr/>
            </a:lvl1pPr>
          </a:lstStyle>
          <a:p>
            <a:fld id="{DADE5256-293F-434A-867D-646431923CA3}" type="slidenum">
              <a:rPr lang="en-US" altLang="en-US"/>
              <a:pPr/>
              <a:t>‹#›</a:t>
            </a:fld>
            <a:endParaRPr lang="en-US" altLang="en-US"/>
          </a:p>
        </p:txBody>
      </p:sp>
    </p:spTree>
    <p:extLst>
      <p:ext uri="{BB962C8B-B14F-4D97-AF65-F5344CB8AC3E}">
        <p14:creationId xmlns:p14="http://schemas.microsoft.com/office/powerpoint/2010/main" val="40948272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C0AB08EA-FB7E-F428-6617-46F6905B817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E12EE4DA-14A2-9AA4-4A69-C309ABFB54A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4FE1E894-FA15-BE8F-1CC7-71B5ACEFCD63}"/>
              </a:ext>
            </a:extLst>
          </p:cNvPr>
          <p:cNvSpPr>
            <a:spLocks noGrp="1" noChangeArrowheads="1"/>
          </p:cNvSpPr>
          <p:nvPr>
            <p:ph type="sldNum" sz="quarter" idx="12"/>
          </p:nvPr>
        </p:nvSpPr>
        <p:spPr>
          <a:ln/>
        </p:spPr>
        <p:txBody>
          <a:bodyPr/>
          <a:lstStyle>
            <a:lvl1pPr>
              <a:defRPr/>
            </a:lvl1pPr>
          </a:lstStyle>
          <a:p>
            <a:fld id="{71B9A078-7270-4E8E-8EF2-6205B5F39081}" type="slidenum">
              <a:rPr lang="en-US" altLang="en-US"/>
              <a:pPr/>
              <a:t>‹#›</a:t>
            </a:fld>
            <a:endParaRPr lang="en-US" altLang="en-US"/>
          </a:p>
        </p:txBody>
      </p:sp>
    </p:spTree>
    <p:extLst>
      <p:ext uri="{BB962C8B-B14F-4D97-AF65-F5344CB8AC3E}">
        <p14:creationId xmlns:p14="http://schemas.microsoft.com/office/powerpoint/2010/main" val="76970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99A076C-FAFB-09DC-373C-F4CE53ED93AC}"/>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989E5C36-BF20-7B1B-B621-A48059E1300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B6978C68-1C8B-AE63-9454-00CF266D8305}"/>
              </a:ext>
            </a:extLst>
          </p:cNvPr>
          <p:cNvSpPr>
            <a:spLocks noGrp="1" noChangeArrowheads="1"/>
          </p:cNvSpPr>
          <p:nvPr>
            <p:ph type="sldNum" sz="quarter" idx="12"/>
          </p:nvPr>
        </p:nvSpPr>
        <p:spPr>
          <a:ln/>
        </p:spPr>
        <p:txBody>
          <a:bodyPr/>
          <a:lstStyle>
            <a:lvl1pPr>
              <a:defRPr/>
            </a:lvl1pPr>
          </a:lstStyle>
          <a:p>
            <a:fld id="{BA45B996-03A7-4680-8BE8-3228285C3D8B}" type="slidenum">
              <a:rPr lang="en-US" altLang="en-US"/>
              <a:pPr/>
              <a:t>‹#›</a:t>
            </a:fld>
            <a:endParaRPr lang="en-US" altLang="en-US"/>
          </a:p>
        </p:txBody>
      </p:sp>
    </p:spTree>
    <p:extLst>
      <p:ext uri="{BB962C8B-B14F-4D97-AF65-F5344CB8AC3E}">
        <p14:creationId xmlns:p14="http://schemas.microsoft.com/office/powerpoint/2010/main" val="1249562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649D32D-3D07-969E-73A4-B6C3C73A06D4}"/>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272E8C50-0322-8466-CCCC-E8777CA6F18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3069D795-A043-FECC-EA97-9A945714C97E}"/>
              </a:ext>
            </a:extLst>
          </p:cNvPr>
          <p:cNvSpPr>
            <a:spLocks noGrp="1" noChangeArrowheads="1"/>
          </p:cNvSpPr>
          <p:nvPr>
            <p:ph type="sldNum" sz="quarter" idx="12"/>
          </p:nvPr>
        </p:nvSpPr>
        <p:spPr>
          <a:ln/>
        </p:spPr>
        <p:txBody>
          <a:bodyPr/>
          <a:lstStyle>
            <a:lvl1pPr>
              <a:defRPr/>
            </a:lvl1pPr>
          </a:lstStyle>
          <a:p>
            <a:fld id="{58D7F9D5-C84A-42DC-A142-A0725DDB4D4D}" type="slidenum">
              <a:rPr lang="en-US" altLang="en-US"/>
              <a:pPr/>
              <a:t>‹#›</a:t>
            </a:fld>
            <a:endParaRPr lang="en-US" altLang="en-US"/>
          </a:p>
        </p:txBody>
      </p:sp>
    </p:spTree>
    <p:extLst>
      <p:ext uri="{BB962C8B-B14F-4D97-AF65-F5344CB8AC3E}">
        <p14:creationId xmlns:p14="http://schemas.microsoft.com/office/powerpoint/2010/main" val="3393355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567E9FA6-4379-E454-82BE-3DDB45FB336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4B267068-84DF-5A80-939C-4046AB1FC63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919009D-28B1-8E2F-80DB-D7738BEE6914}"/>
              </a:ext>
            </a:extLst>
          </p:cNvPr>
          <p:cNvSpPr>
            <a:spLocks noGrp="1" noChangeArrowheads="1"/>
          </p:cNvSpPr>
          <p:nvPr>
            <p:ph type="sldNum" sz="quarter" idx="12"/>
          </p:nvPr>
        </p:nvSpPr>
        <p:spPr>
          <a:ln/>
        </p:spPr>
        <p:txBody>
          <a:bodyPr/>
          <a:lstStyle>
            <a:lvl1pPr>
              <a:defRPr/>
            </a:lvl1pPr>
          </a:lstStyle>
          <a:p>
            <a:fld id="{C4C1645E-D55F-4FD3-A4DA-D3DEAC574360}" type="slidenum">
              <a:rPr lang="en-US" altLang="en-US"/>
              <a:pPr/>
              <a:t>‹#›</a:t>
            </a:fld>
            <a:endParaRPr lang="en-US" altLang="en-US"/>
          </a:p>
        </p:txBody>
      </p:sp>
    </p:spTree>
    <p:extLst>
      <p:ext uri="{BB962C8B-B14F-4D97-AF65-F5344CB8AC3E}">
        <p14:creationId xmlns:p14="http://schemas.microsoft.com/office/powerpoint/2010/main" val="2184524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489B5ED-2EBD-0005-9F0F-35A5AB909ED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6DAFA26-728D-3FB9-591A-5481203491D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501C1C7-6788-4C74-9C0B-4108B4854C9A}"/>
              </a:ext>
            </a:extLst>
          </p:cNvPr>
          <p:cNvSpPr>
            <a:spLocks noGrp="1" noChangeArrowheads="1"/>
          </p:cNvSpPr>
          <p:nvPr>
            <p:ph type="sldNum" sz="quarter" idx="12"/>
          </p:nvPr>
        </p:nvSpPr>
        <p:spPr>
          <a:ln/>
        </p:spPr>
        <p:txBody>
          <a:bodyPr/>
          <a:lstStyle>
            <a:lvl1pPr>
              <a:defRPr/>
            </a:lvl1pPr>
          </a:lstStyle>
          <a:p>
            <a:fld id="{B06DAF6F-AE0D-41DF-B149-DB333B9832E7}" type="slidenum">
              <a:rPr lang="en-US" altLang="en-US"/>
              <a:pPr/>
              <a:t>‹#›</a:t>
            </a:fld>
            <a:endParaRPr lang="en-US" altLang="en-US"/>
          </a:p>
        </p:txBody>
      </p:sp>
    </p:spTree>
    <p:extLst>
      <p:ext uri="{BB962C8B-B14F-4D97-AF65-F5344CB8AC3E}">
        <p14:creationId xmlns:p14="http://schemas.microsoft.com/office/powerpoint/2010/main" val="2804277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57316B8-1F65-47A5-BE47-E58BFD9DD69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4057690-4978-FEF3-14B3-4623D42F62B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9BBBD44-A329-2C68-317F-DAF9E11C3DA4}"/>
              </a:ext>
            </a:extLst>
          </p:cNvPr>
          <p:cNvSpPr>
            <a:spLocks noGrp="1" noChangeArrowheads="1"/>
          </p:cNvSpPr>
          <p:nvPr>
            <p:ph type="sldNum" sz="quarter" idx="12"/>
          </p:nvPr>
        </p:nvSpPr>
        <p:spPr>
          <a:ln/>
        </p:spPr>
        <p:txBody>
          <a:bodyPr/>
          <a:lstStyle>
            <a:lvl1pPr>
              <a:defRPr/>
            </a:lvl1pPr>
          </a:lstStyle>
          <a:p>
            <a:fld id="{978028DE-ADB2-4ED9-B71E-316352CEBBB0}" type="slidenum">
              <a:rPr lang="en-US" altLang="en-US"/>
              <a:pPr/>
              <a:t>‹#›</a:t>
            </a:fld>
            <a:endParaRPr lang="en-US" altLang="en-US"/>
          </a:p>
        </p:txBody>
      </p:sp>
    </p:spTree>
    <p:extLst>
      <p:ext uri="{BB962C8B-B14F-4D97-AF65-F5344CB8AC3E}">
        <p14:creationId xmlns:p14="http://schemas.microsoft.com/office/powerpoint/2010/main" val="2562049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1C8DCA6-E46D-918E-BE07-DD89CDEA596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082F080-5A61-5631-380C-8E6C986DE91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5338A54-BB90-DDA3-8E31-EADCBDD70160}"/>
              </a:ext>
            </a:extLst>
          </p:cNvPr>
          <p:cNvSpPr>
            <a:spLocks noGrp="1" noChangeArrowheads="1"/>
          </p:cNvSpPr>
          <p:nvPr>
            <p:ph type="sldNum" sz="quarter" idx="12"/>
          </p:nvPr>
        </p:nvSpPr>
        <p:spPr>
          <a:ln/>
        </p:spPr>
        <p:txBody>
          <a:bodyPr/>
          <a:lstStyle>
            <a:lvl1pPr>
              <a:defRPr/>
            </a:lvl1pPr>
          </a:lstStyle>
          <a:p>
            <a:fld id="{5D3B9A3D-1237-4962-A9D7-E6BDA4DC8E12}" type="slidenum">
              <a:rPr lang="en-US" altLang="en-US"/>
              <a:pPr/>
              <a:t>‹#›</a:t>
            </a:fld>
            <a:endParaRPr lang="en-US" altLang="en-US"/>
          </a:p>
        </p:txBody>
      </p:sp>
    </p:spTree>
    <p:extLst>
      <p:ext uri="{BB962C8B-B14F-4D97-AF65-F5344CB8AC3E}">
        <p14:creationId xmlns:p14="http://schemas.microsoft.com/office/powerpoint/2010/main" val="1175762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D30C6AA-5A29-FAF6-41EF-7F9822188092}"/>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7FC1128-868E-8E6C-C6B2-8D8970834BEC}"/>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19E7020F-F0EA-833C-914D-942F922E803F}"/>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FontTx/>
              <a:buNone/>
              <a:defRPr sz="1400"/>
            </a:lvl1pPr>
          </a:lstStyle>
          <a:p>
            <a:pPr>
              <a:defRPr/>
            </a:pPr>
            <a:endParaRPr lang="en-US"/>
          </a:p>
        </p:txBody>
      </p:sp>
      <p:sp>
        <p:nvSpPr>
          <p:cNvPr id="1029" name="Rectangle 5">
            <a:extLst>
              <a:ext uri="{FF2B5EF4-FFF2-40B4-BE49-F238E27FC236}">
                <a16:creationId xmlns:a16="http://schemas.microsoft.com/office/drawing/2014/main" id="{E3E20C0A-24F1-27AE-3FFF-41A175BFFFFD}"/>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400"/>
            </a:lvl1pPr>
          </a:lstStyle>
          <a:p>
            <a:pPr>
              <a:defRPr/>
            </a:pPr>
            <a:endParaRPr lang="en-US"/>
          </a:p>
        </p:txBody>
      </p:sp>
      <p:sp>
        <p:nvSpPr>
          <p:cNvPr id="1030" name="Rectangle 6">
            <a:extLst>
              <a:ext uri="{FF2B5EF4-FFF2-40B4-BE49-F238E27FC236}">
                <a16:creationId xmlns:a16="http://schemas.microsoft.com/office/drawing/2014/main" id="{4E9EBCC9-30A7-1A6B-3878-5F0FFC020353}"/>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400"/>
            </a:lvl1pPr>
          </a:lstStyle>
          <a:p>
            <a:fld id="{3B2B5C59-1783-4803-85D5-6F0193F7D65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2BF249DD-84B0-D5BC-D035-4266E78A8EBB}"/>
              </a:ext>
            </a:extLst>
          </p:cNvPr>
          <p:cNvSpPr>
            <a:spLocks noGrp="1"/>
          </p:cNvSpPr>
          <p:nvPr>
            <p:ph type="ctrTitle"/>
          </p:nvPr>
        </p:nvSpPr>
        <p:spPr/>
        <p:txBody>
          <a:bodyPr/>
          <a:lstStyle/>
          <a:p>
            <a:r>
              <a:rPr lang="en-US" altLang="en-US" dirty="0"/>
              <a:t>Design of Pattern Matching Algorithms</a:t>
            </a:r>
          </a:p>
        </p:txBody>
      </p:sp>
      <p:sp>
        <p:nvSpPr>
          <p:cNvPr id="2051" name="Subtitle 2">
            <a:extLst>
              <a:ext uri="{FF2B5EF4-FFF2-40B4-BE49-F238E27FC236}">
                <a16:creationId xmlns:a16="http://schemas.microsoft.com/office/drawing/2014/main" id="{DEA9DD12-8CE2-4102-46F7-D7C8BBCF994D}"/>
              </a:ext>
            </a:extLst>
          </p:cNvPr>
          <p:cNvSpPr>
            <a:spLocks noGrp="1"/>
          </p:cNvSpPr>
          <p:nvPr>
            <p:ph type="subTitle" idx="1"/>
          </p:nvPr>
        </p:nvSpPr>
        <p:spPr>
          <a:xfrm>
            <a:off x="685800" y="4114800"/>
            <a:ext cx="7772400" cy="1752600"/>
          </a:xfrm>
        </p:spPr>
        <p:txBody>
          <a:bodyPr/>
          <a:lstStyle/>
          <a:p>
            <a:r>
              <a:rPr lang="en-US" altLang="en-US" b="1" dirty="0" smtClean="0"/>
              <a:t>Boyer Moore </a:t>
            </a:r>
            <a:r>
              <a:rPr lang="en-US" altLang="en-US" b="1" dirty="0"/>
              <a:t>Algorithm</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381000" y="231016"/>
            <a:ext cx="7924800" cy="646331"/>
          </a:xfrm>
          <a:prstGeom prst="rect">
            <a:avLst/>
          </a:prstGeom>
          <a:noFill/>
        </p:spPr>
        <p:txBody>
          <a:bodyPr wrap="square" rtlCol="0">
            <a:spAutoFit/>
          </a:bodyPr>
          <a:lstStyle/>
          <a:p>
            <a:pPr algn="l">
              <a:buNone/>
            </a:pPr>
            <a:r>
              <a:rPr lang="en-IN" sz="3600" b="1" dirty="0" smtClean="0">
                <a:solidFill>
                  <a:srgbClr val="C00000"/>
                </a:solidFill>
              </a:rPr>
              <a:t>Boyer Moore </a:t>
            </a:r>
            <a:r>
              <a:rPr lang="en-IN" sz="3600" b="1" dirty="0">
                <a:solidFill>
                  <a:srgbClr val="C00000"/>
                </a:solidFill>
              </a:rPr>
              <a:t>Algorithm</a:t>
            </a:r>
          </a:p>
        </p:txBody>
      </p:sp>
      <p:sp>
        <p:nvSpPr>
          <p:cNvPr id="4" name="TextBox 3">
            <a:extLst>
              <a:ext uri="{FF2B5EF4-FFF2-40B4-BE49-F238E27FC236}">
                <a16:creationId xmlns:a16="http://schemas.microsoft.com/office/drawing/2014/main" id="{F3238A06-4CE1-77C5-0B5F-498BEF29D3FD}"/>
              </a:ext>
            </a:extLst>
          </p:cNvPr>
          <p:cNvSpPr txBox="1"/>
          <p:nvPr/>
        </p:nvSpPr>
        <p:spPr>
          <a:xfrm>
            <a:off x="381000" y="1143001"/>
            <a:ext cx="8153400" cy="4838248"/>
          </a:xfrm>
          <a:prstGeom prst="rect">
            <a:avLst/>
          </a:prstGeom>
          <a:noFill/>
        </p:spPr>
        <p:txBody>
          <a:bodyPr wrap="square">
            <a:spAutoFit/>
          </a:bodyPr>
          <a:lstStyle/>
          <a:p>
            <a:pPr algn="just" fontAlgn="base">
              <a:spcAft>
                <a:spcPts val="1200"/>
              </a:spcAft>
              <a:buNone/>
            </a:pPr>
            <a:r>
              <a:rPr lang="en-US" sz="2400" b="0" i="0" dirty="0">
                <a:solidFill>
                  <a:srgbClr val="273239"/>
                </a:solidFill>
                <a:effectLst/>
                <a:latin typeface="urw-din"/>
              </a:rPr>
              <a:t>i) </a:t>
            </a:r>
            <a:r>
              <a:rPr lang="en-US" sz="2400" b="0" i="0" dirty="0" smtClean="0">
                <a:solidFill>
                  <a:srgbClr val="273239"/>
                </a:solidFill>
                <a:effectLst/>
                <a:latin typeface="+mj-lt"/>
              </a:rPr>
              <a:t>Unlike Brute Force Technique, Boyer Moore apply some pre-processing on the given pattern (As done in KMP as well).</a:t>
            </a:r>
            <a:r>
              <a:rPr lang="en-US" sz="2400" b="0" i="0" dirty="0">
                <a:solidFill>
                  <a:srgbClr val="273239"/>
                </a:solidFill>
                <a:effectLst/>
                <a:latin typeface="+mj-lt"/>
              </a:rPr>
              <a:t> </a:t>
            </a:r>
          </a:p>
          <a:p>
            <a:pPr algn="just">
              <a:spcAft>
                <a:spcPts val="1200"/>
              </a:spcAft>
              <a:buNone/>
            </a:pPr>
            <a:r>
              <a:rPr lang="en-US" sz="2400" b="0" i="0" dirty="0">
                <a:solidFill>
                  <a:srgbClr val="273239"/>
                </a:solidFill>
                <a:effectLst/>
                <a:latin typeface="+mj-lt"/>
              </a:rPr>
              <a:t>ii) </a:t>
            </a:r>
            <a:r>
              <a:rPr lang="en-US" sz="2400" b="1" dirty="0" smtClean="0">
                <a:solidFill>
                  <a:srgbClr val="273239"/>
                </a:solidFill>
                <a:latin typeface="+mj-lt"/>
              </a:rPr>
              <a:t>Problem statement : </a:t>
            </a:r>
            <a:r>
              <a:rPr lang="en-US" sz="2400" dirty="0">
                <a:latin typeface="+mj-lt"/>
              </a:rPr>
              <a:t>Given a text txt[0..n-1] and a pattern pat[0..m-1] where n is the length of the text and m is the length of the pattern, write a function search(char pat[], char txt[]) that prints </a:t>
            </a:r>
            <a:r>
              <a:rPr lang="en-US" sz="2400" dirty="0" smtClean="0">
                <a:latin typeface="+mj-lt"/>
              </a:rPr>
              <a:t>occurrence </a:t>
            </a:r>
            <a:r>
              <a:rPr lang="en-US" sz="2400" dirty="0">
                <a:latin typeface="+mj-lt"/>
              </a:rPr>
              <a:t>of pat[] in txt[].</a:t>
            </a:r>
            <a:endParaRPr lang="en-US" sz="2400" b="0" i="0" dirty="0">
              <a:solidFill>
                <a:srgbClr val="273239"/>
              </a:solidFill>
              <a:effectLst/>
              <a:latin typeface="+mj-lt"/>
            </a:endParaRPr>
          </a:p>
          <a:p>
            <a:pPr algn="just">
              <a:spcAft>
                <a:spcPts val="1200"/>
              </a:spcAft>
              <a:buNone/>
            </a:pPr>
            <a:r>
              <a:rPr lang="en-US" sz="2400" b="0" i="0" dirty="0" smtClean="0">
                <a:solidFill>
                  <a:srgbClr val="273239"/>
                </a:solidFill>
                <a:effectLst/>
                <a:latin typeface="+mj-lt"/>
              </a:rPr>
              <a:t>iii</a:t>
            </a:r>
            <a:r>
              <a:rPr lang="en-US" sz="2400" dirty="0" smtClean="0">
                <a:solidFill>
                  <a:srgbClr val="273239"/>
                </a:solidFill>
                <a:latin typeface="+mj-lt"/>
              </a:rPr>
              <a:t>) Boyer Moore uses </a:t>
            </a:r>
            <a:r>
              <a:rPr lang="en-US" sz="2400" b="1" dirty="0" smtClean="0">
                <a:solidFill>
                  <a:srgbClr val="273239"/>
                </a:solidFill>
                <a:latin typeface="+mj-lt"/>
              </a:rPr>
              <a:t>Bad Character Heuristics</a:t>
            </a:r>
            <a:r>
              <a:rPr lang="en-US" sz="2400" dirty="0" smtClean="0">
                <a:solidFill>
                  <a:srgbClr val="273239"/>
                </a:solidFill>
                <a:latin typeface="+mj-lt"/>
              </a:rPr>
              <a:t> </a:t>
            </a:r>
            <a:r>
              <a:rPr lang="en-US" sz="2400" dirty="0">
                <a:latin typeface="+mj-lt"/>
              </a:rPr>
              <a:t>to search a pattern in a text</a:t>
            </a:r>
            <a:r>
              <a:rPr lang="en-US" sz="2400" dirty="0" smtClean="0">
                <a:latin typeface="+mj-lt"/>
              </a:rPr>
              <a:t>.</a:t>
            </a:r>
          </a:p>
          <a:p>
            <a:pPr algn="just">
              <a:spcAft>
                <a:spcPts val="1200"/>
              </a:spcAft>
              <a:buNone/>
            </a:pPr>
            <a:r>
              <a:rPr lang="en-US" sz="2400" dirty="0" smtClean="0">
                <a:latin typeface="+mj-lt"/>
              </a:rPr>
              <a:t>iv) </a:t>
            </a:r>
            <a:r>
              <a:rPr lang="en-US" sz="2400" dirty="0">
                <a:latin typeface="+mj-lt"/>
              </a:rPr>
              <a:t>Unlike the previous pattern searching algorithms, the </a:t>
            </a:r>
            <a:r>
              <a:rPr lang="en-US" sz="2400" b="1" dirty="0">
                <a:latin typeface="+mj-lt"/>
              </a:rPr>
              <a:t>Boyer Moore algorithm starts matching from the last character of the pattern.</a:t>
            </a:r>
            <a:endParaRPr lang="en-IN" sz="2400" dirty="0">
              <a:latin typeface="+mj-lt"/>
            </a:endParaRPr>
          </a:p>
        </p:txBody>
      </p:sp>
    </p:spTree>
    <p:extLst>
      <p:ext uri="{BB962C8B-B14F-4D97-AF65-F5344CB8AC3E}">
        <p14:creationId xmlns:p14="http://schemas.microsoft.com/office/powerpoint/2010/main" val="872510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381000" y="231016"/>
            <a:ext cx="7924800" cy="646331"/>
          </a:xfrm>
          <a:prstGeom prst="rect">
            <a:avLst/>
          </a:prstGeom>
          <a:noFill/>
        </p:spPr>
        <p:txBody>
          <a:bodyPr wrap="square" rtlCol="0">
            <a:spAutoFit/>
          </a:bodyPr>
          <a:lstStyle/>
          <a:p>
            <a:pPr algn="l">
              <a:buNone/>
            </a:pPr>
            <a:r>
              <a:rPr lang="en-US" sz="3600" b="1" dirty="0" smtClean="0">
                <a:solidFill>
                  <a:srgbClr val="C00000"/>
                </a:solidFill>
              </a:rPr>
              <a:t>Bad Character Heuristic </a:t>
            </a:r>
            <a:endParaRPr lang="en-IN" sz="3600" b="1" dirty="0">
              <a:solidFill>
                <a:srgbClr val="C00000"/>
              </a:solidFill>
            </a:endParaRPr>
          </a:p>
        </p:txBody>
      </p:sp>
      <p:sp>
        <p:nvSpPr>
          <p:cNvPr id="4" name="TextBox 3">
            <a:extLst>
              <a:ext uri="{FF2B5EF4-FFF2-40B4-BE49-F238E27FC236}">
                <a16:creationId xmlns:a16="http://schemas.microsoft.com/office/drawing/2014/main" id="{F3238A06-4CE1-77C5-0B5F-498BEF29D3FD}"/>
              </a:ext>
            </a:extLst>
          </p:cNvPr>
          <p:cNvSpPr txBox="1"/>
          <p:nvPr/>
        </p:nvSpPr>
        <p:spPr>
          <a:xfrm>
            <a:off x="381000" y="1143001"/>
            <a:ext cx="8153400" cy="3570208"/>
          </a:xfrm>
          <a:prstGeom prst="rect">
            <a:avLst/>
          </a:prstGeom>
          <a:noFill/>
        </p:spPr>
        <p:txBody>
          <a:bodyPr wrap="square">
            <a:spAutoFit/>
          </a:bodyPr>
          <a:lstStyle/>
          <a:p>
            <a:pPr algn="just">
              <a:spcAft>
                <a:spcPts val="1200"/>
              </a:spcAft>
              <a:buNone/>
            </a:pPr>
            <a:r>
              <a:rPr lang="en-US" sz="2400" b="0" i="0" dirty="0" err="1">
                <a:solidFill>
                  <a:srgbClr val="273239"/>
                </a:solidFill>
                <a:effectLst/>
                <a:latin typeface="urw-din"/>
              </a:rPr>
              <a:t>i</a:t>
            </a:r>
            <a:r>
              <a:rPr lang="en-US" sz="2400" b="0" i="0" dirty="0" smtClean="0">
                <a:solidFill>
                  <a:srgbClr val="273239"/>
                </a:solidFill>
                <a:effectLst/>
                <a:latin typeface="urw-din"/>
              </a:rPr>
              <a:t>) </a:t>
            </a:r>
            <a:r>
              <a:rPr lang="en-US" sz="2400" dirty="0"/>
              <a:t>The idea of bad character heuristic is </a:t>
            </a:r>
            <a:r>
              <a:rPr lang="en-US" sz="2400" dirty="0" smtClean="0"/>
              <a:t>simple.</a:t>
            </a:r>
          </a:p>
          <a:p>
            <a:pPr algn="just">
              <a:buNone/>
            </a:pPr>
            <a:r>
              <a:rPr lang="en-US" sz="2400" dirty="0" smtClean="0">
                <a:latin typeface="+mj-lt"/>
              </a:rPr>
              <a:t>ii) </a:t>
            </a:r>
            <a:r>
              <a:rPr lang="en-US" sz="2400" dirty="0"/>
              <a:t>The character of the text which doesn’t match with the current character of the pattern is called the </a:t>
            </a:r>
            <a:r>
              <a:rPr lang="en-US" sz="2400" b="1" dirty="0"/>
              <a:t>Bad Character</a:t>
            </a:r>
            <a:r>
              <a:rPr lang="en-US" sz="2400" dirty="0"/>
              <a:t>. Upon </a:t>
            </a:r>
            <a:r>
              <a:rPr lang="en-US" sz="2400" dirty="0" smtClean="0"/>
              <a:t>mismatch</a:t>
            </a:r>
            <a:r>
              <a:rPr lang="en-US" sz="2400" dirty="0"/>
              <a:t>, we shift the pattern until – </a:t>
            </a:r>
            <a:endParaRPr lang="en-US" sz="2400" dirty="0" smtClean="0"/>
          </a:p>
          <a:p>
            <a:pPr algn="just">
              <a:buNone/>
            </a:pPr>
            <a:endParaRPr lang="en-US" sz="2400" dirty="0" smtClean="0"/>
          </a:p>
          <a:p>
            <a:pPr marL="800100" lvl="1" indent="-342900" algn="just">
              <a:buFont typeface="Wingdings" panose="05000000000000000000" pitchFamily="2" charset="2"/>
              <a:buChar char="§"/>
            </a:pPr>
            <a:r>
              <a:rPr lang="en-US" sz="2400" dirty="0" smtClean="0">
                <a:solidFill>
                  <a:srgbClr val="FF0000"/>
                </a:solidFill>
              </a:rPr>
              <a:t>The </a:t>
            </a:r>
            <a:r>
              <a:rPr lang="en-US" sz="2400" dirty="0">
                <a:solidFill>
                  <a:srgbClr val="FF0000"/>
                </a:solidFill>
              </a:rPr>
              <a:t>mismatch becomes a </a:t>
            </a:r>
            <a:r>
              <a:rPr lang="en-US" sz="2400" dirty="0" smtClean="0">
                <a:solidFill>
                  <a:srgbClr val="FF0000"/>
                </a:solidFill>
              </a:rPr>
              <a:t>match.</a:t>
            </a:r>
          </a:p>
          <a:p>
            <a:pPr marL="800100" lvl="1" indent="-342900" algn="just">
              <a:buFont typeface="Wingdings" panose="05000000000000000000" pitchFamily="2" charset="2"/>
              <a:buChar char="§"/>
            </a:pPr>
            <a:r>
              <a:rPr lang="en-US" sz="2400" dirty="0" smtClean="0">
                <a:solidFill>
                  <a:srgbClr val="FF0000"/>
                </a:solidFill>
              </a:rPr>
              <a:t>Pattern </a:t>
            </a:r>
            <a:r>
              <a:rPr lang="en-US" sz="2400" dirty="0">
                <a:solidFill>
                  <a:srgbClr val="FF0000"/>
                </a:solidFill>
              </a:rPr>
              <a:t>P moves past the mismatched character.</a:t>
            </a:r>
          </a:p>
          <a:p>
            <a:pPr algn="just">
              <a:spcAft>
                <a:spcPts val="1200"/>
              </a:spcAft>
              <a:buNone/>
            </a:pPr>
            <a:endParaRPr lang="en-IN" sz="2400" dirty="0">
              <a:latin typeface="+mj-lt"/>
            </a:endParaRPr>
          </a:p>
        </p:txBody>
      </p:sp>
    </p:spTree>
    <p:extLst>
      <p:ext uri="{BB962C8B-B14F-4D97-AF65-F5344CB8AC3E}">
        <p14:creationId xmlns:p14="http://schemas.microsoft.com/office/powerpoint/2010/main" val="2814742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381000" y="231016"/>
            <a:ext cx="7924800" cy="646331"/>
          </a:xfrm>
          <a:prstGeom prst="rect">
            <a:avLst/>
          </a:prstGeom>
          <a:noFill/>
        </p:spPr>
        <p:txBody>
          <a:bodyPr wrap="square" rtlCol="0">
            <a:spAutoFit/>
          </a:bodyPr>
          <a:lstStyle/>
          <a:p>
            <a:pPr algn="l">
              <a:buNone/>
            </a:pPr>
            <a:r>
              <a:rPr lang="en-US" sz="3600" b="1" dirty="0" smtClean="0">
                <a:solidFill>
                  <a:srgbClr val="C00000"/>
                </a:solidFill>
              </a:rPr>
              <a:t>Bad Character Heuristic </a:t>
            </a:r>
            <a:endParaRPr lang="en-IN" sz="3600" b="1" dirty="0">
              <a:solidFill>
                <a:srgbClr val="C00000"/>
              </a:solidFill>
            </a:endParaRPr>
          </a:p>
        </p:txBody>
      </p:sp>
      <p:sp>
        <p:nvSpPr>
          <p:cNvPr id="4" name="TextBox 3">
            <a:extLst>
              <a:ext uri="{FF2B5EF4-FFF2-40B4-BE49-F238E27FC236}">
                <a16:creationId xmlns:a16="http://schemas.microsoft.com/office/drawing/2014/main" id="{F3238A06-4CE1-77C5-0B5F-498BEF29D3FD}"/>
              </a:ext>
            </a:extLst>
          </p:cNvPr>
          <p:cNvSpPr txBox="1"/>
          <p:nvPr/>
        </p:nvSpPr>
        <p:spPr>
          <a:xfrm>
            <a:off x="381000" y="1143001"/>
            <a:ext cx="8153400" cy="2905411"/>
          </a:xfrm>
          <a:prstGeom prst="rect">
            <a:avLst/>
          </a:prstGeom>
          <a:noFill/>
        </p:spPr>
        <p:txBody>
          <a:bodyPr wrap="square">
            <a:spAutoFit/>
          </a:bodyPr>
          <a:lstStyle/>
          <a:p>
            <a:pPr algn="l">
              <a:spcAft>
                <a:spcPts val="1200"/>
              </a:spcAft>
              <a:buNone/>
            </a:pPr>
            <a:r>
              <a:rPr lang="en-US" sz="2400" b="1" dirty="0"/>
              <a:t>Case 1 – Mismatch become match</a:t>
            </a:r>
            <a:r>
              <a:rPr lang="en-US" sz="2400" dirty="0"/>
              <a:t> </a:t>
            </a:r>
            <a:r>
              <a:rPr lang="en-US" sz="2400" dirty="0" smtClean="0"/>
              <a:t>	</a:t>
            </a:r>
            <a:r>
              <a:rPr lang="en-US" sz="2400" dirty="0"/>
              <a:t/>
            </a:r>
            <a:br>
              <a:rPr lang="en-US" sz="2400" dirty="0"/>
            </a:br>
            <a:endParaRPr lang="en-US" sz="2400" dirty="0" smtClean="0"/>
          </a:p>
          <a:p>
            <a:pPr algn="just">
              <a:spcAft>
                <a:spcPts val="1200"/>
              </a:spcAft>
              <a:buNone/>
            </a:pPr>
            <a:r>
              <a:rPr lang="en-US" sz="2400" dirty="0" smtClean="0"/>
              <a:t>We </a:t>
            </a:r>
            <a:r>
              <a:rPr lang="en-US" sz="2400" dirty="0"/>
              <a:t>will lookup the position of the last occurrence of the mismatched character in the pattern, and if the mismatched character exists in the pattern, then we’ll shift the pattern such that it becomes aligned to the mismatched character in the text T. </a:t>
            </a:r>
            <a:endParaRPr lang="en-IN" sz="2400" dirty="0">
              <a:latin typeface="+mj-lt"/>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3810000"/>
            <a:ext cx="6435119" cy="2847975"/>
          </a:xfrm>
          <a:prstGeom prst="rect">
            <a:avLst/>
          </a:prstGeom>
        </p:spPr>
      </p:pic>
    </p:spTree>
    <p:extLst>
      <p:ext uri="{BB962C8B-B14F-4D97-AF65-F5344CB8AC3E}">
        <p14:creationId xmlns:p14="http://schemas.microsoft.com/office/powerpoint/2010/main" val="2533390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381000" y="231016"/>
            <a:ext cx="7924800" cy="646331"/>
          </a:xfrm>
          <a:prstGeom prst="rect">
            <a:avLst/>
          </a:prstGeom>
          <a:noFill/>
        </p:spPr>
        <p:txBody>
          <a:bodyPr wrap="square" rtlCol="0">
            <a:spAutoFit/>
          </a:bodyPr>
          <a:lstStyle/>
          <a:p>
            <a:pPr algn="l">
              <a:buNone/>
            </a:pPr>
            <a:r>
              <a:rPr lang="en-US" sz="3600" b="1" dirty="0" smtClean="0">
                <a:solidFill>
                  <a:srgbClr val="C00000"/>
                </a:solidFill>
              </a:rPr>
              <a:t>Bad Character Heuristic </a:t>
            </a:r>
            <a:endParaRPr lang="en-IN" sz="3600" b="1" dirty="0">
              <a:solidFill>
                <a:srgbClr val="C00000"/>
              </a:solidFill>
            </a:endParaRPr>
          </a:p>
        </p:txBody>
      </p:sp>
      <p:sp>
        <p:nvSpPr>
          <p:cNvPr id="4" name="TextBox 3">
            <a:extLst>
              <a:ext uri="{FF2B5EF4-FFF2-40B4-BE49-F238E27FC236}">
                <a16:creationId xmlns:a16="http://schemas.microsoft.com/office/drawing/2014/main" id="{F3238A06-4CE1-77C5-0B5F-498BEF29D3FD}"/>
              </a:ext>
            </a:extLst>
          </p:cNvPr>
          <p:cNvSpPr txBox="1"/>
          <p:nvPr/>
        </p:nvSpPr>
        <p:spPr>
          <a:xfrm>
            <a:off x="381000" y="1143001"/>
            <a:ext cx="8153400" cy="2166747"/>
          </a:xfrm>
          <a:prstGeom prst="rect">
            <a:avLst/>
          </a:prstGeom>
          <a:noFill/>
        </p:spPr>
        <p:txBody>
          <a:bodyPr wrap="square">
            <a:spAutoFit/>
          </a:bodyPr>
          <a:lstStyle/>
          <a:p>
            <a:pPr algn="l">
              <a:spcAft>
                <a:spcPts val="1200"/>
              </a:spcAft>
              <a:buNone/>
            </a:pPr>
            <a:r>
              <a:rPr lang="en-US" sz="2400" b="1" dirty="0"/>
              <a:t>Case 2 – Pattern move past the mismatch </a:t>
            </a:r>
            <a:r>
              <a:rPr lang="en-US" sz="2400" b="1" dirty="0" smtClean="0"/>
              <a:t>character</a:t>
            </a:r>
          </a:p>
          <a:p>
            <a:pPr algn="just">
              <a:spcAft>
                <a:spcPts val="1200"/>
              </a:spcAft>
              <a:buNone/>
            </a:pPr>
            <a:r>
              <a:rPr lang="en-US" sz="2400" dirty="0"/>
              <a:t> </a:t>
            </a:r>
            <a:br>
              <a:rPr lang="en-US" sz="2400" dirty="0"/>
            </a:br>
            <a:r>
              <a:rPr lang="en-US" sz="2400" dirty="0"/>
              <a:t>We’ll lookup the position of last occurrence of mismatching character in pattern and if character does not exist we will shift pattern past the mismatching character. </a:t>
            </a:r>
            <a:endParaRPr lang="en-IN" sz="2400" dirty="0">
              <a:latin typeface="+mj-lt"/>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3494638"/>
            <a:ext cx="6491288" cy="3363362"/>
          </a:xfrm>
          <a:prstGeom prst="rect">
            <a:avLst/>
          </a:prstGeom>
        </p:spPr>
      </p:pic>
    </p:spTree>
    <p:extLst>
      <p:ext uri="{BB962C8B-B14F-4D97-AF65-F5344CB8AC3E}">
        <p14:creationId xmlns:p14="http://schemas.microsoft.com/office/powerpoint/2010/main" val="3763381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381000" y="231016"/>
            <a:ext cx="8458200" cy="646331"/>
          </a:xfrm>
          <a:prstGeom prst="rect">
            <a:avLst/>
          </a:prstGeom>
          <a:noFill/>
        </p:spPr>
        <p:txBody>
          <a:bodyPr wrap="square" rtlCol="0">
            <a:spAutoFit/>
          </a:bodyPr>
          <a:lstStyle/>
          <a:p>
            <a:pPr algn="l">
              <a:buNone/>
            </a:pPr>
            <a:r>
              <a:rPr lang="en-US" sz="3600" b="1" dirty="0" smtClean="0">
                <a:solidFill>
                  <a:srgbClr val="C00000"/>
                </a:solidFill>
              </a:rPr>
              <a:t>Boyer Moore Time and Space Complexity</a:t>
            </a:r>
            <a:endParaRPr lang="en-IN" sz="3600" b="1" dirty="0">
              <a:solidFill>
                <a:srgbClr val="C00000"/>
              </a:solidFill>
            </a:endParaRPr>
          </a:p>
        </p:txBody>
      </p:sp>
      <p:sp>
        <p:nvSpPr>
          <p:cNvPr id="9" name="Rectangle 8"/>
          <p:cNvSpPr/>
          <p:nvPr/>
        </p:nvSpPr>
        <p:spPr>
          <a:xfrm>
            <a:off x="609600" y="1295400"/>
            <a:ext cx="8229600" cy="4838248"/>
          </a:xfrm>
          <a:prstGeom prst="rect">
            <a:avLst/>
          </a:prstGeom>
        </p:spPr>
        <p:txBody>
          <a:bodyPr wrap="square">
            <a:spAutoFit/>
          </a:bodyPr>
          <a:lstStyle/>
          <a:p>
            <a:pPr marL="342900" indent="-342900" algn="just">
              <a:buFont typeface="Wingdings" panose="05000000000000000000" pitchFamily="2" charset="2"/>
              <a:buChar char="§"/>
            </a:pPr>
            <a:r>
              <a:rPr lang="en-IN" sz="2400" b="1" dirty="0"/>
              <a:t>Time Complexity :</a:t>
            </a:r>
            <a:r>
              <a:rPr lang="en-IN" sz="2400" dirty="0"/>
              <a:t> O(n x m)</a:t>
            </a:r>
          </a:p>
          <a:p>
            <a:pPr marL="342900" indent="-342900" algn="just">
              <a:buFont typeface="Wingdings" panose="05000000000000000000" pitchFamily="2" charset="2"/>
              <a:buChar char="§"/>
            </a:pPr>
            <a:r>
              <a:rPr lang="en-IN" sz="2400" b="1" dirty="0"/>
              <a:t>Auxiliary Space:</a:t>
            </a:r>
            <a:r>
              <a:rPr lang="en-IN" sz="2400" dirty="0"/>
              <a:t> O(1</a:t>
            </a:r>
            <a:r>
              <a:rPr lang="en-IN" sz="2400" dirty="0" smtClean="0"/>
              <a:t>)</a:t>
            </a:r>
          </a:p>
          <a:p>
            <a:pPr algn="just"/>
            <a:endParaRPr lang="en-US" sz="2400" dirty="0"/>
          </a:p>
          <a:p>
            <a:pPr marL="342900" indent="-342900" algn="just">
              <a:buFont typeface="Wingdings" panose="05000000000000000000" pitchFamily="2" charset="2"/>
              <a:buChar char="§"/>
            </a:pPr>
            <a:r>
              <a:rPr lang="en-US" sz="2400" b="1" dirty="0" smtClean="0"/>
              <a:t>Worst Case :  </a:t>
            </a:r>
            <a:r>
              <a:rPr lang="en-US" altLang="en-US" sz="2200" dirty="0">
                <a:latin typeface="+mj-lt"/>
              </a:rPr>
              <a:t>The Bad Character Heuristic may </a:t>
            </a:r>
            <a:r>
              <a:rPr lang="en-US" altLang="en-US" sz="2200" dirty="0" smtClean="0">
                <a:latin typeface="+mj-lt"/>
              </a:rPr>
              <a:t>take </a:t>
            </a:r>
            <a:r>
              <a:rPr lang="en-US" b="1" dirty="0" smtClean="0"/>
              <a:t>O(m*n) </a:t>
            </a:r>
            <a:r>
              <a:rPr lang="en-US" altLang="en-US" sz="2200" dirty="0">
                <a:latin typeface="+mj-lt"/>
              </a:rPr>
              <a:t> </a:t>
            </a:r>
            <a:r>
              <a:rPr lang="en-US" altLang="en-US" sz="2200" dirty="0" smtClean="0">
                <a:latin typeface="+mj-lt"/>
              </a:rPr>
              <a:t>time </a:t>
            </a:r>
            <a:r>
              <a:rPr lang="en-US" altLang="en-US" sz="2200" dirty="0">
                <a:latin typeface="+mj-lt"/>
              </a:rPr>
              <a:t>in worst case. The worst case occurs when all characters of the text and pattern are same. </a:t>
            </a:r>
            <a:endParaRPr lang="en-US" altLang="en-US" sz="2200" dirty="0" smtClean="0">
              <a:latin typeface="+mj-lt"/>
            </a:endParaRPr>
          </a:p>
          <a:p>
            <a:pPr algn="just">
              <a:buNone/>
            </a:pPr>
            <a:r>
              <a:rPr lang="en-US" altLang="en-US" sz="2200" b="1" dirty="0" smtClean="0">
                <a:latin typeface="+mj-lt"/>
              </a:rPr>
              <a:t>	For </a:t>
            </a:r>
            <a:r>
              <a:rPr lang="en-US" altLang="en-US" sz="2200" b="1" dirty="0">
                <a:latin typeface="+mj-lt"/>
              </a:rPr>
              <a:t>example,</a:t>
            </a:r>
            <a:r>
              <a:rPr lang="en-US" altLang="en-US" sz="2200" dirty="0">
                <a:latin typeface="+mj-lt"/>
              </a:rPr>
              <a:t> txt[] = “AAAAAAAAAAAAAAAAAA” and </a:t>
            </a:r>
            <a:r>
              <a:rPr lang="en-US" altLang="en-US" sz="2200" dirty="0" smtClean="0">
                <a:latin typeface="+mj-lt"/>
              </a:rPr>
              <a:t>			pat</a:t>
            </a:r>
            <a:r>
              <a:rPr lang="en-US" altLang="en-US" sz="2200" dirty="0">
                <a:latin typeface="+mj-lt"/>
              </a:rPr>
              <a:t>[] = “AAAAA”. </a:t>
            </a:r>
          </a:p>
          <a:p>
            <a:pPr algn="just">
              <a:buNone/>
            </a:pPr>
            <a:endParaRPr lang="en-US" sz="2400" dirty="0" smtClean="0"/>
          </a:p>
          <a:p>
            <a:pPr marL="342900" indent="-342900" algn="just">
              <a:buFont typeface="Wingdings" panose="05000000000000000000" pitchFamily="2" charset="2"/>
              <a:buChar char="§"/>
            </a:pPr>
            <a:r>
              <a:rPr lang="en-US" sz="2400" dirty="0"/>
              <a:t> </a:t>
            </a:r>
            <a:r>
              <a:rPr lang="en-US" sz="2400" b="1" dirty="0" smtClean="0"/>
              <a:t>Best Case : </a:t>
            </a:r>
            <a:r>
              <a:rPr lang="en-US" sz="2400" dirty="0"/>
              <a:t>The Bad Character Heuristic may take </a:t>
            </a:r>
            <a:r>
              <a:rPr lang="en-US" sz="2400" b="1" dirty="0"/>
              <a:t>O(n/m)</a:t>
            </a:r>
            <a:r>
              <a:rPr lang="en-US" sz="2400" dirty="0"/>
              <a:t> in the best case. The best case occurs when all the characters of the text and pattern are different. </a:t>
            </a:r>
            <a:endParaRPr lang="en-IN" sz="2400" b="1" dirty="0"/>
          </a:p>
        </p:txBody>
      </p:sp>
      <p:sp>
        <p:nvSpPr>
          <p:cNvPr id="11" name="AutoShape 6" descr="O(mn)                      "/>
          <p:cNvSpPr>
            <a:spLocks noChangeAspect="1" noChangeArrowheads="1"/>
          </p:cNvSpPr>
          <p:nvPr/>
        </p:nvSpPr>
        <p:spPr bwMode="auto">
          <a:xfrm>
            <a:off x="4092575" y="-274638"/>
            <a:ext cx="733425" cy="257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724409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381000" y="231016"/>
            <a:ext cx="8458200" cy="646331"/>
          </a:xfrm>
          <a:prstGeom prst="rect">
            <a:avLst/>
          </a:prstGeom>
          <a:noFill/>
        </p:spPr>
        <p:txBody>
          <a:bodyPr wrap="square" rtlCol="0">
            <a:spAutoFit/>
          </a:bodyPr>
          <a:lstStyle/>
          <a:p>
            <a:pPr algn="l">
              <a:buNone/>
            </a:pPr>
            <a:r>
              <a:rPr lang="en-US" sz="3600" b="1" dirty="0" smtClean="0">
                <a:solidFill>
                  <a:srgbClr val="C00000"/>
                </a:solidFill>
              </a:rPr>
              <a:t>Boyer Moore Bad Match Table </a:t>
            </a:r>
            <a:endParaRPr lang="en-IN" sz="3600" b="1" dirty="0">
              <a:solidFill>
                <a:srgbClr val="C00000"/>
              </a:solidFill>
            </a:endParaRPr>
          </a:p>
        </p:txBody>
      </p:sp>
      <p:sp>
        <p:nvSpPr>
          <p:cNvPr id="9" name="Rectangle 8"/>
          <p:cNvSpPr/>
          <p:nvPr/>
        </p:nvSpPr>
        <p:spPr>
          <a:xfrm>
            <a:off x="495300" y="1125826"/>
            <a:ext cx="8229600" cy="4598182"/>
          </a:xfrm>
          <a:prstGeom prst="rect">
            <a:avLst/>
          </a:prstGeom>
        </p:spPr>
        <p:txBody>
          <a:bodyPr wrap="square">
            <a:spAutoFit/>
          </a:bodyPr>
          <a:lstStyle/>
          <a:p>
            <a:pPr marL="342900" indent="-342900" algn="just">
              <a:buFont typeface="Wingdings" panose="05000000000000000000" pitchFamily="2" charset="2"/>
              <a:buChar char="§"/>
            </a:pPr>
            <a:r>
              <a:rPr lang="en-US" sz="2400" dirty="0" smtClean="0"/>
              <a:t>In order to apply bad character heuristic, In Boyer Moore algorithm, we create a Bad Match Table first on the given pattern.</a:t>
            </a:r>
          </a:p>
          <a:p>
            <a:pPr marL="342900" indent="-342900" algn="just">
              <a:buFont typeface="Wingdings" panose="05000000000000000000" pitchFamily="2" charset="2"/>
              <a:buChar char="§"/>
            </a:pPr>
            <a:r>
              <a:rPr lang="en-US" sz="2400" dirty="0" smtClean="0"/>
              <a:t>No. of entries in Bad Match Table : Total unique characters in the given pattern + 1</a:t>
            </a:r>
          </a:p>
          <a:p>
            <a:pPr marL="342900" indent="-342900" algn="just">
              <a:buFont typeface="Wingdings" panose="05000000000000000000" pitchFamily="2" charset="2"/>
              <a:buChar char="§"/>
            </a:pPr>
            <a:r>
              <a:rPr lang="en-US" sz="2400" dirty="0" smtClean="0"/>
              <a:t>Entries for a character in Bad Match Table : length – index – 1</a:t>
            </a:r>
          </a:p>
          <a:p>
            <a:pPr algn="just">
              <a:buNone/>
            </a:pPr>
            <a:r>
              <a:rPr lang="en-US" sz="2400" dirty="0"/>
              <a:t> </a:t>
            </a:r>
            <a:r>
              <a:rPr lang="en-US" sz="2400" dirty="0" smtClean="0"/>
              <a:t>    where, length is length of the pattern, index is index position </a:t>
            </a:r>
            <a:br>
              <a:rPr lang="en-US" sz="2400" dirty="0" smtClean="0"/>
            </a:br>
            <a:r>
              <a:rPr lang="en-US" sz="2400" dirty="0" smtClean="0"/>
              <a:t>     of a character in the pattern.</a:t>
            </a:r>
          </a:p>
          <a:p>
            <a:pPr algn="just">
              <a:buNone/>
            </a:pPr>
            <a:r>
              <a:rPr lang="en-US" sz="2400" b="1" dirty="0" smtClean="0"/>
              <a:t>		       0 1  2  3 4</a:t>
            </a:r>
            <a:endParaRPr lang="en-US" sz="2400" b="1" dirty="0"/>
          </a:p>
          <a:p>
            <a:pPr algn="just">
              <a:buNone/>
            </a:pPr>
            <a:r>
              <a:rPr lang="en-US" sz="2400" b="1" dirty="0" smtClean="0"/>
              <a:t>Example : Pat = “A B A B C”</a:t>
            </a:r>
          </a:p>
          <a:p>
            <a:pPr algn="just">
              <a:buNone/>
            </a:pPr>
            <a:r>
              <a:rPr lang="en-US" sz="2400" b="1" dirty="0" smtClean="0"/>
              <a:t>Bad Match Table : </a:t>
            </a:r>
            <a:endParaRPr lang="en-IN" sz="2400" b="1" dirty="0"/>
          </a:p>
        </p:txBody>
      </p:sp>
      <p:sp>
        <p:nvSpPr>
          <p:cNvPr id="11" name="AutoShape 6" descr="O(mn)                      "/>
          <p:cNvSpPr>
            <a:spLocks noChangeAspect="1" noChangeArrowheads="1"/>
          </p:cNvSpPr>
          <p:nvPr/>
        </p:nvSpPr>
        <p:spPr bwMode="auto">
          <a:xfrm>
            <a:off x="4092575" y="-274638"/>
            <a:ext cx="733425" cy="257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3" name="Table 2"/>
          <p:cNvGraphicFramePr>
            <a:graphicFrameLocks noGrp="1"/>
          </p:cNvGraphicFramePr>
          <p:nvPr>
            <p:extLst>
              <p:ext uri="{D42A27DB-BD31-4B8C-83A1-F6EECF244321}">
                <p14:modId xmlns:p14="http://schemas.microsoft.com/office/powerpoint/2010/main" val="4175559516"/>
              </p:ext>
            </p:extLst>
          </p:nvPr>
        </p:nvGraphicFramePr>
        <p:xfrm>
          <a:off x="3067692" y="5359160"/>
          <a:ext cx="3458968" cy="1016480"/>
        </p:xfrm>
        <a:graphic>
          <a:graphicData uri="http://schemas.openxmlformats.org/drawingml/2006/table">
            <a:tbl>
              <a:tblPr firstRow="1" bandRow="1">
                <a:tableStyleId>{5940675A-B579-460E-94D1-54222C63F5DA}</a:tableStyleId>
              </a:tblPr>
              <a:tblGrid>
                <a:gridCol w="864742">
                  <a:extLst>
                    <a:ext uri="{9D8B030D-6E8A-4147-A177-3AD203B41FA5}">
                      <a16:colId xmlns:a16="http://schemas.microsoft.com/office/drawing/2014/main" val="1910951188"/>
                    </a:ext>
                  </a:extLst>
                </a:gridCol>
                <a:gridCol w="864742">
                  <a:extLst>
                    <a:ext uri="{9D8B030D-6E8A-4147-A177-3AD203B41FA5}">
                      <a16:colId xmlns:a16="http://schemas.microsoft.com/office/drawing/2014/main" val="360511978"/>
                    </a:ext>
                  </a:extLst>
                </a:gridCol>
                <a:gridCol w="864742">
                  <a:extLst>
                    <a:ext uri="{9D8B030D-6E8A-4147-A177-3AD203B41FA5}">
                      <a16:colId xmlns:a16="http://schemas.microsoft.com/office/drawing/2014/main" val="4197055578"/>
                    </a:ext>
                  </a:extLst>
                </a:gridCol>
                <a:gridCol w="864742">
                  <a:extLst>
                    <a:ext uri="{9D8B030D-6E8A-4147-A177-3AD203B41FA5}">
                      <a16:colId xmlns:a16="http://schemas.microsoft.com/office/drawing/2014/main" val="278307767"/>
                    </a:ext>
                  </a:extLst>
                </a:gridCol>
              </a:tblGrid>
              <a:tr h="508240">
                <a:tc>
                  <a:txBody>
                    <a:bodyPr/>
                    <a:lstStyle/>
                    <a:p>
                      <a:pPr algn="ctr"/>
                      <a:r>
                        <a:rPr lang="en-US" dirty="0" smtClean="0"/>
                        <a:t>A</a:t>
                      </a:r>
                      <a:endParaRPr lang="en-IN" dirty="0"/>
                    </a:p>
                  </a:txBody>
                  <a:tcPr/>
                </a:tc>
                <a:tc>
                  <a:txBody>
                    <a:bodyPr/>
                    <a:lstStyle/>
                    <a:p>
                      <a:pPr algn="ctr"/>
                      <a:r>
                        <a:rPr lang="en-US" dirty="0" smtClean="0"/>
                        <a:t>B</a:t>
                      </a:r>
                      <a:endParaRPr lang="en-IN" dirty="0"/>
                    </a:p>
                  </a:txBody>
                  <a:tcPr/>
                </a:tc>
                <a:tc>
                  <a:txBody>
                    <a:bodyPr/>
                    <a:lstStyle/>
                    <a:p>
                      <a:pPr algn="ctr"/>
                      <a:r>
                        <a:rPr lang="en-US" dirty="0" smtClean="0"/>
                        <a:t>C</a:t>
                      </a:r>
                      <a:endParaRPr lang="en-IN" dirty="0"/>
                    </a:p>
                  </a:txBody>
                  <a:tcPr/>
                </a:tc>
                <a:tc>
                  <a:txBody>
                    <a:bodyPr/>
                    <a:lstStyle/>
                    <a:p>
                      <a:pPr algn="ctr"/>
                      <a:r>
                        <a:rPr lang="en-US" dirty="0" smtClean="0"/>
                        <a:t>*</a:t>
                      </a:r>
                      <a:endParaRPr lang="en-IN" dirty="0"/>
                    </a:p>
                  </a:txBody>
                  <a:tcPr/>
                </a:tc>
                <a:extLst>
                  <a:ext uri="{0D108BD9-81ED-4DB2-BD59-A6C34878D82A}">
                    <a16:rowId xmlns:a16="http://schemas.microsoft.com/office/drawing/2014/main" val="4206658969"/>
                  </a:ext>
                </a:extLst>
              </a:tr>
              <a:tr h="508240">
                <a:tc>
                  <a:txBody>
                    <a:bodyPr/>
                    <a:lstStyle/>
                    <a:p>
                      <a:pPr algn="ctr"/>
                      <a:r>
                        <a:rPr lang="en-US" dirty="0" smtClean="0"/>
                        <a:t>2</a:t>
                      </a:r>
                      <a:endParaRPr lang="en-IN" dirty="0"/>
                    </a:p>
                  </a:txBody>
                  <a:tcPr/>
                </a:tc>
                <a:tc>
                  <a:txBody>
                    <a:bodyPr/>
                    <a:lstStyle/>
                    <a:p>
                      <a:pPr algn="ctr"/>
                      <a:r>
                        <a:rPr lang="en-US" dirty="0" smtClean="0"/>
                        <a:t>1</a:t>
                      </a:r>
                      <a:endParaRPr lang="en-IN" dirty="0"/>
                    </a:p>
                  </a:txBody>
                  <a:tcPr/>
                </a:tc>
                <a:tc>
                  <a:txBody>
                    <a:bodyPr/>
                    <a:lstStyle/>
                    <a:p>
                      <a:pPr algn="ctr"/>
                      <a:r>
                        <a:rPr lang="en-US" dirty="0" smtClean="0"/>
                        <a:t>4</a:t>
                      </a:r>
                      <a:endParaRPr lang="en-IN" dirty="0"/>
                    </a:p>
                  </a:txBody>
                  <a:tcPr/>
                </a:tc>
                <a:tc>
                  <a:txBody>
                    <a:bodyPr/>
                    <a:lstStyle/>
                    <a:p>
                      <a:pPr algn="ctr"/>
                      <a:r>
                        <a:rPr lang="en-US" dirty="0" smtClean="0"/>
                        <a:t>4</a:t>
                      </a:r>
                      <a:endParaRPr lang="en-IN" dirty="0"/>
                    </a:p>
                  </a:txBody>
                  <a:tcPr/>
                </a:tc>
                <a:extLst>
                  <a:ext uri="{0D108BD9-81ED-4DB2-BD59-A6C34878D82A}">
                    <a16:rowId xmlns:a16="http://schemas.microsoft.com/office/drawing/2014/main" val="2819785060"/>
                  </a:ext>
                </a:extLst>
              </a:tr>
            </a:tbl>
          </a:graphicData>
        </a:graphic>
      </p:graphicFrame>
    </p:spTree>
    <p:extLst>
      <p:ext uri="{BB962C8B-B14F-4D97-AF65-F5344CB8AC3E}">
        <p14:creationId xmlns:p14="http://schemas.microsoft.com/office/powerpoint/2010/main" val="1512963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6" descr="O(mn)                      "/>
          <p:cNvSpPr>
            <a:spLocks noChangeAspect="1" noChangeArrowheads="1"/>
          </p:cNvSpPr>
          <p:nvPr/>
        </p:nvSpPr>
        <p:spPr bwMode="auto">
          <a:xfrm>
            <a:off x="4092575" y="-274638"/>
            <a:ext cx="733425" cy="257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p:nvPicPr>
        <p:blipFill rotWithShape="1">
          <a:blip r:embed="rId2" cstate="print">
            <a:duotone>
              <a:prstClr val="black"/>
              <a:schemeClr val="accent1">
                <a:tint val="45000"/>
                <a:satMod val="400000"/>
              </a:schemeClr>
            </a:duoton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b="18889"/>
          <a:stretch/>
        </p:blipFill>
        <p:spPr>
          <a:xfrm>
            <a:off x="2514600" y="45641"/>
            <a:ext cx="5715000" cy="6812359"/>
          </a:xfrm>
          <a:prstGeom prst="rect">
            <a:avLst/>
          </a:prstGeom>
        </p:spPr>
      </p:pic>
      <p:sp>
        <p:nvSpPr>
          <p:cNvPr id="8" name="TextBox 7">
            <a:extLst>
              <a:ext uri="{FF2B5EF4-FFF2-40B4-BE49-F238E27FC236}">
                <a16:creationId xmlns:a16="http://schemas.microsoft.com/office/drawing/2014/main" id="{E021FA93-1963-9DDC-E653-E2112DFBCC9F}"/>
              </a:ext>
            </a:extLst>
          </p:cNvPr>
          <p:cNvSpPr txBox="1"/>
          <p:nvPr/>
        </p:nvSpPr>
        <p:spPr>
          <a:xfrm>
            <a:off x="228600" y="228600"/>
            <a:ext cx="1981200" cy="1754326"/>
          </a:xfrm>
          <a:prstGeom prst="rect">
            <a:avLst/>
          </a:prstGeom>
          <a:noFill/>
        </p:spPr>
        <p:txBody>
          <a:bodyPr wrap="square" rtlCol="0">
            <a:spAutoFit/>
          </a:bodyPr>
          <a:lstStyle/>
          <a:p>
            <a:pPr algn="l">
              <a:buNone/>
            </a:pPr>
            <a:r>
              <a:rPr lang="en-US" sz="3600" b="1" dirty="0" smtClean="0">
                <a:solidFill>
                  <a:srgbClr val="C00000"/>
                </a:solidFill>
              </a:rPr>
              <a:t>Boyer Moore Example</a:t>
            </a:r>
            <a:endParaRPr lang="en-IN" sz="3600" b="1" dirty="0">
              <a:solidFill>
                <a:srgbClr val="C00000"/>
              </a:solidFill>
            </a:endParaRPr>
          </a:p>
        </p:txBody>
      </p:sp>
    </p:spTree>
    <p:extLst>
      <p:ext uri="{BB962C8B-B14F-4D97-AF65-F5344CB8AC3E}">
        <p14:creationId xmlns:p14="http://schemas.microsoft.com/office/powerpoint/2010/main" val="675175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21FA93-1963-9DDC-E653-E2112DFBCC9F}"/>
              </a:ext>
            </a:extLst>
          </p:cNvPr>
          <p:cNvSpPr txBox="1"/>
          <p:nvPr/>
        </p:nvSpPr>
        <p:spPr>
          <a:xfrm>
            <a:off x="381000" y="231016"/>
            <a:ext cx="1981200" cy="1754326"/>
          </a:xfrm>
          <a:prstGeom prst="rect">
            <a:avLst/>
          </a:prstGeom>
          <a:noFill/>
        </p:spPr>
        <p:txBody>
          <a:bodyPr wrap="square" rtlCol="0">
            <a:spAutoFit/>
          </a:bodyPr>
          <a:lstStyle/>
          <a:p>
            <a:pPr algn="l">
              <a:buNone/>
            </a:pPr>
            <a:r>
              <a:rPr lang="en-US" sz="3600" b="1" dirty="0" smtClean="0">
                <a:solidFill>
                  <a:srgbClr val="C00000"/>
                </a:solidFill>
              </a:rPr>
              <a:t>Boyer Moore Example</a:t>
            </a:r>
            <a:endParaRPr lang="en-IN" sz="3600" b="1" dirty="0">
              <a:solidFill>
                <a:srgbClr val="C00000"/>
              </a:solidFill>
            </a:endParaRPr>
          </a:p>
        </p:txBody>
      </p:sp>
      <p:sp>
        <p:nvSpPr>
          <p:cNvPr id="11" name="AutoShape 6" descr="O(mn)                      "/>
          <p:cNvSpPr>
            <a:spLocks noChangeAspect="1" noChangeArrowheads="1"/>
          </p:cNvSpPr>
          <p:nvPr/>
        </p:nvSpPr>
        <p:spPr bwMode="auto">
          <a:xfrm>
            <a:off x="4092575" y="-274638"/>
            <a:ext cx="733425" cy="2571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p:cNvPicPr>
            <a:picLocks noChangeAspect="1"/>
          </p:cNvPicPr>
          <p:nvPr/>
        </p:nvPicPr>
        <p:blipFill rotWithShape="1">
          <a:blip r:embed="rId2" cstate="print">
            <a:duotone>
              <a:prstClr val="black"/>
              <a:schemeClr val="accent1">
                <a:tint val="45000"/>
                <a:satMod val="400000"/>
              </a:schemeClr>
            </a:duotone>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b="25556"/>
          <a:stretch/>
        </p:blipFill>
        <p:spPr>
          <a:xfrm>
            <a:off x="2819400" y="231016"/>
            <a:ext cx="5867400" cy="6376575"/>
          </a:xfrm>
          <a:prstGeom prst="rect">
            <a:avLst/>
          </a:prstGeom>
        </p:spPr>
      </p:pic>
    </p:spTree>
    <p:extLst>
      <p:ext uri="{BB962C8B-B14F-4D97-AF65-F5344CB8AC3E}">
        <p14:creationId xmlns:p14="http://schemas.microsoft.com/office/powerpoint/2010/main" val="282696237"/>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20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ctr" defTabSz="914400" rtl="0" eaLnBrk="1" fontAlgn="base" latinLnBrk="0" hangingPunct="1">
          <a:lnSpc>
            <a:spcPct val="100000"/>
          </a:lnSpc>
          <a:spcBef>
            <a:spcPct val="20000"/>
          </a:spcBef>
          <a:spcAft>
            <a:spcPct val="0"/>
          </a:spcAft>
          <a:buClrTx/>
          <a:buSzTx/>
          <a:buFontTx/>
          <a:buChar char="•"/>
          <a:tabLst/>
          <a:defRPr kumimoji="0" lang="en-US" sz="20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2720</TotalTime>
  <Words>517</Words>
  <Application>Microsoft Office PowerPoint</Application>
  <PresentationFormat>On-screen Show (4:3)</PresentationFormat>
  <Paragraphs>45</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Times New Roman</vt:lpstr>
      <vt:lpstr>urw-din</vt:lpstr>
      <vt:lpstr>Wingdings</vt:lpstr>
      <vt:lpstr>Default Design</vt:lpstr>
      <vt:lpstr>Design of Pattern Matching Algorithms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AjayRastogi</dc:creator>
  <cp:lastModifiedBy>Ram Kumar</cp:lastModifiedBy>
  <cp:revision>152</cp:revision>
  <dcterms:created xsi:type="dcterms:W3CDTF">1601-01-01T00:00:00Z</dcterms:created>
  <dcterms:modified xsi:type="dcterms:W3CDTF">2023-04-03T07:04:03Z</dcterms:modified>
</cp:coreProperties>
</file>