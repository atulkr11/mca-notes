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1" r:id="rId13"/>
    <p:sldId id="292" r:id="rId14"/>
    <p:sldId id="293" r:id="rId15"/>
    <p:sldId id="296" r:id="rId16"/>
    <p:sldId id="294" r:id="rId17"/>
    <p:sldId id="297" r:id="rId18"/>
    <p:sldId id="295" r:id="rId19"/>
    <p:sldId id="298" r:id="rId20"/>
    <p:sldId id="299" r:id="rId21"/>
    <p:sldId id="300" r:id="rId22"/>
    <p:sldId id="301" r:id="rId23"/>
    <p:sldId id="302" r:id="rId24"/>
    <p:sldId id="303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8" autoAdjust="0"/>
    <p:restoredTop sz="94660"/>
  </p:normalViewPr>
  <p:slideViewPr>
    <p:cSldViewPr>
      <p:cViewPr varScale="1">
        <p:scale>
          <a:sx n="81" d="100"/>
          <a:sy n="81" d="100"/>
        </p:scale>
        <p:origin x="151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6F678-8235-4C82-B4B8-40F934E31CE8}" type="datetimeFigureOut">
              <a:rPr lang="en-US" smtClean="0"/>
              <a:pPr/>
              <a:t>4/23/2023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913EF-352C-4FC7-ADD7-BDF96734F01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Intractable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Unit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66BEA4-9794-15E3-1EA1-684F55764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66800"/>
            <a:ext cx="8267700" cy="3933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D55795-DC96-F51C-A776-B488E78EE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261937"/>
            <a:ext cx="8582025" cy="633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8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3DC7E1-D730-DD61-2C8A-219F61A7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" y="762000"/>
            <a:ext cx="862736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9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29B0F7-1929-BE5D-216F-2E5FAD23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404813"/>
            <a:ext cx="7858125" cy="5274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7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B5979A-2793-F14B-B776-0F68767C8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85800"/>
            <a:ext cx="8534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884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F6274A4-1269-B51D-6398-D2BE09EB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Non-Deterministic Algorithms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27A1B-71B8-44A1-1000-49933771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362200"/>
            <a:ext cx="8650434" cy="167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821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86101-4A32-757E-0654-DFB5F654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66" y="838200"/>
            <a:ext cx="8432068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5918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786101-4A32-757E-0654-DFB5F654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966" y="838200"/>
            <a:ext cx="8432068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795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402811-C455-CAB7-EBBE-5D0CB2B49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642469"/>
            <a:ext cx="8610600" cy="552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0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68361-5F0E-3E4F-2AEB-E59F0C856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85800"/>
            <a:ext cx="8108091" cy="22574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DD6E20-EAD3-7F73-DF9A-172DA44D6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57" y="3124200"/>
            <a:ext cx="8105734" cy="319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975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3E5EE1-53D4-FBD9-EBF2-C29E52090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" y="776287"/>
            <a:ext cx="88106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60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8BADCA-71FC-93B7-C3DD-750753F1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704850"/>
            <a:ext cx="88487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22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03CFC2-2522-3EF8-B5D4-8763B6DDA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2677"/>
            <a:ext cx="9144000" cy="217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17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762056-D6D5-4166-7A1F-6F7A2252AB55}"/>
              </a:ext>
            </a:extLst>
          </p:cNvPr>
          <p:cNvSpPr txBox="1"/>
          <p:nvPr/>
        </p:nvSpPr>
        <p:spPr>
          <a:xfrm>
            <a:off x="285750" y="381000"/>
            <a:ext cx="85725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What are </a:t>
            </a:r>
            <a:r>
              <a:rPr lang="en-US" sz="3200" b="1" i="0" dirty="0">
                <a:solidFill>
                  <a:srgbClr val="0000FF"/>
                </a:solidFill>
                <a:effectLst/>
                <a:latin typeface="Nunito" pitchFamily="2" charset="0"/>
              </a:rPr>
              <a:t>NP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, </a:t>
            </a:r>
            <a:r>
              <a:rPr lang="en-US" sz="3200" b="1" i="0" dirty="0">
                <a:solidFill>
                  <a:srgbClr val="008000"/>
                </a:solidFill>
                <a:effectLst/>
                <a:latin typeface="Nunito" pitchFamily="2" charset="0"/>
              </a:rPr>
              <a:t>P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, </a:t>
            </a:r>
            <a:r>
              <a:rPr lang="en-US" sz="3200" b="1" i="0" dirty="0">
                <a:solidFill>
                  <a:srgbClr val="FF6600"/>
                </a:solidFill>
                <a:effectLst/>
                <a:latin typeface="Nunito" pitchFamily="2" charset="0"/>
              </a:rPr>
              <a:t>NP-complete, 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and 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Nunito" pitchFamily="2" charset="0"/>
              </a:rPr>
              <a:t>NP-Hard</a:t>
            </a:r>
            <a:r>
              <a:rPr lang="en-US" sz="3200" b="1" i="0" dirty="0">
                <a:solidFill>
                  <a:srgbClr val="273239"/>
                </a:solidFill>
                <a:effectLst/>
                <a:latin typeface="Nunito" pitchFamily="2" charset="0"/>
              </a:rPr>
              <a:t> problems?</a:t>
            </a:r>
          </a:p>
          <a:p>
            <a:pPr algn="l" fontAlgn="base"/>
            <a:endParaRPr lang="en-US" sz="3200" b="1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285750" indent="-285750" algn="l" fontAlgn="base"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008000"/>
                </a:solidFill>
                <a:effectLst/>
                <a:latin typeface="Nunito" pitchFamily="2" charset="0"/>
              </a:rPr>
              <a:t>P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set of problems that can be solved by a deterministic Turing machine in Polynomial-time. </a:t>
            </a:r>
          </a:p>
          <a:p>
            <a:pPr algn="l" fontAlgn="base"/>
            <a:endParaRPr lang="en-US" sz="22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0000FF"/>
                </a:solidFill>
                <a:effectLst/>
                <a:latin typeface="Nunito" pitchFamily="2" charset="0"/>
              </a:rPr>
              <a:t>NP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is a set of decision problems that can be solved by a </a:t>
            </a:r>
            <a:r>
              <a:rPr lang="en-US" sz="2200" b="1" i="0" dirty="0">
                <a:solidFill>
                  <a:srgbClr val="273239"/>
                </a:solidFill>
                <a:effectLst/>
                <a:latin typeface="Nunito" pitchFamily="2" charset="0"/>
              </a:rPr>
              <a:t>N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on-deterministic Turing Machine in Polynomial-time. </a:t>
            </a:r>
          </a:p>
          <a:p>
            <a:pPr marL="342900" indent="-342900" algn="l" fontAlgn="base">
              <a:buFont typeface="Wingdings" panose="05000000000000000000" pitchFamily="2" charset="2"/>
              <a:buChar char="§"/>
            </a:pPr>
            <a:endParaRPr lang="en-US" sz="2200" dirty="0">
              <a:solidFill>
                <a:srgbClr val="273239"/>
              </a:solidFill>
              <a:latin typeface="Nunito" pitchFamily="2" charset="0"/>
            </a:endParaRPr>
          </a:p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P is a subset of NP (any problem that can be solved by a deterministic machine in polynomial time can also be solved by a non-deterministic machine in polynomial time). </a:t>
            </a:r>
            <a:b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US" sz="22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marL="342900" indent="-342900" algn="just" fontAlgn="base">
              <a:buFont typeface="Wingdings" panose="05000000000000000000" pitchFamily="2" charset="2"/>
              <a:buChar char="§"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Informally, NP is a set of decision problems that can be solved by a polynomial-time via a “Lucky Algorithm”, a magical algorithm that always makes a right guess among the given set of choices</a:t>
            </a:r>
          </a:p>
        </p:txBody>
      </p:sp>
    </p:spTree>
    <p:extLst>
      <p:ext uri="{BB962C8B-B14F-4D97-AF65-F5344CB8AC3E}">
        <p14:creationId xmlns:p14="http://schemas.microsoft.com/office/powerpoint/2010/main" val="2711944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9D201-66C1-E71B-3AB8-7136F3D61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6" y="685800"/>
            <a:ext cx="8205788" cy="574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92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AE4A47-A97E-9AD5-730C-8123686CF734}"/>
              </a:ext>
            </a:extLst>
          </p:cNvPr>
          <p:cNvSpPr txBox="1"/>
          <p:nvPr/>
        </p:nvSpPr>
        <p:spPr>
          <a:xfrm>
            <a:off x="228600" y="1066800"/>
            <a:ext cx="85344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A problem X is NP-Complete if there is an NP problem Y, such that Y is reducible to X in polynomial time. NP-Complete problems are as hard as NP problems. A problem is NP-Complete if it is a part of both NP and NP-Hard Problem.</a:t>
            </a:r>
            <a:endParaRPr lang="en-US" sz="2200" dirty="0">
              <a:solidFill>
                <a:srgbClr val="273239"/>
              </a:solidFill>
              <a:latin typeface="Nunito" pitchFamily="2" charset="0"/>
            </a:endParaRPr>
          </a:p>
          <a:p>
            <a:pPr algn="just" fontAlgn="base"/>
            <a:endParaRPr lang="en-US" sz="2200" b="0" i="0" dirty="0">
              <a:solidFill>
                <a:srgbClr val="FF6600"/>
              </a:solidFill>
              <a:effectLst/>
              <a:latin typeface="Nunito" pitchFamily="2" charset="0"/>
            </a:endParaRP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FF6600"/>
                </a:solidFill>
                <a:effectLst/>
                <a:latin typeface="Nunito" pitchFamily="2" charset="0"/>
              </a:rPr>
              <a:t>NP-complete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problems are the hardest problems in the </a:t>
            </a:r>
            <a:r>
              <a:rPr lang="en-US" sz="2200" b="0" i="0" dirty="0">
                <a:solidFill>
                  <a:srgbClr val="0000FF"/>
                </a:solidFill>
                <a:effectLst/>
                <a:latin typeface="Nunito" pitchFamily="2" charset="0"/>
              </a:rPr>
              <a:t>NP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set.  A decision problem L is NP-complete if: </a:t>
            </a:r>
          </a:p>
          <a:p>
            <a:pPr fontAlgn="base"/>
            <a:r>
              <a:rPr lang="en-US" sz="2200" b="1" i="0" dirty="0">
                <a:solidFill>
                  <a:srgbClr val="273239"/>
                </a:solidFill>
                <a:effectLst/>
                <a:latin typeface="Nunito" pitchFamily="2" charset="0"/>
              </a:rPr>
              <a:t>1)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L is in NP (Any given solution for NP-complete problems can be verified quickly, but there is no efficient known solution).</a:t>
            </a:r>
            <a:endParaRPr lang="en-US" sz="2200" dirty="0">
              <a:solidFill>
                <a:srgbClr val="273239"/>
              </a:solidFill>
              <a:latin typeface="Nunito" pitchFamily="2" charset="0"/>
            </a:endParaRPr>
          </a:p>
          <a:p>
            <a:pPr algn="just" fontAlgn="base"/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		</a:t>
            </a:r>
            <a:br>
              <a:rPr lang="en-US" sz="2200" dirty="0"/>
            </a:br>
            <a:r>
              <a:rPr lang="en-US" sz="2200" b="1" i="0" dirty="0">
                <a:solidFill>
                  <a:srgbClr val="273239"/>
                </a:solidFill>
                <a:effectLst/>
                <a:latin typeface="Nunito" pitchFamily="2" charset="0"/>
              </a:rPr>
              <a:t>2) 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Every problem in NP is reducible to L in polynomial time (Reduction is defined below).</a:t>
            </a:r>
          </a:p>
          <a:p>
            <a:pPr algn="just" fontAlgn="base"/>
            <a:endParaRPr lang="en-US" sz="22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 fontAlgn="base"/>
            <a:r>
              <a:rPr lang="en-US" sz="2200" b="1" i="0" dirty="0">
                <a:solidFill>
                  <a:srgbClr val="273239"/>
                </a:solidFill>
                <a:effectLst/>
                <a:latin typeface="Nunito" pitchFamily="2" charset="0"/>
              </a:rPr>
              <a:t>Example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: </a:t>
            </a:r>
          </a:p>
          <a:p>
            <a:pPr algn="just" fontAlgn="base">
              <a:buFont typeface="+mj-lt"/>
              <a:buAutoNum type="arabicPeriod"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 Decision problems. </a:t>
            </a:r>
          </a:p>
          <a:p>
            <a:pPr algn="just" fontAlgn="base">
              <a:buFont typeface="+mj-lt"/>
              <a:buAutoNum type="arabicPeriod"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 Regular graphs. 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9579EE7-9A0C-F92C-D2C5-B5E3386D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53"/>
            <a:ext cx="8229600" cy="1143000"/>
          </a:xfrm>
        </p:spPr>
        <p:txBody>
          <a:bodyPr/>
          <a:lstStyle/>
          <a:p>
            <a:r>
              <a:rPr lang="en-US" dirty="0"/>
              <a:t>NP-Complete Problems</a:t>
            </a:r>
          </a:p>
        </p:txBody>
      </p:sp>
    </p:spTree>
    <p:extLst>
      <p:ext uri="{BB962C8B-B14F-4D97-AF65-F5344CB8AC3E}">
        <p14:creationId xmlns:p14="http://schemas.microsoft.com/office/powerpoint/2010/main" val="889342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3EDE-C885-0423-2C32-65855DA8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53"/>
            <a:ext cx="8229600" cy="1143000"/>
          </a:xfrm>
        </p:spPr>
        <p:txBody>
          <a:bodyPr/>
          <a:lstStyle/>
          <a:p>
            <a:r>
              <a:rPr lang="en-US" dirty="0"/>
              <a:t>NP-Hard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11680-C3D8-DD05-260D-18BB8940547C}"/>
              </a:ext>
            </a:extLst>
          </p:cNvPr>
          <p:cNvSpPr txBox="1"/>
          <p:nvPr/>
        </p:nvSpPr>
        <p:spPr>
          <a:xfrm>
            <a:off x="304800" y="1524000"/>
            <a:ext cx="85344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A problem is </a:t>
            </a:r>
            <a:r>
              <a:rPr lang="en-US" sz="2200" b="0" i="0" dirty="0">
                <a:solidFill>
                  <a:srgbClr val="FF0000"/>
                </a:solidFill>
                <a:effectLst/>
                <a:latin typeface="Nunito" pitchFamily="2" charset="0"/>
              </a:rPr>
              <a:t>NP-Hard</a:t>
            </a:r>
            <a:r>
              <a:rPr lang="en-US" sz="22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if it follows property 2 mentioned previously and doesn’t need to follow property 1. Therefore, the NP-Complete set is also a subset of the NP-Hard set. </a:t>
            </a:r>
          </a:p>
          <a:p>
            <a:pPr algn="just"/>
            <a:endParaRPr lang="en-US" sz="2200" dirty="0">
              <a:solidFill>
                <a:srgbClr val="273239"/>
              </a:solidFill>
              <a:latin typeface="Nunito" pitchFamily="2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A Problem X is NP-Hard if there is an NP-Complete problem Y, such that Y is reducible to X in polynomial time. NP-Hard problems are as hard as NP-Complete problems.</a:t>
            </a:r>
            <a:endParaRPr lang="en-US" sz="22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just"/>
            <a:endParaRPr lang="en-US" sz="2200" dirty="0">
              <a:solidFill>
                <a:srgbClr val="273239"/>
              </a:solidFill>
              <a:latin typeface="Nunito" pitchFamily="2" charset="0"/>
            </a:endParaRPr>
          </a:p>
          <a:p>
            <a:pPr algn="l" fontAlgn="base"/>
            <a:r>
              <a:rPr lang="en-US" sz="2400" b="1" dirty="0">
                <a:solidFill>
                  <a:srgbClr val="273239"/>
                </a:solidFill>
                <a:latin typeface="Nunito" pitchFamily="2" charset="0"/>
              </a:rPr>
              <a:t>E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Nunito" pitchFamily="2" charset="0"/>
              </a:rPr>
              <a:t>xample : </a:t>
            </a:r>
            <a:endParaRPr lang="en-US" sz="2400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 Hamiltonian cycle . 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 Optimization problem 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Nunito" pitchFamily="2" charset="0"/>
              </a:rPr>
              <a:t> Shortest path</a:t>
            </a:r>
          </a:p>
          <a:p>
            <a:pPr algn="just"/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617661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3EDE-C885-0423-2C32-65855DA8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139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P, NP, NP-Complete and NP-Hard</a:t>
            </a:r>
          </a:p>
        </p:txBody>
      </p:sp>
      <p:pic>
        <p:nvPicPr>
          <p:cNvPr id="1026" name="Picture 2" descr="NP, P, NP-complete and NP-Hard problems">
            <a:extLst>
              <a:ext uri="{FF2B5EF4-FFF2-40B4-BE49-F238E27FC236}">
                <a16:creationId xmlns:a16="http://schemas.microsoft.com/office/drawing/2014/main" id="{B7B9B9D8-98FF-AC83-B49C-BAF0C95F7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219200"/>
            <a:ext cx="8763000" cy="5546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7812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53EDE-C885-0423-2C32-65855DA8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27483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NP-Hard Problem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23CB05-110B-8CBF-DA60-A4ADD72BB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30517"/>
            <a:ext cx="8229600" cy="59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67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518FF9-FDD4-9279-D762-E9B7C7877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590550"/>
            <a:ext cx="8601075" cy="567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807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80F89-E973-6287-943A-E247BBAE0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622811"/>
            <a:ext cx="7577138" cy="56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43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484A8F1-EE8C-34E3-D997-3F8D38FE6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485712"/>
            <a:ext cx="8096250" cy="5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50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5A9D66-E37A-3C42-AC74-75739DA84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43" y="967685"/>
            <a:ext cx="7681913" cy="492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358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343</Words>
  <Application>Microsoft Office PowerPoint</Application>
  <PresentationFormat>On-screen Show (4:3)</PresentationFormat>
  <Paragraphs>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Nunito</vt:lpstr>
      <vt:lpstr>Wingdings</vt:lpstr>
      <vt:lpstr>Office Theme</vt:lpstr>
      <vt:lpstr>Intractable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Non-Deterministic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NP-Complete Problems</vt:lpstr>
      <vt:lpstr>NP-Hard Problems</vt:lpstr>
      <vt:lpstr>P, NP, NP-Complete and NP-Hard</vt:lpstr>
      <vt:lpstr>NP-Hard Problem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GIRISH</dc:creator>
  <cp:lastModifiedBy>Ajay Rastogy</cp:lastModifiedBy>
  <cp:revision>249</cp:revision>
  <dcterms:created xsi:type="dcterms:W3CDTF">2019-04-09T20:23:04Z</dcterms:created>
  <dcterms:modified xsi:type="dcterms:W3CDTF">2023-04-23T17:01:46Z</dcterms:modified>
</cp:coreProperties>
</file>