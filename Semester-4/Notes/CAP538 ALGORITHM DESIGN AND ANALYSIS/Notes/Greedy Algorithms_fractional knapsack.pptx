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6"/>
  </p:notesMasterIdLst>
  <p:sldIdLst>
    <p:sldId id="263" r:id="rId2"/>
    <p:sldId id="265" r:id="rId3"/>
    <p:sldId id="267" r:id="rId4"/>
    <p:sldId id="266" r:id="rId5"/>
    <p:sldId id="257" r:id="rId6"/>
    <p:sldId id="270" r:id="rId7"/>
    <p:sldId id="271" r:id="rId8"/>
    <p:sldId id="272" r:id="rId9"/>
    <p:sldId id="268" r:id="rId10"/>
    <p:sldId id="260" r:id="rId11"/>
    <p:sldId id="258" r:id="rId12"/>
    <p:sldId id="259" r:id="rId13"/>
    <p:sldId id="261" r:id="rId14"/>
    <p:sldId id="262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CEB165-3ADD-44C7-9F93-F8EA640EA381}" type="datetimeFigureOut">
              <a:rPr lang="en-IN" smtClean="0"/>
              <a:t>20-02-2023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C97E08-6FD7-4B5A-A73D-F8E9B7E573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4361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171A9CB-13D7-43DA-8DE2-8064531834C4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3141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B9E458BD-1D36-47F3-96D6-D72CE2057D06}" type="slidenum">
              <a:rPr lang="zh-TW" altLang="en-US">
                <a:latin typeface="Tahoma" panose="020B0604030504040204" pitchFamily="34" charset="0"/>
              </a:rPr>
              <a:pPr eaLnBrk="1" hangingPunct="1">
                <a:spcBef>
                  <a:spcPct val="0"/>
                </a:spcBef>
              </a:pPr>
              <a:t>10</a:t>
            </a:fld>
            <a:endParaRPr lang="zh-TW" altLang="en-US">
              <a:latin typeface="Tahoma" panose="020B0604030504040204" pitchFamily="34" charset="0"/>
            </a:endParaRPr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10924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2/20/2023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2/20/2023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2/20/2023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2/20/2023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2.w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2629301" y="746760"/>
            <a:ext cx="7793038" cy="9144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greedy method 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2629301" y="1661160"/>
            <a:ext cx="7772400" cy="4114800"/>
          </a:xfrm>
          <a:prstGeom prst="rect">
            <a:avLst/>
          </a:prstGeom>
        </p:spPr>
        <p:txBody>
          <a:bodyPr/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that a problem can be solved by a sequence of decisions.  The greedy method has that </a:t>
            </a:r>
            <a:r>
              <a:rPr lang="en-US" altLang="zh-TW" sz="2800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lang="en-US" altLang="zh-TW" sz="2800" u="sng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is locally optimal.  These locally optimal solutions will finally add up to a globally optimal solution.</a:t>
            </a:r>
          </a:p>
          <a:p>
            <a:pPr algn="just"/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a few optimization problems can be solved by the greedy method. </a:t>
            </a:r>
          </a:p>
        </p:txBody>
      </p:sp>
    </p:spTree>
    <p:extLst>
      <p:ext uri="{BB962C8B-B14F-4D97-AF65-F5344CB8AC3E}">
        <p14:creationId xmlns:p14="http://schemas.microsoft.com/office/powerpoint/2010/main" val="2744725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295402" y="982132"/>
            <a:ext cx="9601196" cy="471283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3200" b="1" dirty="0"/>
              <a:t>What makes a greedy algorithm?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1295402" y="1555904"/>
            <a:ext cx="9601196" cy="3318936"/>
          </a:xfrm>
        </p:spPr>
        <p:txBody>
          <a:bodyPr>
            <a:no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Feasible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to satisfy the problem’s constraints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Locally Optimal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greedy part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to make the best local choice among all feasible choices available on that step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this local choice results in a global optimum then the problem has optimal substructure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Irrevocable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a choice is made it can’t be un-done on subsequent steps of the algorithm</a:t>
            </a:r>
          </a:p>
          <a:p>
            <a:pPr eaLnBrk="1" hangingPunct="1">
              <a:lnSpc>
                <a:spcPct val="80000"/>
              </a:lnSpc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examples: 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Playing chess by making best move without </a:t>
            </a:r>
            <a:r>
              <a:rPr lang="en-US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lookahead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Giving fewest number of coins as change</a:t>
            </a:r>
          </a:p>
          <a:p>
            <a:pPr eaLnBrk="1" hangingPunct="1">
              <a:lnSpc>
                <a:spcPct val="80000"/>
              </a:lnSpc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and appealing, but don’t always give the best solution</a:t>
            </a:r>
          </a:p>
        </p:txBody>
      </p:sp>
    </p:spTree>
    <p:extLst>
      <p:ext uri="{BB962C8B-B14F-4D97-AF65-F5344CB8AC3E}">
        <p14:creationId xmlns:p14="http://schemas.microsoft.com/office/powerpoint/2010/main" val="3179650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18&#10;PSEOUDOCODE&#10; Begin&#10; Greedy(input I)&#10; while (solution is not complete) do&#10; Select the best element x in the&#10; remain..."/>
          <p:cNvPicPr>
            <a:picLocks noChangeAspect="1" noChangeArrowheads="1"/>
          </p:cNvPicPr>
          <p:nvPr/>
        </p:nvPicPr>
        <p:blipFill rotWithShape="1"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4" r="11062"/>
          <a:stretch/>
        </p:blipFill>
        <p:spPr bwMode="auto">
          <a:xfrm>
            <a:off x="3325374" y="1661160"/>
            <a:ext cx="5218545" cy="4562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617CCB9F-7215-5F43-3C20-399312684646}"/>
              </a:ext>
            </a:extLst>
          </p:cNvPr>
          <p:cNvSpPr txBox="1">
            <a:spLocks noChangeArrowheads="1"/>
          </p:cNvSpPr>
          <p:nvPr/>
        </p:nvSpPr>
        <p:spPr>
          <a:xfrm>
            <a:off x="2629301" y="746760"/>
            <a:ext cx="7793038" cy="9144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greedy method working 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7383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Applications of the Greedy Strategy&#10;• Optimal solutions:&#10;change making for “normal” coin denominations&#10;minimum spanning ...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9684" y="1212994"/>
            <a:ext cx="6076950" cy="4562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5468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40027" y="772800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KNAPSACK PROBLEM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B73735-EE88-5A52-696E-2BBEFD707732}"/>
              </a:ext>
            </a:extLst>
          </p:cNvPr>
          <p:cNvSpPr txBox="1"/>
          <p:nvPr/>
        </p:nvSpPr>
        <p:spPr>
          <a:xfrm>
            <a:off x="1471514" y="1998411"/>
            <a:ext cx="887574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3200" b="0" i="0" u="none" strike="noStrike" baseline="0" dirty="0">
                <a:latin typeface="Arial" panose="020B0604020202020204" pitchFamily="34" charset="0"/>
              </a:rPr>
              <a:t>We review the knapsack problem and see a greedy algorithm for the fractional knapsack.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3200" dirty="0">
              <a:latin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3200" b="0" i="0" u="none" strike="noStrike" baseline="0" dirty="0">
                <a:latin typeface="Arial" panose="020B0604020202020204" pitchFamily="34" charset="0"/>
              </a:rPr>
              <a:t>We also see that greedy doesn’t work for the 0-1 knapsack (which must be solved using DP).</a:t>
            </a:r>
          </a:p>
          <a:p>
            <a:pPr algn="just"/>
            <a:endParaRPr lang="en-US" sz="32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89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07407" y="812129"/>
            <a:ext cx="6096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KNAPSACK</a:t>
            </a:r>
          </a:p>
          <a:p>
            <a:pPr algn="just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PROBLEM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4DC3C8-7491-4934-F010-585D403917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6427" y="812128"/>
            <a:ext cx="6995230" cy="5261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856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07407" y="812129"/>
            <a:ext cx="881669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FRACTIONAL KNAPSACK PROBLEM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DC7633-4E58-C67A-43D9-6AB4170AA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9226" y="1684074"/>
            <a:ext cx="7346079" cy="4140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10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07407" y="812129"/>
            <a:ext cx="881669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0/1 DISCRETE KNAPSACK PROBLEM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6B5D35-398C-94DE-04E6-9D08D4F243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3176" y="1522389"/>
            <a:ext cx="7490927" cy="4271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9055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94182" y="1332637"/>
            <a:ext cx="6096000" cy="3785652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KNAPSACK PROBLEM GENERAL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us apply the greedy method to solve the knapsack problem. We are given ‘n’ objects and a knapsack. The object ‘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 has a weight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the knapsack has a capacity ‘m’. If a fraction xi, 0 &lt; xi &lt; 1 of object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placed into the knapsack then a profit of pi xi is earned. The objective is to fill the knapsack that maximizes the total profit earned.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7614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sz="1400">
                <a:solidFill>
                  <a:schemeClr val="accent1"/>
                </a:solidFill>
              </a:rPr>
              <a:t>3 -</a:t>
            </a:r>
            <a:fld id="{665EDE00-71B8-49DF-B63E-58E2E1B57C5D}" type="slidenum">
              <a:rPr kumimoji="0" lang="zh-TW" altLang="en-US" sz="1400">
                <a:solidFill>
                  <a:schemeClr val="accent1"/>
                </a:solidFill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kumimoji="0" lang="zh-TW" altLang="en-US" sz="1400">
              <a:solidFill>
                <a:schemeClr val="accent1"/>
              </a:solidFill>
            </a:endParaRPr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 eaLnBrk="1" hangingPunct="1"/>
            <a:r>
              <a:rPr lang="en-US" altLang="zh-TW" b="1" dirty="0"/>
              <a:t>The knapsack problem</a:t>
            </a:r>
            <a:br>
              <a:rPr lang="en-US" altLang="zh-TW" b="1" dirty="0"/>
            </a:br>
            <a:r>
              <a:rPr lang="en-US" altLang="zh-TW" sz="2000" b="1" dirty="0"/>
              <a:t>problem statement </a:t>
            </a:r>
            <a:br>
              <a:rPr lang="en-US" altLang="zh-TW" b="1" dirty="0"/>
            </a:br>
            <a:endParaRPr lang="en-US" altLang="zh-TW" b="1" dirty="0"/>
          </a:p>
        </p:txBody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76390" y="1978786"/>
            <a:ext cx="9601196" cy="3318936"/>
          </a:xfrm>
        </p:spPr>
        <p:txBody>
          <a:bodyPr>
            <a:normAutofit fontScale="92500" lnSpcReduction="20000"/>
          </a:bodyPr>
          <a:lstStyle/>
          <a:p>
            <a:pPr eaLnBrk="1" hangingPunct="1"/>
            <a:r>
              <a:rPr lang="en-US" altLang="zh-TW" dirty="0"/>
              <a:t>n objects, each with a weight </a:t>
            </a:r>
            <a:r>
              <a:rPr lang="en-US" altLang="zh-TW" dirty="0" err="1"/>
              <a:t>w</a:t>
            </a:r>
            <a:r>
              <a:rPr lang="en-US" altLang="zh-TW" baseline="-30000" dirty="0" err="1"/>
              <a:t>i</a:t>
            </a:r>
            <a:r>
              <a:rPr lang="en-US" altLang="zh-TW" dirty="0"/>
              <a:t> &gt; 0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dirty="0"/>
              <a:t>					   a profit p</a:t>
            </a:r>
            <a:r>
              <a:rPr lang="en-US" altLang="zh-TW" baseline="-30000" dirty="0"/>
              <a:t>i</a:t>
            </a:r>
            <a:r>
              <a:rPr lang="en-US" altLang="zh-TW" dirty="0"/>
              <a:t> &gt; 0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dirty="0"/>
              <a:t>				capacity of knapsack: M 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TW" dirty="0"/>
              <a:t>Maximize 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US" altLang="zh-TW" dirty="0"/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TW" dirty="0"/>
              <a:t>Subject to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dirty="0"/>
              <a:t>	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dirty="0"/>
              <a:t>0 </a:t>
            </a:r>
            <a:r>
              <a:rPr lang="en-US" altLang="zh-TW" dirty="0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TW" dirty="0"/>
              <a:t> x</a:t>
            </a:r>
            <a:r>
              <a:rPr lang="en-US" altLang="zh-TW" baseline="-30000" dirty="0"/>
              <a:t>i</a:t>
            </a:r>
            <a:r>
              <a:rPr lang="en-US" altLang="zh-TW" dirty="0"/>
              <a:t> </a:t>
            </a:r>
            <a:r>
              <a:rPr lang="en-US" altLang="zh-TW" dirty="0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TW" dirty="0"/>
              <a:t> 1, 1 </a:t>
            </a:r>
            <a:r>
              <a:rPr lang="en-US" altLang="zh-TW" dirty="0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TW" dirty="0"/>
              <a:t> </a:t>
            </a:r>
            <a:r>
              <a:rPr lang="en-US" altLang="zh-TW" dirty="0" err="1"/>
              <a:t>i</a:t>
            </a:r>
            <a:r>
              <a:rPr lang="en-US" altLang="zh-TW" dirty="0"/>
              <a:t> </a:t>
            </a:r>
            <a:r>
              <a:rPr lang="en-US" altLang="zh-TW" dirty="0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TW" dirty="0"/>
              <a:t> n   </a:t>
            </a:r>
          </a:p>
        </p:txBody>
      </p:sp>
      <p:sp>
        <p:nvSpPr>
          <p:cNvPr id="41989" name="Rectangle 5"/>
          <p:cNvSpPr>
            <a:spLocks noChangeArrowheads="1"/>
          </p:cNvSpPr>
          <p:nvPr/>
        </p:nvSpPr>
        <p:spPr bwMode="auto">
          <a:xfrm>
            <a:off x="5672138" y="3176589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graphicFrame>
        <p:nvGraphicFramePr>
          <p:cNvPr id="4199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6701348"/>
              </p:ext>
            </p:extLst>
          </p:nvPr>
        </p:nvGraphicFramePr>
        <p:xfrm>
          <a:off x="2976564" y="3475255"/>
          <a:ext cx="1295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850900" imgH="508000" progId="Equation.3">
                  <p:embed/>
                </p:oleObj>
              </mc:Choice>
              <mc:Fallback>
                <p:oleObj r:id="rId3" imgW="850900" imgH="508000" progId="Equation.3">
                  <p:embed/>
                  <p:pic>
                    <p:nvPicPr>
                      <p:cNvPr id="4199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6564" y="3475255"/>
                        <a:ext cx="1295400" cy="77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1" name="Rectangle 7"/>
          <p:cNvSpPr>
            <a:spLocks noChangeArrowheads="1"/>
          </p:cNvSpPr>
          <p:nvPr/>
        </p:nvSpPr>
        <p:spPr bwMode="auto">
          <a:xfrm>
            <a:off x="5391150" y="3181351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graphicFrame>
        <p:nvGraphicFramePr>
          <p:cNvPr id="4199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8083854"/>
              </p:ext>
            </p:extLst>
          </p:nvPr>
        </p:nvGraphicFramePr>
        <p:xfrm>
          <a:off x="2976564" y="4260950"/>
          <a:ext cx="1828800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409088" imgH="495085" progId="Equation.3">
                  <p:embed/>
                </p:oleObj>
              </mc:Choice>
              <mc:Fallback>
                <p:oleObj r:id="rId5" imgW="1409088" imgH="495085" progId="Equation.3">
                  <p:embed/>
                  <p:pic>
                    <p:nvPicPr>
                      <p:cNvPr id="4199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6564" y="4260950"/>
                        <a:ext cx="1828800" cy="642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534807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125003" y="740675"/>
            <a:ext cx="6096000" cy="535531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Algorithm</a:t>
            </a:r>
            <a:r>
              <a:rPr lang="en-US" dirty="0"/>
              <a:t> </a:t>
            </a:r>
          </a:p>
          <a:p>
            <a:r>
              <a:rPr lang="en-US" dirty="0"/>
              <a:t>If the objects are already been sorted into non-increasing order of p[</a:t>
            </a:r>
            <a:r>
              <a:rPr lang="en-US" dirty="0" err="1"/>
              <a:t>i</a:t>
            </a:r>
            <a:r>
              <a:rPr lang="en-US" dirty="0"/>
              <a:t>] / w[</a:t>
            </a:r>
            <a:r>
              <a:rPr lang="en-US" dirty="0" err="1"/>
              <a:t>i</a:t>
            </a:r>
            <a:r>
              <a:rPr lang="en-US" dirty="0"/>
              <a:t>] then the algorithm given below obtains solutions corresponding to this strategy. </a:t>
            </a:r>
          </a:p>
          <a:p>
            <a:r>
              <a:rPr lang="en-US" dirty="0"/>
              <a:t>Algorithm </a:t>
            </a:r>
            <a:r>
              <a:rPr lang="en-US" dirty="0" err="1"/>
              <a:t>GreedyKnapsack</a:t>
            </a:r>
            <a:r>
              <a:rPr lang="en-US" dirty="0"/>
              <a:t> (m, n) </a:t>
            </a:r>
          </a:p>
          <a:p>
            <a:r>
              <a:rPr lang="en-US" dirty="0"/>
              <a:t>// P[1 : n] and w[1 : n] contain the profits and weights respectively of </a:t>
            </a:r>
          </a:p>
          <a:p>
            <a:r>
              <a:rPr lang="en-US" dirty="0"/>
              <a:t>// Objects ordered so that p[</a:t>
            </a:r>
            <a:r>
              <a:rPr lang="en-US" dirty="0" err="1"/>
              <a:t>i</a:t>
            </a:r>
            <a:r>
              <a:rPr lang="en-US" dirty="0"/>
              <a:t>] / w[</a:t>
            </a:r>
            <a:r>
              <a:rPr lang="en-US" dirty="0" err="1"/>
              <a:t>i</a:t>
            </a:r>
            <a:r>
              <a:rPr lang="en-US" dirty="0"/>
              <a:t>]&gt; p[</a:t>
            </a:r>
            <a:r>
              <a:rPr lang="en-US" dirty="0" err="1"/>
              <a:t>i</a:t>
            </a:r>
            <a:r>
              <a:rPr lang="en-US" dirty="0"/>
              <a:t> + 1] / w[</a:t>
            </a:r>
            <a:r>
              <a:rPr lang="en-US" dirty="0" err="1"/>
              <a:t>i</a:t>
            </a:r>
            <a:r>
              <a:rPr lang="en-US" dirty="0"/>
              <a:t> + 1]. </a:t>
            </a:r>
          </a:p>
          <a:p>
            <a:r>
              <a:rPr lang="en-US" dirty="0"/>
              <a:t>// m is the knapsack size and x[1: n] is the solution vector. </a:t>
            </a:r>
          </a:p>
          <a:p>
            <a:r>
              <a:rPr lang="en-US" dirty="0"/>
              <a:t>{ </a:t>
            </a:r>
          </a:p>
          <a:p>
            <a:r>
              <a:rPr lang="en-US" dirty="0"/>
              <a:t>	for </a:t>
            </a:r>
            <a:r>
              <a:rPr lang="en-US" dirty="0" err="1"/>
              <a:t>i</a:t>
            </a:r>
            <a:r>
              <a:rPr lang="en-US" dirty="0"/>
              <a:t> := 1 to n do x[</a:t>
            </a:r>
            <a:r>
              <a:rPr lang="en-US" dirty="0" err="1"/>
              <a:t>i</a:t>
            </a:r>
            <a:r>
              <a:rPr lang="en-US" dirty="0"/>
              <a:t>] := 0.0 // initialize x </a:t>
            </a:r>
          </a:p>
          <a:p>
            <a:r>
              <a:rPr lang="en-US" dirty="0"/>
              <a:t>	U := m; </a:t>
            </a:r>
          </a:p>
          <a:p>
            <a:r>
              <a:rPr lang="en-US" dirty="0"/>
              <a:t>	for </a:t>
            </a:r>
            <a:r>
              <a:rPr lang="en-US" dirty="0" err="1"/>
              <a:t>i</a:t>
            </a:r>
            <a:r>
              <a:rPr lang="en-US" dirty="0"/>
              <a:t> := 1 to n do </a:t>
            </a:r>
          </a:p>
          <a:p>
            <a:r>
              <a:rPr lang="en-US" dirty="0"/>
              <a:t>	{ </a:t>
            </a:r>
          </a:p>
          <a:p>
            <a:r>
              <a:rPr lang="en-US" dirty="0"/>
              <a:t>		if (w(</a:t>
            </a:r>
            <a:r>
              <a:rPr lang="en-US" dirty="0" err="1"/>
              <a:t>i</a:t>
            </a:r>
            <a:r>
              <a:rPr lang="en-US" dirty="0"/>
              <a:t>) &gt; U) then break;</a:t>
            </a:r>
          </a:p>
          <a:p>
            <a:r>
              <a:rPr lang="en-US" dirty="0"/>
              <a:t> 		x [</a:t>
            </a:r>
            <a:r>
              <a:rPr lang="en-US" dirty="0" err="1"/>
              <a:t>i</a:t>
            </a:r>
            <a:r>
              <a:rPr lang="en-US" dirty="0"/>
              <a:t>] := 1.0; U := U – w[</a:t>
            </a:r>
            <a:r>
              <a:rPr lang="en-US" dirty="0" err="1"/>
              <a:t>i</a:t>
            </a:r>
            <a:r>
              <a:rPr lang="en-US" dirty="0"/>
              <a:t>]; </a:t>
            </a:r>
          </a:p>
          <a:p>
            <a:r>
              <a:rPr lang="en-US" dirty="0"/>
              <a:t>	} </a:t>
            </a:r>
          </a:p>
          <a:p>
            <a:r>
              <a:rPr lang="en-US" dirty="0"/>
              <a:t>	if (</a:t>
            </a:r>
            <a:r>
              <a:rPr lang="en-US" dirty="0" err="1"/>
              <a:t>i</a:t>
            </a:r>
            <a:r>
              <a:rPr lang="en-US" dirty="0"/>
              <a:t> &lt; n) then x[</a:t>
            </a:r>
            <a:r>
              <a:rPr lang="en-US" dirty="0" err="1"/>
              <a:t>i</a:t>
            </a:r>
            <a:r>
              <a:rPr lang="en-US" dirty="0"/>
              <a:t>] := U / w[</a:t>
            </a:r>
            <a:r>
              <a:rPr lang="en-US" dirty="0" err="1"/>
              <a:t>i</a:t>
            </a:r>
            <a:r>
              <a:rPr lang="en-US" dirty="0"/>
              <a:t>];</a:t>
            </a:r>
          </a:p>
          <a:p>
            <a:r>
              <a:rPr lang="en-US" dirty="0"/>
              <a:t> }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22987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24247" y="1128910"/>
            <a:ext cx="889135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Running time: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objects are to be sorted into non-decreasing order of pi /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ratio. But if we disregard the time to initially sort the objects, the algorithm requires only O(n) time.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624247" y="3561745"/>
            <a:ext cx="941386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Example: Consider the following instance of the knapsack problem: n = 3, m = 20, </a:t>
            </a:r>
          </a:p>
          <a:p>
            <a:r>
              <a:rPr lang="en-US" sz="3200" dirty="0"/>
              <a:t>(p1, p2, p3) = (25, 24, 15) and (w1, w2, w3) = (18, 15, 10).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9155052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 rotWithShape="1">
          <a:blip r:embed="rId2"/>
          <a:srcRect l="31243" t="21469" r="8598" b="37365"/>
          <a:stretch/>
        </p:blipFill>
        <p:spPr bwMode="auto">
          <a:xfrm>
            <a:off x="800099" y="842962"/>
            <a:ext cx="10277475" cy="517207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2720636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 rotWithShape="1">
          <a:blip r:embed="rId2"/>
          <a:srcRect l="31131" t="26985" r="15910" b="10577"/>
          <a:stretch/>
        </p:blipFill>
        <p:spPr bwMode="auto">
          <a:xfrm>
            <a:off x="811765" y="811763"/>
            <a:ext cx="10077060" cy="523447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27129803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81</TotalTime>
  <Words>623</Words>
  <Application>Microsoft Office PowerPoint</Application>
  <PresentationFormat>Widescreen</PresentationFormat>
  <Paragraphs>61</Paragraphs>
  <Slides>14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Calibri</vt:lpstr>
      <vt:lpstr>Garamond</vt:lpstr>
      <vt:lpstr>Tahoma</vt:lpstr>
      <vt:lpstr>Times New Roman</vt:lpstr>
      <vt:lpstr>Wingdings</vt:lpstr>
      <vt:lpstr>Organic</vt:lpstr>
      <vt:lpstr>Equation.3</vt:lpstr>
      <vt:lpstr>PowerPoint Presentation</vt:lpstr>
      <vt:lpstr>What makes a greedy algorithm?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knapsack problem problem statement  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 Kumar</dc:creator>
  <cp:lastModifiedBy>Ajay Rastogy</cp:lastModifiedBy>
  <cp:revision>8</cp:revision>
  <dcterms:created xsi:type="dcterms:W3CDTF">2021-05-27T19:18:37Z</dcterms:created>
  <dcterms:modified xsi:type="dcterms:W3CDTF">2023-02-20T06:50:53Z</dcterms:modified>
</cp:coreProperties>
</file>