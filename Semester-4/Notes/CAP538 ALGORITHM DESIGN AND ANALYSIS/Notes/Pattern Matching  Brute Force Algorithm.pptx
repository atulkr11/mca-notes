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468" r:id="rId2"/>
    <p:sldId id="469" r:id="rId3"/>
    <p:sldId id="470" r:id="rId4"/>
    <p:sldId id="471" r:id="rId5"/>
    <p:sldId id="472" r:id="rId6"/>
    <p:sldId id="473" r:id="rId7"/>
    <p:sldId id="474" r:id="rId8"/>
    <p:sldId id="478" r:id="rId9"/>
    <p:sldId id="479" r:id="rId10"/>
    <p:sldId id="475" r:id="rId11"/>
    <p:sldId id="476" r:id="rId12"/>
    <p:sldId id="477" r:id="rId13"/>
  </p:sldIdLst>
  <p:sldSz cx="9144000" cy="6858000" type="screen4x3"/>
  <p:notesSz cx="6858000" cy="9144000"/>
  <p:defaultTextStyle>
    <a:defPPr>
      <a:defRPr lang="en-US"/>
    </a:defPPr>
    <a:lvl1pPr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1pPr>
    <a:lvl2pPr marL="4572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2pPr>
    <a:lvl3pPr marL="9144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3pPr>
    <a:lvl4pPr marL="13716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18288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FF990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785" autoAdjust="0"/>
  </p:normalViewPr>
  <p:slideViewPr>
    <p:cSldViewPr>
      <p:cViewPr varScale="1">
        <p:scale>
          <a:sx n="74" d="100"/>
          <a:sy n="74" d="100"/>
        </p:scale>
        <p:origin x="164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9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F0C08-518E-4C25-A444-DF4EA3859C4B}" type="datetimeFigureOut">
              <a:rPr lang="en-IN" smtClean="0"/>
              <a:t>27-03-2023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F7498-9D51-4233-A941-BC24B48B9367}" type="slidenum">
              <a:rPr lang="en-IN" smtClean="0"/>
              <a:t>‹#›</a:t>
            </a:fld>
            <a:endParaRPr lang="en-IN"/>
          </a:p>
        </p:txBody>
      </p:sp>
    </p:spTree>
    <p:extLst>
      <p:ext uri="{BB962C8B-B14F-4D97-AF65-F5344CB8AC3E}">
        <p14:creationId xmlns:p14="http://schemas.microsoft.com/office/powerpoint/2010/main" val="227134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F790BDB-E038-6FF4-BAB4-94F3FD52BB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65412FF-EFEE-5A22-9A2C-ADC13EC1F6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2C481A-5F40-E712-5A85-A8B4011F4475}"/>
              </a:ext>
            </a:extLst>
          </p:cNvPr>
          <p:cNvSpPr>
            <a:spLocks noGrp="1" noChangeArrowheads="1"/>
          </p:cNvSpPr>
          <p:nvPr>
            <p:ph type="sldNum" sz="quarter" idx="12"/>
          </p:nvPr>
        </p:nvSpPr>
        <p:spPr>
          <a:ln/>
        </p:spPr>
        <p:txBody>
          <a:bodyPr/>
          <a:lstStyle>
            <a:lvl1pPr>
              <a:defRPr/>
            </a:lvl1pPr>
          </a:lstStyle>
          <a:p>
            <a:fld id="{D8DAE27C-668C-4E07-B8D3-974BE0F4B582}" type="slidenum">
              <a:rPr lang="en-US" altLang="en-US"/>
              <a:pPr/>
              <a:t>‹#›</a:t>
            </a:fld>
            <a:endParaRPr lang="en-US" altLang="en-US"/>
          </a:p>
        </p:txBody>
      </p:sp>
    </p:spTree>
    <p:extLst>
      <p:ext uri="{BB962C8B-B14F-4D97-AF65-F5344CB8AC3E}">
        <p14:creationId xmlns:p14="http://schemas.microsoft.com/office/powerpoint/2010/main" val="180535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8BFAD74-0F4C-6794-C541-FE1C275F04E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9C0452-8E8B-E8BA-EA2F-7AC5311056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A3C2F9E-A512-D68E-105C-70B5A0441B05}"/>
              </a:ext>
            </a:extLst>
          </p:cNvPr>
          <p:cNvSpPr>
            <a:spLocks noGrp="1" noChangeArrowheads="1"/>
          </p:cNvSpPr>
          <p:nvPr>
            <p:ph type="sldNum" sz="quarter" idx="12"/>
          </p:nvPr>
        </p:nvSpPr>
        <p:spPr>
          <a:ln/>
        </p:spPr>
        <p:txBody>
          <a:bodyPr/>
          <a:lstStyle>
            <a:lvl1pPr>
              <a:defRPr/>
            </a:lvl1pPr>
          </a:lstStyle>
          <a:p>
            <a:fld id="{616A0DA3-449F-4F25-B69E-1F8704D931E0}" type="slidenum">
              <a:rPr lang="en-US" altLang="en-US"/>
              <a:pPr/>
              <a:t>‹#›</a:t>
            </a:fld>
            <a:endParaRPr lang="en-US" altLang="en-US"/>
          </a:p>
        </p:txBody>
      </p:sp>
    </p:spTree>
    <p:extLst>
      <p:ext uri="{BB962C8B-B14F-4D97-AF65-F5344CB8AC3E}">
        <p14:creationId xmlns:p14="http://schemas.microsoft.com/office/powerpoint/2010/main" val="214347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201EBFD-98B3-1717-A0E0-C7726C3542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54E4066-7EA9-E978-E44A-85DC6D0BE8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6D18B5F-A8CA-D2CE-038E-E700747C12FF}"/>
              </a:ext>
            </a:extLst>
          </p:cNvPr>
          <p:cNvSpPr>
            <a:spLocks noGrp="1" noChangeArrowheads="1"/>
          </p:cNvSpPr>
          <p:nvPr>
            <p:ph type="sldNum" sz="quarter" idx="12"/>
          </p:nvPr>
        </p:nvSpPr>
        <p:spPr>
          <a:ln/>
        </p:spPr>
        <p:txBody>
          <a:bodyPr/>
          <a:lstStyle>
            <a:lvl1pPr>
              <a:defRPr/>
            </a:lvl1pPr>
          </a:lstStyle>
          <a:p>
            <a:fld id="{6CEB5816-AC8E-4192-9079-D1DE9A98542D}" type="slidenum">
              <a:rPr lang="en-US" altLang="en-US"/>
              <a:pPr/>
              <a:t>‹#›</a:t>
            </a:fld>
            <a:endParaRPr lang="en-US" altLang="en-US"/>
          </a:p>
        </p:txBody>
      </p:sp>
    </p:spTree>
    <p:extLst>
      <p:ext uri="{BB962C8B-B14F-4D97-AF65-F5344CB8AC3E}">
        <p14:creationId xmlns:p14="http://schemas.microsoft.com/office/powerpoint/2010/main" val="389485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BBD0AE-D163-E8DA-1D83-AB940D03360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896EC5A-58C0-D9EC-59F9-005554A3A0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31D4CB8-698B-2791-3446-26BE741C1764}"/>
              </a:ext>
            </a:extLst>
          </p:cNvPr>
          <p:cNvSpPr>
            <a:spLocks noGrp="1" noChangeArrowheads="1"/>
          </p:cNvSpPr>
          <p:nvPr>
            <p:ph type="sldNum" sz="quarter" idx="12"/>
          </p:nvPr>
        </p:nvSpPr>
        <p:spPr>
          <a:ln/>
        </p:spPr>
        <p:txBody>
          <a:bodyPr/>
          <a:lstStyle>
            <a:lvl1pPr>
              <a:defRPr/>
            </a:lvl1pPr>
          </a:lstStyle>
          <a:p>
            <a:fld id="{DADE5256-293F-434A-867D-646431923CA3}" type="slidenum">
              <a:rPr lang="en-US" altLang="en-US"/>
              <a:pPr/>
              <a:t>‹#›</a:t>
            </a:fld>
            <a:endParaRPr lang="en-US" altLang="en-US"/>
          </a:p>
        </p:txBody>
      </p:sp>
    </p:spTree>
    <p:extLst>
      <p:ext uri="{BB962C8B-B14F-4D97-AF65-F5344CB8AC3E}">
        <p14:creationId xmlns:p14="http://schemas.microsoft.com/office/powerpoint/2010/main" val="409482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0AB08EA-FB7E-F428-6617-46F6905B817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12EE4DA-14A2-9AA4-4A69-C309ABFB54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FE1E894-FA15-BE8F-1CC7-71B5ACEFCD63}"/>
              </a:ext>
            </a:extLst>
          </p:cNvPr>
          <p:cNvSpPr>
            <a:spLocks noGrp="1" noChangeArrowheads="1"/>
          </p:cNvSpPr>
          <p:nvPr>
            <p:ph type="sldNum" sz="quarter" idx="12"/>
          </p:nvPr>
        </p:nvSpPr>
        <p:spPr>
          <a:ln/>
        </p:spPr>
        <p:txBody>
          <a:bodyPr/>
          <a:lstStyle>
            <a:lvl1pPr>
              <a:defRPr/>
            </a:lvl1pPr>
          </a:lstStyle>
          <a:p>
            <a:fld id="{71B9A078-7270-4E8E-8EF2-6205B5F39081}" type="slidenum">
              <a:rPr lang="en-US" altLang="en-US"/>
              <a:pPr/>
              <a:t>‹#›</a:t>
            </a:fld>
            <a:endParaRPr lang="en-US" altLang="en-US"/>
          </a:p>
        </p:txBody>
      </p:sp>
    </p:spTree>
    <p:extLst>
      <p:ext uri="{BB962C8B-B14F-4D97-AF65-F5344CB8AC3E}">
        <p14:creationId xmlns:p14="http://schemas.microsoft.com/office/powerpoint/2010/main" val="76970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9A076C-FAFB-09DC-373C-F4CE53ED93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89E5C36-BF20-7B1B-B621-A48059E130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6978C68-1C8B-AE63-9454-00CF266D8305}"/>
              </a:ext>
            </a:extLst>
          </p:cNvPr>
          <p:cNvSpPr>
            <a:spLocks noGrp="1" noChangeArrowheads="1"/>
          </p:cNvSpPr>
          <p:nvPr>
            <p:ph type="sldNum" sz="quarter" idx="12"/>
          </p:nvPr>
        </p:nvSpPr>
        <p:spPr>
          <a:ln/>
        </p:spPr>
        <p:txBody>
          <a:bodyPr/>
          <a:lstStyle>
            <a:lvl1pPr>
              <a:defRPr/>
            </a:lvl1pPr>
          </a:lstStyle>
          <a:p>
            <a:fld id="{BA45B996-03A7-4680-8BE8-3228285C3D8B}" type="slidenum">
              <a:rPr lang="en-US" altLang="en-US"/>
              <a:pPr/>
              <a:t>‹#›</a:t>
            </a:fld>
            <a:endParaRPr lang="en-US" altLang="en-US"/>
          </a:p>
        </p:txBody>
      </p:sp>
    </p:spTree>
    <p:extLst>
      <p:ext uri="{BB962C8B-B14F-4D97-AF65-F5344CB8AC3E}">
        <p14:creationId xmlns:p14="http://schemas.microsoft.com/office/powerpoint/2010/main" val="124956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49D32D-3D07-969E-73A4-B6C3C73A06D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2E8C50-0322-8466-CCCC-E8777CA6F1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69D795-A043-FECC-EA97-9A945714C97E}"/>
              </a:ext>
            </a:extLst>
          </p:cNvPr>
          <p:cNvSpPr>
            <a:spLocks noGrp="1" noChangeArrowheads="1"/>
          </p:cNvSpPr>
          <p:nvPr>
            <p:ph type="sldNum" sz="quarter" idx="12"/>
          </p:nvPr>
        </p:nvSpPr>
        <p:spPr>
          <a:ln/>
        </p:spPr>
        <p:txBody>
          <a:bodyPr/>
          <a:lstStyle>
            <a:lvl1pPr>
              <a:defRPr/>
            </a:lvl1pPr>
          </a:lstStyle>
          <a:p>
            <a:fld id="{58D7F9D5-C84A-42DC-A142-A0725DDB4D4D}" type="slidenum">
              <a:rPr lang="en-US" altLang="en-US"/>
              <a:pPr/>
              <a:t>‹#›</a:t>
            </a:fld>
            <a:endParaRPr lang="en-US" altLang="en-US"/>
          </a:p>
        </p:txBody>
      </p:sp>
    </p:spTree>
    <p:extLst>
      <p:ext uri="{BB962C8B-B14F-4D97-AF65-F5344CB8AC3E}">
        <p14:creationId xmlns:p14="http://schemas.microsoft.com/office/powerpoint/2010/main" val="339335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67E9FA6-4379-E454-82BE-3DDB45FB336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B267068-84DF-5A80-939C-4046AB1FC6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919009D-28B1-8E2F-80DB-D7738BEE6914}"/>
              </a:ext>
            </a:extLst>
          </p:cNvPr>
          <p:cNvSpPr>
            <a:spLocks noGrp="1" noChangeArrowheads="1"/>
          </p:cNvSpPr>
          <p:nvPr>
            <p:ph type="sldNum" sz="quarter" idx="12"/>
          </p:nvPr>
        </p:nvSpPr>
        <p:spPr>
          <a:ln/>
        </p:spPr>
        <p:txBody>
          <a:bodyPr/>
          <a:lstStyle>
            <a:lvl1pPr>
              <a:defRPr/>
            </a:lvl1pPr>
          </a:lstStyle>
          <a:p>
            <a:fld id="{C4C1645E-D55F-4FD3-A4DA-D3DEAC574360}" type="slidenum">
              <a:rPr lang="en-US" altLang="en-US"/>
              <a:pPr/>
              <a:t>‹#›</a:t>
            </a:fld>
            <a:endParaRPr lang="en-US" altLang="en-US"/>
          </a:p>
        </p:txBody>
      </p:sp>
    </p:spTree>
    <p:extLst>
      <p:ext uri="{BB962C8B-B14F-4D97-AF65-F5344CB8AC3E}">
        <p14:creationId xmlns:p14="http://schemas.microsoft.com/office/powerpoint/2010/main" val="218452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489B5ED-2EBD-0005-9F0F-35A5AB909ED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6DAFA26-728D-3FB9-591A-5481203491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501C1C7-6788-4C74-9C0B-4108B4854C9A}"/>
              </a:ext>
            </a:extLst>
          </p:cNvPr>
          <p:cNvSpPr>
            <a:spLocks noGrp="1" noChangeArrowheads="1"/>
          </p:cNvSpPr>
          <p:nvPr>
            <p:ph type="sldNum" sz="quarter" idx="12"/>
          </p:nvPr>
        </p:nvSpPr>
        <p:spPr>
          <a:ln/>
        </p:spPr>
        <p:txBody>
          <a:bodyPr/>
          <a:lstStyle>
            <a:lvl1pPr>
              <a:defRPr/>
            </a:lvl1pPr>
          </a:lstStyle>
          <a:p>
            <a:fld id="{B06DAF6F-AE0D-41DF-B149-DB333B9832E7}" type="slidenum">
              <a:rPr lang="en-US" altLang="en-US"/>
              <a:pPr/>
              <a:t>‹#›</a:t>
            </a:fld>
            <a:endParaRPr lang="en-US" altLang="en-US"/>
          </a:p>
        </p:txBody>
      </p:sp>
    </p:spTree>
    <p:extLst>
      <p:ext uri="{BB962C8B-B14F-4D97-AF65-F5344CB8AC3E}">
        <p14:creationId xmlns:p14="http://schemas.microsoft.com/office/powerpoint/2010/main" val="280427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7316B8-1F65-47A5-BE47-E58BFD9DD6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4057690-4978-FEF3-14B3-4623D42F62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BBBD44-A329-2C68-317F-DAF9E11C3DA4}"/>
              </a:ext>
            </a:extLst>
          </p:cNvPr>
          <p:cNvSpPr>
            <a:spLocks noGrp="1" noChangeArrowheads="1"/>
          </p:cNvSpPr>
          <p:nvPr>
            <p:ph type="sldNum" sz="quarter" idx="12"/>
          </p:nvPr>
        </p:nvSpPr>
        <p:spPr>
          <a:ln/>
        </p:spPr>
        <p:txBody>
          <a:bodyPr/>
          <a:lstStyle>
            <a:lvl1pPr>
              <a:defRPr/>
            </a:lvl1pPr>
          </a:lstStyle>
          <a:p>
            <a:fld id="{978028DE-ADB2-4ED9-B71E-316352CEBBB0}" type="slidenum">
              <a:rPr lang="en-US" altLang="en-US"/>
              <a:pPr/>
              <a:t>‹#›</a:t>
            </a:fld>
            <a:endParaRPr lang="en-US" altLang="en-US"/>
          </a:p>
        </p:txBody>
      </p:sp>
    </p:spTree>
    <p:extLst>
      <p:ext uri="{BB962C8B-B14F-4D97-AF65-F5344CB8AC3E}">
        <p14:creationId xmlns:p14="http://schemas.microsoft.com/office/powerpoint/2010/main" val="2562049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1C8DCA6-E46D-918E-BE07-DD89CDEA596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82F080-5A61-5631-380C-8E6C986DE9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5338A54-BB90-DDA3-8E31-EADCBDD70160}"/>
              </a:ext>
            </a:extLst>
          </p:cNvPr>
          <p:cNvSpPr>
            <a:spLocks noGrp="1" noChangeArrowheads="1"/>
          </p:cNvSpPr>
          <p:nvPr>
            <p:ph type="sldNum" sz="quarter" idx="12"/>
          </p:nvPr>
        </p:nvSpPr>
        <p:spPr>
          <a:ln/>
        </p:spPr>
        <p:txBody>
          <a:bodyPr/>
          <a:lstStyle>
            <a:lvl1pPr>
              <a:defRPr/>
            </a:lvl1pPr>
          </a:lstStyle>
          <a:p>
            <a:fld id="{5D3B9A3D-1237-4962-A9D7-E6BDA4DC8E12}" type="slidenum">
              <a:rPr lang="en-US" altLang="en-US"/>
              <a:pPr/>
              <a:t>‹#›</a:t>
            </a:fld>
            <a:endParaRPr lang="en-US" altLang="en-US"/>
          </a:p>
        </p:txBody>
      </p:sp>
    </p:spTree>
    <p:extLst>
      <p:ext uri="{BB962C8B-B14F-4D97-AF65-F5344CB8AC3E}">
        <p14:creationId xmlns:p14="http://schemas.microsoft.com/office/powerpoint/2010/main" val="117576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D30C6AA-5A29-FAF6-41EF-7F982218809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FC1128-868E-8E6C-C6B2-8D8970834BE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9E7020F-F0EA-833C-914D-942F922E803F}"/>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FontTx/>
              <a:buNone/>
              <a:defRPr sz="1400"/>
            </a:lvl1pPr>
          </a:lstStyle>
          <a:p>
            <a:pPr>
              <a:defRPr/>
            </a:pPr>
            <a:endParaRPr lang="en-US"/>
          </a:p>
        </p:txBody>
      </p:sp>
      <p:sp>
        <p:nvSpPr>
          <p:cNvPr id="1029" name="Rectangle 5">
            <a:extLst>
              <a:ext uri="{FF2B5EF4-FFF2-40B4-BE49-F238E27FC236}">
                <a16:creationId xmlns:a16="http://schemas.microsoft.com/office/drawing/2014/main" id="{E3E20C0A-24F1-27AE-3FFF-41A175BFFFF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pPr>
              <a:defRPr/>
            </a:pPr>
            <a:endParaRPr lang="en-US"/>
          </a:p>
        </p:txBody>
      </p:sp>
      <p:sp>
        <p:nvSpPr>
          <p:cNvPr id="1030" name="Rectangle 6">
            <a:extLst>
              <a:ext uri="{FF2B5EF4-FFF2-40B4-BE49-F238E27FC236}">
                <a16:creationId xmlns:a16="http://schemas.microsoft.com/office/drawing/2014/main" id="{4E9EBCC9-30A7-1A6B-3878-5F0FFC02035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fld id="{3B2B5C59-1783-4803-85D5-6F0193F7D65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2BF249DD-84B0-D5BC-D035-4266E78A8EBB}"/>
              </a:ext>
            </a:extLst>
          </p:cNvPr>
          <p:cNvSpPr>
            <a:spLocks noGrp="1"/>
          </p:cNvSpPr>
          <p:nvPr>
            <p:ph type="ctrTitle"/>
          </p:nvPr>
        </p:nvSpPr>
        <p:spPr/>
        <p:txBody>
          <a:bodyPr/>
          <a:lstStyle/>
          <a:p>
            <a:r>
              <a:rPr lang="en-US" altLang="en-US" dirty="0"/>
              <a:t>Design of Pattern Matching Algorithms</a:t>
            </a:r>
          </a:p>
        </p:txBody>
      </p:sp>
      <p:sp>
        <p:nvSpPr>
          <p:cNvPr id="2051" name="Subtitle 2">
            <a:extLst>
              <a:ext uri="{FF2B5EF4-FFF2-40B4-BE49-F238E27FC236}">
                <a16:creationId xmlns:a16="http://schemas.microsoft.com/office/drawing/2014/main" id="{DEA9DD12-8CE2-4102-46F7-D7C8BBCF994D}"/>
              </a:ext>
            </a:extLst>
          </p:cNvPr>
          <p:cNvSpPr>
            <a:spLocks noGrp="1"/>
          </p:cNvSpPr>
          <p:nvPr>
            <p:ph type="subTitle" idx="1"/>
          </p:nvPr>
        </p:nvSpPr>
        <p:spPr>
          <a:xfrm>
            <a:off x="685800" y="4114800"/>
            <a:ext cx="7772400" cy="1752600"/>
          </a:xfrm>
        </p:spPr>
        <p:txBody>
          <a:bodyPr/>
          <a:lstStyle/>
          <a:p>
            <a:r>
              <a:rPr lang="en-US" altLang="en-US" b="1" dirty="0"/>
              <a:t>Naïve Algorithm – Brute Force Algorithm</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IN" sz="3600" b="1" dirty="0">
                <a:solidFill>
                  <a:srgbClr val="C00000"/>
                </a:solidFill>
              </a:rPr>
              <a:t>String Searching/Matching Problem</a:t>
            </a: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5090624"/>
          </a:xfrm>
          <a:prstGeom prst="rect">
            <a:avLst/>
          </a:prstGeom>
          <a:noFill/>
        </p:spPr>
        <p:txBody>
          <a:bodyPr wrap="square">
            <a:spAutoFit/>
          </a:bodyPr>
          <a:lstStyle/>
          <a:p>
            <a:pPr marL="342900" indent="-342900" algn="just">
              <a:buFont typeface="Wingdings" panose="05000000000000000000" pitchFamily="2" charset="2"/>
              <a:buChar char="§"/>
            </a:pPr>
            <a:r>
              <a:rPr lang="en-US" sz="2800" dirty="0"/>
              <a:t>The objective of string searching is to find the location of a specific text pattern within a larger body of text (e.g., a sentence, a paragraph, a book, etc.).</a:t>
            </a:r>
          </a:p>
          <a:p>
            <a:pPr marL="342900" indent="-342900" algn="just">
              <a:buFont typeface="Wingdings" panose="05000000000000000000" pitchFamily="2" charset="2"/>
              <a:buChar char="§"/>
            </a:pPr>
            <a:r>
              <a:rPr lang="en-US" sz="2800" b="1" dirty="0"/>
              <a:t>Example: </a:t>
            </a:r>
            <a:r>
              <a:rPr lang="en-US" sz="2800" dirty="0"/>
              <a:t>Find match of “aba” in given text “</a:t>
            </a:r>
            <a:r>
              <a:rPr lang="en-US" sz="2800" dirty="0" err="1"/>
              <a:t>abcbaba</a:t>
            </a:r>
            <a:r>
              <a:rPr lang="en-US" sz="2800" dirty="0"/>
              <a:t>”. </a:t>
            </a:r>
          </a:p>
          <a:p>
            <a:pPr marL="342900" indent="-342900" algn="l">
              <a:buFont typeface="Wingdings" panose="05000000000000000000" pitchFamily="2" charset="2"/>
              <a:buChar char="§"/>
            </a:pPr>
            <a:r>
              <a:rPr lang="en-US" sz="2800" dirty="0"/>
              <a:t>As with most algorithms, the main considerations for string searching are speed and efficiency. </a:t>
            </a:r>
          </a:p>
          <a:p>
            <a:pPr marL="342900" indent="-342900" algn="just">
              <a:buFont typeface="Wingdings" panose="05000000000000000000" pitchFamily="2" charset="2"/>
              <a:buChar char="§"/>
            </a:pPr>
            <a:r>
              <a:rPr lang="en-US" sz="2800" dirty="0"/>
              <a:t>There are a number of string pattern matching algorithms in existence today, most common are Brute Force algorithm, Knuth Morris Pattern (</a:t>
            </a:r>
            <a:r>
              <a:rPr lang="en-US" sz="2800" dirty="0" err="1"/>
              <a:t>KMP</a:t>
            </a:r>
            <a:r>
              <a:rPr lang="en-US" sz="2800" dirty="0"/>
              <a:t>) algorithm and Boyer Moore algorithm.</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IN" sz="3600" b="1" dirty="0">
                <a:solidFill>
                  <a:srgbClr val="C00000"/>
                </a:solidFill>
              </a:rPr>
              <a:t>Brute Force Algorithm</a:t>
            </a: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4924425"/>
          </a:xfrm>
          <a:prstGeom prst="rect">
            <a:avLst/>
          </a:prstGeom>
          <a:noFill/>
        </p:spPr>
        <p:txBody>
          <a:bodyPr wrap="square">
            <a:spAutoFit/>
          </a:bodyPr>
          <a:lstStyle/>
          <a:p>
            <a:pPr algn="just" fontAlgn="base">
              <a:spcAft>
                <a:spcPts val="1200"/>
              </a:spcAft>
              <a:buNone/>
            </a:pPr>
            <a:r>
              <a:rPr lang="en-US" sz="2400" b="0" i="0" dirty="0">
                <a:solidFill>
                  <a:srgbClr val="273239"/>
                </a:solidFill>
                <a:effectLst/>
                <a:latin typeface="urw-din"/>
              </a:rPr>
              <a:t>i) It is the simplest method which uses brute force approach. </a:t>
            </a:r>
          </a:p>
          <a:p>
            <a:pPr algn="just" fontAlgn="base">
              <a:spcAft>
                <a:spcPts val="1200"/>
              </a:spcAft>
              <a:buNone/>
            </a:pPr>
            <a:r>
              <a:rPr lang="en-US" sz="2400" b="0" i="0" dirty="0">
                <a:solidFill>
                  <a:srgbClr val="273239"/>
                </a:solidFill>
                <a:effectLst/>
                <a:latin typeface="urw-din"/>
              </a:rPr>
              <a:t>ii) It is a straight-forward approach of solving the problem.</a:t>
            </a:r>
          </a:p>
          <a:p>
            <a:pPr algn="just" fontAlgn="base">
              <a:spcAft>
                <a:spcPts val="1200"/>
              </a:spcAft>
              <a:buNone/>
            </a:pPr>
            <a:r>
              <a:rPr lang="en-US" sz="2400" b="0" i="0" dirty="0">
                <a:solidFill>
                  <a:srgbClr val="273239"/>
                </a:solidFill>
                <a:effectLst/>
                <a:latin typeface="urw-din"/>
              </a:rPr>
              <a:t>iii) </a:t>
            </a:r>
            <a:r>
              <a:rPr lang="en-US" sz="2400" b="0" i="0" dirty="0">
                <a:solidFill>
                  <a:srgbClr val="0070C0"/>
                </a:solidFill>
                <a:effectLst/>
                <a:latin typeface="urw-din"/>
              </a:rPr>
              <a:t>It compares first character of pattern with searchable text. If match is found, pointers in both strings are advanced. If match not found, pointer of text is incremented and pointer of pattern is reset. This process is repeated until the end of the text.</a:t>
            </a:r>
          </a:p>
          <a:p>
            <a:pPr algn="just" fontAlgn="base">
              <a:spcAft>
                <a:spcPts val="1200"/>
              </a:spcAft>
              <a:buNone/>
            </a:pPr>
            <a:r>
              <a:rPr lang="en-US" sz="2400" b="0" i="0" dirty="0">
                <a:solidFill>
                  <a:srgbClr val="273239"/>
                </a:solidFill>
                <a:effectLst/>
                <a:latin typeface="urw-din"/>
              </a:rPr>
              <a:t>iv) It does not require any pre-processing. It directly starts comparing both strings character by character.</a:t>
            </a:r>
          </a:p>
          <a:p>
            <a:pPr algn="just" fontAlgn="base">
              <a:spcAft>
                <a:spcPts val="1200"/>
              </a:spcAft>
              <a:buNone/>
            </a:pPr>
            <a:r>
              <a:rPr lang="en-US" sz="2400" b="0" i="0" dirty="0">
                <a:solidFill>
                  <a:srgbClr val="273239"/>
                </a:solidFill>
                <a:effectLst/>
                <a:latin typeface="urw-din"/>
              </a:rPr>
              <a:t>v) Also known as “Naïve Algorithm” of Pattern Matching.</a:t>
            </a:r>
          </a:p>
          <a:p>
            <a:pPr algn="just">
              <a:spcAft>
                <a:spcPts val="1200"/>
              </a:spcAft>
              <a:buNone/>
            </a:pPr>
            <a:endParaRPr lang="en-IN" sz="2400" dirty="0"/>
          </a:p>
        </p:txBody>
      </p:sp>
    </p:spTree>
    <p:extLst>
      <p:ext uri="{BB962C8B-B14F-4D97-AF65-F5344CB8AC3E}">
        <p14:creationId xmlns:p14="http://schemas.microsoft.com/office/powerpoint/2010/main" val="872510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0"/>
            <a:ext cx="7924800" cy="646331"/>
          </a:xfrm>
          <a:prstGeom prst="rect">
            <a:avLst/>
          </a:prstGeom>
          <a:noFill/>
        </p:spPr>
        <p:txBody>
          <a:bodyPr wrap="square" rtlCol="0">
            <a:spAutoFit/>
          </a:bodyPr>
          <a:lstStyle/>
          <a:p>
            <a:pPr algn="l">
              <a:buNone/>
            </a:pPr>
            <a:r>
              <a:rPr lang="en-IN" sz="3600" b="1" dirty="0">
                <a:solidFill>
                  <a:srgbClr val="C00000"/>
                </a:solidFill>
              </a:rPr>
              <a:t>Brute Force Algorithm</a:t>
            </a:r>
          </a:p>
        </p:txBody>
      </p:sp>
      <p:pic>
        <p:nvPicPr>
          <p:cNvPr id="5" name="Picture 4">
            <a:extLst>
              <a:ext uri="{FF2B5EF4-FFF2-40B4-BE49-F238E27FC236}">
                <a16:creationId xmlns:a16="http://schemas.microsoft.com/office/drawing/2014/main" id="{AC36A88B-C7EF-2C82-C201-EB8CF492CBBF}"/>
              </a:ext>
            </a:extLst>
          </p:cNvPr>
          <p:cNvPicPr>
            <a:picLocks noChangeAspect="1"/>
          </p:cNvPicPr>
          <p:nvPr/>
        </p:nvPicPr>
        <p:blipFill>
          <a:blip r:embed="rId2"/>
          <a:stretch>
            <a:fillRect/>
          </a:stretch>
        </p:blipFill>
        <p:spPr>
          <a:xfrm>
            <a:off x="973931" y="838200"/>
            <a:ext cx="6434137" cy="5832208"/>
          </a:xfrm>
          <a:prstGeom prst="rect">
            <a:avLst/>
          </a:prstGeom>
        </p:spPr>
      </p:pic>
    </p:spTree>
    <p:extLst>
      <p:ext uri="{BB962C8B-B14F-4D97-AF65-F5344CB8AC3E}">
        <p14:creationId xmlns:p14="http://schemas.microsoft.com/office/powerpoint/2010/main" val="545937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0"/>
            <a:ext cx="7924800" cy="646331"/>
          </a:xfrm>
          <a:prstGeom prst="rect">
            <a:avLst/>
          </a:prstGeom>
          <a:noFill/>
        </p:spPr>
        <p:txBody>
          <a:bodyPr wrap="square" rtlCol="0">
            <a:spAutoFit/>
          </a:bodyPr>
          <a:lstStyle/>
          <a:p>
            <a:pPr algn="l">
              <a:buNone/>
            </a:pPr>
            <a:r>
              <a:rPr lang="en-IN" sz="3600" b="1">
                <a:solidFill>
                  <a:srgbClr val="C00000"/>
                </a:solidFill>
              </a:rPr>
              <a:t>Brute Force Algorithm</a:t>
            </a:r>
            <a:endParaRPr lang="en-IN" sz="3600" b="1" dirty="0">
              <a:solidFill>
                <a:srgbClr val="C00000"/>
              </a:solidFill>
            </a:endParaRPr>
          </a:p>
        </p:txBody>
      </p:sp>
      <p:pic>
        <p:nvPicPr>
          <p:cNvPr id="4" name="Picture 3">
            <a:extLst>
              <a:ext uri="{FF2B5EF4-FFF2-40B4-BE49-F238E27FC236}">
                <a16:creationId xmlns:a16="http://schemas.microsoft.com/office/drawing/2014/main" id="{FE5248E6-BF2F-250E-F0F7-9B744CE1D318}"/>
              </a:ext>
            </a:extLst>
          </p:cNvPr>
          <p:cNvPicPr>
            <a:picLocks noChangeAspect="1"/>
          </p:cNvPicPr>
          <p:nvPr/>
        </p:nvPicPr>
        <p:blipFill>
          <a:blip r:embed="rId2"/>
          <a:stretch>
            <a:fillRect/>
          </a:stretch>
        </p:blipFill>
        <p:spPr>
          <a:xfrm>
            <a:off x="1485900" y="2521387"/>
            <a:ext cx="6172200" cy="3452247"/>
          </a:xfrm>
          <a:prstGeom prst="rect">
            <a:avLst/>
          </a:prstGeom>
        </p:spPr>
      </p:pic>
      <p:sp>
        <p:nvSpPr>
          <p:cNvPr id="7" name="TextBox 6">
            <a:extLst>
              <a:ext uri="{FF2B5EF4-FFF2-40B4-BE49-F238E27FC236}">
                <a16:creationId xmlns:a16="http://schemas.microsoft.com/office/drawing/2014/main" id="{1914319E-D79B-A2DB-5D08-265424E11511}"/>
              </a:ext>
            </a:extLst>
          </p:cNvPr>
          <p:cNvSpPr txBox="1"/>
          <p:nvPr/>
        </p:nvSpPr>
        <p:spPr>
          <a:xfrm>
            <a:off x="228600" y="884366"/>
            <a:ext cx="8382000" cy="1200329"/>
          </a:xfrm>
          <a:prstGeom prst="rect">
            <a:avLst/>
          </a:prstGeom>
          <a:noFill/>
        </p:spPr>
        <p:txBody>
          <a:bodyPr wrap="square">
            <a:spAutoFit/>
          </a:bodyPr>
          <a:lstStyle/>
          <a:p>
            <a:pPr algn="just">
              <a:buNone/>
            </a:pPr>
            <a:r>
              <a:rPr lang="en-US" sz="2400" b="0" i="0" dirty="0">
                <a:solidFill>
                  <a:srgbClr val="273239"/>
                </a:solidFill>
                <a:effectLst/>
                <a:latin typeface="urw-din"/>
              </a:rPr>
              <a:t>Given a text of length </a:t>
            </a:r>
            <a:r>
              <a:rPr lang="en-US" sz="2400" b="1" i="0" dirty="0">
                <a:solidFill>
                  <a:srgbClr val="273239"/>
                </a:solidFill>
                <a:effectLst/>
                <a:latin typeface="urw-din"/>
              </a:rPr>
              <a:t>N</a:t>
            </a:r>
            <a:r>
              <a:rPr lang="en-US" sz="2400" b="0" i="0" dirty="0">
                <a:solidFill>
                  <a:srgbClr val="273239"/>
                </a:solidFill>
                <a:effectLst/>
                <a:latin typeface="urw-din"/>
              </a:rPr>
              <a:t> txt[0..N-1]</a:t>
            </a:r>
            <a:r>
              <a:rPr lang="en-US" sz="2400" b="0" i="1" dirty="0">
                <a:solidFill>
                  <a:srgbClr val="273239"/>
                </a:solidFill>
                <a:effectLst/>
                <a:latin typeface="urw-din"/>
              </a:rPr>
              <a:t> </a:t>
            </a:r>
            <a:r>
              <a:rPr lang="en-US" sz="2400" b="0" i="0" dirty="0">
                <a:solidFill>
                  <a:srgbClr val="273239"/>
                </a:solidFill>
                <a:effectLst/>
                <a:latin typeface="urw-din"/>
              </a:rPr>
              <a:t>and a pattern of length M pat[0..M-1], write a function search(char pat[], char txt[]) that prints occurrence of pat[]</a:t>
            </a:r>
            <a:r>
              <a:rPr lang="en-US" sz="2400" b="0" i="1" dirty="0">
                <a:solidFill>
                  <a:srgbClr val="273239"/>
                </a:solidFill>
                <a:effectLst/>
                <a:latin typeface="urw-din"/>
              </a:rPr>
              <a:t> </a:t>
            </a:r>
            <a:r>
              <a:rPr lang="en-US" sz="2400" b="0" i="0" dirty="0">
                <a:solidFill>
                  <a:srgbClr val="273239"/>
                </a:solidFill>
                <a:effectLst/>
                <a:latin typeface="urw-din"/>
              </a:rPr>
              <a:t>in txt[]. You may assume that N</a:t>
            </a:r>
            <a:r>
              <a:rPr lang="en-US" sz="2400" b="0" i="1" dirty="0">
                <a:solidFill>
                  <a:srgbClr val="273239"/>
                </a:solidFill>
                <a:effectLst/>
                <a:latin typeface="urw-din"/>
              </a:rPr>
              <a:t> </a:t>
            </a:r>
            <a:r>
              <a:rPr lang="en-US" sz="2400" b="0" i="0" dirty="0">
                <a:solidFill>
                  <a:srgbClr val="273239"/>
                </a:solidFill>
                <a:effectLst/>
                <a:latin typeface="urw-din"/>
              </a:rPr>
              <a:t>&gt;</a:t>
            </a:r>
            <a:r>
              <a:rPr lang="en-US" sz="2400" b="0" i="1" dirty="0">
                <a:solidFill>
                  <a:srgbClr val="273239"/>
                </a:solidFill>
                <a:effectLst/>
                <a:latin typeface="urw-din"/>
              </a:rPr>
              <a:t> </a:t>
            </a:r>
            <a:r>
              <a:rPr lang="en-US" sz="2400" b="0" i="0" dirty="0">
                <a:solidFill>
                  <a:srgbClr val="273239"/>
                </a:solidFill>
                <a:effectLst/>
                <a:latin typeface="urw-din"/>
              </a:rPr>
              <a:t>M.</a:t>
            </a:r>
            <a:endParaRPr lang="en-IN" sz="2400" dirty="0"/>
          </a:p>
        </p:txBody>
      </p:sp>
    </p:spTree>
    <p:extLst>
      <p:ext uri="{BB962C8B-B14F-4D97-AF65-F5344CB8AC3E}">
        <p14:creationId xmlns:p14="http://schemas.microsoft.com/office/powerpoint/2010/main" val="1457759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Pseudo Code</a:t>
            </a:r>
          </a:p>
        </p:txBody>
      </p:sp>
      <p:pic>
        <p:nvPicPr>
          <p:cNvPr id="8" name="Picture 7">
            <a:extLst>
              <a:ext uri="{FF2B5EF4-FFF2-40B4-BE49-F238E27FC236}">
                <a16:creationId xmlns:a16="http://schemas.microsoft.com/office/drawing/2014/main" id="{1B43DCD1-735B-3941-0754-DF32B8E4B127}"/>
              </a:ext>
            </a:extLst>
          </p:cNvPr>
          <p:cNvPicPr>
            <a:picLocks noChangeAspect="1"/>
          </p:cNvPicPr>
          <p:nvPr/>
        </p:nvPicPr>
        <p:blipFill>
          <a:blip r:embed="rId2"/>
          <a:stretch>
            <a:fillRect/>
          </a:stretch>
        </p:blipFill>
        <p:spPr>
          <a:xfrm>
            <a:off x="1139104" y="1219200"/>
            <a:ext cx="7014296" cy="3733800"/>
          </a:xfrm>
          <a:prstGeom prst="rect">
            <a:avLst/>
          </a:prstGeom>
        </p:spPr>
      </p:pic>
    </p:spTree>
    <p:extLst>
      <p:ext uri="{BB962C8B-B14F-4D97-AF65-F5344CB8AC3E}">
        <p14:creationId xmlns:p14="http://schemas.microsoft.com/office/powerpoint/2010/main" val="3462500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Pseudo Code</a:t>
            </a:r>
          </a:p>
        </p:txBody>
      </p:sp>
      <p:sp>
        <p:nvSpPr>
          <p:cNvPr id="4" name="TextBox 3">
            <a:extLst>
              <a:ext uri="{FF2B5EF4-FFF2-40B4-BE49-F238E27FC236}">
                <a16:creationId xmlns:a16="http://schemas.microsoft.com/office/drawing/2014/main" id="{9800EE8E-31B9-69D9-C8A7-83E2C23C3E8D}"/>
              </a:ext>
            </a:extLst>
          </p:cNvPr>
          <p:cNvSpPr txBox="1"/>
          <p:nvPr/>
        </p:nvSpPr>
        <p:spPr>
          <a:xfrm>
            <a:off x="228600" y="838200"/>
            <a:ext cx="2255519" cy="523220"/>
          </a:xfrm>
          <a:prstGeom prst="rect">
            <a:avLst/>
          </a:prstGeom>
          <a:noFill/>
        </p:spPr>
        <p:txBody>
          <a:bodyPr wrap="square" rtlCol="0">
            <a:spAutoFit/>
          </a:bodyPr>
          <a:lstStyle/>
          <a:p>
            <a:pPr algn="l">
              <a:buNone/>
            </a:pPr>
            <a:r>
              <a:rPr lang="en-IN" sz="2800" b="1" dirty="0"/>
              <a:t>Example:</a:t>
            </a:r>
          </a:p>
        </p:txBody>
      </p:sp>
      <p:pic>
        <p:nvPicPr>
          <p:cNvPr id="6" name="Picture 5">
            <a:extLst>
              <a:ext uri="{FF2B5EF4-FFF2-40B4-BE49-F238E27FC236}">
                <a16:creationId xmlns:a16="http://schemas.microsoft.com/office/drawing/2014/main" id="{3D28A518-2F0E-2C5A-EE46-0850E3BDF4CB}"/>
              </a:ext>
            </a:extLst>
          </p:cNvPr>
          <p:cNvPicPr>
            <a:picLocks noChangeAspect="1"/>
          </p:cNvPicPr>
          <p:nvPr/>
        </p:nvPicPr>
        <p:blipFill>
          <a:blip r:embed="rId2"/>
          <a:stretch>
            <a:fillRect/>
          </a:stretch>
        </p:blipFill>
        <p:spPr>
          <a:xfrm>
            <a:off x="1138237" y="1676400"/>
            <a:ext cx="6867525" cy="4600575"/>
          </a:xfrm>
          <a:prstGeom prst="rect">
            <a:avLst/>
          </a:prstGeom>
        </p:spPr>
      </p:pic>
    </p:spTree>
    <p:extLst>
      <p:ext uri="{BB962C8B-B14F-4D97-AF65-F5344CB8AC3E}">
        <p14:creationId xmlns:p14="http://schemas.microsoft.com/office/powerpoint/2010/main" val="3824724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Implementation</a:t>
            </a:r>
          </a:p>
        </p:txBody>
      </p:sp>
      <p:sp>
        <p:nvSpPr>
          <p:cNvPr id="7" name="TextBox 6">
            <a:extLst>
              <a:ext uri="{FF2B5EF4-FFF2-40B4-BE49-F238E27FC236}">
                <a16:creationId xmlns:a16="http://schemas.microsoft.com/office/drawing/2014/main" id="{C9E61D35-667D-ACDA-2B2F-AEE4D096C698}"/>
              </a:ext>
            </a:extLst>
          </p:cNvPr>
          <p:cNvSpPr txBox="1"/>
          <p:nvPr/>
        </p:nvSpPr>
        <p:spPr>
          <a:xfrm>
            <a:off x="152400" y="838200"/>
            <a:ext cx="8991600" cy="59400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#include &lt;stdio.h&gt;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#include &lt;</a:t>
            </a:r>
            <a:r>
              <a:rPr kumimoji="0" lang="en-US" altLang="en-US" sz="2000" b="0" i="0" u="none" strike="noStrike" cap="none" normalizeH="0" baseline="0" dirty="0" err="1">
                <a:ln>
                  <a:noFill/>
                </a:ln>
                <a:solidFill>
                  <a:srgbClr val="808080"/>
                </a:solidFill>
                <a:effectLst/>
                <a:latin typeface="Consolas" panose="020B0609020204030204" pitchFamily="49" charset="0"/>
              </a:rPr>
              <a:t>string.h</a:t>
            </a:r>
            <a:r>
              <a:rPr kumimoji="0" lang="en-US" altLang="en-US" sz="2000" b="0" i="0" u="none" strike="noStrike" cap="none" normalizeH="0" baseline="0" dirty="0">
                <a:ln>
                  <a:noFill/>
                </a:ln>
                <a:solidFill>
                  <a:srgbClr val="808080"/>
                </a:solidFill>
                <a:effectLst/>
                <a:latin typeface="Consolas" panose="020B0609020204030204" pitchFamily="49" charset="0"/>
              </a:rPr>
              <a:t>&gt;</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6699"/>
                </a:solidFill>
                <a:effectLst/>
                <a:latin typeface="Consolas" panose="020B0609020204030204" pitchFamily="49" charset="0"/>
              </a:rPr>
              <a:t>void</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search(</a:t>
            </a:r>
            <a:r>
              <a:rPr kumimoji="0" lang="en-US" altLang="en-US" sz="2000" b="1" i="0" u="none" strike="noStrike" cap="none" normalizeH="0" baseline="0" dirty="0">
                <a:ln>
                  <a:noFill/>
                </a:ln>
                <a:solidFill>
                  <a:srgbClr val="808080"/>
                </a:solidFill>
                <a:effectLst/>
                <a:latin typeface="Consolas" panose="020B0609020204030204" pitchFamily="49" charset="0"/>
              </a:rPr>
              <a:t>char</a:t>
            </a:r>
            <a:r>
              <a:rPr kumimoji="0" lang="en-US" altLang="en-US" sz="2000" b="0" i="0" u="none" strike="noStrike" cap="none" normalizeH="0" baseline="0" dirty="0">
                <a:ln>
                  <a:noFill/>
                </a:ln>
                <a:solidFill>
                  <a:srgbClr val="000000"/>
                </a:solidFill>
                <a:effectLst/>
                <a:latin typeface="Consolas" panose="020B0609020204030204" pitchFamily="49" charset="0"/>
              </a:rPr>
              <a:t>* pat, </a:t>
            </a:r>
            <a:r>
              <a:rPr kumimoji="0" lang="en-US" altLang="en-US" sz="2000" b="1" i="0" u="none" strike="noStrike" cap="none" normalizeH="0" baseline="0" dirty="0">
                <a:ln>
                  <a:noFill/>
                </a:ln>
                <a:solidFill>
                  <a:srgbClr val="808080"/>
                </a:solidFill>
                <a:effectLst/>
                <a:latin typeface="Consolas" panose="020B0609020204030204" pitchFamily="49" charset="0"/>
              </a:rPr>
              <a:t>char</a:t>
            </a:r>
            <a:r>
              <a:rPr kumimoji="0" lang="en-US" altLang="en-US" sz="2000" b="0" i="0" u="none" strike="noStrike" cap="none" normalizeH="0" baseline="0" dirty="0">
                <a:ln>
                  <a:noFill/>
                </a:ln>
                <a:solidFill>
                  <a:srgbClr val="000000"/>
                </a:solidFill>
                <a:effectLst/>
                <a:latin typeface="Consolas" panose="020B0609020204030204" pitchFamily="49" charset="0"/>
              </a:rPr>
              <a:t>* txt)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M = </a:t>
            </a:r>
            <a:r>
              <a:rPr kumimoji="0" lang="en-US" altLang="en-US" sz="2000" b="1" i="0" u="none" strike="noStrike" cap="none" normalizeH="0" baseline="0" dirty="0">
                <a:ln>
                  <a:noFill/>
                </a:ln>
                <a:solidFill>
                  <a:srgbClr val="FF1493"/>
                </a:solidFill>
                <a:effectLst/>
                <a:latin typeface="Consolas" panose="020B0609020204030204" pitchFamily="49" charset="0"/>
              </a:rPr>
              <a:t>strlen</a:t>
            </a:r>
            <a:r>
              <a:rPr kumimoji="0" lang="en-US" altLang="en-US" sz="2000" b="0" i="0" u="none" strike="noStrike" cap="none" normalizeH="0" baseline="0" dirty="0">
                <a:ln>
                  <a:noFill/>
                </a:ln>
                <a:solidFill>
                  <a:srgbClr val="000000"/>
                </a:solidFill>
                <a:effectLst/>
                <a:latin typeface="Consolas" panose="020B0609020204030204" pitchFamily="49" charset="0"/>
              </a:rPr>
              <a:t>(pat);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N = </a:t>
            </a:r>
            <a:r>
              <a:rPr kumimoji="0" lang="en-US" altLang="en-US" sz="2000" b="1" i="0" u="none" strike="noStrike" cap="none" normalizeH="0" baseline="0" dirty="0">
                <a:ln>
                  <a:noFill/>
                </a:ln>
                <a:solidFill>
                  <a:srgbClr val="FF1493"/>
                </a:solidFill>
                <a:effectLst/>
                <a:latin typeface="Consolas" panose="020B0609020204030204" pitchFamily="49" charset="0"/>
              </a:rPr>
              <a:t>strlen</a:t>
            </a:r>
            <a:r>
              <a:rPr kumimoji="0" lang="en-US" altLang="en-US" sz="2000" b="0" i="0" u="none" strike="noStrike" cap="none" normalizeH="0" baseline="0" dirty="0">
                <a:ln>
                  <a:noFill/>
                </a:ln>
                <a:solidFill>
                  <a:srgbClr val="000000"/>
                </a:solidFill>
                <a:effectLst/>
                <a:latin typeface="Consolas" panose="020B0609020204030204" pitchFamily="49" charset="0"/>
              </a:rPr>
              <a:t>(txt);</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A loop to slide pat[] one by one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for</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i = 0; i &lt;= N - M; i++)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j;</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For current index i, check for pattern match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for</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(j = 0; j &lt; M; </a:t>
            </a:r>
            <a:r>
              <a:rPr kumimoji="0" lang="en-US" altLang="en-US" sz="2000" b="0" i="0" u="none" strike="noStrike" cap="none" normalizeH="0" baseline="0" dirty="0" err="1">
                <a:ln>
                  <a:noFill/>
                </a:ln>
                <a:solidFill>
                  <a:srgbClr val="000000"/>
                </a:solidFill>
                <a:effectLst/>
                <a:latin typeface="Consolas" panose="020B0609020204030204" pitchFamily="49" charset="0"/>
              </a:rPr>
              <a:t>j++</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if</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(txt[i + j] != pat[j])</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break</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if</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(j== M) { </a:t>
            </a:r>
            <a:r>
              <a:rPr kumimoji="0" lang="en-US" altLang="en-US" sz="2000" b="0" i="0" u="none" strike="noStrike" cap="none" normalizeH="0" baseline="0" dirty="0">
                <a:ln>
                  <a:noFill/>
                </a:ln>
                <a:solidFill>
                  <a:srgbClr val="008200"/>
                </a:solidFill>
                <a:effectLst/>
                <a:latin typeface="Consolas" panose="020B0609020204030204" pitchFamily="49" charset="0"/>
              </a:rPr>
              <a:t>// if pat[0...M-1] = txt[i, i+1, ...i+M-1]</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FF1493"/>
                </a:solidFill>
                <a:effectLst/>
                <a:latin typeface="Consolas" panose="020B0609020204030204" pitchFamily="49" charset="0"/>
              </a:rPr>
              <a:t>printf</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"Pattern found at index %d \n"</a:t>
            </a:r>
            <a:r>
              <a:rPr kumimoji="0" lang="en-US" altLang="en-US" sz="2000" b="0" i="0" u="none" strike="noStrike" cap="none" normalizeH="0" baseline="0" dirty="0">
                <a:ln>
                  <a:noFill/>
                </a:ln>
                <a:solidFill>
                  <a:srgbClr val="000000"/>
                </a:solidFill>
                <a:effectLst/>
                <a:latin typeface="Consolas" panose="020B0609020204030204" pitchFamily="49" charset="0"/>
              </a:rPr>
              <a:t>, i);</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break</a:t>
            </a:r>
            <a:r>
              <a:rPr kumimoji="0" lang="en-US" altLang="en-US" sz="20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Consolas" panose="020B0609020204030204" pitchFamily="49" charset="0"/>
              </a:rPr>
              <a:t>	  }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4149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Implementation Cont...</a:t>
            </a:r>
          </a:p>
        </p:txBody>
      </p:sp>
      <p:sp>
        <p:nvSpPr>
          <p:cNvPr id="5" name="TextBox 4">
            <a:extLst>
              <a:ext uri="{FF2B5EF4-FFF2-40B4-BE49-F238E27FC236}">
                <a16:creationId xmlns:a16="http://schemas.microsoft.com/office/drawing/2014/main" id="{F8E6D5CB-B540-4DD8-0A64-3184B8AB2E4F}"/>
              </a:ext>
            </a:extLst>
          </p:cNvPr>
          <p:cNvSpPr txBox="1"/>
          <p:nvPr/>
        </p:nvSpPr>
        <p:spPr>
          <a:xfrm>
            <a:off x="1600200" y="914400"/>
            <a:ext cx="5715000"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main()</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char</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txt[] = </a:t>
            </a:r>
            <a:r>
              <a:rPr kumimoji="0" lang="en-US" altLang="en-US" sz="2000" b="0" i="0" u="none" strike="noStrike" cap="none" normalizeH="0" baseline="0" dirty="0">
                <a:ln>
                  <a:noFill/>
                </a:ln>
                <a:solidFill>
                  <a:srgbClr val="0000FF"/>
                </a:solidFill>
                <a:effectLst/>
                <a:latin typeface="Consolas" panose="020B0609020204030204" pitchFamily="49" charset="0"/>
              </a:rPr>
              <a:t>"</a:t>
            </a:r>
            <a:r>
              <a:rPr kumimoji="0" lang="en-US" altLang="en-US" sz="2000" b="0" i="0" u="none" strike="noStrike" cap="none" normalizeH="0" baseline="0" dirty="0" err="1">
                <a:ln>
                  <a:noFill/>
                </a:ln>
                <a:solidFill>
                  <a:srgbClr val="0000FF"/>
                </a:solidFill>
                <a:effectLst/>
                <a:latin typeface="Consolas" panose="020B0609020204030204" pitchFamily="49" charset="0"/>
              </a:rPr>
              <a:t>AABBACAADAABAAABAA</a:t>
            </a:r>
            <a:r>
              <a:rPr kumimoji="0" lang="en-US" altLang="en-US" sz="2000" b="0" i="0" u="none" strike="noStrike" cap="none" normalizeH="0" baseline="0" dirty="0">
                <a:ln>
                  <a:noFill/>
                </a:ln>
                <a:solidFill>
                  <a:srgbClr val="0000FF"/>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808080"/>
                </a:solidFill>
                <a:effectLst/>
                <a:latin typeface="Consolas" panose="020B0609020204030204" pitchFamily="49" charset="0"/>
              </a:rPr>
              <a:t>char</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pat[] = </a:t>
            </a:r>
            <a:r>
              <a:rPr kumimoji="0" lang="en-US" altLang="en-US" sz="2000" b="0" i="0" u="none" strike="noStrike" cap="none" normalizeH="0" baseline="0" dirty="0">
                <a:ln>
                  <a:noFill/>
                </a:ln>
                <a:solidFill>
                  <a:srgbClr val="0000FF"/>
                </a:solidFill>
                <a:effectLst/>
                <a:latin typeface="Consolas" panose="020B0609020204030204" pitchFamily="49" charset="0"/>
              </a:rPr>
              <a:t>"</a:t>
            </a:r>
            <a:r>
              <a:rPr kumimoji="0" lang="en-US" altLang="en-US" sz="2000" b="0" i="0" u="none" strike="noStrike" cap="none" normalizeH="0" baseline="0" dirty="0" err="1">
                <a:ln>
                  <a:noFill/>
                </a:ln>
                <a:solidFill>
                  <a:srgbClr val="0000FF"/>
                </a:solidFill>
                <a:effectLst/>
                <a:latin typeface="Consolas" panose="020B0609020204030204" pitchFamily="49" charset="0"/>
              </a:rPr>
              <a:t>AABA</a:t>
            </a:r>
            <a:r>
              <a:rPr kumimoji="0" lang="en-US" altLang="en-US" sz="2000" b="0" i="0" u="none" strike="noStrike" cap="none" normalizeH="0" baseline="0" dirty="0">
                <a:ln>
                  <a:noFill/>
                </a:ln>
                <a:solidFill>
                  <a:srgbClr val="0000FF"/>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800" b="0" i="0" u="none" strike="noStrike" cap="none" normalizeH="0" baseline="0" dirty="0">
                <a:ln>
                  <a:noFill/>
                </a:ln>
                <a:solidFill>
                  <a:srgbClr val="273239"/>
                </a:solidFill>
                <a:effectLst/>
                <a:latin typeface="Consolas" panose="020B0609020204030204" pitchFamily="49" charset="0"/>
              </a:rPr>
              <a:t> </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Function call</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search(pat, txt);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return</a:t>
            </a:r>
            <a:r>
              <a:rPr kumimoji="0" lang="en-US" altLang="en-US" sz="8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0;</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34E80885-1799-16A6-6C0E-89E105CE5CE1}"/>
              </a:ext>
            </a:extLst>
          </p:cNvPr>
          <p:cNvSpPr txBox="1"/>
          <p:nvPr/>
        </p:nvSpPr>
        <p:spPr>
          <a:xfrm>
            <a:off x="4191000" y="4267200"/>
            <a:ext cx="4572000"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73239"/>
                </a:solidFill>
                <a:effectLst/>
                <a:latin typeface="Consolas" panose="020B0609020204030204" pitchFamily="49" charset="0"/>
              </a:rPr>
              <a:t>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rgbClr val="27323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Consolas" panose="020B0609020204030204" pitchFamily="49" charset="0"/>
              </a:rPr>
              <a:t>Pattern found at index 9 </a:t>
            </a:r>
            <a:endParaRPr kumimoji="0" lang="en-US" altLang="en-US" sz="32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781578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Complexity (Worst Case)</a:t>
            </a:r>
          </a:p>
        </p:txBody>
      </p:sp>
      <p:pic>
        <p:nvPicPr>
          <p:cNvPr id="8" name="Picture 7">
            <a:extLst>
              <a:ext uri="{FF2B5EF4-FFF2-40B4-BE49-F238E27FC236}">
                <a16:creationId xmlns:a16="http://schemas.microsoft.com/office/drawing/2014/main" id="{CD3B7D01-D336-35F9-1494-EFDA62D690A0}"/>
              </a:ext>
            </a:extLst>
          </p:cNvPr>
          <p:cNvPicPr>
            <a:picLocks noChangeAspect="1"/>
          </p:cNvPicPr>
          <p:nvPr/>
        </p:nvPicPr>
        <p:blipFill>
          <a:blip r:embed="rId2"/>
          <a:stretch>
            <a:fillRect/>
          </a:stretch>
        </p:blipFill>
        <p:spPr>
          <a:xfrm>
            <a:off x="457200" y="914400"/>
            <a:ext cx="6400800" cy="5486400"/>
          </a:xfrm>
          <a:prstGeom prst="rect">
            <a:avLst/>
          </a:prstGeom>
        </p:spPr>
      </p:pic>
      <p:sp>
        <p:nvSpPr>
          <p:cNvPr id="9" name="TextBox 8">
            <a:extLst>
              <a:ext uri="{FF2B5EF4-FFF2-40B4-BE49-F238E27FC236}">
                <a16:creationId xmlns:a16="http://schemas.microsoft.com/office/drawing/2014/main" id="{D4A7DFAC-F19E-E0DF-687C-F57D94934FFE}"/>
              </a:ext>
            </a:extLst>
          </p:cNvPr>
          <p:cNvSpPr txBox="1"/>
          <p:nvPr/>
        </p:nvSpPr>
        <p:spPr>
          <a:xfrm>
            <a:off x="6705600" y="3048000"/>
            <a:ext cx="2209800" cy="1938992"/>
          </a:xfrm>
          <a:prstGeom prst="rect">
            <a:avLst/>
          </a:prstGeom>
          <a:noFill/>
        </p:spPr>
        <p:txBody>
          <a:bodyPr wrap="square">
            <a:spAutoFit/>
          </a:bodyPr>
          <a:lstStyle/>
          <a:p>
            <a:pPr algn="just">
              <a:buNone/>
            </a:pPr>
            <a:r>
              <a:rPr lang="en-US" sz="2400" b="0" i="0" dirty="0">
                <a:solidFill>
                  <a:srgbClr val="FF0000"/>
                </a:solidFill>
                <a:effectLst/>
                <a:latin typeface="urw-din"/>
              </a:rPr>
              <a:t>Worst case also occurs when only the last character is different. </a:t>
            </a:r>
            <a:endParaRPr lang="en-IN" sz="2400" dirty="0">
              <a:solidFill>
                <a:srgbClr val="FF0000"/>
              </a:solidFill>
            </a:endParaRPr>
          </a:p>
        </p:txBody>
      </p:sp>
    </p:spTree>
    <p:extLst>
      <p:ext uri="{BB962C8B-B14F-4D97-AF65-F5344CB8AC3E}">
        <p14:creationId xmlns:p14="http://schemas.microsoft.com/office/powerpoint/2010/main" val="738459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Complexity (Best Case)</a:t>
            </a:r>
          </a:p>
        </p:txBody>
      </p:sp>
      <p:pic>
        <p:nvPicPr>
          <p:cNvPr id="4" name="Picture 3">
            <a:extLst>
              <a:ext uri="{FF2B5EF4-FFF2-40B4-BE49-F238E27FC236}">
                <a16:creationId xmlns:a16="http://schemas.microsoft.com/office/drawing/2014/main" id="{20ED7E55-687B-3DF2-709C-277C483A4752}"/>
              </a:ext>
            </a:extLst>
          </p:cNvPr>
          <p:cNvPicPr>
            <a:picLocks noChangeAspect="1"/>
          </p:cNvPicPr>
          <p:nvPr/>
        </p:nvPicPr>
        <p:blipFill>
          <a:blip r:embed="rId2"/>
          <a:stretch>
            <a:fillRect/>
          </a:stretch>
        </p:blipFill>
        <p:spPr>
          <a:xfrm>
            <a:off x="381000" y="1143000"/>
            <a:ext cx="6769101" cy="4953000"/>
          </a:xfrm>
          <a:prstGeom prst="rect">
            <a:avLst/>
          </a:prstGeom>
        </p:spPr>
      </p:pic>
      <p:sp>
        <p:nvSpPr>
          <p:cNvPr id="5" name="TextBox 4">
            <a:extLst>
              <a:ext uri="{FF2B5EF4-FFF2-40B4-BE49-F238E27FC236}">
                <a16:creationId xmlns:a16="http://schemas.microsoft.com/office/drawing/2014/main" id="{40614008-6BDC-5A29-AEA9-595644D5FE6F}"/>
              </a:ext>
            </a:extLst>
          </p:cNvPr>
          <p:cNvSpPr txBox="1"/>
          <p:nvPr/>
        </p:nvSpPr>
        <p:spPr>
          <a:xfrm>
            <a:off x="6781800" y="2590800"/>
            <a:ext cx="2057400" cy="2677656"/>
          </a:xfrm>
          <a:prstGeom prst="rect">
            <a:avLst/>
          </a:prstGeom>
          <a:noFill/>
        </p:spPr>
        <p:txBody>
          <a:bodyPr wrap="square">
            <a:spAutoFit/>
          </a:bodyPr>
          <a:lstStyle/>
          <a:p>
            <a:pPr algn="just">
              <a:buNone/>
            </a:pPr>
            <a:r>
              <a:rPr lang="en-US" sz="2400" dirty="0">
                <a:solidFill>
                  <a:srgbClr val="FF0000"/>
                </a:solidFill>
                <a:latin typeface="urw-din"/>
              </a:rPr>
              <a:t>B</a:t>
            </a:r>
            <a:r>
              <a:rPr lang="en-US" sz="2400" b="0" i="0" dirty="0">
                <a:solidFill>
                  <a:srgbClr val="FF0000"/>
                </a:solidFill>
                <a:effectLst/>
                <a:latin typeface="urw-din"/>
              </a:rPr>
              <a:t>est case occurs when pattern is present in starting M characters in text.</a:t>
            </a:r>
            <a:endParaRPr lang="en-IN" sz="2400" dirty="0">
              <a:solidFill>
                <a:srgbClr val="FF0000"/>
              </a:solidFill>
            </a:endParaRPr>
          </a:p>
        </p:txBody>
      </p:sp>
    </p:spTree>
    <p:extLst>
      <p:ext uri="{BB962C8B-B14F-4D97-AF65-F5344CB8AC3E}">
        <p14:creationId xmlns:p14="http://schemas.microsoft.com/office/powerpoint/2010/main" val="2343319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228600" y="76200"/>
            <a:ext cx="7924800" cy="646331"/>
          </a:xfrm>
          <a:prstGeom prst="rect">
            <a:avLst/>
          </a:prstGeom>
          <a:noFill/>
        </p:spPr>
        <p:txBody>
          <a:bodyPr wrap="square" rtlCol="0">
            <a:spAutoFit/>
          </a:bodyPr>
          <a:lstStyle/>
          <a:p>
            <a:pPr algn="l">
              <a:buNone/>
            </a:pPr>
            <a:r>
              <a:rPr lang="en-IN" sz="3600" b="1" dirty="0">
                <a:solidFill>
                  <a:srgbClr val="C00000"/>
                </a:solidFill>
              </a:rPr>
              <a:t>Brute Force Complexity (Best Case)</a:t>
            </a:r>
          </a:p>
        </p:txBody>
      </p:sp>
      <p:pic>
        <p:nvPicPr>
          <p:cNvPr id="5" name="Picture 4">
            <a:extLst>
              <a:ext uri="{FF2B5EF4-FFF2-40B4-BE49-F238E27FC236}">
                <a16:creationId xmlns:a16="http://schemas.microsoft.com/office/drawing/2014/main" id="{29389BFF-81CF-6DFF-BF14-EA6F2D2B2839}"/>
              </a:ext>
            </a:extLst>
          </p:cNvPr>
          <p:cNvPicPr>
            <a:picLocks noChangeAspect="1"/>
          </p:cNvPicPr>
          <p:nvPr/>
        </p:nvPicPr>
        <p:blipFill>
          <a:blip r:embed="rId2"/>
          <a:stretch>
            <a:fillRect/>
          </a:stretch>
        </p:blipFill>
        <p:spPr>
          <a:xfrm>
            <a:off x="762000" y="722531"/>
            <a:ext cx="5810250" cy="5934075"/>
          </a:xfrm>
          <a:prstGeom prst="rect">
            <a:avLst/>
          </a:prstGeom>
        </p:spPr>
      </p:pic>
      <p:sp>
        <p:nvSpPr>
          <p:cNvPr id="11" name="TextBox 10">
            <a:extLst>
              <a:ext uri="{FF2B5EF4-FFF2-40B4-BE49-F238E27FC236}">
                <a16:creationId xmlns:a16="http://schemas.microsoft.com/office/drawing/2014/main" id="{0333123A-27A1-6B5B-2023-833FAABF8B81}"/>
              </a:ext>
            </a:extLst>
          </p:cNvPr>
          <p:cNvSpPr txBox="1"/>
          <p:nvPr/>
        </p:nvSpPr>
        <p:spPr>
          <a:xfrm>
            <a:off x="6781800" y="2590800"/>
            <a:ext cx="2057400" cy="2677656"/>
          </a:xfrm>
          <a:prstGeom prst="rect">
            <a:avLst/>
          </a:prstGeom>
          <a:noFill/>
        </p:spPr>
        <p:txBody>
          <a:bodyPr wrap="square">
            <a:spAutoFit/>
          </a:bodyPr>
          <a:lstStyle/>
          <a:p>
            <a:pPr algn="just">
              <a:buNone/>
            </a:pPr>
            <a:r>
              <a:rPr lang="en-US" sz="2400" dirty="0">
                <a:solidFill>
                  <a:srgbClr val="FF0000"/>
                </a:solidFill>
                <a:latin typeface="urw-din"/>
              </a:rPr>
              <a:t>B</a:t>
            </a:r>
            <a:r>
              <a:rPr lang="en-US" sz="2400" b="0" i="0" dirty="0">
                <a:solidFill>
                  <a:srgbClr val="FF0000"/>
                </a:solidFill>
                <a:effectLst/>
                <a:latin typeface="urw-din"/>
              </a:rPr>
              <a:t>est case also occurs when the first character of the pattern is not present in the text at all.</a:t>
            </a:r>
            <a:endParaRPr lang="en-IN" sz="2400" dirty="0">
              <a:solidFill>
                <a:srgbClr val="FF0000"/>
              </a:solidFill>
            </a:endParaRPr>
          </a:p>
        </p:txBody>
      </p:sp>
    </p:spTree>
    <p:extLst>
      <p:ext uri="{BB962C8B-B14F-4D97-AF65-F5344CB8AC3E}">
        <p14:creationId xmlns:p14="http://schemas.microsoft.com/office/powerpoint/2010/main" val="280826796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2662</TotalTime>
  <Words>585</Words>
  <Application>Microsoft Office PowerPoint</Application>
  <PresentationFormat>On-screen Show (4:3)</PresentationFormat>
  <Paragraphs>58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Consolas</vt:lpstr>
      <vt:lpstr>Times New Roman</vt:lpstr>
      <vt:lpstr>urw-din</vt:lpstr>
      <vt:lpstr>Wingdings</vt:lpstr>
      <vt:lpstr>Default Design</vt:lpstr>
      <vt:lpstr>Design of Pattern Matching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AjayRastogi</dc:creator>
  <cp:lastModifiedBy>Ajay Rastogy</cp:lastModifiedBy>
  <cp:revision>145</cp:revision>
  <dcterms:created xsi:type="dcterms:W3CDTF">1601-01-01T00:00:00Z</dcterms:created>
  <dcterms:modified xsi:type="dcterms:W3CDTF">2023-03-27T16:47:41Z</dcterms:modified>
</cp:coreProperties>
</file>