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68" r:id="rId2"/>
    <p:sldId id="469" r:id="rId3"/>
    <p:sldId id="470" r:id="rId4"/>
    <p:sldId id="471" r:id="rId5"/>
    <p:sldId id="472" r:id="rId6"/>
    <p:sldId id="473" r:id="rId7"/>
    <p:sldId id="474" r:id="rId8"/>
    <p:sldId id="475" r:id="rId9"/>
    <p:sldId id="476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85" r:id="rId19"/>
    <p:sldId id="486" r:id="rId20"/>
    <p:sldId id="487" r:id="rId21"/>
    <p:sldId id="488" r:id="rId22"/>
    <p:sldId id="489" r:id="rId23"/>
    <p:sldId id="490" r:id="rId24"/>
    <p:sldId id="491" r:id="rId25"/>
    <p:sldId id="492" r:id="rId26"/>
    <p:sldId id="493" r:id="rId27"/>
    <p:sldId id="494" r:id="rId28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har char="•"/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har char="•"/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har char="•"/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har char="•"/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har char="•"/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FF9900"/>
    <a:srgbClr val="0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785" autoAdjust="0"/>
  </p:normalViewPr>
  <p:slideViewPr>
    <p:cSldViewPr>
      <p:cViewPr varScale="1">
        <p:scale>
          <a:sx n="74" d="100"/>
          <a:sy n="74" d="100"/>
        </p:scale>
        <p:origin x="164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9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F0C08-518E-4C25-A444-DF4EA3859C4B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F7498-9D51-4233-A941-BC24B48B9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34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817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845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770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2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42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811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976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980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989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678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518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220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599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684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659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28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647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23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F7498-9D51-4233-A941-BC24B48B9367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19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790BDB-E038-6FF4-BAB4-94F3FD52BB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5412FF-EFEE-5A22-9A2C-ADC13EC1F6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2C481A-5F40-E712-5A85-A8B4011F44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DAE27C-668C-4E07-B8D3-974BE0F4B5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535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8BFAD74-0F4C-6794-C541-FE1C275F04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9C0452-8E8B-E8BA-EA2F-7AC5311056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3C2F9E-A512-D68E-105C-70B5A0441B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6A0DA3-449F-4F25-B69E-1F8704D931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475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01EBFD-98B3-1717-A0E0-C7726C3542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4E4066-7EA9-E978-E44A-85DC6D0BE8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D18B5F-A8CA-D2CE-038E-E700747C12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EB5816-AC8E-4192-9079-D1DE9A9854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85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BBD0AE-D163-E8DA-1D83-AB940D0336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96EC5A-58C0-D9EC-59F9-005554A3A0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1D4CB8-698B-2791-3446-26BE741C17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DE5256-293F-434A-867D-646431923C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4827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0AB08EA-FB7E-F428-6617-46F6905B81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12EE4DA-14A2-9AA4-4A69-C309ABFB54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FE1E894-FA15-BE8F-1CC7-71B5ACEFCD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B9A078-7270-4E8E-8EF2-6205B5F390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970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99A076C-FAFB-09DC-373C-F4CE53ED93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89E5C36-BF20-7B1B-B621-A48059E130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6978C68-1C8B-AE63-9454-00CF266D83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45B996-03A7-4680-8BE8-3228285C3D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956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649D32D-3D07-969E-73A4-B6C3C73A06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72E8C50-0322-8466-CCCC-E8777CA6F1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69D795-A043-FECC-EA97-9A945714C9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D7F9D5-C84A-42DC-A142-A0725DDB4D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335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7E9FA6-4379-E454-82BE-3DDB45FB33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267068-84DF-5A80-939C-4046AB1FC6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19009D-28B1-8E2F-80DB-D7738BEE69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C1645E-D55F-4FD3-A4DA-D3DEAC5743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452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9B5ED-2EBD-0005-9F0F-35A5AB909E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DAFA26-728D-3FB9-591A-5481203491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1C1C7-6788-4C74-9C0B-4108B4854C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6DAF6F-AE0D-41DF-B149-DB333B9832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427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7316B8-1F65-47A5-BE47-E58BFD9DD6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057690-4978-FEF3-14B3-4623D42F62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BBBD44-A329-2C68-317F-DAF9E11C3D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8028DE-ADB2-4ED9-B71E-316352CEBB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204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C8DCA6-E46D-918E-BE07-DD89CDEA59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82F080-5A61-5631-380C-8E6C986DE9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338A54-BB90-DDA3-8E31-EADCBDD701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3B9A3D-1237-4962-A9D7-E6BDA4DC8E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576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30C6AA-5A29-FAF6-41EF-7F9822188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FC1128-868E-8E6C-C6B2-8D8970834B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E7020F-F0EA-833C-914D-942F922E803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E20C0A-24F1-27AE-3FFF-41A175BFFFF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E9EBCC9-30A7-1A6B-3878-5F0FFC0203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/>
            </a:lvl1pPr>
          </a:lstStyle>
          <a:p>
            <a:fld id="{3B2B5C59-1783-4803-85D5-6F0193F7D65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2BF249DD-84B0-D5BC-D035-4266E78A8E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Travelling Salesman Problem</a:t>
            </a:r>
          </a:p>
        </p:txBody>
      </p:sp>
      <p:sp>
        <p:nvSpPr>
          <p:cNvPr id="2051" name="Subtitle 2">
            <a:extLst>
              <a:ext uri="{FF2B5EF4-FFF2-40B4-BE49-F238E27FC236}">
                <a16:creationId xmlns:a16="http://schemas.microsoft.com/office/drawing/2014/main" id="{DEA9DD12-8CE2-4102-46F7-D7C8BBCF9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/>
              <a:t>Solution: </a:t>
            </a:r>
            <a:r>
              <a:rPr lang="en-US" altLang="en-US" dirty="0"/>
              <a:t>Branch and Bound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473986-CE66-51E3-4364-ECAD2A3EF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5" y="762000"/>
            <a:ext cx="9105805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81000" y="4572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EA7A5-0DA8-D9AB-444A-668B733535B3}"/>
              </a:ext>
            </a:extLst>
          </p:cNvPr>
          <p:cNvSpPr txBox="1"/>
          <p:nvPr/>
        </p:nvSpPr>
        <p:spPr>
          <a:xfrm>
            <a:off x="419100" y="1291661"/>
            <a:ext cx="8305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Problem-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Solve Travelling Salesman Problem using Branch and Bound Algorithm in the following graph-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C366EE2-5F88-C93E-8472-03388E00B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590800"/>
            <a:ext cx="4876800" cy="341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226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EA7A5-0DA8-D9AB-444A-668B733535B3}"/>
              </a:ext>
            </a:extLst>
          </p:cNvPr>
          <p:cNvSpPr txBox="1"/>
          <p:nvPr/>
        </p:nvSpPr>
        <p:spPr>
          <a:xfrm>
            <a:off x="419100" y="983397"/>
            <a:ext cx="83058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Solution-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Step-01: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Write the initial cost matrix and reduce it-</a:t>
            </a: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ABD36F-7A4A-E5AF-B648-66DD5EF73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282" y="1302759"/>
            <a:ext cx="3200400" cy="269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7A0D91-DD9B-D1E6-CC14-B74DB60BC4FF}"/>
              </a:ext>
            </a:extLst>
          </p:cNvPr>
          <p:cNvSpPr txBox="1"/>
          <p:nvPr/>
        </p:nvSpPr>
        <p:spPr>
          <a:xfrm>
            <a:off x="732559" y="4495800"/>
            <a:ext cx="76788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Rules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To reduce a matrix, perform the row reduction and column reduction of the matrix separately.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A row or a column is said to be reduced if it contains at least one entry ‘0’ in it.</a:t>
            </a:r>
          </a:p>
        </p:txBody>
      </p:sp>
    </p:spTree>
    <p:extLst>
      <p:ext uri="{BB962C8B-B14F-4D97-AF65-F5344CB8AC3E}">
        <p14:creationId xmlns:p14="http://schemas.microsoft.com/office/powerpoint/2010/main" val="404668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EA7A5-0DA8-D9AB-444A-668B733535B3}"/>
              </a:ext>
            </a:extLst>
          </p:cNvPr>
          <p:cNvSpPr txBox="1"/>
          <p:nvPr/>
        </p:nvSpPr>
        <p:spPr>
          <a:xfrm>
            <a:off x="419100" y="838200"/>
            <a:ext cx="83058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Row Reduction-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Consider the rows of above matrix one by one. </a:t>
            </a:r>
          </a:p>
          <a:p>
            <a:pPr marL="342900" indent="-342900" algn="l" fontAlgn="base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If the row already contains an entry ‘0’, then-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that row.</a:t>
            </a:r>
          </a:p>
          <a:p>
            <a:pPr marL="342900" indent="-342900" algn="l" fontAlgn="base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If the row does not contain an entry ‘0’, then-</a:t>
            </a:r>
          </a:p>
          <a:p>
            <a:pPr marL="800100" lvl="1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Reduce that particular row.</a:t>
            </a:r>
          </a:p>
          <a:p>
            <a:pPr marL="800100" lvl="1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Select the least value element from that row.</a:t>
            </a:r>
          </a:p>
          <a:p>
            <a:pPr marL="800100" lvl="1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Subtract that element from each element of that row.</a:t>
            </a:r>
          </a:p>
          <a:p>
            <a:pPr marL="800100" lvl="1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This will create an entry ‘0’ in that row, thus reducing that row.</a:t>
            </a: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EE916-94C0-2CE8-132A-0CB1081CCE7F}"/>
              </a:ext>
            </a:extLst>
          </p:cNvPr>
          <p:cNvSpPr txBox="1"/>
          <p:nvPr/>
        </p:nvSpPr>
        <p:spPr>
          <a:xfrm>
            <a:off x="975911" y="4876174"/>
            <a:ext cx="243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Performing this, we obtain the following row-reduced matrix-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AEA6E60-B1FC-6C78-5591-EAE3521F7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191000"/>
            <a:ext cx="2834089" cy="238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595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EA7A5-0DA8-D9AB-444A-668B733535B3}"/>
              </a:ext>
            </a:extLst>
          </p:cNvPr>
          <p:cNvSpPr txBox="1"/>
          <p:nvPr/>
        </p:nvSpPr>
        <p:spPr>
          <a:xfrm>
            <a:off x="419100" y="838200"/>
            <a:ext cx="83058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Column Reduction-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Consider the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columns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of above row-reduced matrix one by one. </a:t>
            </a:r>
          </a:p>
          <a:p>
            <a:pPr marL="342900" indent="-342900" algn="l" fontAlgn="base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If the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column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already contains an entry ‘0’, then-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that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column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.</a:t>
            </a:r>
          </a:p>
          <a:p>
            <a:pPr marL="342900" indent="-342900" algn="l" fontAlgn="base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If the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column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does not contain an entry ‘0’, then-</a:t>
            </a:r>
          </a:p>
          <a:p>
            <a:pPr marL="800100" lvl="1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Reduce that particular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column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.</a:t>
            </a:r>
          </a:p>
          <a:p>
            <a:pPr marL="800100" lvl="1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Select the least value element from that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column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.</a:t>
            </a:r>
          </a:p>
          <a:p>
            <a:pPr marL="800100" lvl="1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Subtract that element from each element of that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column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.</a:t>
            </a:r>
          </a:p>
          <a:p>
            <a:pPr marL="800100" lvl="1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This will create an entry ‘0’ in that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column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, thus reducing that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column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.</a:t>
            </a: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EE916-94C0-2CE8-132A-0CB1081CCE7F}"/>
              </a:ext>
            </a:extLst>
          </p:cNvPr>
          <p:cNvSpPr txBox="1"/>
          <p:nvPr/>
        </p:nvSpPr>
        <p:spPr>
          <a:xfrm>
            <a:off x="975911" y="4876174"/>
            <a:ext cx="243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Performing this, we obtain the following </a:t>
            </a:r>
            <a:r>
              <a:rPr lang="en-US" dirty="0">
                <a:solidFill>
                  <a:srgbClr val="FF0000"/>
                </a:solidFill>
                <a:latin typeface="Arimo"/>
              </a:rPr>
              <a:t>column</a:t>
            </a:r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-reduced matrix-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B2DFB5F-2ADD-A914-3136-D0C1B477B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891" y="4229702"/>
            <a:ext cx="2895600" cy="243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112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571500" y="1277642"/>
            <a:ext cx="8001000" cy="474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/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Finally, the initial distance matrix is completely reduced.</a:t>
            </a:r>
          </a:p>
          <a:p>
            <a:pPr marL="342900" indent="-342900" algn="l"/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Now, we calculate the cost of node-1 for state-space tree by adding all the reduction elements.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C(1) = Cost(1)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Sum of all reduction elements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4 + 5 + 6 + 2 + 1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18</a:t>
            </a:r>
          </a:p>
          <a:p>
            <a:pPr algn="l">
              <a:buNone/>
            </a:pPr>
            <a:endParaRPr lang="en-US" sz="2400" dirty="0">
              <a:solidFill>
                <a:srgbClr val="303030"/>
              </a:solidFill>
              <a:latin typeface="Arimo"/>
            </a:endParaRPr>
          </a:p>
          <a:p>
            <a:pPr algn="l">
              <a:buNone/>
            </a:pPr>
            <a:r>
              <a:rPr lang="en-US" sz="2400" dirty="0">
                <a:solidFill>
                  <a:srgbClr val="303030"/>
                </a:solidFill>
                <a:latin typeface="Arimo"/>
              </a:rPr>
              <a:t>Now move to </a:t>
            </a:r>
            <a:r>
              <a:rPr lang="en-US" sz="2400" b="1" dirty="0">
                <a:solidFill>
                  <a:srgbClr val="303030"/>
                </a:solidFill>
                <a:latin typeface="Arimo"/>
              </a:rPr>
              <a:t>Step-2...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197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822132"/>
            <a:ext cx="8001000" cy="521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Step-02:</a:t>
            </a:r>
            <a:endParaRPr lang="en-US" sz="2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consider all other vertices one by one.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select the best vertex where we can land upon to minimize the tour cost.</a:t>
            </a:r>
          </a:p>
          <a:p>
            <a:pPr algn="l" fontAlgn="base">
              <a:buNone/>
            </a:pPr>
            <a:endParaRPr lang="en-US" sz="20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sz="2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Choosing To Go To Vertex-B: Node-2 (Path A → B)</a:t>
            </a:r>
            <a:endParaRPr lang="en-US" sz="2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From the reduced matrix of step-01, M[</a:t>
            </a:r>
            <a:r>
              <a:rPr lang="en-US" sz="2000" b="0" i="0" dirty="0" err="1">
                <a:solidFill>
                  <a:srgbClr val="303030"/>
                </a:solidFill>
                <a:effectLst/>
                <a:latin typeface="Arimo"/>
              </a:rPr>
              <a:t>A,B</a:t>
            </a: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] = 0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Set row-A and column-B to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sz="2000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Set M[</a:t>
            </a:r>
            <a:r>
              <a:rPr lang="en-US" sz="2000" b="0" i="0" dirty="0" err="1">
                <a:solidFill>
                  <a:srgbClr val="303030"/>
                </a:solidFill>
                <a:effectLst/>
                <a:latin typeface="Arimo"/>
              </a:rPr>
              <a:t>B,A</a:t>
            </a: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] =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sz="20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endParaRPr lang="en-US" sz="20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 resulting cost matrix is-</a:t>
            </a:r>
          </a:p>
          <a:p>
            <a:pPr algn="l">
              <a:buNone/>
            </a:pPr>
            <a:endParaRPr lang="en-IN" sz="24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59191F8-2916-F800-7079-7046E960A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8" y="4038600"/>
            <a:ext cx="3033712" cy="255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5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822132"/>
            <a:ext cx="8001000" cy="158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reduce this matrix.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Then, we find out the cost of node-02.</a:t>
            </a:r>
          </a:p>
          <a:p>
            <a:pPr algn="l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3D065-403A-E039-402E-FD3E5A0D679D}"/>
              </a:ext>
            </a:extLst>
          </p:cNvPr>
          <p:cNvSpPr txBox="1"/>
          <p:nvPr/>
        </p:nvSpPr>
        <p:spPr>
          <a:xfrm>
            <a:off x="228600" y="2151727"/>
            <a:ext cx="44196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Row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row-1 as all its elements are </a:t>
            </a:r>
            <a:r>
              <a:rPr lang="en-US" sz="14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Reduce all the elements of row-2 by 13.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row-3.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row-4.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99338-65EE-362B-BB1F-08D3A55C65DC}"/>
              </a:ext>
            </a:extLst>
          </p:cNvPr>
          <p:cNvSpPr txBox="1"/>
          <p:nvPr/>
        </p:nvSpPr>
        <p:spPr>
          <a:xfrm>
            <a:off x="4689764" y="2203148"/>
            <a:ext cx="43434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Column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Reduce the elements of column-1 by 5.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column-2 as all its elements are </a:t>
            </a:r>
            <a:r>
              <a:rPr lang="en-US" sz="14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column-3.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column-4.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1E55E-0D04-1BBD-6890-C4371589B237}"/>
              </a:ext>
            </a:extLst>
          </p:cNvPr>
          <p:cNvCxnSpPr/>
          <p:nvPr/>
        </p:nvCxnSpPr>
        <p:spPr bwMode="auto">
          <a:xfrm>
            <a:off x="4648200" y="1981200"/>
            <a:ext cx="0" cy="4648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FBB7C634-282E-5205-2982-36FF1F1DD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88586"/>
            <a:ext cx="2895598" cy="243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81205042-EF66-982F-14A7-A9D899EA4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305300"/>
            <a:ext cx="2895598" cy="243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572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400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Finally, the matrix is completely reduced.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Now, we calculate the cost of node-2.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C(2)	= Cost(2)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Cost(1) + Sum of reduction elements + M[</a:t>
            </a:r>
            <a:r>
              <a:rPr lang="en-US" sz="2400" b="0" i="0" dirty="0" err="1">
                <a:solidFill>
                  <a:srgbClr val="303030"/>
                </a:solidFill>
                <a:effectLst/>
                <a:latin typeface="Arimo"/>
              </a:rPr>
              <a:t>A,B</a:t>
            </a: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]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18 + (13 + 5) + 0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36</a:t>
            </a:r>
          </a:p>
          <a:p>
            <a:pPr algn="l">
              <a:buNone/>
            </a:pPr>
            <a:endParaRPr lang="en-US" sz="2400" dirty="0">
              <a:solidFill>
                <a:srgbClr val="303030"/>
              </a:solidFill>
              <a:latin typeface="Arimo"/>
            </a:endParaRPr>
          </a:p>
          <a:p>
            <a:pPr algn="l">
              <a:buNone/>
            </a:pPr>
            <a:r>
              <a:rPr lang="en-US" sz="2400" dirty="0">
                <a:solidFill>
                  <a:srgbClr val="303030"/>
                </a:solidFill>
                <a:latin typeface="Arimo"/>
              </a:rPr>
              <a:t>Now check remaining paths from A, i.e. A-&gt; C and A-&gt; 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16498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305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Choosing To Go To Vertex-C: Node-3 (Path A → C)</a:t>
            </a:r>
            <a:endParaRPr lang="en-US" sz="2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From the reduced matrix of step-01, M[</a:t>
            </a:r>
            <a:r>
              <a:rPr lang="en-US" sz="2000" b="0" i="0" dirty="0" err="1">
                <a:solidFill>
                  <a:srgbClr val="303030"/>
                </a:solidFill>
                <a:effectLst/>
                <a:latin typeface="Arimo"/>
              </a:rPr>
              <a:t>A,C</a:t>
            </a: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] = 7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Set row-A and column-C to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sz="2000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Set M[</a:t>
            </a:r>
            <a:r>
              <a:rPr lang="en-US" sz="2000" b="0" i="0" dirty="0" err="1">
                <a:solidFill>
                  <a:srgbClr val="303030"/>
                </a:solidFill>
                <a:effectLst/>
                <a:latin typeface="Arimo"/>
              </a:rPr>
              <a:t>C,A</a:t>
            </a: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] =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sz="20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 resulting cost matrix is-</a:t>
            </a:r>
          </a:p>
          <a:p>
            <a:pPr algn="l" fontAlgn="base">
              <a:buNone/>
            </a:pPr>
            <a:endParaRPr lang="en-IN" sz="2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8BEBB7B-CB92-70ED-79AA-E72654833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3237126"/>
            <a:ext cx="3033712" cy="255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117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822132"/>
            <a:ext cx="8001000" cy="158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reduce this matrix.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Then, we find out the cost of node-03.</a:t>
            </a:r>
          </a:p>
          <a:p>
            <a:pPr algn="l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3D065-403A-E039-402E-FD3E5A0D679D}"/>
              </a:ext>
            </a:extLst>
          </p:cNvPr>
          <p:cNvSpPr txBox="1"/>
          <p:nvPr/>
        </p:nvSpPr>
        <p:spPr>
          <a:xfrm>
            <a:off x="228600" y="2151727"/>
            <a:ext cx="44196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Row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row-1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row-2.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row-3.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row-4.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99338-65EE-362B-BB1F-08D3A55C65DC}"/>
              </a:ext>
            </a:extLst>
          </p:cNvPr>
          <p:cNvSpPr txBox="1"/>
          <p:nvPr/>
        </p:nvSpPr>
        <p:spPr>
          <a:xfrm>
            <a:off x="4689764" y="2203148"/>
            <a:ext cx="43434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Column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column-1.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column-2.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column-3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column-4.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1E55E-0D04-1BBD-6890-C4371589B237}"/>
              </a:ext>
            </a:extLst>
          </p:cNvPr>
          <p:cNvCxnSpPr/>
          <p:nvPr/>
        </p:nvCxnSpPr>
        <p:spPr bwMode="auto">
          <a:xfrm>
            <a:off x="4648200" y="1981200"/>
            <a:ext cx="0" cy="4648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F2C781F-E6A2-AB80-3A2E-1215EA736780}"/>
              </a:ext>
            </a:extLst>
          </p:cNvPr>
          <p:cNvSpPr txBox="1"/>
          <p:nvPr/>
        </p:nvSpPr>
        <p:spPr>
          <a:xfrm>
            <a:off x="31173" y="5089772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Thus, the matrix is already row-reduced.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3A3243-D47A-5413-251D-ABF3F6B186FC}"/>
              </a:ext>
            </a:extLst>
          </p:cNvPr>
          <p:cNvSpPr txBox="1"/>
          <p:nvPr/>
        </p:nvSpPr>
        <p:spPr>
          <a:xfrm>
            <a:off x="4741720" y="5089772"/>
            <a:ext cx="4066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Thus, the matrix is already column reduced.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79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400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Finally, the matrix is completely reduced.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Now, we calculate the cost of node-3.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C(3)	= Cost(3)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Cost(1) + Sum of reduction elements + M[</a:t>
            </a:r>
            <a:r>
              <a:rPr lang="en-US" sz="2400" b="0" i="0" dirty="0" err="1">
                <a:solidFill>
                  <a:srgbClr val="303030"/>
                </a:solidFill>
                <a:effectLst/>
                <a:latin typeface="Arimo"/>
              </a:rPr>
              <a:t>A,C</a:t>
            </a: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]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18 + 0+ </a:t>
            </a:r>
            <a:r>
              <a:rPr lang="en-US" sz="2400" dirty="0">
                <a:solidFill>
                  <a:srgbClr val="303030"/>
                </a:solidFill>
                <a:latin typeface="Arimo"/>
              </a:rPr>
              <a:t>7</a:t>
            </a:r>
            <a:endParaRPr lang="en-US" sz="24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25</a:t>
            </a:r>
          </a:p>
          <a:p>
            <a:pPr algn="l">
              <a:buNone/>
            </a:pPr>
            <a:endParaRPr lang="en-US" sz="2400" dirty="0">
              <a:solidFill>
                <a:srgbClr val="303030"/>
              </a:solidFill>
              <a:latin typeface="Arimo"/>
            </a:endParaRPr>
          </a:p>
          <a:p>
            <a:pPr algn="l">
              <a:buNone/>
            </a:pPr>
            <a:r>
              <a:rPr lang="en-US" sz="2400" dirty="0">
                <a:solidFill>
                  <a:srgbClr val="303030"/>
                </a:solidFill>
                <a:latin typeface="Arimo"/>
              </a:rPr>
              <a:t>Now check remaining path i.e., A-&gt; 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5668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305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Choosing To Go To Vertex-C: Node-4 (Path A → D)</a:t>
            </a:r>
            <a:endParaRPr lang="en-US" sz="2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From the reduced matrix of step-01,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A,D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 = 3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Set row-A and column-D to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Set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D,A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 =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 resulting cost matrix is-</a:t>
            </a:r>
          </a:p>
          <a:p>
            <a:pPr algn="l" fontAlgn="base">
              <a:buNone/>
            </a:pPr>
            <a:endParaRPr lang="en-IN" sz="24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D303A26-38B8-A11D-8A1D-15736C532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062287"/>
            <a:ext cx="3196129" cy="269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644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822132"/>
            <a:ext cx="8001000" cy="158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reduce this matrix.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Then, we find out the cost of node-04.</a:t>
            </a:r>
          </a:p>
          <a:p>
            <a:pPr algn="l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3D065-403A-E039-402E-FD3E5A0D679D}"/>
              </a:ext>
            </a:extLst>
          </p:cNvPr>
          <p:cNvSpPr txBox="1"/>
          <p:nvPr/>
        </p:nvSpPr>
        <p:spPr>
          <a:xfrm>
            <a:off x="228600" y="2151727"/>
            <a:ext cx="44196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Row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row-1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row-2.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Reduce all the elements of row-3 by 5.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row-4.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99338-65EE-362B-BB1F-08D3A55C65DC}"/>
              </a:ext>
            </a:extLst>
          </p:cNvPr>
          <p:cNvSpPr txBox="1"/>
          <p:nvPr/>
        </p:nvSpPr>
        <p:spPr>
          <a:xfrm>
            <a:off x="4689764" y="2203148"/>
            <a:ext cx="43434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Column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column-1.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column-2.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column-3.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column-4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1E55E-0D04-1BBD-6890-C4371589B237}"/>
              </a:ext>
            </a:extLst>
          </p:cNvPr>
          <p:cNvCxnSpPr/>
          <p:nvPr/>
        </p:nvCxnSpPr>
        <p:spPr bwMode="auto">
          <a:xfrm>
            <a:off x="4648200" y="1981200"/>
            <a:ext cx="0" cy="4648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3A3243-D47A-5413-251D-ABF3F6B186FC}"/>
              </a:ext>
            </a:extLst>
          </p:cNvPr>
          <p:cNvSpPr txBox="1"/>
          <p:nvPr/>
        </p:nvSpPr>
        <p:spPr>
          <a:xfrm>
            <a:off x="4772893" y="5149939"/>
            <a:ext cx="4066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Thus, the matrix is already column reduced.</a:t>
            </a:r>
            <a:endParaRPr lang="en-IN" sz="2400" dirty="0">
              <a:solidFill>
                <a:srgbClr val="FF0000"/>
              </a:solidFill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9081F09-785A-5DD1-DBC1-ABCC93DBE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388362"/>
            <a:ext cx="2819400" cy="237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160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838200"/>
            <a:ext cx="8001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Finally, the matrix is completely reduced.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Now, we calculate the cost of node-4.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C(4)	= Cost(4)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	= Cost(1) + Sum of reduction elements +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A,D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	= 18 + 5+ 3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	= 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AEB6A-FE0F-9C04-AC6A-B94EB68B54A6}"/>
              </a:ext>
            </a:extLst>
          </p:cNvPr>
          <p:cNvSpPr txBox="1"/>
          <p:nvPr/>
        </p:nvSpPr>
        <p:spPr>
          <a:xfrm>
            <a:off x="647700" y="3408218"/>
            <a:ext cx="7620000" cy="2985433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dirty="0">
                <a:solidFill>
                  <a:srgbClr val="303030"/>
                </a:solidFill>
                <a:effectLst/>
                <a:latin typeface="Arimo"/>
              </a:rPr>
              <a:t>Thus, we have so far-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Cost(2) = 36 (for Path A → B)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Cost(3) = 25 (for Path A → C)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Cost(4) = 26 (for Path A → D)</a:t>
            </a: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We choose the node with the lowest cost.</a:t>
            </a:r>
          </a:p>
          <a:p>
            <a:pPr marL="342900" indent="-342900" algn="l"/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Since cost for node-3 is lowest, so we prefer to visit node-3.</a:t>
            </a:r>
          </a:p>
          <a:p>
            <a:pPr marL="342900" indent="-342900" algn="l"/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Thus, we choose node-3 i.e. path </a:t>
            </a:r>
            <a:r>
              <a:rPr lang="en-US" b="1" i="0" dirty="0">
                <a:solidFill>
                  <a:srgbClr val="FF0000"/>
                </a:solidFill>
                <a:effectLst/>
                <a:latin typeface="Arimo"/>
              </a:rPr>
              <a:t>A → C</a:t>
            </a:r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A14C74-BF3D-32A2-6156-02AF707B36B6}"/>
              </a:ext>
            </a:extLst>
          </p:cNvPr>
          <p:cNvGrpSpPr/>
          <p:nvPr/>
        </p:nvGrpSpPr>
        <p:grpSpPr>
          <a:xfrm>
            <a:off x="5715000" y="3581400"/>
            <a:ext cx="2408959" cy="1833430"/>
            <a:chOff x="5749288" y="3429000"/>
            <a:chExt cx="2408959" cy="183343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A363862-B8D1-05FB-2C5D-461D38508053}"/>
                </a:ext>
              </a:extLst>
            </p:cNvPr>
            <p:cNvSpPr/>
            <p:nvPr/>
          </p:nvSpPr>
          <p:spPr bwMode="auto">
            <a:xfrm>
              <a:off x="6739545" y="3500494"/>
              <a:ext cx="426719" cy="381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6A7B1D-6666-B28E-AF95-85D17D3F8AF7}"/>
                </a:ext>
              </a:extLst>
            </p:cNvPr>
            <p:cNvSpPr/>
            <p:nvPr/>
          </p:nvSpPr>
          <p:spPr bwMode="auto">
            <a:xfrm>
              <a:off x="6774181" y="4419600"/>
              <a:ext cx="426719" cy="381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en-IN" dirty="0"/>
                <a:t>C</a:t>
              </a:r>
              <a:endParaRPr kumimoji="0" lang="e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E6E2D2C-1524-B391-7CE5-9FD70BC54256}"/>
                </a:ext>
              </a:extLst>
            </p:cNvPr>
            <p:cNvSpPr/>
            <p:nvPr/>
          </p:nvSpPr>
          <p:spPr bwMode="auto">
            <a:xfrm>
              <a:off x="5791200" y="4440382"/>
              <a:ext cx="426719" cy="381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en-IN" dirty="0"/>
                <a:t>B</a:t>
              </a:r>
              <a:endParaRPr kumimoji="0" lang="e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5D535BE-2AE3-F45F-86FA-527E0CD5843E}"/>
                </a:ext>
              </a:extLst>
            </p:cNvPr>
            <p:cNvSpPr/>
            <p:nvPr/>
          </p:nvSpPr>
          <p:spPr bwMode="auto">
            <a:xfrm>
              <a:off x="7731528" y="4419600"/>
              <a:ext cx="426719" cy="381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en-IN" dirty="0"/>
                <a:t>D</a:t>
              </a:r>
              <a:endParaRPr kumimoji="0" lang="e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F88E3B7-9359-F3B8-937E-28E08D03FAA0}"/>
                </a:ext>
              </a:extLst>
            </p:cNvPr>
            <p:cNvCxnSpPr>
              <a:stCxn id="6" idx="2"/>
              <a:endCxn id="8" idx="0"/>
            </p:cNvCxnSpPr>
            <p:nvPr/>
          </p:nvCxnSpPr>
          <p:spPr bwMode="auto">
            <a:xfrm flipH="1">
              <a:off x="6004560" y="3690994"/>
              <a:ext cx="734985" cy="7493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B438017-9E85-B6E2-2780-106D7F0D4ED5}"/>
                </a:ext>
              </a:extLst>
            </p:cNvPr>
            <p:cNvCxnSpPr>
              <a:stCxn id="6" idx="4"/>
            </p:cNvCxnSpPr>
            <p:nvPr/>
          </p:nvCxnSpPr>
          <p:spPr bwMode="auto">
            <a:xfrm flipH="1">
              <a:off x="6952904" y="3881494"/>
              <a:ext cx="1" cy="5381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221AA15-5655-9DE5-DBF7-3D855B0B1824}"/>
                </a:ext>
              </a:extLst>
            </p:cNvPr>
            <p:cNvCxnSpPr>
              <a:stCxn id="6" idx="6"/>
            </p:cNvCxnSpPr>
            <p:nvPr/>
          </p:nvCxnSpPr>
          <p:spPr bwMode="auto">
            <a:xfrm>
              <a:off x="7166264" y="3690994"/>
              <a:ext cx="734985" cy="72860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689683-8CD3-0599-DE2A-102A2893A189}"/>
                </a:ext>
              </a:extLst>
            </p:cNvPr>
            <p:cNvSpPr/>
            <p:nvPr/>
          </p:nvSpPr>
          <p:spPr bwMode="auto">
            <a:xfrm>
              <a:off x="5749288" y="4821382"/>
              <a:ext cx="510541" cy="441048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36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70A877-9567-52F5-AD39-CF0EC392FF06}"/>
                </a:ext>
              </a:extLst>
            </p:cNvPr>
            <p:cNvSpPr/>
            <p:nvPr/>
          </p:nvSpPr>
          <p:spPr bwMode="auto">
            <a:xfrm>
              <a:off x="6719453" y="4795859"/>
              <a:ext cx="510541" cy="441048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en-IN" dirty="0"/>
                <a:t>25</a:t>
              </a:r>
              <a:endParaRPr kumimoji="0" lang="e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E9F8E5-4629-B33A-6019-420071398FE6}"/>
                </a:ext>
              </a:extLst>
            </p:cNvPr>
            <p:cNvSpPr/>
            <p:nvPr/>
          </p:nvSpPr>
          <p:spPr bwMode="auto">
            <a:xfrm>
              <a:off x="7647706" y="4801767"/>
              <a:ext cx="510541" cy="441048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en-IN" dirty="0"/>
                <a:t>2</a:t>
              </a:r>
              <a:r>
                <a: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A4213AD-DE8B-7558-EF44-0505159F5DF5}"/>
                </a:ext>
              </a:extLst>
            </p:cNvPr>
            <p:cNvSpPr/>
            <p:nvPr/>
          </p:nvSpPr>
          <p:spPr bwMode="auto">
            <a:xfrm>
              <a:off x="6553892" y="3429000"/>
              <a:ext cx="837508" cy="1828689"/>
            </a:xfrm>
            <a:prstGeom prst="roundRect">
              <a:avLst/>
            </a:prstGeom>
            <a:noFill/>
            <a:ln w="1587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I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901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195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Step-03:</a:t>
            </a:r>
            <a:endParaRPr lang="en-US" sz="2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explore the vertices B and D from node-3.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now start from the cost matrix at node-3 which is-</a:t>
            </a:r>
          </a:p>
          <a:p>
            <a:pPr algn="l" fontAlgn="base">
              <a:buNone/>
            </a:pPr>
            <a:endParaRPr lang="en-IN" sz="24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F050569-A0FC-1E94-6EFD-04D574960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609604"/>
            <a:ext cx="3414712" cy="293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ED629F-EFC0-0916-18A7-67C1980F0B69}"/>
              </a:ext>
            </a:extLst>
          </p:cNvPr>
          <p:cNvSpPr txBox="1"/>
          <p:nvPr/>
        </p:nvSpPr>
        <p:spPr>
          <a:xfrm>
            <a:off x="3048000" y="56388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i="0" dirty="0">
                <a:solidFill>
                  <a:srgbClr val="303030"/>
                </a:solidFill>
                <a:effectLst/>
                <a:latin typeface="Arimo"/>
              </a:rPr>
              <a:t>Cost(3) = 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7152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305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Choosing To Go To Vertex-B: Node-5 (Path A → C → B)</a:t>
            </a:r>
            <a:endParaRPr lang="en-US" sz="2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From the reduced matrix of step-02,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C,B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 =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Set row-C and column-B to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Set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B,A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 =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 resulting cost matrix is-</a:t>
            </a:r>
          </a:p>
          <a:p>
            <a:pPr algn="l" fontAlgn="base">
              <a:buNone/>
            </a:pPr>
            <a:endParaRPr lang="en-IN" sz="24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7BD32CB-DC2B-AD40-5205-B5BC37014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73570"/>
            <a:ext cx="2957512" cy="248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977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567898"/>
            <a:ext cx="8001000" cy="158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reduce this matrix.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Then, we find out the cost of node-5.</a:t>
            </a:r>
          </a:p>
          <a:p>
            <a:pPr algn="l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3D065-403A-E039-402E-FD3E5A0D679D}"/>
              </a:ext>
            </a:extLst>
          </p:cNvPr>
          <p:cNvSpPr txBox="1"/>
          <p:nvPr/>
        </p:nvSpPr>
        <p:spPr>
          <a:xfrm>
            <a:off x="264969" y="1792180"/>
            <a:ext cx="44196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Row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row-1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Reduce all the elements of row-2 by 13.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row-3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Reduce all the elements of row-4 by 8.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99338-65EE-362B-BB1F-08D3A55C65DC}"/>
              </a:ext>
            </a:extLst>
          </p:cNvPr>
          <p:cNvSpPr txBox="1"/>
          <p:nvPr/>
        </p:nvSpPr>
        <p:spPr>
          <a:xfrm>
            <a:off x="4720936" y="1798252"/>
            <a:ext cx="4343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Column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column-1.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column-2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column-3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column-4.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1E55E-0D04-1BBD-6890-C4371589B237}"/>
              </a:ext>
            </a:extLst>
          </p:cNvPr>
          <p:cNvCxnSpPr/>
          <p:nvPr/>
        </p:nvCxnSpPr>
        <p:spPr bwMode="auto">
          <a:xfrm>
            <a:off x="4648200" y="1981200"/>
            <a:ext cx="0" cy="4648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3A3243-D47A-5413-251D-ABF3F6B186FC}"/>
              </a:ext>
            </a:extLst>
          </p:cNvPr>
          <p:cNvSpPr txBox="1"/>
          <p:nvPr/>
        </p:nvSpPr>
        <p:spPr>
          <a:xfrm>
            <a:off x="4772893" y="5149939"/>
            <a:ext cx="4066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Thus, the matrix is already column reduced.</a:t>
            </a:r>
            <a:endParaRPr lang="en-IN" sz="2400" dirty="0">
              <a:solidFill>
                <a:srgbClr val="FF0000"/>
              </a:solidFill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FAB3B3A-5DEB-D1D1-BA7D-E96EFCADE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05" y="4388504"/>
            <a:ext cx="2752231" cy="231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658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393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Finally, the matrix is completely reduced.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Now, we calculate the cost of node-5.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C(5)	= Cost(5)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Cost(3) + Sum of reduction elements + M[</a:t>
            </a:r>
            <a:r>
              <a:rPr lang="en-US" sz="2400" dirty="0" err="1">
                <a:solidFill>
                  <a:srgbClr val="303030"/>
                </a:solidFill>
                <a:latin typeface="Arimo"/>
              </a:rPr>
              <a:t>C</a:t>
            </a:r>
            <a:r>
              <a:rPr lang="en-US" sz="2400" b="0" i="0" dirty="0" err="1">
                <a:solidFill>
                  <a:srgbClr val="303030"/>
                </a:solidFill>
                <a:effectLst/>
                <a:latin typeface="Arimo"/>
              </a:rPr>
              <a:t>,B</a:t>
            </a: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]</a:t>
            </a:r>
          </a:p>
          <a:p>
            <a:pPr algn="l" fontAlgn="base">
              <a:buNone/>
            </a:pPr>
            <a:r>
              <a:rPr lang="en-US" sz="2400" b="0" i="0" dirty="0">
                <a:solidFill>
                  <a:srgbClr val="303030"/>
                </a:solidFill>
                <a:effectLst/>
                <a:latin typeface="Arimo"/>
              </a:rPr>
              <a:t>	= 25 + (13+8)+ 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sz="20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	=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sz="20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>
              <a:buNone/>
            </a:pPr>
            <a:endParaRPr lang="en-US" sz="2400" dirty="0">
              <a:solidFill>
                <a:srgbClr val="303030"/>
              </a:solidFill>
              <a:latin typeface="Arimo"/>
            </a:endParaRPr>
          </a:p>
          <a:p>
            <a:pPr algn="l">
              <a:buNone/>
            </a:pPr>
            <a:r>
              <a:rPr lang="en-US" sz="2400" dirty="0">
                <a:solidFill>
                  <a:srgbClr val="303030"/>
                </a:solidFill>
                <a:latin typeface="Arimo"/>
              </a:rPr>
              <a:t>Now check remaining path i.e., A-&gt;C-&gt; 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7243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305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Choosing To Go To Vertex-D: Node-6 (Path A → C → D)</a:t>
            </a:r>
            <a:endParaRPr lang="en-US" sz="2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From the reduced matrix of step-02,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C,D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 =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Set row-C and column-D to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Set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D,A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 =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 resulting cost matrix is-</a:t>
            </a:r>
          </a:p>
          <a:p>
            <a:pPr algn="l" fontAlgn="base">
              <a:buNone/>
            </a:pPr>
            <a:endParaRPr lang="en-IN" sz="2400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CBB10BA-1006-5C51-1C97-BE6E55332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252788"/>
            <a:ext cx="3015109" cy="253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208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567898"/>
            <a:ext cx="8001000" cy="158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reduce this matrix.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Then, we find out the cost of node-6.</a:t>
            </a:r>
          </a:p>
          <a:p>
            <a:pPr algn="l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3D065-403A-E039-402E-FD3E5A0D679D}"/>
              </a:ext>
            </a:extLst>
          </p:cNvPr>
          <p:cNvSpPr txBox="1"/>
          <p:nvPr/>
        </p:nvSpPr>
        <p:spPr>
          <a:xfrm>
            <a:off x="264969" y="1792180"/>
            <a:ext cx="4419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Row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row-1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row-2.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row-3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row-4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99338-65EE-362B-BB1F-08D3A55C65DC}"/>
              </a:ext>
            </a:extLst>
          </p:cNvPr>
          <p:cNvSpPr txBox="1"/>
          <p:nvPr/>
        </p:nvSpPr>
        <p:spPr>
          <a:xfrm>
            <a:off x="4720936" y="1798252"/>
            <a:ext cx="43434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Column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There is no need to reduce column-1.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column-2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column-3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column-4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1E55E-0D04-1BBD-6890-C4371589B237}"/>
              </a:ext>
            </a:extLst>
          </p:cNvPr>
          <p:cNvCxnSpPr/>
          <p:nvPr/>
        </p:nvCxnSpPr>
        <p:spPr bwMode="auto">
          <a:xfrm>
            <a:off x="4648200" y="1981200"/>
            <a:ext cx="0" cy="4648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3A3243-D47A-5413-251D-ABF3F6B186FC}"/>
              </a:ext>
            </a:extLst>
          </p:cNvPr>
          <p:cNvSpPr txBox="1"/>
          <p:nvPr/>
        </p:nvSpPr>
        <p:spPr>
          <a:xfrm>
            <a:off x="4772893" y="5149939"/>
            <a:ext cx="4066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Thus, the matrix is already column reduced.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E7D89B-DC3F-30F7-A409-473E178C802E}"/>
              </a:ext>
            </a:extLst>
          </p:cNvPr>
          <p:cNvSpPr txBox="1"/>
          <p:nvPr/>
        </p:nvSpPr>
        <p:spPr>
          <a:xfrm>
            <a:off x="412175" y="5149938"/>
            <a:ext cx="4066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Thus, the matrix is already column reduced.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065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305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Finally, the matrix is completely reduced.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Now, we calculate the cost of node-6.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C(6)	= Cost(6)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	= Cost(3) + Sum of reduction elements + M[</a:t>
            </a:r>
            <a:r>
              <a:rPr lang="en-US" dirty="0" err="1">
                <a:solidFill>
                  <a:srgbClr val="303030"/>
                </a:solidFill>
                <a:latin typeface="Arimo"/>
              </a:rPr>
              <a:t>C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,D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	= 25 + 0+0</a:t>
            </a:r>
          </a:p>
          <a:p>
            <a:pPr algn="l" fontAlgn="base">
              <a:buNone/>
            </a:pPr>
            <a:r>
              <a:rPr lang="en-US" dirty="0">
                <a:solidFill>
                  <a:srgbClr val="303030"/>
                </a:solidFill>
                <a:latin typeface="Arimo"/>
              </a:rPr>
              <a:t>	= 25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>
              <a:buNone/>
            </a:pPr>
            <a:endParaRPr lang="en-US" sz="2400" dirty="0">
              <a:solidFill>
                <a:srgbClr val="303030"/>
              </a:solidFill>
              <a:latin typeface="Arim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880D3-80FB-6401-8FE2-B150D9AB3081}"/>
              </a:ext>
            </a:extLst>
          </p:cNvPr>
          <p:cNvSpPr txBox="1"/>
          <p:nvPr/>
        </p:nvSpPr>
        <p:spPr>
          <a:xfrm>
            <a:off x="633845" y="3886200"/>
            <a:ext cx="8001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dirty="0">
                <a:solidFill>
                  <a:srgbClr val="303030"/>
                </a:solidFill>
                <a:effectLst/>
                <a:latin typeface="Arimo"/>
              </a:rPr>
              <a:t>Thus, we have-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Cost(5) = </a:t>
            </a:r>
            <a:r>
              <a:rPr lang="en-US" sz="14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(for Path A → C → B)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Cost(6) = 25 (for Path A → C → D)</a:t>
            </a: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We choose the node with the lowest cost.</a:t>
            </a:r>
          </a:p>
          <a:p>
            <a:pPr marL="342900" indent="-342900" algn="l"/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Since cost for node-6 is lowest, so we prefer to visit node-6.</a:t>
            </a:r>
          </a:p>
          <a:p>
            <a:pPr marL="342900" indent="-342900" algn="l"/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Thus, we choose node-6 i.e., path </a:t>
            </a:r>
            <a:r>
              <a:rPr lang="en-US" b="1" i="0" dirty="0">
                <a:solidFill>
                  <a:srgbClr val="FF0000"/>
                </a:solidFill>
                <a:effectLst/>
                <a:latin typeface="Arimo"/>
              </a:rPr>
              <a:t>C → D</a:t>
            </a:r>
            <a:r>
              <a:rPr lang="en-US" b="0" i="0" dirty="0">
                <a:solidFill>
                  <a:srgbClr val="FF0000"/>
                </a:solidFill>
                <a:effectLst/>
                <a:latin typeface="Arimo"/>
              </a:rPr>
              <a:t>.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447F5FF-C820-4C9A-C77D-891B66CBECCC}"/>
              </a:ext>
            </a:extLst>
          </p:cNvPr>
          <p:cNvGrpSpPr/>
          <p:nvPr/>
        </p:nvGrpSpPr>
        <p:grpSpPr>
          <a:xfrm>
            <a:off x="6191250" y="2812880"/>
            <a:ext cx="2408959" cy="2793244"/>
            <a:chOff x="6191250" y="2957576"/>
            <a:chExt cx="2408959" cy="279324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A66C507-C8CB-0322-22D1-470873E67C57}"/>
                </a:ext>
              </a:extLst>
            </p:cNvPr>
            <p:cNvGrpSpPr/>
            <p:nvPr/>
          </p:nvGrpSpPr>
          <p:grpSpPr>
            <a:xfrm>
              <a:off x="6191250" y="2957576"/>
              <a:ext cx="2408959" cy="1761936"/>
              <a:chOff x="5749288" y="3500494"/>
              <a:chExt cx="2408959" cy="1761936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650C3D3-25A0-D95E-C2DE-E643766208E8}"/>
                  </a:ext>
                </a:extLst>
              </p:cNvPr>
              <p:cNvSpPr/>
              <p:nvPr/>
            </p:nvSpPr>
            <p:spPr bwMode="auto">
              <a:xfrm>
                <a:off x="6739545" y="3500494"/>
                <a:ext cx="426719" cy="38100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I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5EF23FB-E8E6-5EB4-FB1C-2D2EE6D2F9DE}"/>
                  </a:ext>
                </a:extLst>
              </p:cNvPr>
              <p:cNvSpPr/>
              <p:nvPr/>
            </p:nvSpPr>
            <p:spPr bwMode="auto">
              <a:xfrm>
                <a:off x="6774181" y="4419600"/>
                <a:ext cx="426719" cy="38100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C</a:t>
                </a:r>
                <a:endPara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0294C05-35AA-33F9-C8D2-7CB138A201AD}"/>
                  </a:ext>
                </a:extLst>
              </p:cNvPr>
              <p:cNvSpPr/>
              <p:nvPr/>
            </p:nvSpPr>
            <p:spPr bwMode="auto">
              <a:xfrm>
                <a:off x="5791200" y="4440382"/>
                <a:ext cx="426719" cy="38100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B</a:t>
                </a:r>
                <a:endPara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472716A-50A1-3880-A637-AB0E98274FEF}"/>
                  </a:ext>
                </a:extLst>
              </p:cNvPr>
              <p:cNvSpPr/>
              <p:nvPr/>
            </p:nvSpPr>
            <p:spPr bwMode="auto">
              <a:xfrm>
                <a:off x="7731528" y="4419600"/>
                <a:ext cx="426719" cy="38100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D</a:t>
                </a:r>
                <a:endPara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B038DB7-DCBB-B4BB-8322-06D0B4006661}"/>
                  </a:ext>
                </a:extLst>
              </p:cNvPr>
              <p:cNvCxnSpPr>
                <a:stCxn id="7" idx="2"/>
                <a:endCxn id="9" idx="0"/>
              </p:cNvCxnSpPr>
              <p:nvPr/>
            </p:nvCxnSpPr>
            <p:spPr bwMode="auto">
              <a:xfrm flipH="1">
                <a:off x="6004560" y="3690994"/>
                <a:ext cx="734985" cy="7493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30DE4AE-7BB5-6678-1889-D3930A7C433B}"/>
                  </a:ext>
                </a:extLst>
              </p:cNvPr>
              <p:cNvCxnSpPr>
                <a:stCxn id="7" idx="4"/>
              </p:cNvCxnSpPr>
              <p:nvPr/>
            </p:nvCxnSpPr>
            <p:spPr bwMode="auto">
              <a:xfrm flipH="1">
                <a:off x="6952904" y="3881494"/>
                <a:ext cx="1" cy="53810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74DD7EC-720E-AAB4-E8E1-160ACA9EE3F0}"/>
                  </a:ext>
                </a:extLst>
              </p:cNvPr>
              <p:cNvCxnSpPr>
                <a:stCxn id="7" idx="6"/>
              </p:cNvCxnSpPr>
              <p:nvPr/>
            </p:nvCxnSpPr>
            <p:spPr bwMode="auto">
              <a:xfrm>
                <a:off x="7166264" y="3690994"/>
                <a:ext cx="734985" cy="72860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6A9B4D6-42B9-A828-CDC7-5C56AF10DDE5}"/>
                  </a:ext>
                </a:extLst>
              </p:cNvPr>
              <p:cNvSpPr/>
              <p:nvPr/>
            </p:nvSpPr>
            <p:spPr bwMode="auto">
              <a:xfrm>
                <a:off x="5749288" y="4821382"/>
                <a:ext cx="510541" cy="441048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I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36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D284EC3-7435-DAE7-AC0C-2D85E3DC1B58}"/>
                  </a:ext>
                </a:extLst>
              </p:cNvPr>
              <p:cNvSpPr/>
              <p:nvPr/>
            </p:nvSpPr>
            <p:spPr bwMode="auto">
              <a:xfrm>
                <a:off x="6400453" y="4363220"/>
                <a:ext cx="445080" cy="458161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25</a:t>
                </a:r>
                <a:endPara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A8D2AC8-A9D2-9A72-E6A2-AC19F82F45E4}"/>
                  </a:ext>
                </a:extLst>
              </p:cNvPr>
              <p:cNvSpPr/>
              <p:nvPr/>
            </p:nvSpPr>
            <p:spPr bwMode="auto">
              <a:xfrm>
                <a:off x="7647706" y="4801767"/>
                <a:ext cx="510541" cy="441048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2</a:t>
                </a:r>
                <a:r>
                  <a:rPr kumimoji="0" lang="en-I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6</a:t>
                </a:r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F0C15D1-63C4-C7AC-C1A9-F753D028A4B4}"/>
                </a:ext>
              </a:extLst>
            </p:cNvPr>
            <p:cNvSpPr/>
            <p:nvPr/>
          </p:nvSpPr>
          <p:spPr bwMode="auto">
            <a:xfrm>
              <a:off x="6700407" y="4862875"/>
              <a:ext cx="426719" cy="381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BC81CBA-A613-EBD0-0731-90E797EB99F0}"/>
                </a:ext>
              </a:extLst>
            </p:cNvPr>
            <p:cNvSpPr/>
            <p:nvPr/>
          </p:nvSpPr>
          <p:spPr bwMode="auto">
            <a:xfrm>
              <a:off x="7741923" y="4862875"/>
              <a:ext cx="426719" cy="381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D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71DB614-A579-DD3B-3B46-EE968D60801E}"/>
                </a:ext>
              </a:extLst>
            </p:cNvPr>
            <p:cNvCxnSpPr>
              <a:stCxn id="8" idx="4"/>
            </p:cNvCxnSpPr>
            <p:nvPr/>
          </p:nvCxnSpPr>
          <p:spPr bwMode="auto">
            <a:xfrm flipH="1">
              <a:off x="6913766" y="4257682"/>
              <a:ext cx="515737" cy="60519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6BEB5B8-E7F8-786E-51BC-9E7A716CC5AF}"/>
                </a:ext>
              </a:extLst>
            </p:cNvPr>
            <p:cNvCxnSpPr>
              <a:stCxn id="8" idx="4"/>
              <a:endCxn id="31" idx="0"/>
            </p:cNvCxnSpPr>
            <p:nvPr/>
          </p:nvCxnSpPr>
          <p:spPr bwMode="auto">
            <a:xfrm>
              <a:off x="7429503" y="4257682"/>
              <a:ext cx="525780" cy="60519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1DAD49B-2EF8-C14B-2F3F-0B431FC00488}"/>
                </a:ext>
              </a:extLst>
            </p:cNvPr>
            <p:cNvSpPr/>
            <p:nvPr/>
          </p:nvSpPr>
          <p:spPr bwMode="auto">
            <a:xfrm>
              <a:off x="7970521" y="5253393"/>
              <a:ext cx="510541" cy="441048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en-IN" dirty="0"/>
                <a:t>25</a:t>
              </a:r>
              <a:endParaRPr kumimoji="0" lang="e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D6CA60B-0922-9136-CB60-77A8A9DEA43F}"/>
                </a:ext>
              </a:extLst>
            </p:cNvPr>
            <p:cNvSpPr/>
            <p:nvPr/>
          </p:nvSpPr>
          <p:spPr bwMode="auto">
            <a:xfrm>
              <a:off x="6627669" y="5309772"/>
              <a:ext cx="510541" cy="441048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en-US" b="0" i="0" dirty="0">
                  <a:solidFill>
                    <a:srgbClr val="303030"/>
                  </a:solidFill>
                  <a:effectLst/>
                  <a:latin typeface="Arimo"/>
                </a:rPr>
                <a:t> ∞ </a:t>
              </a:r>
              <a:endParaRPr kumimoji="0" lang="e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2102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195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Step-04:</a:t>
            </a:r>
            <a:endParaRPr lang="en-US" sz="2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explore vertex B from node-6.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start with the cost matrix at node-6 which is-</a:t>
            </a:r>
          </a:p>
          <a:p>
            <a:pPr algn="l" fontAlgn="base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D629F-EFC0-0916-18A7-67C1980F0B69}"/>
              </a:ext>
            </a:extLst>
          </p:cNvPr>
          <p:cNvSpPr txBox="1"/>
          <p:nvPr/>
        </p:nvSpPr>
        <p:spPr>
          <a:xfrm>
            <a:off x="3048000" y="56388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i="0" dirty="0">
                <a:solidFill>
                  <a:srgbClr val="303030"/>
                </a:solidFill>
                <a:effectLst/>
                <a:latin typeface="Arimo"/>
              </a:rPr>
              <a:t>Cost(6) = 25</a:t>
            </a:r>
            <a:endParaRPr lang="en-IN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56915912-804A-26A6-20AE-C92953FF1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667000"/>
            <a:ext cx="3338512" cy="281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224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1066800"/>
            <a:ext cx="8001000" cy="305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Choosing To Go To Vertex-B: Node-7 (Path A → C → D →B)</a:t>
            </a:r>
            <a:endParaRPr lang="en-US" sz="2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From the reduced matrix of step-03,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D,B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 = 0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Set row-D and column-B to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Set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B,A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 =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 resulting cost matrix is-</a:t>
            </a:r>
          </a:p>
          <a:p>
            <a:pPr algn="l" fontAlgn="base">
              <a:buNone/>
            </a:pPr>
            <a:endParaRPr lang="en-IN" sz="2400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421D7AE2-5B84-985C-CC4E-1BF7D1A39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273269"/>
            <a:ext cx="3262312" cy="2746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099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57200" y="567898"/>
            <a:ext cx="8001000" cy="158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Now,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We reduce this matrix.</a:t>
            </a:r>
          </a:p>
          <a:p>
            <a:pPr marL="342900" indent="-342900" algn="l"/>
            <a:r>
              <a:rPr lang="en-US" sz="2000" b="0" i="0" dirty="0">
                <a:solidFill>
                  <a:srgbClr val="303030"/>
                </a:solidFill>
                <a:effectLst/>
                <a:latin typeface="Arimo"/>
              </a:rPr>
              <a:t>Then, we find out the cost of node-7.</a:t>
            </a:r>
          </a:p>
          <a:p>
            <a:pPr algn="l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3D065-403A-E039-402E-FD3E5A0D679D}"/>
              </a:ext>
            </a:extLst>
          </p:cNvPr>
          <p:cNvSpPr txBox="1"/>
          <p:nvPr/>
        </p:nvSpPr>
        <p:spPr>
          <a:xfrm>
            <a:off x="264969" y="1792180"/>
            <a:ext cx="441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Row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row-1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row-2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row-3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row-4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99338-65EE-362B-BB1F-08D3A55C65DC}"/>
              </a:ext>
            </a:extLst>
          </p:cNvPr>
          <p:cNvSpPr txBox="1"/>
          <p:nvPr/>
        </p:nvSpPr>
        <p:spPr>
          <a:xfrm>
            <a:off x="4720936" y="1798252"/>
            <a:ext cx="4343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Column Reduction-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column-1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column-2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column-3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can not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reduce column-4 as all its elements are </a:t>
            </a:r>
            <a:r>
              <a:rPr lang="en-US" sz="1800" b="0" i="0" dirty="0">
                <a:solidFill>
                  <a:srgbClr val="303030"/>
                </a:solidFill>
                <a:effectLst/>
                <a:latin typeface="Arimo"/>
              </a:rPr>
              <a:t>∞.</a:t>
            </a:r>
            <a:br>
              <a:rPr lang="en-US" dirty="0"/>
            </a:b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11E55E-0D04-1BBD-6890-C4371589B237}"/>
              </a:ext>
            </a:extLst>
          </p:cNvPr>
          <p:cNvCxnSpPr/>
          <p:nvPr/>
        </p:nvCxnSpPr>
        <p:spPr bwMode="auto">
          <a:xfrm>
            <a:off x="4648200" y="1981200"/>
            <a:ext cx="0" cy="4648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3A3243-D47A-5413-251D-ABF3F6B186FC}"/>
              </a:ext>
            </a:extLst>
          </p:cNvPr>
          <p:cNvSpPr txBox="1"/>
          <p:nvPr/>
        </p:nvSpPr>
        <p:spPr>
          <a:xfrm>
            <a:off x="4772893" y="5149939"/>
            <a:ext cx="4066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Thus, the matrix is already column reduced.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E7D89B-DC3F-30F7-A409-473E178C802E}"/>
              </a:ext>
            </a:extLst>
          </p:cNvPr>
          <p:cNvSpPr txBox="1"/>
          <p:nvPr/>
        </p:nvSpPr>
        <p:spPr>
          <a:xfrm>
            <a:off x="412175" y="5149938"/>
            <a:ext cx="4066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Thus, the matrix is already column reduced.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526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B3357-11C7-9897-ACE2-9B3A58D7669C}"/>
              </a:ext>
            </a:extLst>
          </p:cNvPr>
          <p:cNvSpPr txBox="1"/>
          <p:nvPr/>
        </p:nvSpPr>
        <p:spPr>
          <a:xfrm>
            <a:off x="304800" y="152400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u="sng" dirty="0">
                <a:solidFill>
                  <a:srgbClr val="C00000"/>
                </a:solidFill>
                <a:effectLst/>
                <a:latin typeface="Roboto Condensed" panose="02000000000000000000" pitchFamily="2" charset="0"/>
              </a:rPr>
              <a:t>TRAVELLING SALESMAN PROBLEM USING BRANCH AND BOUND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>
              <a:buNone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B093-F91A-1999-A01A-DE6FC64A3298}"/>
              </a:ext>
            </a:extLst>
          </p:cNvPr>
          <p:cNvSpPr txBox="1"/>
          <p:nvPr/>
        </p:nvSpPr>
        <p:spPr>
          <a:xfrm>
            <a:off x="427410" y="824652"/>
            <a:ext cx="8001000" cy="342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Finally, the matrix is completely reduced.</a:t>
            </a:r>
          </a:p>
          <a:p>
            <a:pPr marL="342900" indent="-342900" algn="l"/>
            <a:r>
              <a:rPr lang="en-US" dirty="0">
                <a:solidFill>
                  <a:srgbClr val="303030"/>
                </a:solidFill>
                <a:latin typeface="Arimo"/>
              </a:rPr>
              <a:t>All the entries have become ∞.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Now, we calculate the cost of node-7.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marL="342900" indent="-342900" algn="l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C(7)	= Cost(7)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	= Cost(6) + Sum of reduction elements + M[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D,B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]</a:t>
            </a: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	= 25 + 0 + 0</a:t>
            </a:r>
            <a:endParaRPr lang="en-US" dirty="0">
              <a:solidFill>
                <a:srgbClr val="303030"/>
              </a:solidFill>
              <a:latin typeface="Arimo"/>
            </a:endParaRPr>
          </a:p>
          <a:p>
            <a:pPr algn="l" fontAlgn="base">
              <a:buNone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	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= 25</a:t>
            </a:r>
          </a:p>
          <a:p>
            <a:pPr algn="l">
              <a:buNone/>
            </a:pPr>
            <a:endParaRPr lang="en-US" sz="2400" dirty="0">
              <a:solidFill>
                <a:srgbClr val="303030"/>
              </a:solidFill>
              <a:latin typeface="Arim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66C61-EC26-509D-5A2B-0D66C68F516A}"/>
              </a:ext>
            </a:extLst>
          </p:cNvPr>
          <p:cNvSpPr txBox="1"/>
          <p:nvPr/>
        </p:nvSpPr>
        <p:spPr>
          <a:xfrm>
            <a:off x="184613" y="3873588"/>
            <a:ext cx="5486400" cy="2973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Thus,</a:t>
            </a:r>
          </a:p>
          <a:p>
            <a:pPr marL="342900" indent="-342900" algn="l"/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Optimal path is: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mo"/>
              </a:rPr>
              <a:t>A → C → D → B → A</a:t>
            </a:r>
            <a:endParaRPr lang="en-US" sz="2400" b="0" i="0" dirty="0">
              <a:solidFill>
                <a:srgbClr val="FF0000"/>
              </a:solidFill>
              <a:effectLst/>
              <a:latin typeface="Arimo"/>
            </a:endParaRPr>
          </a:p>
          <a:p>
            <a:pPr marL="342900" indent="-342900" algn="l"/>
            <a:r>
              <a:rPr lang="en-US" sz="2400" b="0" i="0" dirty="0">
                <a:solidFill>
                  <a:srgbClr val="FF0000"/>
                </a:solidFill>
                <a:effectLst/>
                <a:latin typeface="Arimo"/>
              </a:rPr>
              <a:t>Cost of Optimal path =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mo"/>
              </a:rPr>
              <a:t>25 units</a:t>
            </a:r>
          </a:p>
          <a:p>
            <a:pPr marL="342900" indent="-342900" algn="just"/>
            <a:endParaRPr lang="en-US" sz="2400" dirty="0">
              <a:latin typeface="Arimo"/>
            </a:endParaRPr>
          </a:p>
          <a:p>
            <a:pPr algn="just">
              <a:buNone/>
            </a:pPr>
            <a:r>
              <a:rPr lang="en-US" sz="2400" b="1" i="0" dirty="0">
                <a:effectLst/>
                <a:latin typeface="Arimo"/>
              </a:rPr>
              <a:t>Note: </a:t>
            </a:r>
            <a:r>
              <a:rPr lang="en-US" sz="2400" i="0" dirty="0">
                <a:effectLst/>
                <a:latin typeface="Arimo"/>
              </a:rPr>
              <a:t>Among all leaf nodes, this path also has minimum value, so all the other branches are killed.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01BC09E-2F8D-9DDB-7BDE-8CA7145A804C}"/>
              </a:ext>
            </a:extLst>
          </p:cNvPr>
          <p:cNvGrpSpPr/>
          <p:nvPr/>
        </p:nvGrpSpPr>
        <p:grpSpPr>
          <a:xfrm>
            <a:off x="6201641" y="2743200"/>
            <a:ext cx="2408959" cy="2793244"/>
            <a:chOff x="6191250" y="2957576"/>
            <a:chExt cx="2408959" cy="279324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38AFB96-86B5-B486-065A-8A58D16A1036}"/>
                </a:ext>
              </a:extLst>
            </p:cNvPr>
            <p:cNvGrpSpPr/>
            <p:nvPr/>
          </p:nvGrpSpPr>
          <p:grpSpPr>
            <a:xfrm>
              <a:off x="6191250" y="2957576"/>
              <a:ext cx="2408959" cy="1761936"/>
              <a:chOff x="5749288" y="3500494"/>
              <a:chExt cx="2408959" cy="1761936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593D8CF-2FD6-0B1F-9CE6-3DDDE36CBCE6}"/>
                  </a:ext>
                </a:extLst>
              </p:cNvPr>
              <p:cNvSpPr/>
              <p:nvPr/>
            </p:nvSpPr>
            <p:spPr bwMode="auto">
              <a:xfrm>
                <a:off x="6739545" y="3500494"/>
                <a:ext cx="426719" cy="38100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I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D2796A0-5E5E-EC5B-F041-F8713F8EF131}"/>
                  </a:ext>
                </a:extLst>
              </p:cNvPr>
              <p:cNvSpPr/>
              <p:nvPr/>
            </p:nvSpPr>
            <p:spPr bwMode="auto">
              <a:xfrm>
                <a:off x="6774181" y="4419600"/>
                <a:ext cx="426719" cy="38100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C</a:t>
                </a:r>
                <a:endPara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C4B098D-F394-ADFD-D1B0-0F80456844E2}"/>
                  </a:ext>
                </a:extLst>
              </p:cNvPr>
              <p:cNvSpPr/>
              <p:nvPr/>
            </p:nvSpPr>
            <p:spPr bwMode="auto">
              <a:xfrm>
                <a:off x="5791200" y="4440382"/>
                <a:ext cx="426719" cy="38100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B</a:t>
                </a:r>
                <a:endPara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9D3F1BF-51E6-A79F-FE9B-52954EFDD31B}"/>
                  </a:ext>
                </a:extLst>
              </p:cNvPr>
              <p:cNvSpPr/>
              <p:nvPr/>
            </p:nvSpPr>
            <p:spPr bwMode="auto">
              <a:xfrm>
                <a:off x="7731528" y="4419600"/>
                <a:ext cx="426719" cy="381000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D</a:t>
                </a:r>
                <a:endPara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F300793-E7F8-89F0-8EA8-7CBB52099536}"/>
                  </a:ext>
                </a:extLst>
              </p:cNvPr>
              <p:cNvCxnSpPr>
                <a:stCxn id="14" idx="2"/>
                <a:endCxn id="16" idx="0"/>
              </p:cNvCxnSpPr>
              <p:nvPr/>
            </p:nvCxnSpPr>
            <p:spPr bwMode="auto">
              <a:xfrm flipH="1">
                <a:off x="6004560" y="3690994"/>
                <a:ext cx="734985" cy="7493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4C5F5EC6-D7D0-D79C-54A1-C774F26E8A00}"/>
                  </a:ext>
                </a:extLst>
              </p:cNvPr>
              <p:cNvCxnSpPr>
                <a:stCxn id="14" idx="4"/>
              </p:cNvCxnSpPr>
              <p:nvPr/>
            </p:nvCxnSpPr>
            <p:spPr bwMode="auto">
              <a:xfrm flipH="1">
                <a:off x="6952904" y="3881494"/>
                <a:ext cx="1" cy="53810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07234BC-6FB0-56BE-894D-AB0A36689F77}"/>
                  </a:ext>
                </a:extLst>
              </p:cNvPr>
              <p:cNvCxnSpPr>
                <a:stCxn id="14" idx="6"/>
              </p:cNvCxnSpPr>
              <p:nvPr/>
            </p:nvCxnSpPr>
            <p:spPr bwMode="auto">
              <a:xfrm>
                <a:off x="7166264" y="3690994"/>
                <a:ext cx="734985" cy="72860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6A17BE4-1E0D-5D64-39A6-7FB3C2795206}"/>
                  </a:ext>
                </a:extLst>
              </p:cNvPr>
              <p:cNvSpPr/>
              <p:nvPr/>
            </p:nvSpPr>
            <p:spPr bwMode="auto">
              <a:xfrm>
                <a:off x="5749288" y="4821382"/>
                <a:ext cx="510541" cy="441048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en-I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36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81C0C36-A1E6-CC10-539B-D4EE441B1154}"/>
                  </a:ext>
                </a:extLst>
              </p:cNvPr>
              <p:cNvSpPr/>
              <p:nvPr/>
            </p:nvSpPr>
            <p:spPr bwMode="auto">
              <a:xfrm>
                <a:off x="6400453" y="4363220"/>
                <a:ext cx="445080" cy="458161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25</a:t>
                </a:r>
                <a:endPara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7FEBEF8-285E-CBC3-458A-AAE9C6E2E1AA}"/>
                  </a:ext>
                </a:extLst>
              </p:cNvPr>
              <p:cNvSpPr/>
              <p:nvPr/>
            </p:nvSpPr>
            <p:spPr bwMode="auto">
              <a:xfrm>
                <a:off x="7647706" y="4801767"/>
                <a:ext cx="510541" cy="441048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lang="en-IN" dirty="0"/>
                  <a:t>2</a:t>
                </a:r>
                <a:r>
                  <a:rPr kumimoji="0" lang="en-I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6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F3D748-B96C-A1A4-99DA-5C208796757E}"/>
                </a:ext>
              </a:extLst>
            </p:cNvPr>
            <p:cNvSpPr/>
            <p:nvPr/>
          </p:nvSpPr>
          <p:spPr bwMode="auto">
            <a:xfrm>
              <a:off x="6700407" y="4862875"/>
              <a:ext cx="426719" cy="381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8CFB998-7F82-8B74-BCDC-032322176B67}"/>
                </a:ext>
              </a:extLst>
            </p:cNvPr>
            <p:cNvSpPr/>
            <p:nvPr/>
          </p:nvSpPr>
          <p:spPr bwMode="auto">
            <a:xfrm>
              <a:off x="7741923" y="4862875"/>
              <a:ext cx="426719" cy="381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I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D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E412130-5E2F-ACF3-8355-7E0CDB256806}"/>
                </a:ext>
              </a:extLst>
            </p:cNvPr>
            <p:cNvCxnSpPr>
              <a:stCxn id="15" idx="4"/>
            </p:cNvCxnSpPr>
            <p:nvPr/>
          </p:nvCxnSpPr>
          <p:spPr bwMode="auto">
            <a:xfrm flipH="1">
              <a:off x="6913766" y="4257682"/>
              <a:ext cx="515737" cy="60519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C8C241D-1E65-453F-03F7-F23C5221CAAA}"/>
                </a:ext>
              </a:extLst>
            </p:cNvPr>
            <p:cNvCxnSpPr>
              <a:stCxn id="15" idx="4"/>
              <a:endCxn id="9" idx="0"/>
            </p:cNvCxnSpPr>
            <p:nvPr/>
          </p:nvCxnSpPr>
          <p:spPr bwMode="auto">
            <a:xfrm>
              <a:off x="7429503" y="4257682"/>
              <a:ext cx="525780" cy="60519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499A6B-5DA8-C30E-5AEB-AA89CA4DCD0F}"/>
                </a:ext>
              </a:extLst>
            </p:cNvPr>
            <p:cNvSpPr/>
            <p:nvPr/>
          </p:nvSpPr>
          <p:spPr bwMode="auto">
            <a:xfrm>
              <a:off x="7970521" y="5253393"/>
              <a:ext cx="510541" cy="441048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en-IN" dirty="0"/>
                <a:t>25</a:t>
              </a:r>
              <a:endParaRPr kumimoji="0" lang="e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F5E072-06DC-9209-90B9-8FE2B247581F}"/>
                </a:ext>
              </a:extLst>
            </p:cNvPr>
            <p:cNvSpPr/>
            <p:nvPr/>
          </p:nvSpPr>
          <p:spPr bwMode="auto">
            <a:xfrm>
              <a:off x="6627669" y="5309772"/>
              <a:ext cx="510541" cy="441048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en-US" b="0" i="0" dirty="0">
                  <a:solidFill>
                    <a:srgbClr val="303030"/>
                  </a:solidFill>
                  <a:effectLst/>
                  <a:latin typeface="Arimo"/>
                </a:rPr>
                <a:t> ∞ </a:t>
              </a:r>
              <a:endParaRPr kumimoji="0" lang="e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1097751F-8E97-37E3-C10F-3957915C8038}"/>
              </a:ext>
            </a:extLst>
          </p:cNvPr>
          <p:cNvSpPr/>
          <p:nvPr/>
        </p:nvSpPr>
        <p:spPr bwMode="auto">
          <a:xfrm>
            <a:off x="7414611" y="5723449"/>
            <a:ext cx="426719" cy="381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dirty="0"/>
              <a:t>B</a:t>
            </a:r>
            <a:endParaRPr kumimoji="0" lang="e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4D807E-0371-91C5-CAEE-594478074EB8}"/>
              </a:ext>
            </a:extLst>
          </p:cNvPr>
          <p:cNvCxnSpPr>
            <a:stCxn id="9" idx="4"/>
            <a:endCxn id="25" idx="0"/>
          </p:cNvCxnSpPr>
          <p:nvPr/>
        </p:nvCxnSpPr>
        <p:spPr bwMode="auto">
          <a:xfrm flipH="1">
            <a:off x="7627971" y="5029499"/>
            <a:ext cx="337703" cy="6939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B0BAE12-D9F2-4A05-AE31-40874A8BEC6E}"/>
              </a:ext>
            </a:extLst>
          </p:cNvPr>
          <p:cNvSpPr/>
          <p:nvPr/>
        </p:nvSpPr>
        <p:spPr bwMode="auto">
          <a:xfrm>
            <a:off x="7297886" y="6104449"/>
            <a:ext cx="510541" cy="441048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dirty="0"/>
              <a:t>25</a:t>
            </a:r>
            <a:endParaRPr kumimoji="0" lang="e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29335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2630</TotalTime>
  <Words>2218</Words>
  <Application>Microsoft Office PowerPoint</Application>
  <PresentationFormat>On-screen Show (4:3)</PresentationFormat>
  <Paragraphs>326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Arimo</vt:lpstr>
      <vt:lpstr>Calibri</vt:lpstr>
      <vt:lpstr>Roboto Condensed</vt:lpstr>
      <vt:lpstr>Times New Roman</vt:lpstr>
      <vt:lpstr>Wingdings</vt:lpstr>
      <vt:lpstr>Default Design</vt:lpstr>
      <vt:lpstr>Travelling Salesman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AjayRastogi</dc:creator>
  <cp:lastModifiedBy>Ajay Rastogy</cp:lastModifiedBy>
  <cp:revision>143</cp:revision>
  <dcterms:created xsi:type="dcterms:W3CDTF">1601-01-01T00:00:00Z</dcterms:created>
  <dcterms:modified xsi:type="dcterms:W3CDTF">2023-03-27T06:51:14Z</dcterms:modified>
</cp:coreProperties>
</file>