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2" r:id="rId3"/>
    <p:sldId id="293" r:id="rId4"/>
    <p:sldId id="296" r:id="rId5"/>
    <p:sldId id="294" r:id="rId6"/>
    <p:sldId id="295" r:id="rId7"/>
    <p:sldId id="328" r:id="rId8"/>
    <p:sldId id="297" r:id="rId9"/>
    <p:sldId id="330" r:id="rId10"/>
    <p:sldId id="329" r:id="rId11"/>
    <p:sldId id="298" r:id="rId12"/>
    <p:sldId id="300" r:id="rId13"/>
    <p:sldId id="301" r:id="rId14"/>
    <p:sldId id="305" r:id="rId15"/>
    <p:sldId id="302" r:id="rId16"/>
    <p:sldId id="303" r:id="rId17"/>
    <p:sldId id="304"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31" r:id="rId34"/>
    <p:sldId id="332" r:id="rId35"/>
    <p:sldId id="333" r:id="rId36"/>
    <p:sldId id="262" r:id="rId37"/>
    <p:sldId id="263" r:id="rId38"/>
    <p:sldId id="264" r:id="rId39"/>
    <p:sldId id="265" r:id="rId40"/>
    <p:sldId id="266" r:id="rId41"/>
    <p:sldId id="267" r:id="rId42"/>
    <p:sldId id="321" r:id="rId43"/>
    <p:sldId id="322" r:id="rId44"/>
    <p:sldId id="323" r:id="rId45"/>
    <p:sldId id="324" r:id="rId46"/>
    <p:sldId id="325" r:id="rId47"/>
    <p:sldId id="326" r:id="rId48"/>
    <p:sldId id="327"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13D1"/>
    <a:srgbClr val="E1F6F7"/>
    <a:srgbClr val="DEF5F6"/>
    <a:srgbClr val="FFF7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77" y="1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14DF5-1133-68E8-015B-BB049C6B70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A34150-ACF0-F1B8-EFF5-8115D54D45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C921F1-96BE-3848-6CA1-D2517D01A034}"/>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5" name="Footer Placeholder 4">
            <a:extLst>
              <a:ext uri="{FF2B5EF4-FFF2-40B4-BE49-F238E27FC236}">
                <a16:creationId xmlns:a16="http://schemas.microsoft.com/office/drawing/2014/main" id="{FBFE58C8-201D-F374-4DB1-9E7A10A21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A02D7D-A7BF-654B-2691-4C62F161A5E0}"/>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2549860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B1721-5FDB-380E-9E3A-1F85E62667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12EAF5-D65E-2021-8AC7-BCAEF364C6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283D0-C7C8-99E9-C064-44AB7D07F60E}"/>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5" name="Footer Placeholder 4">
            <a:extLst>
              <a:ext uri="{FF2B5EF4-FFF2-40B4-BE49-F238E27FC236}">
                <a16:creationId xmlns:a16="http://schemas.microsoft.com/office/drawing/2014/main" id="{183BBC69-CD88-8F18-9237-49B4549BCC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55AF9-B884-D438-B9FC-562BE5ACFA8B}"/>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480899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E92F4-7D67-9260-57D3-9A0BA2A55A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F9FFD1-901E-831B-1CC9-1DC0049D5A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37A026-422E-A8F1-9874-8CA55C7F9197}"/>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5" name="Footer Placeholder 4">
            <a:extLst>
              <a:ext uri="{FF2B5EF4-FFF2-40B4-BE49-F238E27FC236}">
                <a16:creationId xmlns:a16="http://schemas.microsoft.com/office/drawing/2014/main" id="{E21DCEE2-3BF9-C281-8BF9-A05C3BFDD9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A65114-7A97-73BF-309D-5DC6E06B95B1}"/>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1735496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0C27A-D100-F289-5C94-D238E3688B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CAFFB5-5CDF-D698-76CC-56526654D7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3B39E1-9D3A-0F60-6E83-E9A4C1A6C3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C6352E-D309-BEED-759C-94D5693C1F98}"/>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6" name="Footer Placeholder 5">
            <a:extLst>
              <a:ext uri="{FF2B5EF4-FFF2-40B4-BE49-F238E27FC236}">
                <a16:creationId xmlns:a16="http://schemas.microsoft.com/office/drawing/2014/main" id="{AB1D4AEB-0C9F-B7CD-51F9-E37304ABBB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F1DBDA-990D-93B5-C279-6CEC45B242A6}"/>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4091029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1275F-CEDA-EF1A-92C6-09536234EE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2AEC7B-2046-1631-828F-B5AF956484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03302E-DD0E-B602-DCB5-D06157A0D5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1C301E-3860-0C1D-299C-83DC1B377E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7DF026-80B1-86F5-2E5F-60A03BB21E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1EF9AA-A0BA-8A64-A774-E7814D9F163A}"/>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8" name="Footer Placeholder 7">
            <a:extLst>
              <a:ext uri="{FF2B5EF4-FFF2-40B4-BE49-F238E27FC236}">
                <a16:creationId xmlns:a16="http://schemas.microsoft.com/office/drawing/2014/main" id="{581647D3-0D45-3687-7B44-DEDF18BC13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B552EF-AF60-7760-E4D2-90C4DEF7351F}"/>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2647668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1F824-319C-3A7D-E18F-06912F4E10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8B26A1-6D7A-5994-D867-9AF123DF8A1D}"/>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4" name="Footer Placeholder 3">
            <a:extLst>
              <a:ext uri="{FF2B5EF4-FFF2-40B4-BE49-F238E27FC236}">
                <a16:creationId xmlns:a16="http://schemas.microsoft.com/office/drawing/2014/main" id="{CD62D8AF-4793-C38F-3E16-F55784650E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939E6C-C6C6-B7F3-9830-8B16621C1B06}"/>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142433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4D6D11-C040-6722-C702-F8A3780AFA21}"/>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3" name="Footer Placeholder 2">
            <a:extLst>
              <a:ext uri="{FF2B5EF4-FFF2-40B4-BE49-F238E27FC236}">
                <a16:creationId xmlns:a16="http://schemas.microsoft.com/office/drawing/2014/main" id="{D1CB2C6D-3D50-69A3-7369-1D3278013A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72FBBC-4778-038E-B2F0-555632A9E3F9}"/>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1306510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5A19D-A13C-D69F-D09B-B2B599C3DD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B36874-69F5-F5E7-7EBE-5B0A44B147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C91DC-BC62-E9B3-2F7E-DD3F14CC23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07786C-1F1F-E15D-9DA9-2DD0EBE8C24D}"/>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6" name="Footer Placeholder 5">
            <a:extLst>
              <a:ext uri="{FF2B5EF4-FFF2-40B4-BE49-F238E27FC236}">
                <a16:creationId xmlns:a16="http://schemas.microsoft.com/office/drawing/2014/main" id="{EE0C8292-98BE-E0E8-D50B-9CDF7986FB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E70074-0015-78E0-59FB-219ECBC1DA9C}"/>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270024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2E77-EE3E-3E85-0E68-9ACC184DC3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53D007-165A-A5F8-AAE9-04B0206FDD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359EA9-FA8A-5290-6B59-59D6A51A96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1E13C3-6705-D2E1-3D31-A6C623F5B476}"/>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6" name="Footer Placeholder 5">
            <a:extLst>
              <a:ext uri="{FF2B5EF4-FFF2-40B4-BE49-F238E27FC236}">
                <a16:creationId xmlns:a16="http://schemas.microsoft.com/office/drawing/2014/main" id="{4579089D-43B2-8738-4720-4AC8666474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120874-49F4-A6A4-61B2-79C08A5C451B}"/>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1258668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4B802-68EB-EFE7-48F5-67959BA09A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1595BD-AA54-0A65-5D7A-201D9C92EC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621479-9F69-3669-483C-10C49196E4C0}"/>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5" name="Footer Placeholder 4">
            <a:extLst>
              <a:ext uri="{FF2B5EF4-FFF2-40B4-BE49-F238E27FC236}">
                <a16:creationId xmlns:a16="http://schemas.microsoft.com/office/drawing/2014/main" id="{9F94FA50-76E1-40C4-A806-04130BD03C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B8483D-18BA-28A0-CB37-D19866C3F817}"/>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2986062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D6E22D-C133-FB3E-8149-E78F52A86B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A5B590-4861-8285-3E6D-75E1D52E5A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EA5FBD-AB2B-03A0-72A2-663C82842D99}"/>
              </a:ext>
            </a:extLst>
          </p:cNvPr>
          <p:cNvSpPr>
            <a:spLocks noGrp="1"/>
          </p:cNvSpPr>
          <p:nvPr>
            <p:ph type="dt" sz="half" idx="10"/>
          </p:nvPr>
        </p:nvSpPr>
        <p:spPr/>
        <p:txBody>
          <a:bodyPr/>
          <a:lstStyle/>
          <a:p>
            <a:fld id="{6369B584-4291-49DD-B189-6748066822CF}" type="datetimeFigureOut">
              <a:rPr lang="en-US" smtClean="0"/>
              <a:t>7/15/2022</a:t>
            </a:fld>
            <a:endParaRPr lang="en-US"/>
          </a:p>
        </p:txBody>
      </p:sp>
      <p:sp>
        <p:nvSpPr>
          <p:cNvPr id="5" name="Footer Placeholder 4">
            <a:extLst>
              <a:ext uri="{FF2B5EF4-FFF2-40B4-BE49-F238E27FC236}">
                <a16:creationId xmlns:a16="http://schemas.microsoft.com/office/drawing/2014/main" id="{E7D2C6AD-003E-5937-EF8C-81EB9DF32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BF6617-7468-5DFF-B1D7-5ED5C9686041}"/>
              </a:ext>
            </a:extLst>
          </p:cNvPr>
          <p:cNvSpPr>
            <a:spLocks noGrp="1"/>
          </p:cNvSpPr>
          <p:nvPr>
            <p:ph type="sldNum" sz="quarter" idx="12"/>
          </p:nvPr>
        </p:nvSpPr>
        <p:spPr/>
        <p:txBody>
          <a:bodyPr/>
          <a:lstStyle/>
          <a:p>
            <a:fld id="{B26293FB-E2E8-44F7-8947-017D6B334E6B}" type="slidenum">
              <a:rPr lang="en-US" smtClean="0"/>
              <a:t>‹#›</a:t>
            </a:fld>
            <a:endParaRPr lang="en-US"/>
          </a:p>
        </p:txBody>
      </p:sp>
    </p:spTree>
    <p:extLst>
      <p:ext uri="{BB962C8B-B14F-4D97-AF65-F5344CB8AC3E}">
        <p14:creationId xmlns:p14="http://schemas.microsoft.com/office/powerpoint/2010/main" val="73311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883212-85DB-C13F-C0DB-6C1839F7BE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69A1D4-D7BA-A4B9-A465-8F1E10AB6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0C1E23-0D37-88EB-3697-A9447DB898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69B584-4291-49DD-B189-6748066822CF}" type="datetimeFigureOut">
              <a:rPr lang="en-US" smtClean="0"/>
              <a:t>7/15/2022</a:t>
            </a:fld>
            <a:endParaRPr lang="en-US"/>
          </a:p>
        </p:txBody>
      </p:sp>
      <p:sp>
        <p:nvSpPr>
          <p:cNvPr id="5" name="Footer Placeholder 4">
            <a:extLst>
              <a:ext uri="{FF2B5EF4-FFF2-40B4-BE49-F238E27FC236}">
                <a16:creationId xmlns:a16="http://schemas.microsoft.com/office/drawing/2014/main" id="{B74A5019-9545-41DF-93BE-D7BBC02B7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D9FD03-A44B-9D4D-BFCD-4F660AC45A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6293FB-E2E8-44F7-8947-017D6B334E6B}" type="slidenum">
              <a:rPr lang="en-US" smtClean="0"/>
              <a:t>‹#›</a:t>
            </a:fld>
            <a:endParaRPr lang="en-US"/>
          </a:p>
        </p:txBody>
      </p:sp>
    </p:spTree>
    <p:extLst>
      <p:ext uri="{BB962C8B-B14F-4D97-AF65-F5344CB8AC3E}">
        <p14:creationId xmlns:p14="http://schemas.microsoft.com/office/powerpoint/2010/main" val="2904245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www.javatpoint.com/ejb-tutorial" TargetMode="External"/><Relationship Id="rId3" Type="http://schemas.openxmlformats.org/officeDocument/2006/relationships/hyperlink" Target="https://www.javatpoint.com/jsp-tutorial" TargetMode="External"/><Relationship Id="rId7" Type="http://schemas.openxmlformats.org/officeDocument/2006/relationships/hyperlink" Target="https://www.javatpoint.com/jsf-tutorial" TargetMode="External"/><Relationship Id="rId2" Type="http://schemas.openxmlformats.org/officeDocument/2006/relationships/hyperlink" Target="https://www.javatpoint.com/servlet-tutorial" TargetMode="External"/><Relationship Id="rId1" Type="http://schemas.openxmlformats.org/officeDocument/2006/relationships/slideLayout" Target="../slideLayouts/slideLayout1.xml"/><Relationship Id="rId6" Type="http://schemas.openxmlformats.org/officeDocument/2006/relationships/hyperlink" Target="https://www.javatpoint.com/hibernate-tutorial" TargetMode="External"/><Relationship Id="rId5" Type="http://schemas.openxmlformats.org/officeDocument/2006/relationships/hyperlink" Target="https://www.javatpoint.com/spring-tutorial" TargetMode="External"/><Relationship Id="rId4" Type="http://schemas.openxmlformats.org/officeDocument/2006/relationships/hyperlink" Target="https://www.javatpoint.com/struts-2-tutorial"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javatpoint.com/jpa-tutorial" TargetMode="External"/><Relationship Id="rId2" Type="http://schemas.openxmlformats.org/officeDocument/2006/relationships/hyperlink" Target="https://www.javatpoint.com/java-string"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racle.com/technetwork/java/javase/overview/index.html"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07/relationships/hdphoto" Target="../media/hdphoto4.wdp"/><Relationship Id="rId7" Type="http://schemas.microsoft.com/office/2007/relationships/hdphoto" Target="../media/hdphoto6.wdp"/><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19.png"/><Relationship Id="rId5" Type="http://schemas.microsoft.com/office/2007/relationships/hdphoto" Target="../media/hdphoto5.wdp"/><Relationship Id="rId4" Type="http://schemas.openxmlformats.org/officeDocument/2006/relationships/image" Target="../media/image18.png"/><Relationship Id="rId9" Type="http://schemas.microsoft.com/office/2007/relationships/hdphoto" Target="../media/hdphoto7.wdp"/></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5BD850-7DEE-229D-3764-F271B1C623A2}"/>
              </a:ext>
            </a:extLst>
          </p:cNvPr>
          <p:cNvSpPr txBox="1"/>
          <p:nvPr/>
        </p:nvSpPr>
        <p:spPr>
          <a:xfrm>
            <a:off x="1559015" y="2967335"/>
            <a:ext cx="9073970" cy="923330"/>
          </a:xfrm>
          <a:prstGeom prst="rect">
            <a:avLst/>
          </a:prstGeom>
          <a:solidFill>
            <a:schemeClr val="bg2"/>
          </a:solidFill>
        </p:spPr>
        <p:txBody>
          <a:bodyPr wrap="square" rtlCol="0">
            <a:spAutoFit/>
          </a:bodyPr>
          <a:lstStyle/>
          <a:p>
            <a:pPr algn="ctr"/>
            <a:r>
              <a:rPr lang="en-US" sz="5400" dirty="0">
                <a:solidFill>
                  <a:srgbClr val="7030A0"/>
                </a:solidFill>
              </a:rPr>
              <a:t>Programming with Java</a:t>
            </a:r>
          </a:p>
        </p:txBody>
      </p:sp>
    </p:spTree>
    <p:extLst>
      <p:ext uri="{BB962C8B-B14F-4D97-AF65-F5344CB8AC3E}">
        <p14:creationId xmlns:p14="http://schemas.microsoft.com/office/powerpoint/2010/main" val="441828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16273"/>
            <a:ext cx="11433061" cy="6201698"/>
          </a:xfrm>
          <a:prstGeom prst="rect">
            <a:avLst/>
          </a:prstGeom>
          <a:noFill/>
        </p:spPr>
        <p:txBody>
          <a:bodyPr wrap="square" rtlCol="0">
            <a:spAutoFit/>
          </a:bodyPr>
          <a:lstStyle/>
          <a:p>
            <a:pPr algn="just">
              <a:spcAft>
                <a:spcPts val="1800"/>
              </a:spcAft>
            </a:pPr>
            <a:r>
              <a:rPr lang="en-US" sz="3600" u="sng" dirty="0">
                <a:solidFill>
                  <a:srgbClr val="7030A0"/>
                </a:solidFill>
              </a:rPr>
              <a:t>Why Use Java ?</a:t>
            </a:r>
          </a:p>
          <a:p>
            <a:pPr marL="342900" indent="-342900" algn="l">
              <a:spcAft>
                <a:spcPts val="800"/>
              </a:spcAft>
              <a:buFont typeface="Arial" panose="020B0604020202020204" pitchFamily="34" charset="0"/>
              <a:buChar char="•"/>
            </a:pPr>
            <a:r>
              <a:rPr lang="en-US" sz="2200" b="0" i="0" dirty="0">
                <a:solidFill>
                  <a:srgbClr val="000000"/>
                </a:solidFill>
                <a:effectLst/>
                <a:latin typeface="Times New Roman" panose="02020603050405020304" pitchFamily="18" charset="0"/>
                <a:cs typeface="Times New Roman" panose="02020603050405020304" pitchFamily="18" charset="0"/>
              </a:rPr>
              <a:t>Java is a popular programming language, </a:t>
            </a:r>
            <a:r>
              <a:rPr lang="en-US" sz="2200" b="0" i="0" dirty="0">
                <a:solidFill>
                  <a:srgbClr val="273239"/>
                </a:solidFill>
                <a:effectLst/>
                <a:latin typeface="Times New Roman" panose="02020603050405020304" pitchFamily="18" charset="0"/>
                <a:cs typeface="Times New Roman" panose="02020603050405020304" pitchFamily="18" charset="0"/>
              </a:rPr>
              <a:t>developed by James Gosling at </a:t>
            </a:r>
            <a:r>
              <a:rPr lang="en-US" sz="2200" b="1" i="0" dirty="0">
                <a:solidFill>
                  <a:srgbClr val="273239"/>
                </a:solidFill>
                <a:effectLst/>
                <a:latin typeface="Times New Roman" panose="02020603050405020304" pitchFamily="18" charset="0"/>
                <a:cs typeface="Times New Roman" panose="02020603050405020304" pitchFamily="18" charset="0"/>
              </a:rPr>
              <a:t>Sun Microsystems</a:t>
            </a:r>
            <a:r>
              <a:rPr lang="en-US" sz="2200" b="0" i="0" u="sng" dirty="0">
                <a:solidFill>
                  <a:srgbClr val="273239"/>
                </a:solidFill>
                <a:effectLst/>
                <a:latin typeface="Times New Roman" panose="02020603050405020304" pitchFamily="18" charset="0"/>
                <a:cs typeface="Times New Roman" panose="02020603050405020304" pitchFamily="18" charset="0"/>
              </a:rPr>
              <a:t> </a:t>
            </a:r>
            <a:r>
              <a:rPr lang="en-US" sz="2200" b="0" i="0" dirty="0">
                <a:solidFill>
                  <a:srgbClr val="273239"/>
                </a:solidFill>
                <a:effectLst/>
                <a:latin typeface="Times New Roman" panose="02020603050405020304" pitchFamily="18" charset="0"/>
                <a:cs typeface="Times New Roman" panose="02020603050405020304" pitchFamily="18" charset="0"/>
              </a:rPr>
              <a:t>Inc in the year </a:t>
            </a:r>
            <a:r>
              <a:rPr lang="en-US" sz="2200" b="1" i="0" dirty="0">
                <a:solidFill>
                  <a:srgbClr val="273239"/>
                </a:solidFill>
                <a:effectLst/>
                <a:latin typeface="Times New Roman" panose="02020603050405020304" pitchFamily="18" charset="0"/>
                <a:cs typeface="Times New Roman" panose="02020603050405020304" pitchFamily="18" charset="0"/>
              </a:rPr>
              <a:t>1995</a:t>
            </a:r>
            <a:r>
              <a:rPr lang="en-US" sz="2200" b="0" i="0" dirty="0">
                <a:solidFill>
                  <a:srgbClr val="273239"/>
                </a:solidFill>
                <a:effectLst/>
                <a:latin typeface="Times New Roman" panose="02020603050405020304" pitchFamily="18" charset="0"/>
                <a:cs typeface="Times New Roman" panose="02020603050405020304" pitchFamily="18" charset="0"/>
              </a:rPr>
              <a:t>, later acquired by Oracle Corporation.</a:t>
            </a:r>
            <a:endParaRPr lang="en-US" sz="2200" b="0" i="0" dirty="0">
              <a:solidFill>
                <a:srgbClr val="000000"/>
              </a:solidFill>
              <a:effectLst/>
              <a:latin typeface="Times New Roman" panose="02020603050405020304" pitchFamily="18" charset="0"/>
              <a:cs typeface="Times New Roman" panose="02020603050405020304" pitchFamily="18" charset="0"/>
            </a:endParaRPr>
          </a:p>
          <a:p>
            <a:pPr marL="342900" indent="-342900" algn="l">
              <a:spcAft>
                <a:spcPts val="800"/>
              </a:spcAft>
              <a:buFont typeface="Arial" panose="020B0604020202020204" pitchFamily="34" charset="0"/>
              <a:buChar char="•"/>
            </a:pPr>
            <a:r>
              <a:rPr lang="en-US" sz="2200" b="0" i="0" dirty="0">
                <a:solidFill>
                  <a:srgbClr val="000000"/>
                </a:solidFill>
                <a:effectLst/>
                <a:latin typeface="Times New Roman" panose="02020603050405020304" pitchFamily="18" charset="0"/>
                <a:cs typeface="Times New Roman" panose="02020603050405020304" pitchFamily="18" charset="0"/>
              </a:rPr>
              <a:t>It is owned by Oracle, and more than </a:t>
            </a:r>
            <a:r>
              <a:rPr lang="en-US" sz="2200" b="1" i="0" dirty="0">
                <a:solidFill>
                  <a:srgbClr val="000000"/>
                </a:solidFill>
                <a:effectLst/>
                <a:latin typeface="Times New Roman" panose="02020603050405020304" pitchFamily="18" charset="0"/>
                <a:cs typeface="Times New Roman" panose="02020603050405020304" pitchFamily="18" charset="0"/>
              </a:rPr>
              <a:t>3 billion</a:t>
            </a:r>
            <a:r>
              <a:rPr lang="en-US" sz="2200" b="0" i="0" dirty="0">
                <a:solidFill>
                  <a:srgbClr val="000000"/>
                </a:solidFill>
                <a:effectLst/>
                <a:latin typeface="Times New Roman" panose="02020603050405020304" pitchFamily="18" charset="0"/>
                <a:cs typeface="Times New Roman" panose="02020603050405020304" pitchFamily="18" charset="0"/>
              </a:rPr>
              <a:t> devices run Java.</a:t>
            </a:r>
          </a:p>
          <a:p>
            <a:pPr marL="342900" indent="-342900" algn="l">
              <a:spcAft>
                <a:spcPts val="800"/>
              </a:spcAft>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Java makes writing, compiling, and debugging programming easy.</a:t>
            </a:r>
            <a:endParaRPr lang="en-US" sz="2200" dirty="0">
              <a:solidFill>
                <a:srgbClr val="000000"/>
              </a:solidFill>
              <a:latin typeface="Times New Roman" panose="02020603050405020304" pitchFamily="18" charset="0"/>
              <a:cs typeface="Times New Roman" panose="02020603050405020304" pitchFamily="18" charset="0"/>
            </a:endParaRPr>
          </a:p>
          <a:p>
            <a:pPr marL="342900" indent="-342900" algn="l">
              <a:spcAft>
                <a:spcPts val="800"/>
              </a:spcAft>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It helps to create reusable code and modular programs.</a:t>
            </a:r>
            <a:endParaRPr lang="en-US" sz="2200" b="0" i="0" dirty="0">
              <a:solidFill>
                <a:srgbClr val="000000"/>
              </a:solidFill>
              <a:effectLst/>
              <a:latin typeface="Times New Roman" panose="02020603050405020304" pitchFamily="18" charset="0"/>
              <a:cs typeface="Times New Roman" panose="02020603050405020304" pitchFamily="18" charset="0"/>
            </a:endParaRPr>
          </a:p>
          <a:p>
            <a:pPr marL="342900" indent="-342900" algn="l">
              <a:spcAft>
                <a:spcPts val="800"/>
              </a:spcAft>
              <a:buFont typeface="Arial" panose="020B0604020202020204" pitchFamily="34" charset="0"/>
              <a:buChar char="•"/>
            </a:pPr>
            <a:r>
              <a:rPr lang="en-US" sz="2200" b="0" i="0" dirty="0">
                <a:effectLst/>
                <a:latin typeface="Times New Roman" panose="02020603050405020304" pitchFamily="18" charset="0"/>
                <a:cs typeface="Times New Roman" panose="02020603050405020304" pitchFamily="18" charset="0"/>
              </a:rPr>
              <a:t>Java</a:t>
            </a:r>
            <a:r>
              <a:rPr lang="en-US" sz="2200" b="0" i="0" dirty="0">
                <a:solidFill>
                  <a:srgbClr val="273239"/>
                </a:solidFill>
                <a:effectLst/>
                <a:latin typeface="Times New Roman" panose="02020603050405020304" pitchFamily="18" charset="0"/>
                <a:cs typeface="Times New Roman" panose="02020603050405020304" pitchFamily="18" charset="0"/>
              </a:rPr>
              <a:t> is a class-based, object-oriented programming language and is designed to have as few implementation dependencies as possible.</a:t>
            </a:r>
            <a:endParaRPr lang="en-US" sz="2200" dirty="0">
              <a:solidFill>
                <a:srgbClr val="000000"/>
              </a:solidFill>
              <a:latin typeface="Times New Roman" panose="02020603050405020304" pitchFamily="18" charset="0"/>
              <a:cs typeface="Times New Roman" panose="02020603050405020304" pitchFamily="18" charset="0"/>
            </a:endParaRPr>
          </a:p>
          <a:p>
            <a:pPr marL="342900" indent="-342900" algn="l">
              <a:spcAft>
                <a:spcPts val="800"/>
              </a:spcAft>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A general-purpose programming language made for developers to </a:t>
            </a:r>
            <a:r>
              <a:rPr lang="en-US" sz="2200" b="0" i="1" dirty="0">
                <a:solidFill>
                  <a:srgbClr val="273239"/>
                </a:solidFill>
                <a:effectLst/>
                <a:latin typeface="Times New Roman" panose="02020603050405020304" pitchFamily="18" charset="0"/>
                <a:cs typeface="Times New Roman" panose="02020603050405020304" pitchFamily="18" charset="0"/>
              </a:rPr>
              <a:t>write once run anywhere</a:t>
            </a:r>
            <a:r>
              <a:rPr lang="en-US" sz="2200" b="0" i="0" dirty="0">
                <a:solidFill>
                  <a:srgbClr val="273239"/>
                </a:solidFill>
                <a:effectLst/>
                <a:latin typeface="Times New Roman" panose="02020603050405020304" pitchFamily="18" charset="0"/>
                <a:cs typeface="Times New Roman" panose="02020603050405020304" pitchFamily="18" charset="0"/>
              </a:rPr>
              <a:t> that is compiled Java code can run on all platforms that support Java. </a:t>
            </a:r>
            <a:endParaRPr lang="en-US" sz="2200" b="0" i="0" dirty="0">
              <a:solidFill>
                <a:srgbClr val="000000"/>
              </a:solidFill>
              <a:effectLst/>
              <a:latin typeface="Times New Roman" panose="02020603050405020304" pitchFamily="18" charset="0"/>
              <a:cs typeface="Times New Roman" panose="02020603050405020304" pitchFamily="18" charset="0"/>
            </a:endParaRPr>
          </a:p>
          <a:p>
            <a:pPr marL="342900" indent="-342900" algn="l">
              <a:spcAft>
                <a:spcPts val="800"/>
              </a:spcAft>
              <a:buFont typeface="Arial" panose="020B0604020202020204" pitchFamily="34" charset="0"/>
              <a:buChar char="•"/>
            </a:pPr>
            <a:r>
              <a:rPr lang="en-US" sz="2200" b="0" i="0" dirty="0">
                <a:solidFill>
                  <a:srgbClr val="273239"/>
                </a:solidFill>
                <a:effectLst/>
                <a:latin typeface="Times New Roman" panose="02020603050405020304" pitchFamily="18" charset="0"/>
                <a:cs typeface="Times New Roman" panose="02020603050405020304" pitchFamily="18" charset="0"/>
              </a:rPr>
              <a:t>Java applications are compiled to byte code that can run on any Java Virtual Machine.</a:t>
            </a:r>
          </a:p>
          <a:p>
            <a:pPr marL="342900" indent="-342900" algn="l">
              <a:spcAft>
                <a:spcPts val="800"/>
              </a:spcAft>
              <a:buFont typeface="Arial" panose="020B0604020202020204" pitchFamily="34" charset="0"/>
              <a:buChar char="•"/>
            </a:pPr>
            <a:r>
              <a:rPr lang="en-US" sz="2200" b="0" i="0" dirty="0">
                <a:solidFill>
                  <a:srgbClr val="000000"/>
                </a:solidFill>
                <a:effectLst/>
                <a:latin typeface="Times New Roman" panose="02020603050405020304" pitchFamily="18" charset="0"/>
                <a:cs typeface="Times New Roman" panose="02020603050405020304" pitchFamily="18" charset="0"/>
              </a:rPr>
              <a:t>It is open-source and free.</a:t>
            </a:r>
          </a:p>
          <a:p>
            <a:pPr marL="342900" indent="-342900" algn="l">
              <a:spcAft>
                <a:spcPts val="800"/>
              </a:spcAft>
              <a:buFont typeface="Arial" panose="020B0604020202020204" pitchFamily="34" charset="0"/>
              <a:buChar char="•"/>
            </a:pPr>
            <a:r>
              <a:rPr lang="en-US" sz="2200" b="0" i="0" dirty="0">
                <a:solidFill>
                  <a:srgbClr val="000000"/>
                </a:solidFill>
                <a:effectLst/>
                <a:latin typeface="Times New Roman" panose="02020603050405020304" pitchFamily="18" charset="0"/>
                <a:cs typeface="Times New Roman" panose="02020603050405020304" pitchFamily="18" charset="0"/>
              </a:rPr>
              <a:t>It is secure, fast and powerful.</a:t>
            </a:r>
          </a:p>
          <a:p>
            <a:pPr marL="342900" indent="-342900" algn="l">
              <a:spcAft>
                <a:spcPts val="800"/>
              </a:spcAft>
              <a:buFont typeface="Arial" panose="020B0604020202020204" pitchFamily="34" charset="0"/>
              <a:buChar char="•"/>
            </a:pPr>
            <a:r>
              <a:rPr lang="en-US" sz="2200" b="0" i="0" dirty="0">
                <a:solidFill>
                  <a:srgbClr val="000000"/>
                </a:solidFill>
                <a:effectLst/>
                <a:latin typeface="Times New Roman" panose="02020603050405020304" pitchFamily="18" charset="0"/>
                <a:cs typeface="Times New Roman" panose="02020603050405020304" pitchFamily="18" charset="0"/>
              </a:rPr>
              <a:t>It has a huge community support (tens of millions of developers).</a:t>
            </a:r>
          </a:p>
        </p:txBody>
      </p:sp>
    </p:spTree>
    <p:extLst>
      <p:ext uri="{BB962C8B-B14F-4D97-AF65-F5344CB8AC3E}">
        <p14:creationId xmlns:p14="http://schemas.microsoft.com/office/powerpoint/2010/main" val="1708306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586418"/>
          </a:xfrm>
          <a:prstGeom prst="rect">
            <a:avLst/>
          </a:prstGeom>
          <a:noFill/>
        </p:spPr>
        <p:txBody>
          <a:bodyPr wrap="square" rtlCol="0">
            <a:spAutoFit/>
          </a:bodyPr>
          <a:lstStyle/>
          <a:p>
            <a:pPr algn="just">
              <a:spcAft>
                <a:spcPts val="1800"/>
              </a:spcAft>
            </a:pPr>
            <a:r>
              <a:rPr lang="en-US" sz="3600" u="sng" dirty="0">
                <a:solidFill>
                  <a:srgbClr val="7030A0"/>
                </a:solidFill>
              </a:rPr>
              <a:t>Application Areas Where Java is Used:</a:t>
            </a:r>
          </a:p>
          <a:p>
            <a:pPr algn="just">
              <a:spcAft>
                <a:spcPts val="600"/>
              </a:spcAft>
            </a:pPr>
            <a:r>
              <a:rPr lang="en-US" sz="2400" b="0" i="0" dirty="0">
                <a:solidFill>
                  <a:srgbClr val="FF0000"/>
                </a:solidFill>
                <a:effectLst/>
                <a:latin typeface="erdana"/>
              </a:rPr>
              <a:t>1) Standalone Application</a:t>
            </a:r>
          </a:p>
          <a:p>
            <a:pPr algn="just">
              <a:spcAft>
                <a:spcPts val="600"/>
              </a:spcAft>
            </a:pPr>
            <a:r>
              <a:rPr lang="en-US" sz="2000" b="0" i="0" dirty="0">
                <a:solidFill>
                  <a:srgbClr val="333333"/>
                </a:solidFill>
                <a:effectLst/>
                <a:latin typeface="inter-regular"/>
              </a:rPr>
              <a:t>Standalone applications are also known as desktop applications or window-based applications. These are traditional software that we need to install on every machine. Examples of standalone application are Media player, antivirus, etc. </a:t>
            </a:r>
            <a:r>
              <a:rPr lang="en-US" sz="2000" b="0" i="0" dirty="0" err="1">
                <a:solidFill>
                  <a:srgbClr val="333333"/>
                </a:solidFill>
                <a:effectLst/>
                <a:latin typeface="inter-regular"/>
              </a:rPr>
              <a:t>AWT</a:t>
            </a:r>
            <a:r>
              <a:rPr lang="en-US" sz="2000" b="0" i="0" dirty="0">
                <a:solidFill>
                  <a:srgbClr val="333333"/>
                </a:solidFill>
                <a:effectLst/>
                <a:latin typeface="inter-regular"/>
              </a:rPr>
              <a:t> and Swing are used in Java for creating standalone applications.</a:t>
            </a:r>
          </a:p>
          <a:p>
            <a:pPr algn="just">
              <a:spcAft>
                <a:spcPts val="600"/>
              </a:spcAft>
            </a:pPr>
            <a:r>
              <a:rPr lang="en-US" sz="2400" b="0" i="0" dirty="0">
                <a:solidFill>
                  <a:srgbClr val="FF0000"/>
                </a:solidFill>
                <a:effectLst/>
                <a:latin typeface="erdana"/>
              </a:rPr>
              <a:t>2) Web Application</a:t>
            </a:r>
          </a:p>
          <a:p>
            <a:pPr algn="just">
              <a:spcAft>
                <a:spcPts val="600"/>
              </a:spcAft>
            </a:pPr>
            <a:r>
              <a:rPr lang="en-US" sz="2000" b="0" i="0" dirty="0">
                <a:solidFill>
                  <a:srgbClr val="333333"/>
                </a:solidFill>
                <a:effectLst/>
                <a:latin typeface="inter-regular"/>
              </a:rPr>
              <a:t>An application that runs on the server side and creates a dynamic page is called a web application. Currently, </a:t>
            </a:r>
            <a:r>
              <a:rPr lang="en-US" sz="2000" b="0" i="0" u="none" strike="noStrike" dirty="0">
                <a:solidFill>
                  <a:srgbClr val="008000"/>
                </a:solidFill>
                <a:effectLst/>
                <a:latin typeface="inter-regular"/>
                <a:hlinkClick r:id="rId2"/>
              </a:rPr>
              <a:t>Servlet</a:t>
            </a:r>
            <a:r>
              <a:rPr lang="en-US" sz="2000" b="0" i="0" dirty="0">
                <a:solidFill>
                  <a:srgbClr val="333333"/>
                </a:solidFill>
                <a:effectLst/>
                <a:latin typeface="inter-regular"/>
              </a:rPr>
              <a:t>, </a:t>
            </a:r>
            <a:r>
              <a:rPr lang="en-US" sz="2000" b="0" i="0" u="none" strike="noStrike" dirty="0" err="1">
                <a:solidFill>
                  <a:srgbClr val="008000"/>
                </a:solidFill>
                <a:effectLst/>
                <a:latin typeface="inter-regular"/>
                <a:hlinkClick r:id="rId3"/>
              </a:rPr>
              <a:t>JSP</a:t>
            </a:r>
            <a:r>
              <a:rPr lang="en-US" sz="2000" b="0" i="0" dirty="0">
                <a:solidFill>
                  <a:srgbClr val="333333"/>
                </a:solidFill>
                <a:effectLst/>
                <a:latin typeface="inter-regular"/>
              </a:rPr>
              <a:t>, </a:t>
            </a:r>
            <a:r>
              <a:rPr lang="en-US" sz="2000" b="0" i="0" u="none" strike="noStrike" dirty="0">
                <a:solidFill>
                  <a:srgbClr val="008000"/>
                </a:solidFill>
                <a:effectLst/>
                <a:latin typeface="inter-regular"/>
                <a:hlinkClick r:id="rId4"/>
              </a:rPr>
              <a:t>Struts</a:t>
            </a:r>
            <a:r>
              <a:rPr lang="en-US" sz="2000" b="0" i="0" dirty="0">
                <a:solidFill>
                  <a:srgbClr val="333333"/>
                </a:solidFill>
                <a:effectLst/>
                <a:latin typeface="inter-regular"/>
              </a:rPr>
              <a:t>, </a:t>
            </a:r>
            <a:r>
              <a:rPr lang="en-US" sz="2000" b="0" i="0" u="none" strike="noStrike" dirty="0">
                <a:solidFill>
                  <a:srgbClr val="008000"/>
                </a:solidFill>
                <a:effectLst/>
                <a:latin typeface="inter-regular"/>
                <a:hlinkClick r:id="rId5"/>
              </a:rPr>
              <a:t>Spring</a:t>
            </a:r>
            <a:r>
              <a:rPr lang="en-US" sz="2000" b="0" i="0" dirty="0">
                <a:solidFill>
                  <a:srgbClr val="333333"/>
                </a:solidFill>
                <a:effectLst/>
                <a:latin typeface="inter-regular"/>
              </a:rPr>
              <a:t>, </a:t>
            </a:r>
            <a:r>
              <a:rPr lang="en-US" sz="2000" b="0" i="0" u="none" strike="noStrike" dirty="0">
                <a:solidFill>
                  <a:srgbClr val="008000"/>
                </a:solidFill>
                <a:effectLst/>
                <a:latin typeface="inter-regular"/>
                <a:hlinkClick r:id="rId6"/>
              </a:rPr>
              <a:t>Hibernate</a:t>
            </a:r>
            <a:r>
              <a:rPr lang="en-US" sz="2000" b="0" i="0" dirty="0">
                <a:solidFill>
                  <a:srgbClr val="333333"/>
                </a:solidFill>
                <a:effectLst/>
                <a:latin typeface="inter-regular"/>
              </a:rPr>
              <a:t>, </a:t>
            </a:r>
            <a:r>
              <a:rPr lang="en-US" sz="2000" b="0" i="0" u="none" strike="noStrike" dirty="0" err="1">
                <a:solidFill>
                  <a:srgbClr val="008000"/>
                </a:solidFill>
                <a:effectLst/>
                <a:latin typeface="inter-regular"/>
                <a:hlinkClick r:id="rId7"/>
              </a:rPr>
              <a:t>JSF</a:t>
            </a:r>
            <a:r>
              <a:rPr lang="en-US" sz="2000" b="0" i="0" dirty="0">
                <a:solidFill>
                  <a:srgbClr val="333333"/>
                </a:solidFill>
                <a:effectLst/>
                <a:latin typeface="inter-regular"/>
              </a:rPr>
              <a:t>, etc. technologies are used for creating web applications in Java.</a:t>
            </a:r>
          </a:p>
          <a:p>
            <a:pPr algn="just">
              <a:spcAft>
                <a:spcPts val="600"/>
              </a:spcAft>
            </a:pPr>
            <a:r>
              <a:rPr lang="en-US" sz="2400" b="0" i="0" dirty="0">
                <a:solidFill>
                  <a:srgbClr val="FF0000"/>
                </a:solidFill>
                <a:effectLst/>
                <a:latin typeface="erdana"/>
              </a:rPr>
              <a:t>3) Enterprise Application</a:t>
            </a:r>
          </a:p>
          <a:p>
            <a:pPr algn="just">
              <a:spcAft>
                <a:spcPts val="600"/>
              </a:spcAft>
            </a:pPr>
            <a:r>
              <a:rPr lang="en-US" sz="2000" b="0" i="0" dirty="0">
                <a:solidFill>
                  <a:srgbClr val="333333"/>
                </a:solidFill>
                <a:effectLst/>
                <a:latin typeface="inter-regular"/>
              </a:rPr>
              <a:t>An application that is distributed in nature, such as banking applications, etc. is called an enterprise application. It has advantages like high-level security, load balancing, and clustering. In Java, </a:t>
            </a:r>
            <a:r>
              <a:rPr lang="en-US" sz="2000" b="0" i="0" u="none" strike="noStrike" dirty="0">
                <a:solidFill>
                  <a:srgbClr val="008000"/>
                </a:solidFill>
                <a:effectLst/>
                <a:latin typeface="inter-regular"/>
                <a:hlinkClick r:id="rId8"/>
              </a:rPr>
              <a:t>EJB</a:t>
            </a:r>
            <a:r>
              <a:rPr lang="en-US" sz="2000" b="0" i="0" dirty="0">
                <a:solidFill>
                  <a:srgbClr val="333333"/>
                </a:solidFill>
                <a:effectLst/>
                <a:latin typeface="inter-regular"/>
              </a:rPr>
              <a:t> is used for creating enterprise applications.</a:t>
            </a:r>
          </a:p>
          <a:p>
            <a:pPr>
              <a:spcAft>
                <a:spcPts val="600"/>
              </a:spcAft>
            </a:pPr>
            <a:r>
              <a:rPr lang="en-US" sz="2400" b="0" dirty="0">
                <a:solidFill>
                  <a:srgbClr val="FF0000"/>
                </a:solidFill>
                <a:effectLst/>
                <a:latin typeface="erdana"/>
              </a:rPr>
              <a:t>4) Mobile Application</a:t>
            </a:r>
          </a:p>
          <a:p>
            <a:pPr>
              <a:spcAft>
                <a:spcPts val="600"/>
              </a:spcAft>
            </a:pPr>
            <a:r>
              <a:rPr lang="en-US" sz="2000" b="0" i="0" dirty="0">
                <a:solidFill>
                  <a:srgbClr val="333333"/>
                </a:solidFill>
                <a:effectLst/>
                <a:latin typeface="inter-regular"/>
              </a:rPr>
              <a:t>An application which is created for mobile devices is called a mobile application. Currently, Android and Java ME are used for creating mobile applications.</a:t>
            </a:r>
            <a:br>
              <a:rPr lang="en-US" sz="2000" b="0" i="0" dirty="0">
                <a:solidFill>
                  <a:srgbClr val="333333"/>
                </a:solidFill>
                <a:effectLst/>
                <a:latin typeface="inter-regular"/>
              </a:rPr>
            </a:br>
            <a:endParaRPr lang="en-US" sz="20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2083621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8507"/>
            <a:ext cx="11433061" cy="5970865"/>
          </a:xfrm>
          <a:prstGeom prst="rect">
            <a:avLst/>
          </a:prstGeom>
          <a:noFill/>
        </p:spPr>
        <p:txBody>
          <a:bodyPr wrap="square" rtlCol="0">
            <a:spAutoFit/>
          </a:bodyPr>
          <a:lstStyle/>
          <a:p>
            <a:pPr algn="just">
              <a:spcAft>
                <a:spcPts val="1800"/>
              </a:spcAft>
            </a:pPr>
            <a:r>
              <a:rPr lang="en-US" sz="3600" u="sng" dirty="0">
                <a:solidFill>
                  <a:srgbClr val="7030A0"/>
                </a:solidFill>
              </a:rPr>
              <a:t>Java Editions:</a:t>
            </a:r>
          </a:p>
          <a:p>
            <a:pPr algn="just">
              <a:spcAft>
                <a:spcPts val="1200"/>
              </a:spcAft>
            </a:pPr>
            <a:r>
              <a:rPr lang="en-US" sz="2400" b="0" i="0" dirty="0">
                <a:solidFill>
                  <a:srgbClr val="FF0000"/>
                </a:solidFill>
                <a:effectLst/>
                <a:latin typeface="erdana"/>
              </a:rPr>
              <a:t>1) Java SE (Java Standard Edition)</a:t>
            </a:r>
          </a:p>
          <a:p>
            <a:pPr algn="just">
              <a:spcAft>
                <a:spcPts val="600"/>
              </a:spcAft>
            </a:pPr>
            <a:r>
              <a:rPr lang="en-US" sz="2000" b="0" i="0" dirty="0">
                <a:solidFill>
                  <a:srgbClr val="333333"/>
                </a:solidFill>
                <a:effectLst/>
                <a:latin typeface="inter-regular"/>
              </a:rPr>
              <a:t>It is a Java programming platform. It includes Java programming APIs such as </a:t>
            </a:r>
            <a:r>
              <a:rPr lang="en-US" sz="2000" b="0" i="0" dirty="0" err="1">
                <a:solidFill>
                  <a:srgbClr val="333333"/>
                </a:solidFill>
                <a:effectLst/>
                <a:latin typeface="inter-regular"/>
              </a:rPr>
              <a:t>java.lang</a:t>
            </a:r>
            <a:r>
              <a:rPr lang="en-US" sz="2000" b="0" i="0" dirty="0">
                <a:solidFill>
                  <a:srgbClr val="333333"/>
                </a:solidFill>
                <a:effectLst/>
                <a:latin typeface="inter-regular"/>
              </a:rPr>
              <a:t>, java.io, java.net, </a:t>
            </a:r>
            <a:r>
              <a:rPr lang="en-US" sz="2000" b="0" i="0" dirty="0" err="1">
                <a:solidFill>
                  <a:srgbClr val="333333"/>
                </a:solidFill>
                <a:effectLst/>
                <a:latin typeface="inter-regular"/>
              </a:rPr>
              <a:t>java.util</a:t>
            </a:r>
            <a:r>
              <a:rPr lang="en-US" sz="2000" b="0" i="0" dirty="0">
                <a:solidFill>
                  <a:srgbClr val="333333"/>
                </a:solidFill>
                <a:effectLst/>
                <a:latin typeface="inter-regular"/>
              </a:rPr>
              <a:t>, </a:t>
            </a:r>
            <a:r>
              <a:rPr lang="en-US" sz="2000" b="0" i="0" dirty="0" err="1">
                <a:solidFill>
                  <a:srgbClr val="333333"/>
                </a:solidFill>
                <a:effectLst/>
                <a:latin typeface="inter-regular"/>
              </a:rPr>
              <a:t>java.sql</a:t>
            </a:r>
            <a:r>
              <a:rPr lang="en-US" sz="2000" b="0" i="0" dirty="0">
                <a:solidFill>
                  <a:srgbClr val="333333"/>
                </a:solidFill>
                <a:effectLst/>
                <a:latin typeface="inter-regular"/>
              </a:rPr>
              <a:t>, </a:t>
            </a:r>
            <a:r>
              <a:rPr lang="en-US" sz="2000" b="0" i="0" dirty="0" err="1">
                <a:solidFill>
                  <a:srgbClr val="333333"/>
                </a:solidFill>
                <a:effectLst/>
                <a:latin typeface="inter-regular"/>
              </a:rPr>
              <a:t>java.math</a:t>
            </a:r>
            <a:r>
              <a:rPr lang="en-US" sz="2000" b="0" i="0" dirty="0">
                <a:solidFill>
                  <a:srgbClr val="333333"/>
                </a:solidFill>
                <a:effectLst/>
                <a:latin typeface="inter-regular"/>
              </a:rPr>
              <a:t> etc. It includes core topics like OOPs, </a:t>
            </a:r>
            <a:r>
              <a:rPr lang="en-US" sz="2000" b="0" i="0" u="none" strike="noStrike" dirty="0">
                <a:solidFill>
                  <a:srgbClr val="008000"/>
                </a:solidFill>
                <a:effectLst/>
                <a:latin typeface="inter-regular"/>
                <a:hlinkClick r:id="rId2"/>
              </a:rPr>
              <a:t>String</a:t>
            </a:r>
            <a:r>
              <a:rPr lang="en-US" sz="2000" b="0" i="0" dirty="0">
                <a:solidFill>
                  <a:srgbClr val="333333"/>
                </a:solidFill>
                <a:effectLst/>
                <a:latin typeface="inter-regular"/>
              </a:rPr>
              <a:t>, Regex, Exception, Inner classes, Multithreading, I/O Stream, Networking, </a:t>
            </a:r>
            <a:r>
              <a:rPr lang="en-US" sz="2000" b="0" i="0" dirty="0" err="1">
                <a:solidFill>
                  <a:srgbClr val="333333"/>
                </a:solidFill>
                <a:effectLst/>
                <a:latin typeface="inter-regular"/>
              </a:rPr>
              <a:t>AWT</a:t>
            </a:r>
            <a:r>
              <a:rPr lang="en-US" sz="2000" b="0" i="0" dirty="0">
                <a:solidFill>
                  <a:srgbClr val="333333"/>
                </a:solidFill>
                <a:effectLst/>
                <a:latin typeface="inter-regular"/>
              </a:rPr>
              <a:t>, Swing, Reflection, Collection, etc.</a:t>
            </a:r>
          </a:p>
          <a:p>
            <a:pPr algn="just">
              <a:spcBef>
                <a:spcPts val="600"/>
              </a:spcBef>
              <a:spcAft>
                <a:spcPts val="1200"/>
              </a:spcAft>
            </a:pPr>
            <a:r>
              <a:rPr lang="en-US" sz="2400" b="0" i="0" dirty="0">
                <a:solidFill>
                  <a:srgbClr val="FF0000"/>
                </a:solidFill>
                <a:effectLst/>
                <a:latin typeface="erdana"/>
              </a:rPr>
              <a:t>2) Java EE (Java Enterprise Edition)</a:t>
            </a:r>
          </a:p>
          <a:p>
            <a:pPr algn="just">
              <a:spcAft>
                <a:spcPts val="600"/>
              </a:spcAft>
            </a:pPr>
            <a:r>
              <a:rPr lang="en-US" sz="2000" b="0" i="0" dirty="0">
                <a:solidFill>
                  <a:srgbClr val="333333"/>
                </a:solidFill>
                <a:effectLst/>
                <a:latin typeface="inter-regular"/>
              </a:rPr>
              <a:t>It is an enterprise platform that is mainly used to develop web and enterprise applications. It is built on top of the Java SE platform. It includes topics like Servlet, </a:t>
            </a:r>
            <a:r>
              <a:rPr lang="en-US" sz="2000" b="0" i="0" dirty="0" err="1">
                <a:solidFill>
                  <a:srgbClr val="333333"/>
                </a:solidFill>
                <a:effectLst/>
                <a:latin typeface="inter-regular"/>
              </a:rPr>
              <a:t>JSP</a:t>
            </a:r>
            <a:r>
              <a:rPr lang="en-US" sz="2000" b="0" i="0" dirty="0">
                <a:solidFill>
                  <a:srgbClr val="333333"/>
                </a:solidFill>
                <a:effectLst/>
                <a:latin typeface="inter-regular"/>
              </a:rPr>
              <a:t>, Web Services, EJB, </a:t>
            </a:r>
            <a:r>
              <a:rPr lang="en-US" sz="2000" b="0" i="0" u="none" strike="noStrike" dirty="0" err="1">
                <a:solidFill>
                  <a:srgbClr val="008000"/>
                </a:solidFill>
                <a:effectLst/>
                <a:latin typeface="inter-regular"/>
                <a:hlinkClick r:id="rId3"/>
              </a:rPr>
              <a:t>JPA</a:t>
            </a:r>
            <a:r>
              <a:rPr lang="en-US" sz="2000" b="0" i="0" dirty="0">
                <a:solidFill>
                  <a:srgbClr val="333333"/>
                </a:solidFill>
                <a:effectLst/>
                <a:latin typeface="inter-regular"/>
              </a:rPr>
              <a:t>, etc.</a:t>
            </a:r>
          </a:p>
          <a:p>
            <a:pPr algn="just">
              <a:spcBef>
                <a:spcPts val="600"/>
              </a:spcBef>
              <a:spcAft>
                <a:spcPts val="1200"/>
              </a:spcAft>
            </a:pPr>
            <a:r>
              <a:rPr lang="en-US" sz="2400" b="0" i="0" dirty="0">
                <a:solidFill>
                  <a:srgbClr val="FF0000"/>
                </a:solidFill>
                <a:effectLst/>
                <a:latin typeface="erdana"/>
              </a:rPr>
              <a:t>3) Java ME (Java Micro Edition)</a:t>
            </a:r>
          </a:p>
          <a:p>
            <a:pPr algn="just">
              <a:spcAft>
                <a:spcPts val="600"/>
              </a:spcAft>
            </a:pPr>
            <a:r>
              <a:rPr lang="en-US" sz="2000" b="0" i="0" dirty="0">
                <a:solidFill>
                  <a:srgbClr val="333333"/>
                </a:solidFill>
                <a:effectLst/>
                <a:latin typeface="inter-regular"/>
              </a:rPr>
              <a:t>It is a micro platform that is dedicated to mobile applications.</a:t>
            </a:r>
          </a:p>
          <a:p>
            <a:pPr algn="just">
              <a:spcBef>
                <a:spcPts val="600"/>
              </a:spcBef>
              <a:spcAft>
                <a:spcPts val="1200"/>
              </a:spcAft>
            </a:pPr>
            <a:r>
              <a:rPr lang="en-US" sz="2400" b="0" i="0" dirty="0">
                <a:solidFill>
                  <a:srgbClr val="FF0000"/>
                </a:solidFill>
                <a:effectLst/>
                <a:latin typeface="erdana"/>
              </a:rPr>
              <a:t>4) JavaFX</a:t>
            </a:r>
          </a:p>
          <a:p>
            <a:pPr algn="just">
              <a:spcAft>
                <a:spcPts val="600"/>
              </a:spcAft>
            </a:pPr>
            <a:r>
              <a:rPr lang="en-US" sz="2000" b="0" i="0" dirty="0">
                <a:solidFill>
                  <a:srgbClr val="333333"/>
                </a:solidFill>
                <a:effectLst/>
                <a:latin typeface="inter-regular"/>
              </a:rPr>
              <a:t>It is used to develop rich internet applications. It uses a lightweight user interface API.</a:t>
            </a:r>
          </a:p>
          <a:p>
            <a:pPr algn="just">
              <a:spcAft>
                <a:spcPts val="600"/>
              </a:spcAft>
            </a:pPr>
            <a:endParaRPr lang="en-US" sz="20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2399460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647974"/>
          </a:xfrm>
          <a:prstGeom prst="rect">
            <a:avLst/>
          </a:prstGeom>
          <a:noFill/>
        </p:spPr>
        <p:txBody>
          <a:bodyPr wrap="square" rtlCol="0">
            <a:spAutoFit/>
          </a:bodyPr>
          <a:lstStyle/>
          <a:p>
            <a:pPr algn="just">
              <a:spcAft>
                <a:spcPts val="1800"/>
              </a:spcAft>
            </a:pPr>
            <a:r>
              <a:rPr lang="en-US" sz="3600" u="sng" dirty="0">
                <a:solidFill>
                  <a:srgbClr val="7030A0"/>
                </a:solidFill>
              </a:rPr>
              <a:t>Installing Java</a:t>
            </a:r>
          </a:p>
          <a:p>
            <a:pPr marL="342900" indent="-342900" algn="just">
              <a:spcAft>
                <a:spcPts val="600"/>
              </a:spcAft>
              <a:buFont typeface="Arial" panose="020B0604020202020204" pitchFamily="34" charset="0"/>
              <a:buChar char="•"/>
              <a:tabLst>
                <a:tab pos="2419350" algn="l"/>
              </a:tabLst>
            </a:pPr>
            <a:r>
              <a:rPr lang="en-US" sz="2000" b="0" i="0" dirty="0">
                <a:solidFill>
                  <a:srgbClr val="000000"/>
                </a:solidFill>
                <a:effectLst/>
                <a:latin typeface="Verdana" panose="020B0604030504040204" pitchFamily="34" charset="0"/>
              </a:rPr>
              <a:t>Some PCs might have Java already installed.</a:t>
            </a:r>
          </a:p>
          <a:p>
            <a:pPr marL="342900" indent="-342900" algn="just">
              <a:spcAft>
                <a:spcPts val="600"/>
              </a:spcAft>
              <a:buFont typeface="Arial" panose="020B0604020202020204" pitchFamily="34" charset="0"/>
              <a:buChar char="•"/>
              <a:tabLst>
                <a:tab pos="2419350" algn="l"/>
              </a:tabLst>
            </a:pPr>
            <a:r>
              <a:rPr lang="en-US" sz="2000" b="0" i="0" dirty="0">
                <a:solidFill>
                  <a:srgbClr val="000000"/>
                </a:solidFill>
                <a:effectLst/>
                <a:latin typeface="Verdana" panose="020B0604030504040204" pitchFamily="34" charset="0"/>
              </a:rPr>
              <a:t>To check if you have Java installed on a Windows PC, search in the start bar for Java or type the following in Command Prompt (cmd.exe):</a:t>
            </a:r>
          </a:p>
          <a:p>
            <a:pPr marL="342900" indent="-342900" algn="just">
              <a:spcAft>
                <a:spcPts val="600"/>
              </a:spcAft>
              <a:buFont typeface="Arial" panose="020B0604020202020204" pitchFamily="34" charset="0"/>
              <a:buChar char="•"/>
              <a:tabLst>
                <a:tab pos="2419350" algn="l"/>
              </a:tabLst>
            </a:pPr>
            <a:endParaRPr lang="en-US" sz="2000" dirty="0">
              <a:solidFill>
                <a:srgbClr val="000000"/>
              </a:solidFill>
              <a:latin typeface="Verdana" panose="020B0604030504040204" pitchFamily="34" charset="0"/>
            </a:endParaRPr>
          </a:p>
          <a:p>
            <a:pPr marL="342900" indent="-342900" algn="just">
              <a:spcAft>
                <a:spcPts val="600"/>
              </a:spcAft>
              <a:buFont typeface="Arial" panose="020B0604020202020204" pitchFamily="34" charset="0"/>
              <a:buChar char="•"/>
              <a:tabLst>
                <a:tab pos="2419350" algn="l"/>
              </a:tabLst>
            </a:pPr>
            <a:endParaRPr lang="en-US" sz="2000" dirty="0">
              <a:solidFill>
                <a:srgbClr val="000000"/>
              </a:solidFill>
              <a:latin typeface="Verdana" panose="020B0604030504040204" pitchFamily="34" charset="0"/>
            </a:endParaRPr>
          </a:p>
          <a:p>
            <a:pPr marL="342900" indent="-342900" algn="just">
              <a:spcAft>
                <a:spcPts val="600"/>
              </a:spcAft>
              <a:buFont typeface="Arial" panose="020B0604020202020204" pitchFamily="34" charset="0"/>
              <a:buChar char="•"/>
              <a:tabLst>
                <a:tab pos="2419350" algn="l"/>
              </a:tabLst>
            </a:pPr>
            <a:r>
              <a:rPr lang="en-US" sz="2000" b="0" i="0" dirty="0">
                <a:solidFill>
                  <a:srgbClr val="000000"/>
                </a:solidFill>
                <a:effectLst/>
                <a:latin typeface="Verdana" panose="020B0604030504040204" pitchFamily="34" charset="0"/>
              </a:rPr>
              <a:t>If Java is installed, you will see something like this (depending on version):</a:t>
            </a:r>
          </a:p>
          <a:p>
            <a:pPr marL="342900" indent="-342900" algn="just">
              <a:spcAft>
                <a:spcPts val="600"/>
              </a:spcAft>
              <a:buFont typeface="Arial" panose="020B0604020202020204" pitchFamily="34" charset="0"/>
              <a:buChar char="•"/>
              <a:tabLst>
                <a:tab pos="2419350" algn="l"/>
              </a:tabLst>
            </a:pPr>
            <a:endParaRPr lang="en-US" sz="2000" dirty="0">
              <a:solidFill>
                <a:srgbClr val="000000"/>
              </a:solidFill>
              <a:latin typeface="Verdana" panose="020B0604030504040204" pitchFamily="34" charset="0"/>
            </a:endParaRPr>
          </a:p>
          <a:p>
            <a:pPr marL="342900" indent="-342900" algn="just">
              <a:spcAft>
                <a:spcPts val="600"/>
              </a:spcAft>
              <a:buFont typeface="Arial" panose="020B0604020202020204" pitchFamily="34" charset="0"/>
              <a:buChar char="•"/>
              <a:tabLst>
                <a:tab pos="2419350" algn="l"/>
              </a:tabLst>
            </a:pPr>
            <a:endParaRPr lang="en-US" sz="2000" b="0" i="0" dirty="0">
              <a:solidFill>
                <a:srgbClr val="000000"/>
              </a:solidFill>
              <a:effectLst/>
              <a:latin typeface="Verdana" panose="020B0604030504040204" pitchFamily="34" charset="0"/>
            </a:endParaRPr>
          </a:p>
          <a:p>
            <a:pPr marL="342900" indent="-342900" algn="just">
              <a:spcAft>
                <a:spcPts val="600"/>
              </a:spcAft>
              <a:buFont typeface="Arial" panose="020B0604020202020204" pitchFamily="34" charset="0"/>
              <a:buChar char="•"/>
              <a:tabLst>
                <a:tab pos="2419350" algn="l"/>
              </a:tabLst>
            </a:pPr>
            <a:endParaRPr lang="en-US" sz="2000" dirty="0">
              <a:solidFill>
                <a:srgbClr val="000000"/>
              </a:solidFill>
              <a:latin typeface="Verdana" panose="020B0604030504040204" pitchFamily="34" charset="0"/>
            </a:endParaRPr>
          </a:p>
          <a:p>
            <a:pPr marL="342900" indent="-342900" algn="just">
              <a:spcAft>
                <a:spcPts val="600"/>
              </a:spcAft>
              <a:buFont typeface="Arial" panose="020B0604020202020204" pitchFamily="34" charset="0"/>
              <a:buChar char="•"/>
              <a:tabLst>
                <a:tab pos="2419350" algn="l"/>
              </a:tabLst>
            </a:pPr>
            <a:endParaRPr lang="en-US" sz="2000" dirty="0">
              <a:solidFill>
                <a:srgbClr val="000000"/>
              </a:solidFill>
              <a:latin typeface="Verdana" panose="020B0604030504040204" pitchFamily="34" charset="0"/>
            </a:endParaRPr>
          </a:p>
          <a:p>
            <a:pPr marL="342900" indent="-342900" algn="just">
              <a:spcAft>
                <a:spcPts val="600"/>
              </a:spcAft>
              <a:buFont typeface="Arial" panose="020B0604020202020204" pitchFamily="34" charset="0"/>
              <a:buChar char="•"/>
              <a:tabLst>
                <a:tab pos="2419350" algn="l"/>
              </a:tabLst>
            </a:pPr>
            <a:r>
              <a:rPr lang="en-US" sz="2000" b="0" i="0" dirty="0">
                <a:solidFill>
                  <a:srgbClr val="000000"/>
                </a:solidFill>
                <a:effectLst/>
                <a:latin typeface="Verdana" panose="020B0604030504040204" pitchFamily="34" charset="0"/>
              </a:rPr>
              <a:t>If you do not have Java installed on your computer, you can download it for free at </a:t>
            </a:r>
            <a:r>
              <a:rPr lang="en-US" sz="2000" b="0" i="0" dirty="0">
                <a:solidFill>
                  <a:srgbClr val="059862"/>
                </a:solidFill>
                <a:effectLst/>
                <a:latin typeface="Verdana" panose="020B0604030504040204" pitchFamily="34" charset="0"/>
                <a:hlinkClick r:id="rId2"/>
              </a:rPr>
              <a:t>oracle.com</a:t>
            </a:r>
            <a:r>
              <a:rPr lang="en-US" sz="2000" b="0" i="0" dirty="0">
                <a:solidFill>
                  <a:srgbClr val="000000"/>
                </a:solidFill>
                <a:effectLst/>
                <a:latin typeface="Verdana" panose="020B0604030504040204" pitchFamily="34" charset="0"/>
              </a:rPr>
              <a:t>.</a:t>
            </a:r>
          </a:p>
          <a:p>
            <a:pPr marL="342900" indent="-342900" algn="just">
              <a:spcAft>
                <a:spcPts val="600"/>
              </a:spcAft>
              <a:buFont typeface="Arial" panose="020B0604020202020204" pitchFamily="34" charset="0"/>
              <a:buChar char="•"/>
              <a:tabLst>
                <a:tab pos="2419350" algn="l"/>
              </a:tabLst>
            </a:pPr>
            <a:endParaRPr lang="en-US" sz="2000" dirty="0">
              <a:solidFill>
                <a:srgbClr val="000000"/>
              </a:solidFill>
              <a:latin typeface="Verdana" panose="020B0604030504040204" pitchFamily="34" charset="0"/>
            </a:endParaRPr>
          </a:p>
          <a:p>
            <a:pPr algn="l"/>
            <a:r>
              <a:rPr lang="en-US" sz="2000" b="1" i="0" dirty="0">
                <a:solidFill>
                  <a:srgbClr val="000000"/>
                </a:solidFill>
                <a:effectLst/>
                <a:latin typeface="Verdana" panose="020B0604030504040204" pitchFamily="34" charset="0"/>
              </a:rPr>
              <a:t>NOTE: </a:t>
            </a:r>
            <a:r>
              <a:rPr lang="en-US" sz="2000" b="0" i="0" dirty="0">
                <a:solidFill>
                  <a:srgbClr val="000000"/>
                </a:solidFill>
                <a:effectLst/>
                <a:latin typeface="Verdana" panose="020B0604030504040204" pitchFamily="34" charset="0"/>
              </a:rPr>
              <a:t>We can write Java code in a text editor. However, it is possible to write Java in an Integrated Development Environment, such as IntelliJ IDEA, NetBeans or Eclipse, which are particularly useful when managing larger collections of Java files.</a:t>
            </a:r>
          </a:p>
        </p:txBody>
      </p:sp>
      <p:pic>
        <p:nvPicPr>
          <p:cNvPr id="3" name="Picture 2">
            <a:extLst>
              <a:ext uri="{FF2B5EF4-FFF2-40B4-BE49-F238E27FC236}">
                <a16:creationId xmlns:a16="http://schemas.microsoft.com/office/drawing/2014/main" id="{21D8F70C-5FC2-DB92-ED0E-74181D217A68}"/>
              </a:ext>
            </a:extLst>
          </p:cNvPr>
          <p:cNvPicPr>
            <a:picLocks noChangeAspect="1"/>
          </p:cNvPicPr>
          <p:nvPr/>
        </p:nvPicPr>
        <p:blipFill>
          <a:blip r:embed="rId3"/>
          <a:stretch>
            <a:fillRect/>
          </a:stretch>
        </p:blipFill>
        <p:spPr>
          <a:xfrm>
            <a:off x="3249093" y="2230405"/>
            <a:ext cx="3730205" cy="472994"/>
          </a:xfrm>
          <a:prstGeom prst="rect">
            <a:avLst/>
          </a:prstGeom>
        </p:spPr>
      </p:pic>
      <p:pic>
        <p:nvPicPr>
          <p:cNvPr id="7" name="Picture 6">
            <a:extLst>
              <a:ext uri="{FF2B5EF4-FFF2-40B4-BE49-F238E27FC236}">
                <a16:creationId xmlns:a16="http://schemas.microsoft.com/office/drawing/2014/main" id="{B67D0216-8F9A-D878-1B11-446DCA11CC29}"/>
              </a:ext>
            </a:extLst>
          </p:cNvPr>
          <p:cNvPicPr>
            <a:picLocks noChangeAspect="1"/>
          </p:cNvPicPr>
          <p:nvPr/>
        </p:nvPicPr>
        <p:blipFill>
          <a:blip r:embed="rId4"/>
          <a:stretch>
            <a:fillRect/>
          </a:stretch>
        </p:blipFill>
        <p:spPr>
          <a:xfrm>
            <a:off x="2443161" y="3493802"/>
            <a:ext cx="7305675" cy="942975"/>
          </a:xfrm>
          <a:prstGeom prst="rect">
            <a:avLst/>
          </a:prstGeom>
        </p:spPr>
      </p:pic>
    </p:spTree>
    <p:extLst>
      <p:ext uri="{BB962C8B-B14F-4D97-AF65-F5344CB8AC3E}">
        <p14:creationId xmlns:p14="http://schemas.microsoft.com/office/powerpoint/2010/main" val="312086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5955476"/>
          </a:xfrm>
          <a:prstGeom prst="rect">
            <a:avLst/>
          </a:prstGeom>
          <a:noFill/>
        </p:spPr>
        <p:txBody>
          <a:bodyPr wrap="square" rtlCol="0">
            <a:spAutoFit/>
          </a:bodyPr>
          <a:lstStyle/>
          <a:p>
            <a:pPr algn="just">
              <a:spcAft>
                <a:spcPts val="1800"/>
              </a:spcAft>
            </a:pPr>
            <a:r>
              <a:rPr lang="en-US" sz="3600" u="sng" dirty="0">
                <a:solidFill>
                  <a:srgbClr val="7030A0"/>
                </a:solidFill>
              </a:rPr>
              <a:t>Java Path Setup</a:t>
            </a:r>
          </a:p>
          <a:p>
            <a:pPr marL="342900" indent="-342900" algn="just">
              <a:spcAft>
                <a:spcPts val="600"/>
              </a:spcAft>
              <a:buFont typeface="Arial" panose="020B0604020202020204" pitchFamily="34" charset="0"/>
              <a:buChar char="•"/>
              <a:tabLst>
                <a:tab pos="2419350" algn="l"/>
              </a:tabLst>
            </a:pPr>
            <a:r>
              <a:rPr lang="en-US" sz="2000" b="0" i="0" dirty="0">
                <a:solidFill>
                  <a:srgbClr val="333333"/>
                </a:solidFill>
                <a:effectLst/>
                <a:latin typeface="inter-regular"/>
              </a:rPr>
              <a:t>The path is required to be set for using tools such as </a:t>
            </a:r>
            <a:r>
              <a:rPr lang="en-US" sz="2000" b="0" i="0" dirty="0" err="1">
                <a:solidFill>
                  <a:srgbClr val="FF0000"/>
                </a:solidFill>
                <a:effectLst/>
                <a:latin typeface="inter-regular"/>
              </a:rPr>
              <a:t>javac</a:t>
            </a:r>
            <a:r>
              <a:rPr lang="en-US" sz="2000" b="0" i="0" dirty="0">
                <a:solidFill>
                  <a:srgbClr val="FF0000"/>
                </a:solidFill>
                <a:effectLst/>
                <a:latin typeface="inter-regular"/>
              </a:rPr>
              <a:t>, java, </a:t>
            </a:r>
            <a:r>
              <a:rPr lang="en-US" sz="2000" b="0" i="0" dirty="0">
                <a:solidFill>
                  <a:srgbClr val="333333"/>
                </a:solidFill>
                <a:effectLst/>
                <a:latin typeface="inter-regular"/>
              </a:rPr>
              <a:t>etc.</a:t>
            </a:r>
            <a:endParaRPr lang="en-US" sz="2000" dirty="0">
              <a:solidFill>
                <a:srgbClr val="000000"/>
              </a:solidFill>
              <a:latin typeface="Verdana" panose="020B0604030504040204" pitchFamily="34" charset="0"/>
            </a:endParaRPr>
          </a:p>
          <a:p>
            <a:pPr marL="342900" indent="-342900" algn="just">
              <a:spcAft>
                <a:spcPts val="600"/>
              </a:spcAft>
              <a:buFont typeface="Arial" panose="020B0604020202020204" pitchFamily="34" charset="0"/>
              <a:buChar char="•"/>
              <a:tabLst>
                <a:tab pos="2419350" algn="l"/>
              </a:tabLst>
            </a:pPr>
            <a:r>
              <a:rPr lang="en-US" sz="2000" b="0" i="0" dirty="0">
                <a:solidFill>
                  <a:srgbClr val="333333"/>
                </a:solidFill>
                <a:effectLst/>
                <a:latin typeface="inter-regular"/>
              </a:rPr>
              <a:t>If you are saving the Java source file inside the </a:t>
            </a:r>
            <a:r>
              <a:rPr lang="en-US" sz="2000" b="0" i="0" dirty="0" err="1">
                <a:solidFill>
                  <a:srgbClr val="333333"/>
                </a:solidFill>
                <a:effectLst/>
                <a:latin typeface="inter-regular"/>
              </a:rPr>
              <a:t>JDK</a:t>
            </a:r>
            <a:r>
              <a:rPr lang="en-US" sz="2000" b="0" i="0" dirty="0">
                <a:solidFill>
                  <a:srgbClr val="333333"/>
                </a:solidFill>
                <a:effectLst/>
                <a:latin typeface="inter-regular"/>
              </a:rPr>
              <a:t>/bin directory, the path is not required to be set because all the tools will be available in the current directory.</a:t>
            </a:r>
            <a:endParaRPr lang="en-US" sz="2000" b="0" i="0" dirty="0">
              <a:solidFill>
                <a:srgbClr val="000000"/>
              </a:solidFill>
              <a:effectLst/>
              <a:latin typeface="Verdana" panose="020B0604030504040204" pitchFamily="34" charset="0"/>
            </a:endParaRPr>
          </a:p>
          <a:p>
            <a:pPr marL="342900" indent="-342900" algn="just">
              <a:spcAft>
                <a:spcPts val="600"/>
              </a:spcAft>
              <a:buFont typeface="Arial" panose="020B0604020202020204" pitchFamily="34" charset="0"/>
              <a:buChar char="•"/>
              <a:tabLst>
                <a:tab pos="2419350" algn="l"/>
              </a:tabLst>
            </a:pPr>
            <a:r>
              <a:rPr lang="en-US" sz="2000" b="0" i="0" dirty="0">
                <a:solidFill>
                  <a:srgbClr val="333333"/>
                </a:solidFill>
                <a:effectLst/>
                <a:latin typeface="inter-regular"/>
              </a:rPr>
              <a:t>However, if you have your Java file outside the </a:t>
            </a:r>
            <a:r>
              <a:rPr lang="en-US" sz="2000" b="0" i="0" dirty="0" err="1">
                <a:solidFill>
                  <a:srgbClr val="333333"/>
                </a:solidFill>
                <a:effectLst/>
                <a:latin typeface="inter-regular"/>
              </a:rPr>
              <a:t>JDK</a:t>
            </a:r>
            <a:r>
              <a:rPr lang="en-US" sz="2000" b="0" i="0" dirty="0">
                <a:solidFill>
                  <a:srgbClr val="333333"/>
                </a:solidFill>
                <a:effectLst/>
                <a:latin typeface="inter-regular"/>
              </a:rPr>
              <a:t>/bin folder, it is necessary to set the path of </a:t>
            </a:r>
            <a:r>
              <a:rPr lang="en-US" sz="2000" b="0" i="0" dirty="0" err="1">
                <a:solidFill>
                  <a:srgbClr val="333333"/>
                </a:solidFill>
                <a:effectLst/>
                <a:latin typeface="inter-regular"/>
              </a:rPr>
              <a:t>JDK</a:t>
            </a:r>
            <a:r>
              <a:rPr lang="en-US" sz="2000" b="0" i="0" dirty="0">
                <a:solidFill>
                  <a:srgbClr val="333333"/>
                </a:solidFill>
                <a:effectLst/>
                <a:latin typeface="inter-regular"/>
              </a:rPr>
              <a:t>.</a:t>
            </a:r>
            <a:endParaRPr lang="en-US" sz="2000" dirty="0">
              <a:solidFill>
                <a:srgbClr val="000000"/>
              </a:solidFill>
              <a:latin typeface="Verdana" panose="020B0604030504040204" pitchFamily="34" charset="0"/>
            </a:endParaRPr>
          </a:p>
          <a:p>
            <a:pPr algn="just">
              <a:spcBef>
                <a:spcPts val="600"/>
              </a:spcBef>
              <a:spcAft>
                <a:spcPts val="1200"/>
              </a:spcAft>
              <a:tabLst>
                <a:tab pos="2419350" algn="l"/>
              </a:tabLst>
            </a:pPr>
            <a:r>
              <a:rPr lang="en-US" sz="2000" b="1" i="0" dirty="0">
                <a:solidFill>
                  <a:srgbClr val="000000"/>
                </a:solidFill>
                <a:effectLst/>
                <a:latin typeface="Verdana" panose="020B0604030504040204" pitchFamily="34" charset="0"/>
              </a:rPr>
              <a:t>Setting Java Path</a:t>
            </a:r>
          </a:p>
          <a:p>
            <a:pPr marL="457200" indent="-457200" algn="l">
              <a:spcAft>
                <a:spcPts val="600"/>
              </a:spcAft>
              <a:buFont typeface="+mj-lt"/>
              <a:buAutoNum type="arabicPeriod"/>
            </a:pPr>
            <a:r>
              <a:rPr lang="en-US" sz="2000" dirty="0">
                <a:solidFill>
                  <a:srgbClr val="0070C0"/>
                </a:solidFill>
                <a:latin typeface="inter-regular"/>
              </a:rPr>
              <a:t>Go to Control Panel &gt; System and Security &gt; System &gt; Advanced System Settings</a:t>
            </a:r>
          </a:p>
          <a:p>
            <a:pPr marL="457200" indent="-457200" algn="l">
              <a:spcAft>
                <a:spcPts val="600"/>
              </a:spcAft>
              <a:buFont typeface="+mj-lt"/>
              <a:buAutoNum type="arabicPeriod"/>
            </a:pPr>
            <a:r>
              <a:rPr lang="en-US" sz="2000" dirty="0">
                <a:solidFill>
                  <a:srgbClr val="0070C0"/>
                </a:solidFill>
                <a:latin typeface="inter-regular"/>
              </a:rPr>
              <a:t>Click on the "Environment variables" button under the "Advanced" tab</a:t>
            </a:r>
          </a:p>
          <a:p>
            <a:pPr marL="457200" indent="-457200" algn="l">
              <a:spcAft>
                <a:spcPts val="600"/>
              </a:spcAft>
              <a:buFont typeface="+mj-lt"/>
              <a:buAutoNum type="arabicPeriod"/>
            </a:pPr>
            <a:r>
              <a:rPr lang="en-US" sz="2000" dirty="0">
                <a:solidFill>
                  <a:srgbClr val="0070C0"/>
                </a:solidFill>
                <a:latin typeface="inter-regular"/>
              </a:rPr>
              <a:t>Then, select the "Path" variable in System variables and click on the "Edit" button</a:t>
            </a:r>
          </a:p>
          <a:p>
            <a:pPr marL="457200" indent="-457200" algn="l">
              <a:spcAft>
                <a:spcPts val="600"/>
              </a:spcAft>
              <a:buFont typeface="+mj-lt"/>
              <a:buAutoNum type="arabicPeriod"/>
            </a:pPr>
            <a:r>
              <a:rPr lang="en-US" sz="2000" dirty="0">
                <a:solidFill>
                  <a:srgbClr val="0070C0"/>
                </a:solidFill>
                <a:latin typeface="inter-regular"/>
              </a:rPr>
              <a:t>Click on the "New" button and add the path where Java is installed, followed by \bin. By default, Java is installed in </a:t>
            </a:r>
            <a:r>
              <a:rPr lang="en-US" sz="2000" b="1" dirty="0">
                <a:solidFill>
                  <a:srgbClr val="0070C0"/>
                </a:solidFill>
                <a:latin typeface="inter-regular"/>
              </a:rPr>
              <a:t>C:\Program Files\Java\jdk-11.0.1 </a:t>
            </a:r>
            <a:r>
              <a:rPr lang="en-US" sz="2000" dirty="0">
                <a:solidFill>
                  <a:srgbClr val="0070C0"/>
                </a:solidFill>
                <a:latin typeface="inter-regular"/>
              </a:rPr>
              <a:t>(If nothing else was specified when you installed it). In that case, You will have to add a new path with: C:\Program Files\Java\jdk-11.0.1\bin</a:t>
            </a:r>
            <a:br>
              <a:rPr lang="en-US" sz="2000" dirty="0">
                <a:solidFill>
                  <a:srgbClr val="0070C0"/>
                </a:solidFill>
                <a:latin typeface="inter-regular"/>
              </a:rPr>
            </a:br>
            <a:r>
              <a:rPr lang="en-US" sz="2000" dirty="0">
                <a:solidFill>
                  <a:srgbClr val="0070C0"/>
                </a:solidFill>
                <a:latin typeface="inter-regular"/>
              </a:rPr>
              <a:t>Then, click "OK", and save the settings</a:t>
            </a:r>
          </a:p>
          <a:p>
            <a:pPr marL="457200" indent="-457200" algn="l">
              <a:spcAft>
                <a:spcPts val="600"/>
              </a:spcAft>
              <a:buFont typeface="+mj-lt"/>
              <a:buAutoNum type="arabicPeriod"/>
            </a:pPr>
            <a:r>
              <a:rPr lang="en-US" sz="2000" dirty="0">
                <a:solidFill>
                  <a:srgbClr val="0070C0"/>
                </a:solidFill>
                <a:latin typeface="inter-regular"/>
              </a:rPr>
              <a:t>At last, open Command Prompt (cmd.exe) and type java -version to see if Java is running on your machine</a:t>
            </a:r>
          </a:p>
        </p:txBody>
      </p:sp>
    </p:spTree>
    <p:extLst>
      <p:ext uri="{BB962C8B-B14F-4D97-AF65-F5344CB8AC3E}">
        <p14:creationId xmlns:p14="http://schemas.microsoft.com/office/powerpoint/2010/main" val="3871403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46331"/>
          </a:xfrm>
          <a:prstGeom prst="rect">
            <a:avLst/>
          </a:prstGeom>
          <a:noFill/>
        </p:spPr>
        <p:txBody>
          <a:bodyPr wrap="square" rtlCol="0">
            <a:spAutoFit/>
          </a:bodyPr>
          <a:lstStyle/>
          <a:p>
            <a:pPr algn="just">
              <a:spcAft>
                <a:spcPts val="1800"/>
              </a:spcAft>
            </a:pPr>
            <a:r>
              <a:rPr lang="en-US" sz="3600" u="sng" dirty="0">
                <a:solidFill>
                  <a:srgbClr val="7030A0"/>
                </a:solidFill>
              </a:rPr>
              <a:t>Two ways of using Java</a:t>
            </a:r>
          </a:p>
        </p:txBody>
      </p:sp>
      <p:sp>
        <p:nvSpPr>
          <p:cNvPr id="7" name="Oval 6">
            <a:extLst>
              <a:ext uri="{FF2B5EF4-FFF2-40B4-BE49-F238E27FC236}">
                <a16:creationId xmlns:a16="http://schemas.microsoft.com/office/drawing/2014/main" id="{B8EBB87E-3C8D-5C47-90E7-9577B1DF92BC}"/>
              </a:ext>
            </a:extLst>
          </p:cNvPr>
          <p:cNvSpPr/>
          <p:nvPr/>
        </p:nvSpPr>
        <p:spPr>
          <a:xfrm>
            <a:off x="4741506" y="1657739"/>
            <a:ext cx="12192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Java </a:t>
            </a:r>
          </a:p>
          <a:p>
            <a:pPr algn="ctr"/>
            <a:r>
              <a:rPr lang="en-US" dirty="0"/>
              <a:t>Source Code</a:t>
            </a:r>
          </a:p>
        </p:txBody>
      </p:sp>
      <p:sp>
        <p:nvSpPr>
          <p:cNvPr id="8" name="Oval 7">
            <a:extLst>
              <a:ext uri="{FF2B5EF4-FFF2-40B4-BE49-F238E27FC236}">
                <a16:creationId xmlns:a16="http://schemas.microsoft.com/office/drawing/2014/main" id="{03307FA0-1BF8-2156-DE63-FBC7E2A76753}"/>
              </a:ext>
            </a:extLst>
          </p:cNvPr>
          <p:cNvSpPr/>
          <p:nvPr/>
        </p:nvSpPr>
        <p:spPr>
          <a:xfrm>
            <a:off x="1922106" y="3791339"/>
            <a:ext cx="22860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Java Enabled Web Browser</a:t>
            </a:r>
          </a:p>
        </p:txBody>
      </p:sp>
      <p:sp>
        <p:nvSpPr>
          <p:cNvPr id="9" name="Oval 8">
            <a:extLst>
              <a:ext uri="{FF2B5EF4-FFF2-40B4-BE49-F238E27FC236}">
                <a16:creationId xmlns:a16="http://schemas.microsoft.com/office/drawing/2014/main" id="{E8AAE9E6-2DFF-B506-99A5-5AB5E131D27C}"/>
              </a:ext>
            </a:extLst>
          </p:cNvPr>
          <p:cNvSpPr/>
          <p:nvPr/>
        </p:nvSpPr>
        <p:spPr>
          <a:xfrm>
            <a:off x="7103706" y="3715139"/>
            <a:ext cx="19050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Java Interpreter</a:t>
            </a:r>
          </a:p>
        </p:txBody>
      </p:sp>
      <p:sp>
        <p:nvSpPr>
          <p:cNvPr id="10" name="Rectangle 9">
            <a:extLst>
              <a:ext uri="{FF2B5EF4-FFF2-40B4-BE49-F238E27FC236}">
                <a16:creationId xmlns:a16="http://schemas.microsoft.com/office/drawing/2014/main" id="{E438EAC9-B313-AAF9-B0E5-E6889FE60FA4}"/>
              </a:ext>
            </a:extLst>
          </p:cNvPr>
          <p:cNvSpPr/>
          <p:nvPr/>
        </p:nvSpPr>
        <p:spPr>
          <a:xfrm>
            <a:off x="4589106" y="2876939"/>
            <a:ext cx="1600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Java Compiler</a:t>
            </a:r>
          </a:p>
        </p:txBody>
      </p:sp>
      <p:sp>
        <p:nvSpPr>
          <p:cNvPr id="11" name="Rectangle 10">
            <a:extLst>
              <a:ext uri="{FF2B5EF4-FFF2-40B4-BE49-F238E27FC236}">
                <a16:creationId xmlns:a16="http://schemas.microsoft.com/office/drawing/2014/main" id="{8D6EA18A-0DBB-B236-9F7E-BBB97F073DD0}"/>
              </a:ext>
            </a:extLst>
          </p:cNvPr>
          <p:cNvSpPr/>
          <p:nvPr/>
        </p:nvSpPr>
        <p:spPr>
          <a:xfrm>
            <a:off x="7484706" y="5239139"/>
            <a:ext cx="1600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Output</a:t>
            </a:r>
          </a:p>
        </p:txBody>
      </p:sp>
      <p:sp>
        <p:nvSpPr>
          <p:cNvPr id="12" name="Rectangle 11">
            <a:extLst>
              <a:ext uri="{FF2B5EF4-FFF2-40B4-BE49-F238E27FC236}">
                <a16:creationId xmlns:a16="http://schemas.microsoft.com/office/drawing/2014/main" id="{8AF2F0EB-19AD-A1CE-B6D8-1918BE509A93}"/>
              </a:ext>
            </a:extLst>
          </p:cNvPr>
          <p:cNvSpPr/>
          <p:nvPr/>
        </p:nvSpPr>
        <p:spPr>
          <a:xfrm>
            <a:off x="2226906" y="5239139"/>
            <a:ext cx="1600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Output</a:t>
            </a:r>
          </a:p>
        </p:txBody>
      </p:sp>
      <p:cxnSp>
        <p:nvCxnSpPr>
          <p:cNvPr id="13" name="Straight Arrow Connector 12">
            <a:extLst>
              <a:ext uri="{FF2B5EF4-FFF2-40B4-BE49-F238E27FC236}">
                <a16:creationId xmlns:a16="http://schemas.microsoft.com/office/drawing/2014/main" id="{76DCADC3-BCF2-8EA9-48EC-D114DF2DC4EA}"/>
              </a:ext>
            </a:extLst>
          </p:cNvPr>
          <p:cNvCxnSpPr>
            <a:stCxn id="7" idx="4"/>
            <a:endCxn id="10" idx="0"/>
          </p:cNvCxnSpPr>
          <p:nvPr/>
        </p:nvCxnSpPr>
        <p:spPr>
          <a:xfrm rot="16200000" flipH="1">
            <a:off x="5217756" y="2705489"/>
            <a:ext cx="304800" cy="381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4" name="Straight Arrow Connector 13">
            <a:extLst>
              <a:ext uri="{FF2B5EF4-FFF2-40B4-BE49-F238E27FC236}">
                <a16:creationId xmlns:a16="http://schemas.microsoft.com/office/drawing/2014/main" id="{C4E0333A-4681-FAE2-6885-FAE9CFC63FFD}"/>
              </a:ext>
            </a:extLst>
          </p:cNvPr>
          <p:cNvCxnSpPr>
            <a:stCxn id="10" idx="2"/>
          </p:cNvCxnSpPr>
          <p:nvPr/>
        </p:nvCxnSpPr>
        <p:spPr>
          <a:xfrm rot="16200000" flipH="1">
            <a:off x="5903556" y="2819789"/>
            <a:ext cx="685800" cy="17145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5" name="Straight Arrow Connector 14">
            <a:extLst>
              <a:ext uri="{FF2B5EF4-FFF2-40B4-BE49-F238E27FC236}">
                <a16:creationId xmlns:a16="http://schemas.microsoft.com/office/drawing/2014/main" id="{D967A65D-ABBD-E9A0-DEAF-4FCB865BFB1B}"/>
              </a:ext>
            </a:extLst>
          </p:cNvPr>
          <p:cNvCxnSpPr/>
          <p:nvPr/>
        </p:nvCxnSpPr>
        <p:spPr>
          <a:xfrm rot="5400000">
            <a:off x="2741256" y="4953389"/>
            <a:ext cx="533400" cy="381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D2D9A76E-4FD4-2995-EA28-F7765E7367FB}"/>
              </a:ext>
            </a:extLst>
          </p:cNvPr>
          <p:cNvCxnSpPr>
            <a:cxnSpLocks/>
          </p:cNvCxnSpPr>
          <p:nvPr/>
        </p:nvCxnSpPr>
        <p:spPr>
          <a:xfrm>
            <a:off x="8170506" y="4629539"/>
            <a:ext cx="0" cy="6096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4C57CDE5-6690-9FF0-0138-57429594CCE3}"/>
              </a:ext>
            </a:extLst>
          </p:cNvPr>
          <p:cNvSpPr txBox="1"/>
          <p:nvPr/>
        </p:nvSpPr>
        <p:spPr>
          <a:xfrm>
            <a:off x="6265506" y="3334139"/>
            <a:ext cx="2209800" cy="369332"/>
          </a:xfrm>
          <a:prstGeom prst="rect">
            <a:avLst/>
          </a:prstGeom>
          <a:noFill/>
        </p:spPr>
        <p:txBody>
          <a:bodyPr wrap="square" rtlCol="0">
            <a:spAutoFit/>
          </a:bodyPr>
          <a:lstStyle/>
          <a:p>
            <a:r>
              <a:rPr lang="en-US" dirty="0"/>
              <a:t>Application Type</a:t>
            </a:r>
          </a:p>
        </p:txBody>
      </p:sp>
      <p:sp>
        <p:nvSpPr>
          <p:cNvPr id="18" name="TextBox 17">
            <a:extLst>
              <a:ext uri="{FF2B5EF4-FFF2-40B4-BE49-F238E27FC236}">
                <a16:creationId xmlns:a16="http://schemas.microsoft.com/office/drawing/2014/main" id="{D8096769-5251-4BAE-95DB-9650D6995091}"/>
              </a:ext>
            </a:extLst>
          </p:cNvPr>
          <p:cNvSpPr txBox="1"/>
          <p:nvPr/>
        </p:nvSpPr>
        <p:spPr>
          <a:xfrm>
            <a:off x="3217506" y="3422007"/>
            <a:ext cx="1371600" cy="369332"/>
          </a:xfrm>
          <a:prstGeom prst="rect">
            <a:avLst/>
          </a:prstGeom>
          <a:noFill/>
        </p:spPr>
        <p:txBody>
          <a:bodyPr wrap="square" rtlCol="0">
            <a:spAutoFit/>
          </a:bodyPr>
          <a:lstStyle/>
          <a:p>
            <a:r>
              <a:rPr lang="en-US" dirty="0"/>
              <a:t>Applet Type</a:t>
            </a:r>
          </a:p>
        </p:txBody>
      </p:sp>
      <p:cxnSp>
        <p:nvCxnSpPr>
          <p:cNvPr id="19" name="Straight Arrow Connector 18">
            <a:extLst>
              <a:ext uri="{FF2B5EF4-FFF2-40B4-BE49-F238E27FC236}">
                <a16:creationId xmlns:a16="http://schemas.microsoft.com/office/drawing/2014/main" id="{6A99B949-8B71-06C8-C73E-C35B941FA7AB}"/>
              </a:ext>
            </a:extLst>
          </p:cNvPr>
          <p:cNvCxnSpPr/>
          <p:nvPr/>
        </p:nvCxnSpPr>
        <p:spPr>
          <a:xfrm rot="5400000">
            <a:off x="4382324" y="2869426"/>
            <a:ext cx="591111" cy="151587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51272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31854"/>
            <a:ext cx="11433061" cy="1692771"/>
          </a:xfrm>
          <a:prstGeom prst="rect">
            <a:avLst/>
          </a:prstGeom>
          <a:noFill/>
        </p:spPr>
        <p:txBody>
          <a:bodyPr wrap="square" rtlCol="0">
            <a:spAutoFit/>
          </a:bodyPr>
          <a:lstStyle/>
          <a:p>
            <a:pPr algn="just">
              <a:spcAft>
                <a:spcPts val="1800"/>
              </a:spcAft>
            </a:pPr>
            <a:r>
              <a:rPr lang="en-US" sz="3600" u="sng" dirty="0">
                <a:solidFill>
                  <a:srgbClr val="7030A0"/>
                </a:solidFill>
              </a:rPr>
              <a:t>Sample Java Program</a:t>
            </a:r>
          </a:p>
          <a:p>
            <a:pPr algn="just">
              <a:spcAft>
                <a:spcPts val="600"/>
              </a:spcAft>
              <a:tabLst>
                <a:tab pos="2419350" algn="l"/>
              </a:tabLst>
            </a:pPr>
            <a:endParaRPr lang="en-US" sz="2400" b="1" i="0" dirty="0">
              <a:solidFill>
                <a:srgbClr val="273239"/>
              </a:solidFill>
              <a:effectLst/>
              <a:latin typeface="urw-din"/>
            </a:endParaRPr>
          </a:p>
          <a:p>
            <a:pPr algn="just">
              <a:spcAft>
                <a:spcPts val="600"/>
              </a:spcAft>
              <a:tabLst>
                <a:tab pos="2419350" algn="l"/>
              </a:tabLst>
            </a:pPr>
            <a:endParaRPr lang="en-US" sz="2400" dirty="0">
              <a:solidFill>
                <a:srgbClr val="0070C0"/>
              </a:solidFill>
              <a:latin typeface="inter-regular"/>
            </a:endParaRPr>
          </a:p>
        </p:txBody>
      </p:sp>
      <p:sp>
        <p:nvSpPr>
          <p:cNvPr id="7" name="Content Placeholder 2">
            <a:extLst>
              <a:ext uri="{FF2B5EF4-FFF2-40B4-BE49-F238E27FC236}">
                <a16:creationId xmlns:a16="http://schemas.microsoft.com/office/drawing/2014/main" id="{A1301DA7-9B6C-C0B4-172A-4CBCABFC1904}"/>
              </a:ext>
            </a:extLst>
          </p:cNvPr>
          <p:cNvSpPr txBox="1">
            <a:spLocks/>
          </p:cNvSpPr>
          <p:nvPr/>
        </p:nvSpPr>
        <p:spPr>
          <a:xfrm>
            <a:off x="1035697" y="1278760"/>
            <a:ext cx="8798767" cy="46052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Class </a:t>
            </a:r>
            <a:r>
              <a:rPr lang="en-US" dirty="0" err="1"/>
              <a:t>SampleOne</a:t>
            </a:r>
            <a:endParaRPr lang="en-US" dirty="0"/>
          </a:p>
          <a:p>
            <a:pPr algn="l"/>
            <a:r>
              <a:rPr lang="en-US" dirty="0"/>
              <a:t>{</a:t>
            </a:r>
          </a:p>
          <a:p>
            <a:pPr algn="l"/>
            <a:r>
              <a:rPr lang="en-US" dirty="0"/>
              <a:t>   Public Static Void Main(String args[])</a:t>
            </a:r>
          </a:p>
          <a:p>
            <a:pPr algn="l"/>
            <a:r>
              <a:rPr lang="en-US" dirty="0"/>
              <a:t>   {</a:t>
            </a:r>
          </a:p>
          <a:p>
            <a:pPr algn="l"/>
            <a:r>
              <a:rPr lang="en-US" dirty="0"/>
              <a:t>       System.out.println(“Java is better than C++”);</a:t>
            </a:r>
          </a:p>
          <a:p>
            <a:pPr algn="l"/>
            <a:r>
              <a:rPr lang="en-US" dirty="0"/>
              <a:t>   }</a:t>
            </a:r>
          </a:p>
          <a:p>
            <a:pPr algn="l"/>
            <a:r>
              <a:rPr lang="en-US" dirty="0"/>
              <a:t>}</a:t>
            </a:r>
          </a:p>
          <a:p>
            <a:pPr algn="l"/>
            <a:r>
              <a:rPr lang="en-US" b="1" u="sng" dirty="0">
                <a:solidFill>
                  <a:srgbClr val="CC3300"/>
                </a:solidFill>
              </a:rPr>
              <a:t>static</a:t>
            </a:r>
          </a:p>
          <a:p>
            <a:pPr lvl="1" algn="l"/>
            <a:r>
              <a:rPr lang="en-US" dirty="0"/>
              <a:t>the </a:t>
            </a:r>
            <a:r>
              <a:rPr lang="en-US" dirty="0">
                <a:solidFill>
                  <a:srgbClr val="CC3300"/>
                </a:solidFill>
              </a:rPr>
              <a:t>main</a:t>
            </a:r>
            <a:r>
              <a:rPr lang="en-US" dirty="0"/>
              <a:t> method belongs to the </a:t>
            </a:r>
            <a:r>
              <a:rPr lang="en-US" dirty="0" err="1">
                <a:solidFill>
                  <a:srgbClr val="CC3300"/>
                </a:solidFill>
              </a:rPr>
              <a:t>SampleOne</a:t>
            </a:r>
            <a:r>
              <a:rPr lang="en-US" dirty="0"/>
              <a:t> class, and not a part of any objects of the class</a:t>
            </a:r>
          </a:p>
          <a:p>
            <a:pPr algn="l"/>
            <a:endParaRPr lang="en-US" dirty="0"/>
          </a:p>
          <a:p>
            <a:pPr algn="l"/>
            <a:endParaRPr lang="en-US" dirty="0"/>
          </a:p>
        </p:txBody>
      </p:sp>
    </p:spTree>
    <p:extLst>
      <p:ext uri="{BB962C8B-B14F-4D97-AF65-F5344CB8AC3E}">
        <p14:creationId xmlns:p14="http://schemas.microsoft.com/office/powerpoint/2010/main" val="241689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31854"/>
            <a:ext cx="11433061" cy="1692771"/>
          </a:xfrm>
          <a:prstGeom prst="rect">
            <a:avLst/>
          </a:prstGeom>
          <a:noFill/>
        </p:spPr>
        <p:txBody>
          <a:bodyPr wrap="square" rtlCol="0">
            <a:spAutoFit/>
          </a:bodyPr>
          <a:lstStyle/>
          <a:p>
            <a:pPr algn="just">
              <a:spcAft>
                <a:spcPts val="1800"/>
              </a:spcAft>
            </a:pPr>
            <a:r>
              <a:rPr lang="en-US" sz="3600" u="sng" dirty="0">
                <a:solidFill>
                  <a:srgbClr val="7030A0"/>
                </a:solidFill>
              </a:rPr>
              <a:t>Can One Run Java Program Without Main() Method? </a:t>
            </a:r>
          </a:p>
          <a:p>
            <a:pPr algn="just">
              <a:spcAft>
                <a:spcPts val="600"/>
              </a:spcAft>
              <a:tabLst>
                <a:tab pos="2419350" algn="l"/>
              </a:tabLst>
            </a:pPr>
            <a:endParaRPr lang="en-US" sz="2400" b="1" i="0" dirty="0">
              <a:solidFill>
                <a:srgbClr val="273239"/>
              </a:solidFill>
              <a:effectLst/>
              <a:latin typeface="urw-din"/>
            </a:endParaRPr>
          </a:p>
          <a:p>
            <a:pPr algn="just">
              <a:spcAft>
                <a:spcPts val="600"/>
              </a:spcAft>
              <a:tabLst>
                <a:tab pos="2419350" algn="l"/>
              </a:tabLst>
            </a:pPr>
            <a:endParaRPr lang="en-US" sz="2400" dirty="0">
              <a:solidFill>
                <a:srgbClr val="0070C0"/>
              </a:solidFill>
              <a:latin typeface="inter-regular"/>
            </a:endParaRPr>
          </a:p>
        </p:txBody>
      </p:sp>
      <p:sp>
        <p:nvSpPr>
          <p:cNvPr id="8" name="TextBox 7">
            <a:extLst>
              <a:ext uri="{FF2B5EF4-FFF2-40B4-BE49-F238E27FC236}">
                <a16:creationId xmlns:a16="http://schemas.microsoft.com/office/drawing/2014/main" id="{105F050A-6A41-2AEA-986C-3E3B51DD3E97}"/>
              </a:ext>
            </a:extLst>
          </p:cNvPr>
          <p:cNvSpPr txBox="1"/>
          <p:nvPr/>
        </p:nvSpPr>
        <p:spPr>
          <a:xfrm>
            <a:off x="857350" y="1303258"/>
            <a:ext cx="5040863" cy="3247043"/>
          </a:xfrm>
          <a:prstGeom prst="rect">
            <a:avLst/>
          </a:prstGeom>
          <a:noFill/>
        </p:spPr>
        <p:txBody>
          <a:bodyPr wrap="square">
            <a:spAutoFit/>
          </a:bodyPr>
          <a:lstStyle/>
          <a:p>
            <a:pPr marL="342900" indent="-342900" algn="just">
              <a:spcAft>
                <a:spcPts val="600"/>
              </a:spcAft>
              <a:buFont typeface="Arial" panose="020B0604020202020204" pitchFamily="34" charset="0"/>
              <a:buChar char="•"/>
            </a:pPr>
            <a:r>
              <a:rPr lang="en-US" sz="2000" b="0" i="0" dirty="0">
                <a:solidFill>
                  <a:srgbClr val="000000"/>
                </a:solidFill>
                <a:effectLst/>
                <a:latin typeface="Nunito" pitchFamily="2" charset="0"/>
              </a:rPr>
              <a:t>Yes, we can execute a java program without a main method by using a static block. </a:t>
            </a:r>
          </a:p>
          <a:p>
            <a:pPr marL="342900" indent="-342900" algn="just">
              <a:spcAft>
                <a:spcPts val="600"/>
              </a:spcAft>
              <a:buFont typeface="Arial" panose="020B0604020202020204" pitchFamily="34" charset="0"/>
              <a:buChar char="•"/>
            </a:pPr>
            <a:r>
              <a:rPr lang="en-US" sz="2000" b="0" i="0" dirty="0">
                <a:solidFill>
                  <a:srgbClr val="000000"/>
                </a:solidFill>
                <a:effectLst/>
                <a:latin typeface="Nunito" pitchFamily="2" charset="0"/>
              </a:rPr>
              <a:t>Static block in Java is a group of statements that gets executed only once when the class is loaded into the memory by Java ClassLoader, It is also known as a static initialization block. Static initialization block is going directly into the stack memory.</a:t>
            </a:r>
          </a:p>
        </p:txBody>
      </p:sp>
      <p:pic>
        <p:nvPicPr>
          <p:cNvPr id="4" name="Picture 3">
            <a:extLst>
              <a:ext uri="{FF2B5EF4-FFF2-40B4-BE49-F238E27FC236}">
                <a16:creationId xmlns:a16="http://schemas.microsoft.com/office/drawing/2014/main" id="{AD4593BF-EA31-583F-E862-58EC3B48FFD4}"/>
              </a:ext>
            </a:extLst>
          </p:cNvPr>
          <p:cNvPicPr>
            <a:picLocks noChangeAspect="1"/>
          </p:cNvPicPr>
          <p:nvPr/>
        </p:nvPicPr>
        <p:blipFill>
          <a:blip r:embed="rId2"/>
          <a:stretch>
            <a:fillRect/>
          </a:stretch>
        </p:blipFill>
        <p:spPr>
          <a:xfrm>
            <a:off x="6164205" y="2055241"/>
            <a:ext cx="5648325" cy="1743075"/>
          </a:xfrm>
          <a:prstGeom prst="rect">
            <a:avLst/>
          </a:prstGeom>
          <a:ln>
            <a:solidFill>
              <a:schemeClr val="accent1"/>
            </a:solidFill>
          </a:ln>
        </p:spPr>
      </p:pic>
      <p:sp>
        <p:nvSpPr>
          <p:cNvPr id="10" name="TextBox 9">
            <a:extLst>
              <a:ext uri="{FF2B5EF4-FFF2-40B4-BE49-F238E27FC236}">
                <a16:creationId xmlns:a16="http://schemas.microsoft.com/office/drawing/2014/main" id="{1F059CAD-FC65-383E-CCD4-451D88966BBE}"/>
              </a:ext>
            </a:extLst>
          </p:cNvPr>
          <p:cNvSpPr txBox="1"/>
          <p:nvPr/>
        </p:nvSpPr>
        <p:spPr>
          <a:xfrm>
            <a:off x="857350" y="5338175"/>
            <a:ext cx="10782099" cy="1015663"/>
          </a:xfrm>
          <a:prstGeom prst="rect">
            <a:avLst/>
          </a:prstGeom>
          <a:noFill/>
        </p:spPr>
        <p:txBody>
          <a:bodyPr wrap="square">
            <a:spAutoFit/>
          </a:bodyPr>
          <a:lstStyle/>
          <a:p>
            <a:pPr algn="just"/>
            <a:r>
              <a:rPr lang="en-US" sz="2000" b="1" i="0" dirty="0">
                <a:solidFill>
                  <a:srgbClr val="000000"/>
                </a:solidFill>
                <a:effectLst/>
                <a:latin typeface="Nunito" pitchFamily="2" charset="0"/>
              </a:rPr>
              <a:t>Note: </a:t>
            </a:r>
            <a:r>
              <a:rPr lang="en-US" sz="2000" b="0" i="0" dirty="0">
                <a:solidFill>
                  <a:srgbClr val="000000"/>
                </a:solidFill>
                <a:effectLst/>
                <a:latin typeface="Nunito" pitchFamily="2" charset="0"/>
              </a:rPr>
              <a:t>In the above example, we can execute a java program without a main method (works until Java 1.6 version). Java 7 and newer versions don’t allow this because JVM checks the presence of the main method before initializing the class.</a:t>
            </a:r>
            <a:endParaRPr lang="fr-FR" sz="2000" dirty="0"/>
          </a:p>
        </p:txBody>
      </p:sp>
    </p:spTree>
    <p:extLst>
      <p:ext uri="{BB962C8B-B14F-4D97-AF65-F5344CB8AC3E}">
        <p14:creationId xmlns:p14="http://schemas.microsoft.com/office/powerpoint/2010/main" val="415092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8508"/>
            <a:ext cx="11433061" cy="1692771"/>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a:spcAft>
                <a:spcPts val="600"/>
              </a:spcAft>
              <a:tabLst>
                <a:tab pos="2419350" algn="l"/>
              </a:tabLst>
            </a:pPr>
            <a:r>
              <a:rPr lang="en-US" sz="2400" b="1" dirty="0">
                <a:solidFill>
                  <a:srgbClr val="273239"/>
                </a:solidFill>
                <a:latin typeface="urw-din"/>
              </a:rPr>
              <a:t>High variety of features, that’s why java is so popular.</a:t>
            </a:r>
            <a:endParaRPr lang="en-US" sz="2400" b="1" i="0" dirty="0">
              <a:solidFill>
                <a:srgbClr val="273239"/>
              </a:solidFill>
              <a:effectLst/>
              <a:latin typeface="urw-din"/>
            </a:endParaRPr>
          </a:p>
          <a:p>
            <a:pPr algn="just">
              <a:spcAft>
                <a:spcPts val="600"/>
              </a:spcAft>
              <a:tabLst>
                <a:tab pos="2419350" algn="l"/>
              </a:tabLst>
            </a:pPr>
            <a:endParaRPr lang="en-US" sz="2400" dirty="0">
              <a:solidFill>
                <a:srgbClr val="0070C0"/>
              </a:solidFill>
              <a:latin typeface="inter-regular"/>
            </a:endParaRPr>
          </a:p>
        </p:txBody>
      </p:sp>
      <p:pic>
        <p:nvPicPr>
          <p:cNvPr id="1026" name="Picture 2" descr="Java Features">
            <a:extLst>
              <a:ext uri="{FF2B5EF4-FFF2-40B4-BE49-F238E27FC236}">
                <a16:creationId xmlns:a16="http://schemas.microsoft.com/office/drawing/2014/main" id="{F8B0E46E-95E1-A289-A9A9-736546FB4C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49" y="1551275"/>
            <a:ext cx="4762500" cy="482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5433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36670"/>
            <a:ext cx="11433061" cy="1692771"/>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a:spcAft>
                <a:spcPts val="600"/>
              </a:spcAft>
              <a:tabLst>
                <a:tab pos="2419350" algn="l"/>
              </a:tabLst>
            </a:pPr>
            <a:r>
              <a:rPr lang="en-US" sz="2400" b="1" i="0" dirty="0">
                <a:solidFill>
                  <a:srgbClr val="FF0000"/>
                </a:solidFill>
                <a:effectLst/>
                <a:latin typeface="urw-din"/>
              </a:rPr>
              <a:t>1. Platform Independent:  </a:t>
            </a:r>
          </a:p>
          <a:p>
            <a:pPr algn="just">
              <a:spcAft>
                <a:spcPts val="600"/>
              </a:spcAft>
              <a:tabLst>
                <a:tab pos="2419350" algn="l"/>
              </a:tabLst>
            </a:pPr>
            <a:endParaRPr lang="en-US" sz="2400" dirty="0">
              <a:solidFill>
                <a:srgbClr val="0070C0"/>
              </a:solidFill>
              <a:latin typeface="inter-regular"/>
            </a:endParaRPr>
          </a:p>
        </p:txBody>
      </p:sp>
      <p:sp>
        <p:nvSpPr>
          <p:cNvPr id="7" name="TextBox 6">
            <a:extLst>
              <a:ext uri="{FF2B5EF4-FFF2-40B4-BE49-F238E27FC236}">
                <a16:creationId xmlns:a16="http://schemas.microsoft.com/office/drawing/2014/main" id="{AEDE818C-11A0-3312-69B1-EE57FB30F78D}"/>
              </a:ext>
            </a:extLst>
          </p:cNvPr>
          <p:cNvSpPr txBox="1"/>
          <p:nvPr/>
        </p:nvSpPr>
        <p:spPr>
          <a:xfrm>
            <a:off x="466367" y="2717657"/>
            <a:ext cx="8154373" cy="3647152"/>
          </a:xfrm>
          <a:prstGeom prst="rect">
            <a:avLst/>
          </a:prstGeom>
          <a:noFill/>
        </p:spPr>
        <p:txBody>
          <a:bodyPr wrap="square">
            <a:spAutoFit/>
          </a:bodyPr>
          <a:lstStyle/>
          <a:p>
            <a:pPr marL="342900" indent="-342900" algn="just">
              <a:spcAft>
                <a:spcPts val="600"/>
              </a:spcAft>
              <a:buFont typeface="Arial" panose="020B0604020202020204" pitchFamily="34" charset="0"/>
              <a:buChar char="•"/>
              <a:tabLst>
                <a:tab pos="2419350" algn="l"/>
              </a:tabLst>
            </a:pPr>
            <a:r>
              <a:rPr lang="en-US" sz="2400" b="0" i="0" dirty="0">
                <a:solidFill>
                  <a:srgbClr val="273239"/>
                </a:solidFill>
                <a:effectLst/>
                <a:latin typeface="urw-din"/>
              </a:rPr>
              <a:t>Compiler converts source code to bytecode and then the JVM executes the bytecode generated by the compiler. </a:t>
            </a:r>
          </a:p>
          <a:p>
            <a:pPr marL="342900" indent="-342900" algn="just">
              <a:spcAft>
                <a:spcPts val="600"/>
              </a:spcAft>
              <a:buFont typeface="Arial" panose="020B0604020202020204" pitchFamily="34" charset="0"/>
              <a:buChar char="•"/>
              <a:tabLst>
                <a:tab pos="2419350" algn="l"/>
              </a:tabLst>
            </a:pPr>
            <a:r>
              <a:rPr lang="en-US" sz="2400" b="0" i="0" dirty="0">
                <a:solidFill>
                  <a:srgbClr val="273239"/>
                </a:solidFill>
                <a:effectLst/>
                <a:latin typeface="urw-din"/>
              </a:rPr>
              <a:t>This bytecode can run on any platform be it Windows, Linux, or macOS which means if we compile a program on Windows, then we can run it on Linux and vice versa. </a:t>
            </a:r>
          </a:p>
          <a:p>
            <a:pPr marL="342900" indent="-342900" algn="just">
              <a:spcAft>
                <a:spcPts val="600"/>
              </a:spcAft>
              <a:buFont typeface="Arial" panose="020B0604020202020204" pitchFamily="34" charset="0"/>
              <a:buChar char="•"/>
              <a:tabLst>
                <a:tab pos="2419350" algn="l"/>
              </a:tabLst>
            </a:pPr>
            <a:r>
              <a:rPr lang="en-US" sz="2400" b="0" i="0" dirty="0">
                <a:solidFill>
                  <a:srgbClr val="273239"/>
                </a:solidFill>
                <a:effectLst/>
                <a:latin typeface="urw-din"/>
              </a:rPr>
              <a:t>Each operating system has a different JVM, but the output produced by all the OS is the same after the execution of bytecode. </a:t>
            </a:r>
          </a:p>
          <a:p>
            <a:pPr marL="342900" indent="-342900" algn="just">
              <a:spcAft>
                <a:spcPts val="600"/>
              </a:spcAft>
              <a:buFont typeface="Arial" panose="020B0604020202020204" pitchFamily="34" charset="0"/>
              <a:buChar char="•"/>
              <a:tabLst>
                <a:tab pos="2419350" algn="l"/>
              </a:tabLst>
            </a:pPr>
            <a:r>
              <a:rPr lang="en-US" sz="2400" b="0" i="0" dirty="0">
                <a:solidFill>
                  <a:srgbClr val="273239"/>
                </a:solidFill>
                <a:effectLst/>
                <a:latin typeface="urw-din"/>
              </a:rPr>
              <a:t>That is why we call java a platform-independent language.</a:t>
            </a:r>
            <a:endParaRPr lang="fr-FR" sz="2400" dirty="0"/>
          </a:p>
        </p:txBody>
      </p:sp>
      <p:pic>
        <p:nvPicPr>
          <p:cNvPr id="4" name="Picture 3">
            <a:extLst>
              <a:ext uri="{FF2B5EF4-FFF2-40B4-BE49-F238E27FC236}">
                <a16:creationId xmlns:a16="http://schemas.microsoft.com/office/drawing/2014/main" id="{EB5CD7BD-0EEC-00E8-AB81-5572489202AB}"/>
              </a:ext>
            </a:extLst>
          </p:cNvPr>
          <p:cNvPicPr>
            <a:picLocks noChangeAspect="1"/>
          </p:cNvPicPr>
          <p:nvPr/>
        </p:nvPicPr>
        <p:blipFill>
          <a:blip r:embed="rId2"/>
          <a:stretch>
            <a:fillRect/>
          </a:stretch>
        </p:blipFill>
        <p:spPr>
          <a:xfrm>
            <a:off x="9192673" y="681037"/>
            <a:ext cx="2419350" cy="5800725"/>
          </a:xfrm>
          <a:prstGeom prst="rect">
            <a:avLst/>
          </a:prstGeom>
          <a:ln>
            <a:solidFill>
              <a:schemeClr val="accent1"/>
            </a:solidFill>
          </a:ln>
        </p:spPr>
      </p:pic>
      <p:pic>
        <p:nvPicPr>
          <p:cNvPr id="4098" name="Picture 2" descr="Java is platform independent">
            <a:extLst>
              <a:ext uri="{FF2B5EF4-FFF2-40B4-BE49-F238E27FC236}">
                <a16:creationId xmlns:a16="http://schemas.microsoft.com/office/drawing/2014/main" id="{2D793640-1C07-F737-7BA5-CE691BF91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5131" y="223677"/>
            <a:ext cx="2419350" cy="2467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698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3462486"/>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r>
              <a:rPr lang="en-US" sz="2400" b="1" i="0" dirty="0">
                <a:solidFill>
                  <a:srgbClr val="FF0000"/>
                </a:solidFill>
                <a:effectLst/>
                <a:latin typeface="urw-din"/>
              </a:rPr>
              <a:t>2. Object-Oriented Programming Language:  </a:t>
            </a:r>
            <a:r>
              <a:rPr lang="en-US" sz="2400" b="0" i="0" dirty="0">
                <a:solidFill>
                  <a:srgbClr val="273239"/>
                </a:solidFill>
                <a:effectLst/>
                <a:latin typeface="urw-din"/>
              </a:rPr>
              <a:t>Organizing the program in the terms of collection of objects is a way of object-oriented programming, each of which represents an instance of the class.</a:t>
            </a:r>
          </a:p>
          <a:p>
            <a:pPr algn="just" fontAlgn="base"/>
            <a:endParaRPr lang="en-US" sz="2400" b="0" i="0" dirty="0">
              <a:solidFill>
                <a:srgbClr val="273239"/>
              </a:solidFill>
              <a:effectLst/>
              <a:latin typeface="urw-din"/>
            </a:endParaRPr>
          </a:p>
          <a:p>
            <a:pPr algn="just" fontAlgn="base"/>
            <a:r>
              <a:rPr lang="en-US" sz="2400" b="0" i="0" dirty="0">
                <a:solidFill>
                  <a:srgbClr val="1A2C47"/>
                </a:solidFill>
                <a:effectLst/>
                <a:latin typeface="Source Sans Pro" panose="020B0503030403020204" pitchFamily="34" charset="0"/>
              </a:rPr>
              <a:t>Let's understand this with the help of a real-life example:</a:t>
            </a:r>
            <a:endParaRPr lang="en-US" sz="2400" dirty="0">
              <a:solidFill>
                <a:srgbClr val="273239"/>
              </a:solidFill>
              <a:latin typeface="urw-din"/>
            </a:endParaRPr>
          </a:p>
          <a:p>
            <a:pPr algn="just" fontAlgn="base"/>
            <a:endParaRPr lang="en-US" sz="2400" b="0" i="0" dirty="0">
              <a:solidFill>
                <a:srgbClr val="273239"/>
              </a:solidFill>
              <a:effectLst/>
              <a:latin typeface="urw-din"/>
            </a:endParaRPr>
          </a:p>
          <a:p>
            <a:pPr algn="just">
              <a:spcAft>
                <a:spcPts val="600"/>
              </a:spcAft>
              <a:tabLst>
                <a:tab pos="2419350" algn="l"/>
              </a:tabLst>
            </a:pPr>
            <a:endParaRPr lang="en-US" sz="2400" dirty="0">
              <a:solidFill>
                <a:srgbClr val="0070C0"/>
              </a:solidFill>
              <a:latin typeface="inter-regular"/>
            </a:endParaRPr>
          </a:p>
        </p:txBody>
      </p:sp>
      <p:sp>
        <p:nvSpPr>
          <p:cNvPr id="8" name="TextBox 7">
            <a:extLst>
              <a:ext uri="{FF2B5EF4-FFF2-40B4-BE49-F238E27FC236}">
                <a16:creationId xmlns:a16="http://schemas.microsoft.com/office/drawing/2014/main" id="{94FD47D4-6987-50C6-CB3A-343ED3FB3D72}"/>
              </a:ext>
            </a:extLst>
          </p:cNvPr>
          <p:cNvSpPr txBox="1"/>
          <p:nvPr/>
        </p:nvSpPr>
        <p:spPr>
          <a:xfrm>
            <a:off x="379469" y="3406877"/>
            <a:ext cx="7413523" cy="2862322"/>
          </a:xfrm>
          <a:prstGeom prst="rect">
            <a:avLst/>
          </a:prstGeom>
          <a:solidFill>
            <a:schemeClr val="accent6">
              <a:lumMod val="20000"/>
              <a:lumOff val="80000"/>
            </a:schemeClr>
          </a:solidFill>
          <a:ln>
            <a:solidFill>
              <a:schemeClr val="tx1"/>
            </a:solidFill>
          </a:ln>
        </p:spPr>
        <p:txBody>
          <a:bodyPr wrap="square">
            <a:spAutoFit/>
          </a:bodyPr>
          <a:lstStyle/>
          <a:p>
            <a:pPr algn="just"/>
            <a:r>
              <a:rPr lang="en-US" sz="2000" b="0" i="0" dirty="0">
                <a:solidFill>
                  <a:srgbClr val="0070C0"/>
                </a:solidFill>
                <a:effectLst/>
                <a:latin typeface="Source Sans Pro" panose="020B0503030403020204" pitchFamily="34" charset="0"/>
              </a:rPr>
              <a:t>We all know that under the Class of Cars we have a lot of options like Alto, WaganR, Santro, etc. and all these are individual objects altogether. In this manner, each Car object has its specific Model, Colour, Engine power, Top Speed, Year of Manufacture, etc. Which are altogether called the properties of the Car Class and the functions performed by it like Start, Stop, Move, </a:t>
            </a:r>
            <a:r>
              <a:rPr lang="en-US" sz="2000" b="0" i="0" dirty="0" err="1">
                <a:solidFill>
                  <a:srgbClr val="0070C0"/>
                </a:solidFill>
                <a:effectLst/>
                <a:latin typeface="Source Sans Pro" panose="020B0503030403020204" pitchFamily="34" charset="0"/>
              </a:rPr>
              <a:t>etc</a:t>
            </a:r>
            <a:r>
              <a:rPr lang="en-US" sz="2000" b="0" i="0" dirty="0">
                <a:solidFill>
                  <a:srgbClr val="0070C0"/>
                </a:solidFill>
                <a:effectLst/>
                <a:latin typeface="Source Sans Pro" panose="020B0503030403020204" pitchFamily="34" charset="0"/>
              </a:rPr>
              <a:t> are the methods of this Car Class. No memory is allocated on the creation of a class, but we allocate memory when the object is created which in our case is a new car object.</a:t>
            </a:r>
            <a:endParaRPr lang="fr-FR" sz="2000" dirty="0">
              <a:solidFill>
                <a:srgbClr val="0070C0"/>
              </a:solidFill>
            </a:endParaRPr>
          </a:p>
        </p:txBody>
      </p:sp>
      <p:pic>
        <p:nvPicPr>
          <p:cNvPr id="4" name="Picture 3">
            <a:extLst>
              <a:ext uri="{FF2B5EF4-FFF2-40B4-BE49-F238E27FC236}">
                <a16:creationId xmlns:a16="http://schemas.microsoft.com/office/drawing/2014/main" id="{30A8415F-6C67-8B04-17E1-0C88630DE99F}"/>
              </a:ext>
            </a:extLst>
          </p:cNvPr>
          <p:cNvPicPr>
            <a:picLocks noChangeAspect="1"/>
          </p:cNvPicPr>
          <p:nvPr/>
        </p:nvPicPr>
        <p:blipFill>
          <a:blip r:embed="rId2"/>
          <a:stretch>
            <a:fillRect/>
          </a:stretch>
        </p:blipFill>
        <p:spPr>
          <a:xfrm>
            <a:off x="8278749" y="2898743"/>
            <a:ext cx="3695700" cy="3582235"/>
          </a:xfrm>
          <a:prstGeom prst="rect">
            <a:avLst/>
          </a:prstGeom>
        </p:spPr>
      </p:pic>
    </p:spTree>
    <p:extLst>
      <p:ext uri="{BB962C8B-B14F-4D97-AF65-F5344CB8AC3E}">
        <p14:creationId xmlns:p14="http://schemas.microsoft.com/office/powerpoint/2010/main" val="3000293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663363"/>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r>
              <a:rPr lang="en-US" sz="2400" b="1" i="0" dirty="0">
                <a:solidFill>
                  <a:srgbClr val="273239"/>
                </a:solidFill>
                <a:effectLst/>
                <a:latin typeface="urw-din"/>
              </a:rPr>
              <a:t>Object Oriented Features</a:t>
            </a:r>
          </a:p>
          <a:p>
            <a:endParaRPr lang="en-US" sz="2400" dirty="0">
              <a:solidFill>
                <a:srgbClr val="273239"/>
              </a:solidFill>
              <a:latin typeface="urw-din"/>
            </a:endParaRPr>
          </a:p>
          <a:p>
            <a:pPr marL="457200" indent="-457200">
              <a:buAutoNum type="alphaUcPeriod"/>
            </a:pPr>
            <a:r>
              <a:rPr lang="en-US" sz="2400" b="1" i="0" dirty="0">
                <a:solidFill>
                  <a:srgbClr val="FF0000"/>
                </a:solidFill>
                <a:effectLst/>
                <a:latin typeface="Source Sans Pro" panose="020B0503030403020204" pitchFamily="34" charset="0"/>
              </a:rPr>
              <a:t>Inheritance</a:t>
            </a:r>
            <a:r>
              <a:rPr lang="en-US" sz="2400" b="0" i="0" dirty="0">
                <a:solidFill>
                  <a:srgbClr val="FF0000"/>
                </a:solidFill>
                <a:effectLst/>
                <a:latin typeface="Source Sans Pro" panose="020B0503030403020204" pitchFamily="34" charset="0"/>
              </a:rPr>
              <a:t> </a:t>
            </a:r>
          </a:p>
          <a:p>
            <a:endParaRPr lang="en-US" sz="2400" b="0" i="0" dirty="0">
              <a:solidFill>
                <a:srgbClr val="FF0000"/>
              </a:solidFill>
              <a:effectLst/>
              <a:latin typeface="Source Sans Pro" panose="020B0503030403020204" pitchFamily="34" charset="0"/>
            </a:endParaRPr>
          </a:p>
          <a:p>
            <a:pPr marL="342900" indent="-342900" algn="just">
              <a:spcAft>
                <a:spcPts val="1200"/>
              </a:spcAft>
              <a:buFont typeface="Arial" panose="020B0604020202020204" pitchFamily="34" charset="0"/>
              <a:buChar char="•"/>
            </a:pPr>
            <a:r>
              <a:rPr lang="en-US" sz="2400" b="0" i="0" dirty="0">
                <a:effectLst/>
                <a:latin typeface="Source Sans Pro" panose="020B0503030403020204" pitchFamily="34" charset="0"/>
              </a:rPr>
              <a:t>Inheritance can be defined as an object acquiring all the behaviors and properties of a parent object. </a:t>
            </a:r>
          </a:p>
          <a:p>
            <a:pPr marL="342900" indent="-342900" algn="just">
              <a:spcAft>
                <a:spcPts val="1200"/>
              </a:spcAft>
              <a:buFont typeface="Arial" panose="020B0604020202020204" pitchFamily="34" charset="0"/>
              <a:buChar char="•"/>
            </a:pPr>
            <a:r>
              <a:rPr lang="en-US" sz="2400" b="0" i="0" dirty="0">
                <a:solidFill>
                  <a:srgbClr val="333333"/>
                </a:solidFill>
                <a:effectLst/>
                <a:latin typeface="inter-regular"/>
              </a:rPr>
              <a:t>The idea behind inheritance in Java is that you can create new </a:t>
            </a:r>
            <a:r>
              <a:rPr lang="en-US" sz="2400" dirty="0">
                <a:solidFill>
                  <a:srgbClr val="008000"/>
                </a:solidFill>
                <a:latin typeface="inter-regular"/>
              </a:rPr>
              <a:t>classes </a:t>
            </a:r>
            <a:r>
              <a:rPr lang="en-US" sz="2400" b="0" i="0" dirty="0">
                <a:solidFill>
                  <a:srgbClr val="333333"/>
                </a:solidFill>
                <a:effectLst/>
                <a:latin typeface="inter-regular"/>
              </a:rPr>
              <a:t>that are built upon existing classes. When you inherit from an existing class, you can reuse methods and fields of the parent class.</a:t>
            </a:r>
            <a:endParaRPr lang="en-US" sz="2400" b="0" i="0" dirty="0">
              <a:effectLst/>
              <a:latin typeface="Source Sans Pro" panose="020B0503030403020204" pitchFamily="34" charset="0"/>
            </a:endParaRPr>
          </a:p>
          <a:p>
            <a:pPr marL="342900" indent="-342900" algn="just">
              <a:spcAft>
                <a:spcPts val="1200"/>
              </a:spcAft>
              <a:buFont typeface="Arial" panose="020B0604020202020204" pitchFamily="34" charset="0"/>
              <a:buChar char="•"/>
            </a:pPr>
            <a:r>
              <a:rPr lang="en-US" sz="2400" b="0" i="0" dirty="0">
                <a:effectLst/>
                <a:latin typeface="Source Sans Pro" panose="020B0503030403020204" pitchFamily="34" charset="0"/>
              </a:rPr>
              <a:t>It makes our code reusable. </a:t>
            </a:r>
          </a:p>
          <a:p>
            <a:pPr marL="342900" indent="-342900" algn="just">
              <a:spcAft>
                <a:spcPts val="1200"/>
              </a:spcAft>
              <a:buFont typeface="Arial" panose="020B0604020202020204" pitchFamily="34" charset="0"/>
              <a:buChar char="•"/>
            </a:pPr>
            <a:r>
              <a:rPr lang="en-US" sz="2400" b="0" i="0" dirty="0">
                <a:effectLst/>
                <a:latin typeface="Source Sans Pro" panose="020B0503030403020204" pitchFamily="34" charset="0"/>
              </a:rPr>
              <a:t>Runtime polymorphism (Method Overriding) can be achieved using inheritance.</a:t>
            </a:r>
          </a:p>
          <a:p>
            <a:br>
              <a:rPr lang="en-US" sz="2400" b="0" i="0" dirty="0">
                <a:effectLst/>
                <a:latin typeface="Source Sans Pro" panose="020B0503030403020204" pitchFamily="34" charset="0"/>
              </a:rPr>
            </a:br>
            <a:r>
              <a:rPr lang="en-US" sz="2400" b="0" i="0" dirty="0">
                <a:effectLst/>
                <a:latin typeface="urw-din"/>
              </a:rPr>
              <a:t> </a:t>
            </a:r>
          </a:p>
          <a:p>
            <a:pPr algn="just">
              <a:spcAft>
                <a:spcPts val="600"/>
              </a:spcAft>
              <a:tabLst>
                <a:tab pos="2419350" algn="l"/>
              </a:tabLst>
            </a:pPr>
            <a:endParaRPr lang="en-US" sz="2400" dirty="0">
              <a:solidFill>
                <a:srgbClr val="0070C0"/>
              </a:solidFill>
              <a:latin typeface="inter-regular"/>
            </a:endParaRPr>
          </a:p>
        </p:txBody>
      </p:sp>
    </p:spTree>
    <p:extLst>
      <p:ext uri="{BB962C8B-B14F-4D97-AF65-F5344CB8AC3E}">
        <p14:creationId xmlns:p14="http://schemas.microsoft.com/office/powerpoint/2010/main" val="743864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3462486"/>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r>
              <a:rPr lang="en-US" sz="2400" b="1" i="0" dirty="0">
                <a:solidFill>
                  <a:srgbClr val="273239"/>
                </a:solidFill>
                <a:effectLst/>
                <a:latin typeface="urw-din"/>
              </a:rPr>
              <a:t>Object Oriented Features</a:t>
            </a:r>
          </a:p>
          <a:p>
            <a:endParaRPr lang="en-US" sz="2400" dirty="0">
              <a:solidFill>
                <a:srgbClr val="273239"/>
              </a:solidFill>
              <a:latin typeface="urw-din"/>
            </a:endParaRPr>
          </a:p>
          <a:p>
            <a:r>
              <a:rPr lang="en-US" sz="2400" b="1" i="0" dirty="0">
                <a:solidFill>
                  <a:srgbClr val="FF0000"/>
                </a:solidFill>
                <a:effectLst/>
                <a:latin typeface="Source Sans Pro" panose="020B0503030403020204" pitchFamily="34" charset="0"/>
              </a:rPr>
              <a:t>Inheritance : An Example</a:t>
            </a:r>
            <a:r>
              <a:rPr lang="en-US" sz="2400" b="0" i="0" dirty="0">
                <a:solidFill>
                  <a:srgbClr val="FF0000"/>
                </a:solidFill>
                <a:effectLst/>
                <a:latin typeface="Source Sans Pro" panose="020B0503030403020204" pitchFamily="34" charset="0"/>
              </a:rPr>
              <a:t> </a:t>
            </a:r>
          </a:p>
          <a:p>
            <a:endParaRPr lang="en-US" sz="2400" b="0" i="0" dirty="0">
              <a:solidFill>
                <a:srgbClr val="FF0000"/>
              </a:solidFill>
              <a:effectLst/>
              <a:latin typeface="Source Sans Pro" panose="020B0503030403020204" pitchFamily="34" charset="0"/>
            </a:endParaRPr>
          </a:p>
          <a:p>
            <a:br>
              <a:rPr lang="en-US" sz="2400" b="0" i="0" dirty="0">
                <a:effectLst/>
                <a:latin typeface="Source Sans Pro" panose="020B0503030403020204" pitchFamily="34" charset="0"/>
              </a:rPr>
            </a:br>
            <a:r>
              <a:rPr lang="en-US" sz="2400" b="0" i="0" dirty="0">
                <a:effectLst/>
                <a:latin typeface="urw-din"/>
              </a:rPr>
              <a:t> </a:t>
            </a:r>
          </a:p>
          <a:p>
            <a:pPr algn="just">
              <a:spcAft>
                <a:spcPts val="600"/>
              </a:spcAft>
              <a:tabLst>
                <a:tab pos="2419350" algn="l"/>
              </a:tabLst>
            </a:pPr>
            <a:endParaRPr lang="en-US" sz="2400" dirty="0">
              <a:solidFill>
                <a:srgbClr val="0070C0"/>
              </a:solidFill>
              <a:latin typeface="inter-regular"/>
            </a:endParaRPr>
          </a:p>
        </p:txBody>
      </p:sp>
      <p:pic>
        <p:nvPicPr>
          <p:cNvPr id="3" name="Picture 2">
            <a:extLst>
              <a:ext uri="{FF2B5EF4-FFF2-40B4-BE49-F238E27FC236}">
                <a16:creationId xmlns:a16="http://schemas.microsoft.com/office/drawing/2014/main" id="{5C02287E-A092-C30D-B8E2-ADBBE74419AD}"/>
              </a:ext>
            </a:extLst>
          </p:cNvPr>
          <p:cNvPicPr>
            <a:picLocks noChangeAspect="1"/>
          </p:cNvPicPr>
          <p:nvPr/>
        </p:nvPicPr>
        <p:blipFill>
          <a:blip r:embed="rId2"/>
          <a:stretch>
            <a:fillRect/>
          </a:stretch>
        </p:blipFill>
        <p:spPr>
          <a:xfrm>
            <a:off x="6472237" y="1633384"/>
            <a:ext cx="5343525" cy="4495800"/>
          </a:xfrm>
          <a:prstGeom prst="rect">
            <a:avLst/>
          </a:prstGeom>
        </p:spPr>
      </p:pic>
      <p:sp>
        <p:nvSpPr>
          <p:cNvPr id="7" name="TextBox 6">
            <a:extLst>
              <a:ext uri="{FF2B5EF4-FFF2-40B4-BE49-F238E27FC236}">
                <a16:creationId xmlns:a16="http://schemas.microsoft.com/office/drawing/2014/main" id="{CAB3F207-52CD-2831-5D33-52BA12609FAA}"/>
              </a:ext>
            </a:extLst>
          </p:cNvPr>
          <p:cNvSpPr txBox="1"/>
          <p:nvPr/>
        </p:nvSpPr>
        <p:spPr>
          <a:xfrm>
            <a:off x="376237" y="3065676"/>
            <a:ext cx="6096000" cy="1631216"/>
          </a:xfrm>
          <a:prstGeom prst="rect">
            <a:avLst/>
          </a:prstGeom>
          <a:noFill/>
        </p:spPr>
        <p:txBody>
          <a:bodyPr wrap="square">
            <a:spAutoFit/>
          </a:bodyPr>
          <a:lstStyle/>
          <a:p>
            <a:pPr algn="just"/>
            <a:r>
              <a:rPr lang="en-US" sz="2000" b="0" i="0" dirty="0">
                <a:effectLst/>
                <a:latin typeface="Source Sans Pro" panose="020B0503030403020204" pitchFamily="34" charset="0"/>
              </a:rPr>
              <a:t>Here the voices of everyone including the animals and the humans are inherited by their parents, the dog barks like a dog and the human speak like his parents. so here we can see a real-life example of inheritance.</a:t>
            </a:r>
            <a:br>
              <a:rPr lang="en-US" sz="2000" b="0" i="0" dirty="0">
                <a:solidFill>
                  <a:srgbClr val="61738E"/>
                </a:solidFill>
                <a:effectLst/>
                <a:latin typeface="Source Sans Pro" panose="020B0503030403020204" pitchFamily="34" charset="0"/>
              </a:rPr>
            </a:br>
            <a:endParaRPr lang="fr-FR" sz="2000" dirty="0"/>
          </a:p>
        </p:txBody>
      </p:sp>
    </p:spTree>
    <p:extLst>
      <p:ext uri="{BB962C8B-B14F-4D97-AF65-F5344CB8AC3E}">
        <p14:creationId xmlns:p14="http://schemas.microsoft.com/office/powerpoint/2010/main" val="724496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85202"/>
            <a:ext cx="11433061" cy="6478697"/>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spcAft>
                <a:spcPts val="1200"/>
              </a:spcAft>
            </a:pPr>
            <a:r>
              <a:rPr lang="en-US" sz="2400" b="1" i="0" dirty="0">
                <a:solidFill>
                  <a:srgbClr val="273239"/>
                </a:solidFill>
                <a:effectLst/>
                <a:latin typeface="urw-din"/>
              </a:rPr>
              <a:t>Types of Inheritance in Java:</a:t>
            </a:r>
            <a:endParaRPr lang="en-US" sz="2400" b="0" i="0" dirty="0">
              <a:solidFill>
                <a:srgbClr val="FF0000"/>
              </a:solidFill>
              <a:effectLst/>
              <a:latin typeface="Source Sans Pro" panose="020B0503030403020204" pitchFamily="34" charset="0"/>
            </a:endParaRPr>
          </a:p>
          <a:p>
            <a:pPr marL="342900" indent="-342900" algn="just">
              <a:spcAft>
                <a:spcPts val="1200"/>
              </a:spcAft>
              <a:buFont typeface="Arial" panose="020B0604020202020204" pitchFamily="34" charset="0"/>
              <a:buChar char="•"/>
            </a:pPr>
            <a:r>
              <a:rPr lang="en-US" sz="2400" b="0" i="0" dirty="0">
                <a:solidFill>
                  <a:srgbClr val="333333"/>
                </a:solidFill>
                <a:effectLst/>
                <a:latin typeface="inter-regular"/>
              </a:rPr>
              <a:t>Three types of inheritance in java: </a:t>
            </a:r>
            <a:r>
              <a:rPr lang="en-US" sz="2400" b="0" i="0" dirty="0">
                <a:solidFill>
                  <a:srgbClr val="FF0000"/>
                </a:solidFill>
                <a:effectLst/>
                <a:latin typeface="inter-regular"/>
              </a:rPr>
              <a:t>single, multilevel and hierarchical</a:t>
            </a:r>
            <a:r>
              <a:rPr lang="en-US" sz="2400" b="0" i="0" dirty="0">
                <a:solidFill>
                  <a:srgbClr val="333333"/>
                </a:solidFill>
                <a:effectLst/>
                <a:latin typeface="inter-regular"/>
              </a:rPr>
              <a:t>.</a:t>
            </a:r>
          </a:p>
          <a:p>
            <a:pPr algn="just">
              <a:spcAft>
                <a:spcPts val="1200"/>
              </a:spcAft>
            </a:pPr>
            <a:endParaRPr lang="en-US" sz="2400" dirty="0">
              <a:solidFill>
                <a:srgbClr val="333333"/>
              </a:solidFill>
              <a:latin typeface="inter-regular"/>
            </a:endParaRPr>
          </a:p>
          <a:p>
            <a:pPr algn="just">
              <a:spcAft>
                <a:spcPts val="1200"/>
              </a:spcAft>
            </a:pPr>
            <a:endParaRPr lang="en-US" sz="2400" b="0" i="0" dirty="0">
              <a:solidFill>
                <a:srgbClr val="333333"/>
              </a:solidFill>
              <a:effectLst/>
              <a:latin typeface="inter-regular"/>
            </a:endParaRPr>
          </a:p>
          <a:p>
            <a:pPr algn="just">
              <a:spcAft>
                <a:spcPts val="1200"/>
              </a:spcAft>
            </a:pPr>
            <a:endParaRPr lang="en-US" sz="2400" dirty="0">
              <a:solidFill>
                <a:srgbClr val="333333"/>
              </a:solidFill>
              <a:latin typeface="inter-regular"/>
            </a:endParaRPr>
          </a:p>
          <a:p>
            <a:pPr algn="just">
              <a:spcAft>
                <a:spcPts val="1200"/>
              </a:spcAft>
            </a:pPr>
            <a:endParaRPr lang="en-US" sz="2400" b="0" i="0" dirty="0">
              <a:solidFill>
                <a:srgbClr val="333333"/>
              </a:solidFill>
              <a:effectLst/>
              <a:latin typeface="inter-regular"/>
            </a:endParaRPr>
          </a:p>
          <a:p>
            <a:pPr algn="just">
              <a:spcAft>
                <a:spcPts val="1200"/>
              </a:spcAft>
            </a:pPr>
            <a:endParaRPr lang="en-US" sz="2400" dirty="0">
              <a:solidFill>
                <a:srgbClr val="333333"/>
              </a:solidFill>
              <a:latin typeface="inter-regular"/>
            </a:endParaRPr>
          </a:p>
          <a:p>
            <a:pPr algn="just">
              <a:spcAft>
                <a:spcPts val="1200"/>
              </a:spcAft>
            </a:pPr>
            <a:endParaRPr lang="en-US" sz="2400" b="0" i="0" dirty="0">
              <a:solidFill>
                <a:srgbClr val="333333"/>
              </a:solidFill>
              <a:effectLst/>
              <a:latin typeface="inter-regular"/>
            </a:endParaRPr>
          </a:p>
          <a:p>
            <a:pPr algn="just">
              <a:spcAft>
                <a:spcPts val="1200"/>
              </a:spcAft>
            </a:pPr>
            <a:endParaRPr lang="en-US" sz="2400" b="0" i="0" dirty="0">
              <a:solidFill>
                <a:srgbClr val="333333"/>
              </a:solidFill>
              <a:effectLst/>
              <a:latin typeface="inter-regular"/>
            </a:endParaRPr>
          </a:p>
          <a:p>
            <a:pPr marL="342900" indent="-342900" algn="just">
              <a:spcAft>
                <a:spcPts val="1200"/>
              </a:spcAft>
              <a:buFont typeface="Arial" panose="020B0604020202020204" pitchFamily="34" charset="0"/>
              <a:buChar char="•"/>
            </a:pPr>
            <a:r>
              <a:rPr lang="en-US" sz="2400" b="0" i="0" dirty="0">
                <a:solidFill>
                  <a:srgbClr val="333333"/>
                </a:solidFill>
                <a:effectLst/>
                <a:latin typeface="inter-regular"/>
              </a:rPr>
              <a:t>When one class inherits multiple classes, it is known as multiple </a:t>
            </a:r>
            <a:r>
              <a:rPr lang="en-US" sz="2400" i="0" dirty="0">
                <a:solidFill>
                  <a:srgbClr val="333333"/>
                </a:solidFill>
                <a:effectLst/>
                <a:latin typeface="inter-regular"/>
              </a:rPr>
              <a:t>inheritance.</a:t>
            </a:r>
          </a:p>
          <a:p>
            <a:pPr algn="just">
              <a:spcAft>
                <a:spcPts val="1200"/>
              </a:spcAft>
            </a:pPr>
            <a:r>
              <a:rPr lang="en-US" sz="2400" b="1" dirty="0">
                <a:solidFill>
                  <a:srgbClr val="333333"/>
                </a:solidFill>
                <a:latin typeface="inter-regular"/>
              </a:rPr>
              <a:t>     Note: </a:t>
            </a:r>
            <a:r>
              <a:rPr lang="en-US" sz="2400" dirty="0">
                <a:solidFill>
                  <a:srgbClr val="333333"/>
                </a:solidFill>
                <a:latin typeface="inter-regular"/>
              </a:rPr>
              <a:t>Multiple inheritance is not supported in Java through class.</a:t>
            </a:r>
          </a:p>
        </p:txBody>
      </p:sp>
      <p:pic>
        <p:nvPicPr>
          <p:cNvPr id="3" name="Picture 2">
            <a:extLst>
              <a:ext uri="{FF2B5EF4-FFF2-40B4-BE49-F238E27FC236}">
                <a16:creationId xmlns:a16="http://schemas.microsoft.com/office/drawing/2014/main" id="{4EABA011-6203-9E07-E0A0-EB9B68AB370C}"/>
              </a:ext>
            </a:extLst>
          </p:cNvPr>
          <p:cNvPicPr>
            <a:picLocks noChangeAspect="1"/>
          </p:cNvPicPr>
          <p:nvPr/>
        </p:nvPicPr>
        <p:blipFill>
          <a:blip r:embed="rId2"/>
          <a:stretch>
            <a:fillRect/>
          </a:stretch>
        </p:blipFill>
        <p:spPr>
          <a:xfrm>
            <a:off x="1286334" y="2164192"/>
            <a:ext cx="6265746" cy="3139215"/>
          </a:xfrm>
          <a:prstGeom prst="rect">
            <a:avLst/>
          </a:prstGeom>
        </p:spPr>
      </p:pic>
      <p:pic>
        <p:nvPicPr>
          <p:cNvPr id="7" name="Picture 6">
            <a:extLst>
              <a:ext uri="{FF2B5EF4-FFF2-40B4-BE49-F238E27FC236}">
                <a16:creationId xmlns:a16="http://schemas.microsoft.com/office/drawing/2014/main" id="{FDAA96FC-D159-4217-9EC8-FC31B1AFCE88}"/>
              </a:ext>
            </a:extLst>
          </p:cNvPr>
          <p:cNvPicPr>
            <a:picLocks noChangeAspect="1"/>
          </p:cNvPicPr>
          <p:nvPr/>
        </p:nvPicPr>
        <p:blipFill>
          <a:blip r:embed="rId3"/>
          <a:stretch>
            <a:fillRect/>
          </a:stretch>
        </p:blipFill>
        <p:spPr>
          <a:xfrm>
            <a:off x="8281158" y="2592361"/>
            <a:ext cx="2802294" cy="2282875"/>
          </a:xfrm>
          <a:prstGeom prst="rect">
            <a:avLst/>
          </a:prstGeom>
        </p:spPr>
      </p:pic>
    </p:spTree>
    <p:extLst>
      <p:ext uri="{BB962C8B-B14F-4D97-AF65-F5344CB8AC3E}">
        <p14:creationId xmlns:p14="http://schemas.microsoft.com/office/powerpoint/2010/main" val="2567316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31855"/>
            <a:ext cx="11433061" cy="1308050"/>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a:spcAft>
                <a:spcPts val="1200"/>
              </a:spcAft>
            </a:pPr>
            <a:r>
              <a:rPr lang="en-US" sz="2800" b="1" i="0" dirty="0">
                <a:effectLst/>
                <a:latin typeface="erdana"/>
              </a:rPr>
              <a:t>Why multiple inheritance is not supported in java?</a:t>
            </a:r>
          </a:p>
        </p:txBody>
      </p:sp>
      <p:pic>
        <p:nvPicPr>
          <p:cNvPr id="4" name="Picture 3">
            <a:extLst>
              <a:ext uri="{FF2B5EF4-FFF2-40B4-BE49-F238E27FC236}">
                <a16:creationId xmlns:a16="http://schemas.microsoft.com/office/drawing/2014/main" id="{5BE8AE8E-BC3F-3E66-D549-4FF6AF8CA5E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015750" y="1915319"/>
            <a:ext cx="4796780" cy="4207232"/>
          </a:xfrm>
          <a:prstGeom prst="rect">
            <a:avLst/>
          </a:prstGeom>
          <a:ln>
            <a:solidFill>
              <a:schemeClr val="tx1"/>
            </a:solidFill>
          </a:ln>
        </p:spPr>
      </p:pic>
      <p:sp>
        <p:nvSpPr>
          <p:cNvPr id="9" name="TextBox 8">
            <a:extLst>
              <a:ext uri="{FF2B5EF4-FFF2-40B4-BE49-F238E27FC236}">
                <a16:creationId xmlns:a16="http://schemas.microsoft.com/office/drawing/2014/main" id="{C27224A0-D6B0-BF55-606C-6BADABB13112}"/>
              </a:ext>
            </a:extLst>
          </p:cNvPr>
          <p:cNvSpPr txBox="1"/>
          <p:nvPr/>
        </p:nvSpPr>
        <p:spPr>
          <a:xfrm>
            <a:off x="379469" y="1840974"/>
            <a:ext cx="6422547" cy="3785652"/>
          </a:xfrm>
          <a:prstGeom prst="rect">
            <a:avLst/>
          </a:prstGeom>
          <a:noFill/>
        </p:spPr>
        <p:txBody>
          <a:bodyPr wrap="square">
            <a:spAutoFit/>
          </a:bodyPr>
          <a:lstStyle/>
          <a:p>
            <a:pPr marL="342900" indent="-342900" algn="just">
              <a:spcAft>
                <a:spcPts val="1200"/>
              </a:spcAft>
              <a:buFont typeface="Arial" panose="020B0604020202020204" pitchFamily="34" charset="0"/>
              <a:buChar char="•"/>
            </a:pPr>
            <a:r>
              <a:rPr lang="en-US" sz="2000" b="0" i="0" dirty="0">
                <a:solidFill>
                  <a:srgbClr val="333333"/>
                </a:solidFill>
                <a:effectLst/>
                <a:latin typeface="inter-regular"/>
              </a:rPr>
              <a:t>To reduce the complexity and simplify the language, multiple inheritance is not supported in java.</a:t>
            </a:r>
          </a:p>
          <a:p>
            <a:pPr marL="342900" indent="-342900" algn="just">
              <a:spcAft>
                <a:spcPts val="1200"/>
              </a:spcAft>
              <a:buFont typeface="Arial" panose="020B0604020202020204" pitchFamily="34" charset="0"/>
              <a:buChar char="•"/>
            </a:pPr>
            <a:r>
              <a:rPr lang="en-US" sz="2000" b="0" i="0" dirty="0">
                <a:solidFill>
                  <a:srgbClr val="333333"/>
                </a:solidFill>
                <a:effectLst/>
                <a:latin typeface="inter-regular"/>
              </a:rPr>
              <a:t>Consider a scenario where A, B, and C are three classes. The C class inherits A and B classes. If A and B classes have the same method and you call it from child class object, there will be ambiguity to call the method of A or B class.</a:t>
            </a:r>
            <a:endParaRPr lang="en-US" sz="2000" dirty="0">
              <a:solidFill>
                <a:srgbClr val="333333"/>
              </a:solidFill>
              <a:latin typeface="inter-regular"/>
            </a:endParaRPr>
          </a:p>
          <a:p>
            <a:pPr marL="342900" indent="-342900" algn="just">
              <a:spcAft>
                <a:spcPts val="1200"/>
              </a:spcAft>
              <a:buFont typeface="Arial" panose="020B0604020202020204" pitchFamily="34" charset="0"/>
              <a:buChar char="•"/>
            </a:pPr>
            <a:r>
              <a:rPr lang="en-US" sz="2000" b="0" i="0" dirty="0">
                <a:solidFill>
                  <a:srgbClr val="333333"/>
                </a:solidFill>
                <a:effectLst/>
                <a:latin typeface="inter-regular"/>
              </a:rPr>
              <a:t>Since compile-time errors are better than runtime errors, Java renders compile-time error if you inherit 2 classes. So, whether you have same method or different, there will be compile time error.</a:t>
            </a:r>
          </a:p>
        </p:txBody>
      </p:sp>
    </p:spTree>
    <p:extLst>
      <p:ext uri="{BB962C8B-B14F-4D97-AF65-F5344CB8AC3E}">
        <p14:creationId xmlns:p14="http://schemas.microsoft.com/office/powerpoint/2010/main" val="2999141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4263"/>
            <a:ext cx="11433061" cy="6509474"/>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r>
              <a:rPr lang="en-US" sz="2400" b="1" i="0" dirty="0">
                <a:solidFill>
                  <a:srgbClr val="273239"/>
                </a:solidFill>
                <a:effectLst/>
                <a:latin typeface="urw-din"/>
              </a:rPr>
              <a:t>Object Oriented Features</a:t>
            </a:r>
          </a:p>
          <a:p>
            <a:endParaRPr lang="en-US" sz="2400" dirty="0">
              <a:solidFill>
                <a:srgbClr val="273239"/>
              </a:solidFill>
              <a:latin typeface="urw-din"/>
            </a:endParaRPr>
          </a:p>
          <a:p>
            <a:pPr marL="457200" indent="-457200">
              <a:buFont typeface="+mj-lt"/>
              <a:buAutoNum type="alphaUcPeriod" startAt="2"/>
            </a:pPr>
            <a:r>
              <a:rPr lang="en-US" sz="2400" b="1" i="0" dirty="0">
                <a:solidFill>
                  <a:srgbClr val="FF0000"/>
                </a:solidFill>
                <a:effectLst/>
                <a:latin typeface="Source Sans Pro" panose="020B0503030403020204" pitchFamily="34" charset="0"/>
              </a:rPr>
              <a:t>Polymorphism</a:t>
            </a:r>
            <a:r>
              <a:rPr lang="en-US" sz="2400" b="0" i="0" dirty="0">
                <a:solidFill>
                  <a:srgbClr val="FF0000"/>
                </a:solidFill>
                <a:effectLst/>
                <a:latin typeface="Source Sans Pro" panose="020B0503030403020204" pitchFamily="34" charset="0"/>
              </a:rPr>
              <a:t> </a:t>
            </a:r>
          </a:p>
          <a:p>
            <a:endParaRPr lang="en-US" sz="2400" b="0" i="0" dirty="0">
              <a:solidFill>
                <a:srgbClr val="FF0000"/>
              </a:solidFill>
              <a:effectLst/>
              <a:latin typeface="Source Sans Pro" panose="020B0503030403020204" pitchFamily="34" charset="0"/>
            </a:endParaRPr>
          </a:p>
          <a:p>
            <a:pPr marL="342900" indent="-342900" algn="just">
              <a:spcAft>
                <a:spcPts val="1200"/>
              </a:spcAft>
              <a:buFont typeface="Arial" panose="020B0604020202020204" pitchFamily="34" charset="0"/>
              <a:buChar char="•"/>
            </a:pPr>
            <a:r>
              <a:rPr lang="en-US" sz="2400" b="0" i="0" dirty="0">
                <a:solidFill>
                  <a:srgbClr val="1A2C47"/>
                </a:solidFill>
                <a:effectLst/>
                <a:latin typeface="Source Sans Pro" panose="020B0503030403020204" pitchFamily="34" charset="0"/>
              </a:rPr>
              <a:t>When we are able to perform a single task in multiple ways it can be defined as polymorphism. </a:t>
            </a:r>
          </a:p>
          <a:p>
            <a:pPr marL="342900" indent="-342900" algn="just">
              <a:spcAft>
                <a:spcPts val="1200"/>
              </a:spcAft>
              <a:buFont typeface="Arial" panose="020B0604020202020204" pitchFamily="34" charset="0"/>
              <a:buChar char="•"/>
            </a:pPr>
            <a:r>
              <a:rPr lang="en-US" sz="2400" b="0" i="0" dirty="0">
                <a:solidFill>
                  <a:srgbClr val="1A2C47"/>
                </a:solidFill>
                <a:effectLst/>
                <a:latin typeface="Source Sans Pro" panose="020B0503030403020204" pitchFamily="34" charset="0"/>
              </a:rPr>
              <a:t>In Java programming language, method overriding and method overloading is used to attain polymorphism.</a:t>
            </a:r>
          </a:p>
          <a:p>
            <a:pPr algn="just">
              <a:spcAft>
                <a:spcPts val="1200"/>
              </a:spcAft>
            </a:pPr>
            <a:br>
              <a:rPr lang="en-US" sz="2400" dirty="0"/>
            </a:br>
            <a:r>
              <a:rPr lang="en-US" sz="2400" b="1" i="0" dirty="0">
                <a:solidFill>
                  <a:srgbClr val="1A2C47"/>
                </a:solidFill>
                <a:effectLst/>
                <a:latin typeface="Source Sans Pro" panose="020B0503030403020204" pitchFamily="34" charset="0"/>
              </a:rPr>
              <a:t>Overloading :</a:t>
            </a:r>
            <a:r>
              <a:rPr lang="en-US" sz="2400" b="0" i="0" dirty="0">
                <a:solidFill>
                  <a:srgbClr val="1A2C47"/>
                </a:solidFill>
                <a:effectLst/>
                <a:latin typeface="Source Sans Pro" panose="020B0503030403020204" pitchFamily="34" charset="0"/>
              </a:rPr>
              <a:t> when multiple methods in the same class have the same names but different parameters.  </a:t>
            </a:r>
            <a:r>
              <a:rPr lang="en-US" sz="2400" b="0" i="0" dirty="0">
                <a:solidFill>
                  <a:srgbClr val="0070C0"/>
                </a:solidFill>
                <a:effectLst/>
                <a:latin typeface="Source Sans Pro" panose="020B0503030403020204" pitchFamily="34" charset="0"/>
              </a:rPr>
              <a:t>(Compile-time polymorphism)</a:t>
            </a:r>
          </a:p>
          <a:p>
            <a:pPr algn="just">
              <a:spcAft>
                <a:spcPts val="1200"/>
              </a:spcAft>
            </a:pPr>
            <a:br>
              <a:rPr lang="en-US" sz="2400" dirty="0"/>
            </a:br>
            <a:r>
              <a:rPr lang="en-US" sz="2400" b="1" i="0" dirty="0">
                <a:solidFill>
                  <a:srgbClr val="1A2C47"/>
                </a:solidFill>
                <a:effectLst/>
                <a:latin typeface="Source Sans Pro" panose="020B0503030403020204" pitchFamily="34" charset="0"/>
              </a:rPr>
              <a:t>Overriding :</a:t>
            </a:r>
            <a:r>
              <a:rPr lang="en-US" sz="2400" b="0" i="0" dirty="0">
                <a:solidFill>
                  <a:srgbClr val="1A2C47"/>
                </a:solidFill>
                <a:effectLst/>
                <a:latin typeface="Source Sans Pro" panose="020B0503030403020204" pitchFamily="34" charset="0"/>
              </a:rPr>
              <a:t> when the method name and the parameters are the same in the child class and the superclass, we call it overriding. </a:t>
            </a:r>
            <a:r>
              <a:rPr lang="en-US" sz="2400" b="0" i="0" dirty="0">
                <a:solidFill>
                  <a:srgbClr val="0070C0"/>
                </a:solidFill>
                <a:effectLst/>
                <a:latin typeface="Source Sans Pro" panose="020B0503030403020204" pitchFamily="34" charset="0"/>
              </a:rPr>
              <a:t>(Run-time Polymorphism)</a:t>
            </a:r>
            <a:endParaRPr lang="en-US" sz="2400" dirty="0">
              <a:solidFill>
                <a:srgbClr val="0070C0"/>
              </a:solidFill>
              <a:latin typeface="inter-regular"/>
            </a:endParaRPr>
          </a:p>
        </p:txBody>
      </p:sp>
    </p:spTree>
    <p:extLst>
      <p:ext uri="{BB962C8B-B14F-4D97-AF65-F5344CB8AC3E}">
        <p14:creationId xmlns:p14="http://schemas.microsoft.com/office/powerpoint/2010/main" val="4232304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27610"/>
            <a:ext cx="11433061" cy="1985159"/>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r>
              <a:rPr lang="en-US" sz="2400" b="1" i="0" dirty="0">
                <a:solidFill>
                  <a:srgbClr val="273239"/>
                </a:solidFill>
                <a:effectLst/>
                <a:latin typeface="urw-din"/>
              </a:rPr>
              <a:t>Example of Run Time Polymorphism in Java</a:t>
            </a:r>
          </a:p>
          <a:p>
            <a:pPr algn="just" fontAlgn="base"/>
            <a:endParaRPr lang="en-US" sz="2400" b="1" i="0" dirty="0">
              <a:solidFill>
                <a:srgbClr val="273239"/>
              </a:solidFill>
              <a:effectLst/>
              <a:latin typeface="urw-din"/>
            </a:endParaRPr>
          </a:p>
          <a:p>
            <a:pPr algn="just" fontAlgn="base"/>
            <a:endParaRPr lang="en-US" sz="2400" dirty="0">
              <a:solidFill>
                <a:srgbClr val="0070C0"/>
              </a:solidFill>
              <a:latin typeface="inter-regular"/>
            </a:endParaRPr>
          </a:p>
        </p:txBody>
      </p:sp>
      <p:pic>
        <p:nvPicPr>
          <p:cNvPr id="3" name="Picture 2">
            <a:extLst>
              <a:ext uri="{FF2B5EF4-FFF2-40B4-BE49-F238E27FC236}">
                <a16:creationId xmlns:a16="http://schemas.microsoft.com/office/drawing/2014/main" id="{02B245FD-8193-39CC-3F14-A7A77B08689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037384" y="1702475"/>
            <a:ext cx="4917619" cy="3656920"/>
          </a:xfrm>
          <a:prstGeom prst="rect">
            <a:avLst/>
          </a:prstGeom>
        </p:spPr>
      </p:pic>
      <p:sp>
        <p:nvSpPr>
          <p:cNvPr id="7" name="TextBox 6">
            <a:extLst>
              <a:ext uri="{FF2B5EF4-FFF2-40B4-BE49-F238E27FC236}">
                <a16:creationId xmlns:a16="http://schemas.microsoft.com/office/drawing/2014/main" id="{F0C83A98-D6C6-C707-661F-E7886CCE7978}"/>
              </a:ext>
            </a:extLst>
          </p:cNvPr>
          <p:cNvSpPr txBox="1"/>
          <p:nvPr/>
        </p:nvSpPr>
        <p:spPr>
          <a:xfrm>
            <a:off x="379469" y="1755222"/>
            <a:ext cx="6515442" cy="2693045"/>
          </a:xfrm>
          <a:prstGeom prst="rect">
            <a:avLst/>
          </a:prstGeom>
          <a:noFill/>
        </p:spPr>
        <p:txBody>
          <a:bodyPr wrap="square">
            <a:spAutoFit/>
          </a:bodyPr>
          <a:lstStyle/>
          <a:p>
            <a:pPr marL="342900" indent="-342900" algn="just" fontAlgn="base">
              <a:spcAft>
                <a:spcPts val="1000"/>
              </a:spcAft>
              <a:buFont typeface="Arial" panose="020B0604020202020204" pitchFamily="34" charset="0"/>
              <a:buChar char="•"/>
            </a:pPr>
            <a:r>
              <a:rPr lang="en-US" sz="2000" b="0" i="0" dirty="0">
                <a:solidFill>
                  <a:srgbClr val="333333"/>
                </a:solidFill>
                <a:effectLst/>
                <a:latin typeface="inter-regular"/>
              </a:rPr>
              <a:t>In run-time polymorphism, an overridden method is called through the reference variable of a superclass. </a:t>
            </a:r>
          </a:p>
          <a:p>
            <a:pPr marL="342900" indent="-342900" algn="just" fontAlgn="base">
              <a:spcAft>
                <a:spcPts val="1000"/>
              </a:spcAft>
              <a:buFont typeface="Arial" panose="020B0604020202020204" pitchFamily="34" charset="0"/>
              <a:buChar char="•"/>
            </a:pPr>
            <a:r>
              <a:rPr lang="en-US" sz="2000" b="0" i="0" dirty="0">
                <a:solidFill>
                  <a:srgbClr val="333333"/>
                </a:solidFill>
                <a:effectLst/>
                <a:latin typeface="inter-regular"/>
              </a:rPr>
              <a:t>The determination of the method to be called is based on the object being referred to by the reference variable.</a:t>
            </a:r>
            <a:endParaRPr lang="en-US" sz="2000" b="1" dirty="0">
              <a:solidFill>
                <a:srgbClr val="273239"/>
              </a:solidFill>
              <a:latin typeface="urw-din"/>
            </a:endParaRPr>
          </a:p>
          <a:p>
            <a:pPr algn="just">
              <a:spcAft>
                <a:spcPts val="1000"/>
              </a:spcAft>
            </a:pPr>
            <a:r>
              <a:rPr lang="en-US" sz="2400" b="1" i="0" dirty="0">
                <a:solidFill>
                  <a:srgbClr val="FF0000"/>
                </a:solidFill>
                <a:effectLst/>
                <a:latin typeface="erdana"/>
              </a:rPr>
              <a:t>Upcasting</a:t>
            </a:r>
          </a:p>
          <a:p>
            <a:pPr algn="just">
              <a:spcAft>
                <a:spcPts val="1000"/>
              </a:spcAft>
            </a:pPr>
            <a:r>
              <a:rPr lang="en-US" sz="2000" b="0" i="0" dirty="0">
                <a:solidFill>
                  <a:srgbClr val="333333"/>
                </a:solidFill>
                <a:effectLst/>
                <a:latin typeface="inter-regular"/>
              </a:rPr>
              <a:t>If the reference variable of Parent class refers to the object of Child class, it is known as upcasting.</a:t>
            </a:r>
          </a:p>
        </p:txBody>
      </p:sp>
    </p:spTree>
    <p:extLst>
      <p:ext uri="{BB962C8B-B14F-4D97-AF65-F5344CB8AC3E}">
        <p14:creationId xmlns:p14="http://schemas.microsoft.com/office/powerpoint/2010/main" val="3202176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4263"/>
            <a:ext cx="11433061" cy="5719514"/>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r>
              <a:rPr lang="en-US" sz="2400" b="1" i="0" dirty="0">
                <a:solidFill>
                  <a:srgbClr val="273239"/>
                </a:solidFill>
                <a:effectLst/>
                <a:latin typeface="urw-din"/>
              </a:rPr>
              <a:t>Object Oriented Features</a:t>
            </a:r>
          </a:p>
          <a:p>
            <a:endParaRPr lang="en-US" sz="2400" dirty="0">
              <a:solidFill>
                <a:srgbClr val="273239"/>
              </a:solidFill>
              <a:latin typeface="urw-din"/>
            </a:endParaRPr>
          </a:p>
          <a:p>
            <a:pPr marL="457200" indent="-457200">
              <a:spcAft>
                <a:spcPts val="1200"/>
              </a:spcAft>
              <a:buFont typeface="+mj-lt"/>
              <a:buAutoNum type="alphaUcPeriod" startAt="3"/>
            </a:pPr>
            <a:r>
              <a:rPr lang="en-US" sz="2400" b="1" i="0" dirty="0">
                <a:solidFill>
                  <a:srgbClr val="FF0000"/>
                </a:solidFill>
                <a:effectLst/>
                <a:latin typeface="Source Sans Pro" panose="020B0503030403020204" pitchFamily="34" charset="0"/>
              </a:rPr>
              <a:t>Abstraction</a:t>
            </a:r>
            <a:endParaRPr lang="en-US" sz="2400" b="0" i="0" dirty="0">
              <a:solidFill>
                <a:srgbClr val="FF0000"/>
              </a:solidFill>
              <a:effectLst/>
              <a:latin typeface="Source Sans Pro" panose="020B0503030403020204" pitchFamily="34" charset="0"/>
            </a:endParaRPr>
          </a:p>
          <a:p>
            <a:pPr marL="342900" indent="-342900" algn="just">
              <a:spcAft>
                <a:spcPts val="800"/>
              </a:spcAft>
              <a:buFont typeface="Arial" panose="020B0604020202020204" pitchFamily="34" charset="0"/>
              <a:buChar char="•"/>
            </a:pPr>
            <a:r>
              <a:rPr lang="en-US" sz="2400" b="1" i="0" dirty="0">
                <a:solidFill>
                  <a:srgbClr val="333333"/>
                </a:solidFill>
                <a:effectLst/>
                <a:latin typeface="inter-bold"/>
              </a:rPr>
              <a:t>Abstraction</a:t>
            </a:r>
            <a:r>
              <a:rPr lang="en-US" sz="2400" b="0" i="0" dirty="0">
                <a:solidFill>
                  <a:srgbClr val="333333"/>
                </a:solidFill>
                <a:effectLst/>
                <a:latin typeface="inter-regular"/>
              </a:rPr>
              <a:t> is a process of hiding the implementation details and showing only functionality to the user.</a:t>
            </a:r>
          </a:p>
          <a:p>
            <a:pPr marL="342900" indent="-342900" algn="just">
              <a:spcAft>
                <a:spcPts val="800"/>
              </a:spcAft>
              <a:buFont typeface="Arial" panose="020B0604020202020204" pitchFamily="34" charset="0"/>
              <a:buChar char="•"/>
            </a:pPr>
            <a:r>
              <a:rPr lang="en-US" sz="2400" b="0" i="0" dirty="0">
                <a:solidFill>
                  <a:srgbClr val="333333"/>
                </a:solidFill>
                <a:effectLst/>
                <a:latin typeface="inter-regular"/>
              </a:rPr>
              <a:t>Another way, it shows only essential things to the user and hides the internal details,</a:t>
            </a:r>
            <a:endParaRPr lang="en-US" sz="2400" b="0" i="0" dirty="0">
              <a:solidFill>
                <a:srgbClr val="FF0000"/>
              </a:solidFill>
              <a:effectLst/>
              <a:latin typeface="Source Sans Pro" panose="020B0503030403020204" pitchFamily="34" charset="0"/>
            </a:endParaRPr>
          </a:p>
          <a:p>
            <a:pPr marL="342900" indent="-342900" algn="just">
              <a:spcAft>
                <a:spcPts val="800"/>
              </a:spcAft>
              <a:buFont typeface="Arial" panose="020B0604020202020204" pitchFamily="34" charset="0"/>
              <a:buChar char="•"/>
            </a:pPr>
            <a:r>
              <a:rPr lang="en-US" sz="2400" b="1" dirty="0">
                <a:latin typeface="Source Sans Pro" panose="020B0503030403020204" pitchFamily="34" charset="0"/>
              </a:rPr>
              <a:t>For </a:t>
            </a:r>
            <a:r>
              <a:rPr lang="en-US" sz="2400" b="1" i="0" dirty="0">
                <a:effectLst/>
                <a:latin typeface="Source Sans Pro" panose="020B0503030403020204" pitchFamily="34" charset="0"/>
              </a:rPr>
              <a:t>example: </a:t>
            </a:r>
            <a:r>
              <a:rPr lang="en-US" sz="2400" b="0" i="0" dirty="0">
                <a:solidFill>
                  <a:srgbClr val="1A2C47"/>
                </a:solidFill>
                <a:effectLst/>
                <a:latin typeface="Source Sans Pro" panose="020B0503030403020204" pitchFamily="34" charset="0"/>
              </a:rPr>
              <a:t>We all visit the ATM machine for withdrawing cash and several other things as well, but we never get to know what happens internally inside the machine when we insert our ATM card for any operation, This can be seen as abstraction in real life.</a:t>
            </a:r>
          </a:p>
          <a:p>
            <a:pPr marL="342900" indent="-342900" algn="just">
              <a:spcAft>
                <a:spcPts val="800"/>
              </a:spcAft>
              <a:buFont typeface="Arial" panose="020B0604020202020204" pitchFamily="34" charset="0"/>
              <a:buChar char="•"/>
            </a:pPr>
            <a:r>
              <a:rPr lang="en-US" sz="2400" b="0" i="0" dirty="0">
                <a:solidFill>
                  <a:srgbClr val="1A2C47"/>
                </a:solidFill>
                <a:effectLst/>
                <a:latin typeface="Source Sans Pro" panose="020B0503030403020204" pitchFamily="34" charset="0"/>
              </a:rPr>
              <a:t>In java programming language the interface and abstract class are used to attain abstraction.</a:t>
            </a:r>
            <a:endParaRPr lang="en-US" sz="2400" b="0" i="0" dirty="0">
              <a:solidFill>
                <a:srgbClr val="FF0000"/>
              </a:solidFill>
              <a:effectLst/>
              <a:latin typeface="Source Sans Pro" panose="020B0503030403020204" pitchFamily="34" charset="0"/>
            </a:endParaRPr>
          </a:p>
        </p:txBody>
      </p:sp>
    </p:spTree>
    <p:extLst>
      <p:ext uri="{BB962C8B-B14F-4D97-AF65-F5344CB8AC3E}">
        <p14:creationId xmlns:p14="http://schemas.microsoft.com/office/powerpoint/2010/main" val="3860452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4263"/>
            <a:ext cx="11433061" cy="2723823"/>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r>
              <a:rPr lang="en-US" sz="2400" b="1" i="0" dirty="0">
                <a:solidFill>
                  <a:srgbClr val="273239"/>
                </a:solidFill>
                <a:effectLst/>
                <a:latin typeface="urw-din"/>
              </a:rPr>
              <a:t>How To Achieve Abstraction in Java?</a:t>
            </a:r>
          </a:p>
          <a:p>
            <a:pPr algn="just" fontAlgn="base"/>
            <a:endParaRPr lang="en-US" sz="2400" b="1" i="0" dirty="0">
              <a:solidFill>
                <a:srgbClr val="273239"/>
              </a:solidFill>
              <a:effectLst/>
              <a:latin typeface="urw-din"/>
            </a:endParaRPr>
          </a:p>
          <a:p>
            <a:pPr algn="just"/>
            <a:r>
              <a:rPr lang="en-US" sz="2400" b="0" i="0" dirty="0">
                <a:solidFill>
                  <a:srgbClr val="333333"/>
                </a:solidFill>
                <a:effectLst/>
                <a:latin typeface="inter-regular"/>
              </a:rPr>
              <a:t>Two ways to achieve abstraction in java</a:t>
            </a:r>
          </a:p>
          <a:p>
            <a:pPr lvl="1" algn="just">
              <a:buFont typeface="+mj-lt"/>
              <a:buAutoNum type="arabicPeriod"/>
            </a:pPr>
            <a:r>
              <a:rPr lang="en-US" sz="2400" b="0" i="0" dirty="0">
                <a:solidFill>
                  <a:srgbClr val="000000"/>
                </a:solidFill>
                <a:effectLst/>
                <a:latin typeface="inter-regular"/>
              </a:rPr>
              <a:t>  Abstract class (0 to 100%)</a:t>
            </a:r>
          </a:p>
          <a:p>
            <a:pPr lvl="1" algn="just">
              <a:buFont typeface="+mj-lt"/>
              <a:buAutoNum type="arabicPeriod"/>
            </a:pPr>
            <a:r>
              <a:rPr lang="en-US" sz="2400" dirty="0">
                <a:solidFill>
                  <a:srgbClr val="000000"/>
                </a:solidFill>
                <a:latin typeface="inter-regular"/>
              </a:rPr>
              <a:t>  </a:t>
            </a:r>
            <a:r>
              <a:rPr lang="en-US" sz="2400" b="0" i="0" dirty="0">
                <a:solidFill>
                  <a:srgbClr val="000000"/>
                </a:solidFill>
                <a:effectLst/>
                <a:latin typeface="inter-regular"/>
              </a:rPr>
              <a:t>Interface (100%)</a:t>
            </a:r>
          </a:p>
        </p:txBody>
      </p:sp>
      <p:pic>
        <p:nvPicPr>
          <p:cNvPr id="3" name="Picture 2">
            <a:extLst>
              <a:ext uri="{FF2B5EF4-FFF2-40B4-BE49-F238E27FC236}">
                <a16:creationId xmlns:a16="http://schemas.microsoft.com/office/drawing/2014/main" id="{960D5B91-389C-1AC3-54DD-95671284BCD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5953877" y="309562"/>
            <a:ext cx="5972175" cy="6238875"/>
          </a:xfrm>
          <a:prstGeom prst="rect">
            <a:avLst/>
          </a:prstGeom>
          <a:ln>
            <a:solidFill>
              <a:schemeClr val="tx1"/>
            </a:solidFill>
          </a:ln>
        </p:spPr>
      </p:pic>
      <p:sp>
        <p:nvSpPr>
          <p:cNvPr id="7" name="TextBox 6">
            <a:extLst>
              <a:ext uri="{FF2B5EF4-FFF2-40B4-BE49-F238E27FC236}">
                <a16:creationId xmlns:a16="http://schemas.microsoft.com/office/drawing/2014/main" id="{8698083C-FF21-5337-2697-8B7B45FB11E2}"/>
              </a:ext>
            </a:extLst>
          </p:cNvPr>
          <p:cNvSpPr txBox="1"/>
          <p:nvPr/>
        </p:nvSpPr>
        <p:spPr>
          <a:xfrm>
            <a:off x="379469" y="3082752"/>
            <a:ext cx="5358858" cy="3093154"/>
          </a:xfrm>
          <a:prstGeom prst="rect">
            <a:avLst/>
          </a:prstGeom>
          <a:noFill/>
        </p:spPr>
        <p:txBody>
          <a:bodyPr wrap="square">
            <a:spAutoFit/>
          </a:bodyPr>
          <a:lstStyle/>
          <a:p>
            <a:pPr marL="342900" indent="-342900" algn="just" fontAlgn="base">
              <a:spcAft>
                <a:spcPts val="600"/>
              </a:spcAft>
              <a:buFont typeface="Arial" panose="020B0604020202020204" pitchFamily="34" charset="0"/>
              <a:buChar char="•"/>
            </a:pPr>
            <a:r>
              <a:rPr lang="en-US" sz="2000" b="0" i="0" dirty="0">
                <a:solidFill>
                  <a:srgbClr val="333333"/>
                </a:solidFill>
                <a:effectLst/>
                <a:latin typeface="inter-regular"/>
              </a:rPr>
              <a:t>A class which is declared as abstract is known as an </a:t>
            </a:r>
            <a:r>
              <a:rPr lang="en-US" sz="2000" b="1" i="0" dirty="0">
                <a:solidFill>
                  <a:srgbClr val="333333"/>
                </a:solidFill>
                <a:effectLst/>
                <a:latin typeface="inter-bold"/>
              </a:rPr>
              <a:t>abstract class</a:t>
            </a:r>
            <a:r>
              <a:rPr lang="en-US" sz="2000" b="0" i="0" dirty="0">
                <a:solidFill>
                  <a:srgbClr val="333333"/>
                </a:solidFill>
                <a:effectLst/>
                <a:latin typeface="inter-regular"/>
              </a:rPr>
              <a:t>. </a:t>
            </a:r>
            <a:endParaRPr lang="en-US" sz="2000" dirty="0">
              <a:solidFill>
                <a:srgbClr val="333333"/>
              </a:solidFill>
              <a:latin typeface="inter-regular"/>
            </a:endParaRPr>
          </a:p>
          <a:p>
            <a:pPr marL="342900" indent="-342900" algn="just" fontAlgn="base">
              <a:spcAft>
                <a:spcPts val="600"/>
              </a:spcAft>
              <a:buFont typeface="Arial" panose="020B0604020202020204" pitchFamily="34" charset="0"/>
              <a:buChar char="•"/>
            </a:pPr>
            <a:r>
              <a:rPr lang="en-US" sz="2000" b="0" i="0" dirty="0">
                <a:solidFill>
                  <a:srgbClr val="333333"/>
                </a:solidFill>
                <a:effectLst/>
                <a:latin typeface="inter-regular"/>
              </a:rPr>
              <a:t>It can have abstract and non-abstract methods. It needs to be extended and its method implemented. </a:t>
            </a:r>
          </a:p>
          <a:p>
            <a:pPr marL="342900" indent="-342900" algn="just" fontAlgn="base">
              <a:spcAft>
                <a:spcPts val="600"/>
              </a:spcAft>
              <a:buFont typeface="Arial" panose="020B0604020202020204" pitchFamily="34" charset="0"/>
              <a:buChar char="•"/>
            </a:pPr>
            <a:r>
              <a:rPr lang="en-US" sz="2000" b="0" i="0" dirty="0">
                <a:solidFill>
                  <a:srgbClr val="333333"/>
                </a:solidFill>
                <a:effectLst/>
                <a:latin typeface="inter-regular"/>
              </a:rPr>
              <a:t>It cannot be instantiated.</a:t>
            </a:r>
            <a:endParaRPr lang="en-US" sz="2000" dirty="0">
              <a:solidFill>
                <a:srgbClr val="FF0000"/>
              </a:solidFill>
              <a:latin typeface="Source Sans Pro" panose="020B0503030403020204" pitchFamily="34" charset="0"/>
            </a:endParaRPr>
          </a:p>
          <a:p>
            <a:pPr marL="342900" indent="-342900" algn="just" fontAlgn="base">
              <a:spcAft>
                <a:spcPts val="600"/>
              </a:spcAft>
              <a:buFont typeface="Arial" panose="020B0604020202020204" pitchFamily="34" charset="0"/>
              <a:buChar char="•"/>
            </a:pPr>
            <a:r>
              <a:rPr lang="en-US" sz="2000" b="0" i="0" dirty="0">
                <a:solidFill>
                  <a:srgbClr val="333333"/>
                </a:solidFill>
                <a:effectLst/>
                <a:latin typeface="inter-regular"/>
              </a:rPr>
              <a:t>A method which is declared as abstract and does not have implementation is known as an abstract method.</a:t>
            </a:r>
            <a:endParaRPr lang="en-US" sz="2000" b="0" i="0" dirty="0">
              <a:solidFill>
                <a:srgbClr val="FF0000"/>
              </a:solidFill>
              <a:effectLst/>
              <a:latin typeface="Source Sans Pro" panose="020B0503030403020204" pitchFamily="34" charset="0"/>
            </a:endParaRPr>
          </a:p>
        </p:txBody>
      </p:sp>
    </p:spTree>
    <p:extLst>
      <p:ext uri="{BB962C8B-B14F-4D97-AF65-F5344CB8AC3E}">
        <p14:creationId xmlns:p14="http://schemas.microsoft.com/office/powerpoint/2010/main" val="75720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4263"/>
            <a:ext cx="11433061" cy="6078587"/>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r>
              <a:rPr lang="en-US" sz="2400" b="1" i="0" dirty="0">
                <a:solidFill>
                  <a:srgbClr val="273239"/>
                </a:solidFill>
                <a:effectLst/>
                <a:latin typeface="urw-din"/>
              </a:rPr>
              <a:t>Object Oriented Features</a:t>
            </a:r>
          </a:p>
          <a:p>
            <a:endParaRPr lang="en-US" sz="2400" dirty="0">
              <a:solidFill>
                <a:srgbClr val="273239"/>
              </a:solidFill>
              <a:latin typeface="urw-din"/>
            </a:endParaRPr>
          </a:p>
          <a:p>
            <a:pPr marL="457200" indent="-457200">
              <a:spcAft>
                <a:spcPts val="1200"/>
              </a:spcAft>
              <a:buFont typeface="+mj-lt"/>
              <a:buAutoNum type="alphaUcPeriod" startAt="4"/>
            </a:pPr>
            <a:r>
              <a:rPr lang="en-US" sz="2400" b="1" i="0" dirty="0">
                <a:solidFill>
                  <a:srgbClr val="FF0000"/>
                </a:solidFill>
                <a:effectLst/>
                <a:latin typeface="Source Sans Pro" panose="020B0503030403020204" pitchFamily="34" charset="0"/>
              </a:rPr>
              <a:t>Encapsulation</a:t>
            </a:r>
          </a:p>
          <a:p>
            <a:pPr marL="342900" indent="-342900">
              <a:spcAft>
                <a:spcPts val="1200"/>
              </a:spcAft>
              <a:buFont typeface="Arial" panose="020B0604020202020204" pitchFamily="34" charset="0"/>
              <a:buChar char="•"/>
            </a:pPr>
            <a:r>
              <a:rPr lang="en-US" sz="2400" b="1" i="0" dirty="0">
                <a:solidFill>
                  <a:srgbClr val="333333"/>
                </a:solidFill>
                <a:effectLst/>
                <a:latin typeface="inter-bold"/>
              </a:rPr>
              <a:t>Encapsulation in Java</a:t>
            </a:r>
            <a:r>
              <a:rPr lang="en-US" sz="2400" b="0" i="0" dirty="0">
                <a:solidFill>
                  <a:srgbClr val="333333"/>
                </a:solidFill>
                <a:effectLst/>
                <a:latin typeface="inter-regular"/>
              </a:rPr>
              <a:t> is a </a:t>
            </a:r>
            <a:r>
              <a:rPr lang="en-US" sz="2400" b="0" i="1" dirty="0">
                <a:solidFill>
                  <a:srgbClr val="333333"/>
                </a:solidFill>
                <a:effectLst/>
                <a:latin typeface="inter-regular"/>
              </a:rPr>
              <a:t>process of wrapping code and data together into a single unit</a:t>
            </a:r>
            <a:r>
              <a:rPr lang="en-US" sz="2400" b="0" i="0" dirty="0">
                <a:solidFill>
                  <a:srgbClr val="333333"/>
                </a:solidFill>
                <a:effectLst/>
                <a:latin typeface="inter-regular"/>
              </a:rPr>
              <a:t>,</a:t>
            </a:r>
            <a:endParaRPr lang="en-US" sz="2400" b="1" dirty="0">
              <a:solidFill>
                <a:srgbClr val="FF0000"/>
              </a:solidFill>
              <a:latin typeface="Source Sans Pro" panose="020B0503030403020204" pitchFamily="34" charset="0"/>
            </a:endParaRPr>
          </a:p>
          <a:p>
            <a:pPr marL="342900" indent="-342900" algn="just">
              <a:spcAft>
                <a:spcPts val="1200"/>
              </a:spcAft>
              <a:buFont typeface="Arial" panose="020B0604020202020204" pitchFamily="34" charset="0"/>
              <a:buChar char="•"/>
            </a:pPr>
            <a:r>
              <a:rPr lang="en-US" sz="2400" b="0" i="0" dirty="0">
                <a:solidFill>
                  <a:srgbClr val="1A2C47"/>
                </a:solidFill>
                <a:effectLst/>
                <a:latin typeface="Source Sans Pro" panose="020B0503030403020204" pitchFamily="34" charset="0"/>
              </a:rPr>
              <a:t>In the Java language, the java class is a major example of encapsulation.</a:t>
            </a:r>
          </a:p>
          <a:p>
            <a:pPr marL="342900" indent="-342900" algn="just">
              <a:spcAft>
                <a:spcPts val="1200"/>
              </a:spcAft>
              <a:buFont typeface="Arial" panose="020B0604020202020204" pitchFamily="34" charset="0"/>
              <a:buChar char="•"/>
            </a:pPr>
            <a:r>
              <a:rPr lang="en-US" sz="2400" b="1" dirty="0">
                <a:solidFill>
                  <a:srgbClr val="1A2C47"/>
                </a:solidFill>
                <a:latin typeface="Source Sans Pro" panose="020B0503030403020204" pitchFamily="34" charset="0"/>
              </a:rPr>
              <a:t>Example: </a:t>
            </a:r>
            <a:r>
              <a:rPr lang="en-US" sz="2400" b="0" i="0" dirty="0">
                <a:solidFill>
                  <a:srgbClr val="1A2C47"/>
                </a:solidFill>
                <a:effectLst/>
                <a:latin typeface="Source Sans Pro" panose="020B0503030403020204" pitchFamily="34" charset="0"/>
              </a:rPr>
              <a:t>The way a capsule encloses all the contents of the medicine in a similar way when we wrap up data members and methods inside a class we can term it to be encapsulation.</a:t>
            </a:r>
            <a:endParaRPr lang="en-US" sz="2400" b="1" i="0" dirty="0">
              <a:solidFill>
                <a:srgbClr val="FF0000"/>
              </a:solidFill>
              <a:effectLst/>
              <a:latin typeface="Source Sans Pro" panose="020B0503030403020204" pitchFamily="34" charset="0"/>
            </a:endParaRPr>
          </a:p>
          <a:p>
            <a:pPr marL="342900" indent="-342900" algn="just">
              <a:spcAft>
                <a:spcPts val="1200"/>
              </a:spcAft>
              <a:buFont typeface="Arial" panose="020B0604020202020204" pitchFamily="34" charset="0"/>
              <a:buChar char="•"/>
            </a:pPr>
            <a:r>
              <a:rPr lang="en-US" sz="2400" b="0" i="0" dirty="0">
                <a:solidFill>
                  <a:srgbClr val="333333"/>
                </a:solidFill>
                <a:effectLst/>
                <a:latin typeface="inter-regular"/>
              </a:rPr>
              <a:t>We can create a fully encapsulated class in Java by making all the data members of the class private. Now we can use setter and getter methods to set and get the data in it.</a:t>
            </a:r>
            <a:endParaRPr lang="en-US" sz="2400" b="1" dirty="0">
              <a:solidFill>
                <a:srgbClr val="FF0000"/>
              </a:solidFill>
              <a:latin typeface="Source Sans Pro" panose="020B0503030403020204" pitchFamily="34" charset="0"/>
            </a:endParaRPr>
          </a:p>
          <a:p>
            <a:pPr marL="342900" indent="-342900" algn="just">
              <a:spcAft>
                <a:spcPts val="1200"/>
              </a:spcAft>
              <a:buFont typeface="Arial" panose="020B0604020202020204" pitchFamily="34" charset="0"/>
              <a:buChar char="•"/>
            </a:pPr>
            <a:r>
              <a:rPr lang="en-US" sz="2400" b="0" i="0" dirty="0">
                <a:solidFill>
                  <a:srgbClr val="1A2C47"/>
                </a:solidFill>
                <a:effectLst/>
                <a:latin typeface="Source Sans Pro" panose="020B0503030403020204" pitchFamily="34" charset="0"/>
              </a:rPr>
              <a:t>Java bean is noticed to be fully encapsulated and this is because all the data members are observed to be private here.</a:t>
            </a:r>
          </a:p>
        </p:txBody>
      </p:sp>
      <p:pic>
        <p:nvPicPr>
          <p:cNvPr id="3" name="Picture 2">
            <a:extLst>
              <a:ext uri="{FF2B5EF4-FFF2-40B4-BE49-F238E27FC236}">
                <a16:creationId xmlns:a16="http://schemas.microsoft.com/office/drawing/2014/main" id="{9F28C16A-507B-F3CC-9FDC-9ED56BF15F4B}"/>
              </a:ext>
            </a:extLst>
          </p:cNvPr>
          <p:cNvPicPr>
            <a:picLocks noChangeAspect="1"/>
          </p:cNvPicPr>
          <p:nvPr/>
        </p:nvPicPr>
        <p:blipFill>
          <a:blip r:embed="rId2"/>
          <a:stretch>
            <a:fillRect/>
          </a:stretch>
        </p:blipFill>
        <p:spPr>
          <a:xfrm>
            <a:off x="5582718" y="285884"/>
            <a:ext cx="5038725" cy="1885950"/>
          </a:xfrm>
          <a:prstGeom prst="rect">
            <a:avLst/>
          </a:prstGeom>
        </p:spPr>
      </p:pic>
    </p:spTree>
    <p:extLst>
      <p:ext uri="{BB962C8B-B14F-4D97-AF65-F5344CB8AC3E}">
        <p14:creationId xmlns:p14="http://schemas.microsoft.com/office/powerpoint/2010/main" val="2377635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4263"/>
            <a:ext cx="11433061" cy="5693866"/>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spcAft>
                <a:spcPts val="1200"/>
              </a:spcAft>
            </a:pPr>
            <a:r>
              <a:rPr lang="en-US" sz="2800" b="1" i="0" dirty="0">
                <a:solidFill>
                  <a:srgbClr val="273239"/>
                </a:solidFill>
                <a:effectLst/>
                <a:latin typeface="urw-din"/>
              </a:rPr>
              <a:t>Advantages of Encapsulation</a:t>
            </a:r>
          </a:p>
          <a:p>
            <a:pPr algn="just" fontAlgn="base">
              <a:spcAft>
                <a:spcPts val="1200"/>
              </a:spcAft>
            </a:pPr>
            <a:endParaRPr lang="en-US" sz="2400" b="1" i="0" dirty="0">
              <a:solidFill>
                <a:srgbClr val="273239"/>
              </a:solidFill>
              <a:effectLst/>
              <a:latin typeface="urw-din"/>
            </a:endParaRPr>
          </a:p>
          <a:p>
            <a:pPr marL="342900" indent="-342900" algn="just" fontAlgn="base">
              <a:spcAft>
                <a:spcPts val="1000"/>
              </a:spcAft>
              <a:buFont typeface="Arial" panose="020B0604020202020204" pitchFamily="34" charset="0"/>
              <a:buChar char="•"/>
            </a:pPr>
            <a:r>
              <a:rPr lang="en-US" sz="2400" b="0" i="0" dirty="0">
                <a:solidFill>
                  <a:srgbClr val="333333"/>
                </a:solidFill>
                <a:effectLst/>
                <a:latin typeface="inter-regular"/>
              </a:rPr>
              <a:t>It provides you the </a:t>
            </a:r>
            <a:r>
              <a:rPr lang="en-US" sz="2400" b="1" i="0" dirty="0">
                <a:solidFill>
                  <a:srgbClr val="333333"/>
                </a:solidFill>
                <a:effectLst/>
                <a:latin typeface="inter-bold"/>
              </a:rPr>
              <a:t>control over the data</a:t>
            </a:r>
            <a:r>
              <a:rPr lang="en-US" sz="2400" b="0" i="0" dirty="0">
                <a:solidFill>
                  <a:srgbClr val="333333"/>
                </a:solidFill>
                <a:effectLst/>
                <a:latin typeface="inter-regular"/>
              </a:rPr>
              <a:t>. Suppose you want to set the value of id which should be greater than 100 only, </a:t>
            </a:r>
            <a:r>
              <a:rPr lang="en-US" sz="2400" b="0" i="0" dirty="0" err="1">
                <a:solidFill>
                  <a:srgbClr val="333333"/>
                </a:solidFill>
                <a:effectLst/>
                <a:latin typeface="inter-regular"/>
              </a:rPr>
              <a:t>ou</a:t>
            </a:r>
            <a:r>
              <a:rPr lang="en-US" sz="2400" b="0" i="0" dirty="0">
                <a:solidFill>
                  <a:srgbClr val="333333"/>
                </a:solidFill>
                <a:effectLst/>
                <a:latin typeface="inter-regular"/>
              </a:rPr>
              <a:t> can write the logic not to store the negative numbers in the setter methods.</a:t>
            </a:r>
          </a:p>
          <a:p>
            <a:pPr marL="342900" indent="-342900" algn="just" fontAlgn="base">
              <a:spcAft>
                <a:spcPts val="1000"/>
              </a:spcAft>
              <a:buFont typeface="Arial" panose="020B0604020202020204" pitchFamily="34" charset="0"/>
              <a:buChar char="•"/>
            </a:pPr>
            <a:r>
              <a:rPr lang="en-US" sz="2400" b="0" i="0" dirty="0">
                <a:solidFill>
                  <a:srgbClr val="333333"/>
                </a:solidFill>
                <a:effectLst/>
                <a:latin typeface="inter-regular"/>
              </a:rPr>
              <a:t>It is a way to achieve </a:t>
            </a:r>
            <a:r>
              <a:rPr lang="en-US" sz="2400" b="1" i="0" dirty="0">
                <a:solidFill>
                  <a:srgbClr val="333333"/>
                </a:solidFill>
                <a:effectLst/>
                <a:latin typeface="inter-bold"/>
              </a:rPr>
              <a:t>data hiding</a:t>
            </a:r>
            <a:r>
              <a:rPr lang="en-US" sz="2400" b="0" i="0" dirty="0">
                <a:solidFill>
                  <a:srgbClr val="333333"/>
                </a:solidFill>
                <a:effectLst/>
                <a:latin typeface="inter-regular"/>
              </a:rPr>
              <a:t> in Java because other class will not be able to access the data through the private data members.</a:t>
            </a:r>
          </a:p>
          <a:p>
            <a:pPr marL="342900" indent="-342900" algn="just" fontAlgn="base">
              <a:spcAft>
                <a:spcPts val="1000"/>
              </a:spcAft>
              <a:buFont typeface="Arial" panose="020B0604020202020204" pitchFamily="34" charset="0"/>
              <a:buChar char="•"/>
            </a:pPr>
            <a:r>
              <a:rPr lang="en-US" sz="2400" b="0" i="0" dirty="0">
                <a:solidFill>
                  <a:srgbClr val="333333"/>
                </a:solidFill>
                <a:effectLst/>
                <a:latin typeface="inter-regular"/>
              </a:rPr>
              <a:t>By providing only a setter or getter method, you can make the class </a:t>
            </a:r>
            <a:r>
              <a:rPr lang="en-US" sz="2400" b="1" i="0" dirty="0">
                <a:solidFill>
                  <a:srgbClr val="333333"/>
                </a:solidFill>
                <a:effectLst/>
                <a:latin typeface="inter-bold"/>
              </a:rPr>
              <a:t>read-only or write-only</a:t>
            </a:r>
            <a:r>
              <a:rPr lang="en-US" sz="2400" b="0" i="0" dirty="0">
                <a:solidFill>
                  <a:srgbClr val="333333"/>
                </a:solidFill>
                <a:effectLst/>
                <a:latin typeface="inter-regular"/>
              </a:rPr>
              <a:t>.</a:t>
            </a:r>
            <a:endParaRPr lang="en-US" sz="2400" dirty="0">
              <a:solidFill>
                <a:srgbClr val="333333"/>
              </a:solidFill>
              <a:latin typeface="inter-regular"/>
            </a:endParaRPr>
          </a:p>
          <a:p>
            <a:pPr marL="342900" indent="-342900" algn="just" fontAlgn="base">
              <a:spcAft>
                <a:spcPts val="1000"/>
              </a:spcAft>
              <a:buFont typeface="Arial" panose="020B0604020202020204" pitchFamily="34" charset="0"/>
              <a:buChar char="•"/>
            </a:pPr>
            <a:r>
              <a:rPr lang="en-US" sz="2400" b="0" i="0" dirty="0">
                <a:solidFill>
                  <a:srgbClr val="333333"/>
                </a:solidFill>
                <a:effectLst/>
                <a:latin typeface="inter-regular"/>
              </a:rPr>
              <a:t>The standard IDE's are providing the facility to generate the getters and setters. So, it is </a:t>
            </a:r>
            <a:r>
              <a:rPr lang="en-US" sz="2400" b="1" i="0" dirty="0">
                <a:solidFill>
                  <a:srgbClr val="333333"/>
                </a:solidFill>
                <a:effectLst/>
                <a:latin typeface="inter-bold"/>
              </a:rPr>
              <a:t>easy and fast to create an encapsulated class</a:t>
            </a:r>
            <a:r>
              <a:rPr lang="en-US" sz="2400" b="0" i="0" dirty="0">
                <a:solidFill>
                  <a:srgbClr val="333333"/>
                </a:solidFill>
                <a:effectLst/>
                <a:latin typeface="inter-regular"/>
              </a:rPr>
              <a:t> in Java.</a:t>
            </a:r>
            <a:endParaRPr lang="en-US" sz="2400" b="1" i="0" dirty="0">
              <a:solidFill>
                <a:srgbClr val="FF0000"/>
              </a:solidFill>
              <a:effectLst/>
              <a:latin typeface="Source Sans Pro" panose="020B0503030403020204" pitchFamily="34" charset="0"/>
            </a:endParaRPr>
          </a:p>
        </p:txBody>
      </p:sp>
    </p:spTree>
    <p:extLst>
      <p:ext uri="{BB962C8B-B14F-4D97-AF65-F5344CB8AC3E}">
        <p14:creationId xmlns:p14="http://schemas.microsoft.com/office/powerpoint/2010/main" val="4253174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80957"/>
            <a:ext cx="11433061" cy="6601807"/>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a:spcAft>
                <a:spcPts val="1800"/>
              </a:spcAft>
            </a:pPr>
            <a:r>
              <a:rPr lang="en-US" sz="2800" b="1" dirty="0">
                <a:solidFill>
                  <a:srgbClr val="273239"/>
                </a:solidFill>
                <a:latin typeface="urw-din"/>
              </a:rPr>
              <a:t>Encapsulation Example : A Fully Encapsulated Class</a:t>
            </a:r>
          </a:p>
          <a:p>
            <a:pPr algn="just">
              <a:spcAft>
                <a:spcPts val="1800"/>
              </a:spcAft>
            </a:pPr>
            <a:endParaRPr lang="en-US" sz="2800" b="1" dirty="0">
              <a:solidFill>
                <a:srgbClr val="273239"/>
              </a:solidFill>
              <a:latin typeface="urw-din"/>
            </a:endParaRPr>
          </a:p>
          <a:p>
            <a:pPr algn="just">
              <a:spcAft>
                <a:spcPts val="1800"/>
              </a:spcAft>
            </a:pPr>
            <a:endParaRPr lang="en-US" sz="2800" b="1" dirty="0">
              <a:solidFill>
                <a:srgbClr val="273239"/>
              </a:solidFill>
              <a:latin typeface="urw-din"/>
            </a:endParaRPr>
          </a:p>
          <a:p>
            <a:pPr algn="just">
              <a:spcAft>
                <a:spcPts val="1800"/>
              </a:spcAft>
            </a:pPr>
            <a:endParaRPr lang="en-US" sz="2800" b="1" dirty="0">
              <a:solidFill>
                <a:srgbClr val="273239"/>
              </a:solidFill>
              <a:latin typeface="urw-din"/>
            </a:endParaRPr>
          </a:p>
          <a:p>
            <a:pPr algn="just">
              <a:spcAft>
                <a:spcPts val="1800"/>
              </a:spcAft>
            </a:pPr>
            <a:endParaRPr lang="en-US" sz="2800" b="1" dirty="0">
              <a:solidFill>
                <a:srgbClr val="273239"/>
              </a:solidFill>
              <a:latin typeface="urw-din"/>
            </a:endParaRPr>
          </a:p>
          <a:p>
            <a:pPr algn="just">
              <a:spcAft>
                <a:spcPts val="1800"/>
              </a:spcAft>
            </a:pPr>
            <a:endParaRPr lang="en-US" sz="2800" b="1" dirty="0">
              <a:solidFill>
                <a:srgbClr val="273239"/>
              </a:solidFill>
              <a:latin typeface="urw-din"/>
            </a:endParaRPr>
          </a:p>
          <a:p>
            <a:pPr algn="just">
              <a:spcAft>
                <a:spcPts val="1800"/>
              </a:spcAft>
            </a:pPr>
            <a:endParaRPr lang="en-US" sz="2800" b="1" dirty="0">
              <a:solidFill>
                <a:srgbClr val="273239"/>
              </a:solidFill>
              <a:latin typeface="urw-din"/>
            </a:endParaRPr>
          </a:p>
          <a:p>
            <a:pPr algn="just">
              <a:spcAft>
                <a:spcPts val="1800"/>
              </a:spcAft>
            </a:pPr>
            <a:r>
              <a:rPr lang="en-US" sz="2800" b="1" dirty="0">
                <a:solidFill>
                  <a:srgbClr val="273239"/>
                </a:solidFill>
                <a:latin typeface="urw-din"/>
              </a:rPr>
              <a:t>							       </a:t>
            </a:r>
          </a:p>
          <a:p>
            <a:pPr algn="just">
              <a:spcAft>
                <a:spcPts val="1800"/>
              </a:spcAft>
            </a:pPr>
            <a:r>
              <a:rPr lang="en-US" sz="2800" b="1" dirty="0">
                <a:solidFill>
                  <a:srgbClr val="273239"/>
                </a:solidFill>
                <a:latin typeface="urw-din"/>
              </a:rPr>
              <a:t>							   Output : </a:t>
            </a:r>
            <a:r>
              <a:rPr lang="en-US" sz="2800" b="1" dirty="0" err="1">
                <a:solidFill>
                  <a:srgbClr val="273239"/>
                </a:solidFill>
                <a:latin typeface="urw-din"/>
              </a:rPr>
              <a:t>vijay</a:t>
            </a:r>
            <a:endParaRPr lang="en-US" sz="2800" b="1" dirty="0">
              <a:solidFill>
                <a:srgbClr val="273239"/>
              </a:solidFill>
              <a:latin typeface="urw-din"/>
            </a:endParaRPr>
          </a:p>
        </p:txBody>
      </p:sp>
      <p:pic>
        <p:nvPicPr>
          <p:cNvPr id="11" name="Picture 10">
            <a:extLst>
              <a:ext uri="{FF2B5EF4-FFF2-40B4-BE49-F238E27FC236}">
                <a16:creationId xmlns:a16="http://schemas.microsoft.com/office/drawing/2014/main" id="{AB73497C-B6CA-65A7-C549-379BD3CEDD0F}"/>
              </a:ext>
            </a:extLst>
          </p:cNvPr>
          <p:cNvPicPr>
            <a:picLocks noChangeAspect="1"/>
          </p:cNvPicPr>
          <p:nvPr/>
        </p:nvPicPr>
        <p:blipFill>
          <a:blip r:embed="rId2"/>
          <a:stretch>
            <a:fillRect/>
          </a:stretch>
        </p:blipFill>
        <p:spPr>
          <a:xfrm>
            <a:off x="771525" y="1520215"/>
            <a:ext cx="5476875" cy="4972050"/>
          </a:xfrm>
          <a:prstGeom prst="rect">
            <a:avLst/>
          </a:prstGeom>
        </p:spPr>
      </p:pic>
      <p:pic>
        <p:nvPicPr>
          <p:cNvPr id="13" name="Picture 12">
            <a:extLst>
              <a:ext uri="{FF2B5EF4-FFF2-40B4-BE49-F238E27FC236}">
                <a16:creationId xmlns:a16="http://schemas.microsoft.com/office/drawing/2014/main" id="{9B805F11-1BAE-3AF3-5661-66D3164D53E2}"/>
              </a:ext>
            </a:extLst>
          </p:cNvPr>
          <p:cNvPicPr>
            <a:picLocks noChangeAspect="1"/>
          </p:cNvPicPr>
          <p:nvPr/>
        </p:nvPicPr>
        <p:blipFill>
          <a:blip r:embed="rId3"/>
          <a:stretch>
            <a:fillRect/>
          </a:stretch>
        </p:blipFill>
        <p:spPr>
          <a:xfrm>
            <a:off x="6796395" y="1520215"/>
            <a:ext cx="4105275" cy="3924300"/>
          </a:xfrm>
          <a:prstGeom prst="rect">
            <a:avLst/>
          </a:prstGeom>
        </p:spPr>
      </p:pic>
    </p:spTree>
    <p:extLst>
      <p:ext uri="{BB962C8B-B14F-4D97-AF65-F5344CB8AC3E}">
        <p14:creationId xmlns:p14="http://schemas.microsoft.com/office/powerpoint/2010/main" val="1236937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8368"/>
            <a:ext cx="11433061" cy="4570482"/>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a:spcAft>
                <a:spcPts val="1800"/>
              </a:spcAft>
            </a:pPr>
            <a:endParaRPr lang="en-US" sz="3600" u="sng" dirty="0">
              <a:solidFill>
                <a:srgbClr val="7030A0"/>
              </a:solidFill>
            </a:endParaRPr>
          </a:p>
          <a:p>
            <a:pPr algn="just">
              <a:spcAft>
                <a:spcPts val="1800"/>
              </a:spcAft>
            </a:pPr>
            <a:endParaRPr lang="en-US" sz="3600" u="sng" dirty="0">
              <a:solidFill>
                <a:srgbClr val="7030A0"/>
              </a:solidFill>
            </a:endParaRPr>
          </a:p>
          <a:p>
            <a:pPr algn="just">
              <a:spcAft>
                <a:spcPts val="1800"/>
              </a:spcAft>
            </a:pPr>
            <a:endParaRPr lang="en-US" sz="3600" u="sng" dirty="0">
              <a:solidFill>
                <a:srgbClr val="7030A0"/>
              </a:solidFill>
            </a:endParaRPr>
          </a:p>
          <a:p>
            <a:pPr algn="just">
              <a:spcAft>
                <a:spcPts val="1800"/>
              </a:spcAft>
            </a:pPr>
            <a:endParaRPr lang="en-US" sz="3600" u="sng" dirty="0">
              <a:solidFill>
                <a:srgbClr val="7030A0"/>
              </a:solidFill>
            </a:endParaRPr>
          </a:p>
          <a:p>
            <a:pPr algn="just">
              <a:spcAft>
                <a:spcPts val="1800"/>
              </a:spcAft>
            </a:pPr>
            <a:endParaRPr lang="en-US" sz="3600" u="sng" dirty="0">
              <a:solidFill>
                <a:srgbClr val="7030A0"/>
              </a:solidFill>
            </a:endParaRPr>
          </a:p>
        </p:txBody>
      </p:sp>
      <p:pic>
        <p:nvPicPr>
          <p:cNvPr id="4" name="Picture 3">
            <a:extLst>
              <a:ext uri="{FF2B5EF4-FFF2-40B4-BE49-F238E27FC236}">
                <a16:creationId xmlns:a16="http://schemas.microsoft.com/office/drawing/2014/main" id="{1A86028F-3E22-E51D-9C77-0352933608E8}"/>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843883" y="1061766"/>
            <a:ext cx="3924300" cy="3152775"/>
          </a:xfrm>
          <a:prstGeom prst="rect">
            <a:avLst/>
          </a:prstGeom>
        </p:spPr>
      </p:pic>
      <p:pic>
        <p:nvPicPr>
          <p:cNvPr id="11" name="Picture 10">
            <a:extLst>
              <a:ext uri="{FF2B5EF4-FFF2-40B4-BE49-F238E27FC236}">
                <a16:creationId xmlns:a16="http://schemas.microsoft.com/office/drawing/2014/main" id="{8AB79F41-20D0-3351-C929-14529F820E49}"/>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843882" y="4989894"/>
            <a:ext cx="4467225" cy="476250"/>
          </a:xfrm>
          <a:prstGeom prst="rect">
            <a:avLst/>
          </a:prstGeom>
          <a:ln>
            <a:solidFill>
              <a:schemeClr val="tx1"/>
            </a:solidFill>
          </a:ln>
        </p:spPr>
      </p:pic>
      <p:pic>
        <p:nvPicPr>
          <p:cNvPr id="13" name="Picture 12">
            <a:extLst>
              <a:ext uri="{FF2B5EF4-FFF2-40B4-BE49-F238E27FC236}">
                <a16:creationId xmlns:a16="http://schemas.microsoft.com/office/drawing/2014/main" id="{E44F4093-6550-711F-C97A-81D99EB537A0}"/>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4700"/>
                    </a14:imgEffect>
                  </a14:imgLayer>
                </a14:imgProps>
              </a:ext>
            </a:extLst>
          </a:blip>
          <a:stretch>
            <a:fillRect/>
          </a:stretch>
        </p:blipFill>
        <p:spPr>
          <a:xfrm>
            <a:off x="7305061" y="985943"/>
            <a:ext cx="3952875" cy="3095625"/>
          </a:xfrm>
          <a:prstGeom prst="rect">
            <a:avLst/>
          </a:prstGeom>
        </p:spPr>
      </p:pic>
      <p:sp>
        <p:nvSpPr>
          <p:cNvPr id="15" name="TextBox 14">
            <a:extLst>
              <a:ext uri="{FF2B5EF4-FFF2-40B4-BE49-F238E27FC236}">
                <a16:creationId xmlns:a16="http://schemas.microsoft.com/office/drawing/2014/main" id="{327E9781-F994-8228-6C7A-955A5E3E2656}"/>
              </a:ext>
            </a:extLst>
          </p:cNvPr>
          <p:cNvSpPr txBox="1"/>
          <p:nvPr/>
        </p:nvSpPr>
        <p:spPr>
          <a:xfrm>
            <a:off x="7100730" y="4304689"/>
            <a:ext cx="4157206" cy="923330"/>
          </a:xfrm>
          <a:prstGeom prst="rect">
            <a:avLst/>
          </a:prstGeom>
          <a:noFill/>
        </p:spPr>
        <p:txBody>
          <a:bodyPr wrap="square">
            <a:spAutoFit/>
          </a:bodyPr>
          <a:lstStyle/>
          <a:p>
            <a:pPr algn="just"/>
            <a:r>
              <a:rPr lang="en-US" b="0" i="0" dirty="0">
                <a:solidFill>
                  <a:srgbClr val="333333"/>
                </a:solidFill>
                <a:effectLst/>
                <a:latin typeface="inter-regular"/>
              </a:rPr>
              <a:t>Now, you can't get the value of the college, you can only change the value of college data member.</a:t>
            </a:r>
            <a:endParaRPr lang="fr-FR" dirty="0"/>
          </a:p>
        </p:txBody>
      </p:sp>
      <p:sp>
        <p:nvSpPr>
          <p:cNvPr id="17" name="TextBox 16">
            <a:extLst>
              <a:ext uri="{FF2B5EF4-FFF2-40B4-BE49-F238E27FC236}">
                <a16:creationId xmlns:a16="http://schemas.microsoft.com/office/drawing/2014/main" id="{E8BA80EF-48AA-32E9-29E9-B38A675F7588}"/>
              </a:ext>
            </a:extLst>
          </p:cNvPr>
          <p:cNvSpPr txBox="1"/>
          <p:nvPr/>
        </p:nvSpPr>
        <p:spPr>
          <a:xfrm>
            <a:off x="747250" y="4295357"/>
            <a:ext cx="4660490" cy="646331"/>
          </a:xfrm>
          <a:prstGeom prst="rect">
            <a:avLst/>
          </a:prstGeom>
          <a:noFill/>
        </p:spPr>
        <p:txBody>
          <a:bodyPr wrap="square">
            <a:spAutoFit/>
          </a:bodyPr>
          <a:lstStyle/>
          <a:p>
            <a:pPr algn="just">
              <a:spcAft>
                <a:spcPts val="1800"/>
              </a:spcAft>
            </a:pPr>
            <a:r>
              <a:rPr lang="en-US" b="0" i="0" dirty="0">
                <a:solidFill>
                  <a:srgbClr val="333333"/>
                </a:solidFill>
                <a:effectLst/>
                <a:latin typeface="inter-regular"/>
              </a:rPr>
              <a:t>Now, you can't change the value of the college data member which is "</a:t>
            </a:r>
            <a:r>
              <a:rPr lang="en-US" b="0" i="0" dirty="0" err="1">
                <a:solidFill>
                  <a:srgbClr val="333333"/>
                </a:solidFill>
                <a:effectLst/>
                <a:latin typeface="inter-regular"/>
              </a:rPr>
              <a:t>AKG</a:t>
            </a:r>
            <a:r>
              <a:rPr lang="en-US" b="0" i="0" dirty="0">
                <a:solidFill>
                  <a:srgbClr val="333333"/>
                </a:solidFill>
                <a:effectLst/>
                <a:latin typeface="inter-regular"/>
              </a:rPr>
              <a:t>".</a:t>
            </a:r>
            <a:endParaRPr lang="en-US" u="sng" dirty="0">
              <a:solidFill>
                <a:srgbClr val="7030A0"/>
              </a:solidFill>
            </a:endParaRPr>
          </a:p>
        </p:txBody>
      </p:sp>
      <p:pic>
        <p:nvPicPr>
          <p:cNvPr id="19" name="Picture 18">
            <a:extLst>
              <a:ext uri="{FF2B5EF4-FFF2-40B4-BE49-F238E27FC236}">
                <a16:creationId xmlns:a16="http://schemas.microsoft.com/office/drawing/2014/main" id="{DB82CA40-52F1-3E0E-B3F4-31D5DCA9A779}"/>
              </a:ext>
            </a:extLst>
          </p:cNvPr>
          <p:cNvPicPr>
            <a:picLocks noChangeAspect="1"/>
          </p:cNvPicPr>
          <p:nvPr/>
        </p:nvPicPr>
        <p:blipFill>
          <a:blip r:embed="rId8">
            <a:extLst>
              <a:ext uri="{BEBA8EAE-BF5A-486C-A8C5-ECC9F3942E4B}">
                <a14:imgProps xmlns:a14="http://schemas.microsoft.com/office/drawing/2010/main">
                  <a14:imgLayer r:embed="rId9">
                    <a14:imgEffect>
                      <a14:colorTemperature colorTemp="4700"/>
                    </a14:imgEffect>
                  </a14:imgLayer>
                </a14:imgProps>
              </a:ext>
            </a:extLst>
          </a:blip>
          <a:stretch>
            <a:fillRect/>
          </a:stretch>
        </p:blipFill>
        <p:spPr>
          <a:xfrm>
            <a:off x="3930906" y="5619063"/>
            <a:ext cx="8105775" cy="1114425"/>
          </a:xfrm>
          <a:prstGeom prst="rect">
            <a:avLst/>
          </a:prstGeom>
          <a:ln>
            <a:solidFill>
              <a:schemeClr val="tx1"/>
            </a:solidFill>
          </a:ln>
        </p:spPr>
      </p:pic>
      <p:sp>
        <p:nvSpPr>
          <p:cNvPr id="20" name="TextBox 19">
            <a:extLst>
              <a:ext uri="{FF2B5EF4-FFF2-40B4-BE49-F238E27FC236}">
                <a16:creationId xmlns:a16="http://schemas.microsoft.com/office/drawing/2014/main" id="{F1493F63-7DCB-3927-E32C-5D940E79C7CA}"/>
              </a:ext>
            </a:extLst>
          </p:cNvPr>
          <p:cNvSpPr txBox="1"/>
          <p:nvPr/>
        </p:nvSpPr>
        <p:spPr>
          <a:xfrm>
            <a:off x="7885630" y="447818"/>
            <a:ext cx="3000674" cy="461665"/>
          </a:xfrm>
          <a:prstGeom prst="rect">
            <a:avLst/>
          </a:prstGeom>
          <a:noFill/>
        </p:spPr>
        <p:txBody>
          <a:bodyPr wrap="square" rtlCol="0">
            <a:spAutoFit/>
          </a:bodyPr>
          <a:lstStyle/>
          <a:p>
            <a:r>
              <a:rPr lang="fr-FR" sz="2400" b="1" dirty="0">
                <a:solidFill>
                  <a:srgbClr val="FF0000"/>
                </a:solidFill>
              </a:rPr>
              <a:t>Write Only Java Class</a:t>
            </a:r>
          </a:p>
        </p:txBody>
      </p:sp>
      <p:sp>
        <p:nvSpPr>
          <p:cNvPr id="21" name="TextBox 20">
            <a:extLst>
              <a:ext uri="{FF2B5EF4-FFF2-40B4-BE49-F238E27FC236}">
                <a16:creationId xmlns:a16="http://schemas.microsoft.com/office/drawing/2014/main" id="{EDCED7E3-2087-1B72-4A10-454BCCBC3D8A}"/>
              </a:ext>
            </a:extLst>
          </p:cNvPr>
          <p:cNvSpPr txBox="1"/>
          <p:nvPr/>
        </p:nvSpPr>
        <p:spPr>
          <a:xfrm>
            <a:off x="1305696" y="574933"/>
            <a:ext cx="3000674" cy="461665"/>
          </a:xfrm>
          <a:prstGeom prst="rect">
            <a:avLst/>
          </a:prstGeom>
          <a:noFill/>
        </p:spPr>
        <p:txBody>
          <a:bodyPr wrap="square" rtlCol="0">
            <a:spAutoFit/>
          </a:bodyPr>
          <a:lstStyle/>
          <a:p>
            <a:r>
              <a:rPr lang="fr-FR" sz="2400" b="1" dirty="0">
                <a:solidFill>
                  <a:srgbClr val="FF0000"/>
                </a:solidFill>
              </a:rPr>
              <a:t>Read Only Java Class</a:t>
            </a:r>
          </a:p>
        </p:txBody>
      </p:sp>
      <p:pic>
        <p:nvPicPr>
          <p:cNvPr id="22" name="Picture 21">
            <a:extLst>
              <a:ext uri="{FF2B5EF4-FFF2-40B4-BE49-F238E27FC236}">
                <a16:creationId xmlns:a16="http://schemas.microsoft.com/office/drawing/2014/main" id="{C25BAE24-4286-CC35-D84B-749AD4B61D49}"/>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843883" y="1081321"/>
            <a:ext cx="3924300" cy="3152775"/>
          </a:xfrm>
          <a:prstGeom prst="rect">
            <a:avLst/>
          </a:prstGeom>
          <a:ln>
            <a:solidFill>
              <a:schemeClr val="tx1"/>
            </a:solidFill>
          </a:ln>
        </p:spPr>
      </p:pic>
      <p:pic>
        <p:nvPicPr>
          <p:cNvPr id="23" name="Picture 22">
            <a:extLst>
              <a:ext uri="{FF2B5EF4-FFF2-40B4-BE49-F238E27FC236}">
                <a16:creationId xmlns:a16="http://schemas.microsoft.com/office/drawing/2014/main" id="{142576AE-547C-2DC9-5396-B10C901FDA58}"/>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4700"/>
                    </a14:imgEffect>
                  </a14:imgLayer>
                </a14:imgProps>
              </a:ext>
            </a:extLst>
          </a:blip>
          <a:stretch>
            <a:fillRect/>
          </a:stretch>
        </p:blipFill>
        <p:spPr>
          <a:xfrm>
            <a:off x="7305061" y="1005498"/>
            <a:ext cx="3952875" cy="3095625"/>
          </a:xfrm>
          <a:prstGeom prst="rect">
            <a:avLst/>
          </a:prstGeom>
          <a:ln>
            <a:solidFill>
              <a:schemeClr val="tx1"/>
            </a:solidFill>
          </a:ln>
        </p:spPr>
      </p:pic>
    </p:spTree>
    <p:extLst>
      <p:ext uri="{BB962C8B-B14F-4D97-AF65-F5344CB8AC3E}">
        <p14:creationId xmlns:p14="http://schemas.microsoft.com/office/powerpoint/2010/main" val="3246952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1985159"/>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fontAlgn="base"/>
            <a:r>
              <a:rPr lang="en-US" sz="2400" b="1" dirty="0">
                <a:solidFill>
                  <a:srgbClr val="FF0000"/>
                </a:solidFill>
                <a:latin typeface="urw-din"/>
              </a:rPr>
              <a:t>3</a:t>
            </a:r>
            <a:r>
              <a:rPr lang="en-US" sz="2400" b="1" i="0" dirty="0">
                <a:solidFill>
                  <a:srgbClr val="FF0000"/>
                </a:solidFill>
                <a:effectLst/>
                <a:latin typeface="urw-din"/>
              </a:rPr>
              <a:t>. Secure Language:  </a:t>
            </a:r>
            <a:r>
              <a:rPr lang="en-US" sz="2200" b="0" i="0" dirty="0">
                <a:solidFill>
                  <a:srgbClr val="1A2C47"/>
                </a:solidFill>
                <a:effectLst/>
                <a:latin typeface="Source Sans Pro" panose="020B0503030403020204" pitchFamily="34" charset="0"/>
              </a:rPr>
              <a:t>Java turns out to be very secure and that is because we do not have access to pointers here, due to the lack of pointers we are unable to get access to outbound arrays and this makes it impossible for the flaws like buffer overflow</a:t>
            </a:r>
          </a:p>
        </p:txBody>
      </p:sp>
      <p:pic>
        <p:nvPicPr>
          <p:cNvPr id="3" name="Picture 2">
            <a:extLst>
              <a:ext uri="{FF2B5EF4-FFF2-40B4-BE49-F238E27FC236}">
                <a16:creationId xmlns:a16="http://schemas.microsoft.com/office/drawing/2014/main" id="{012181BA-1E22-EDE7-6059-7579A1645BB7}"/>
              </a:ext>
            </a:extLst>
          </p:cNvPr>
          <p:cNvPicPr>
            <a:picLocks noChangeAspect="1"/>
          </p:cNvPicPr>
          <p:nvPr/>
        </p:nvPicPr>
        <p:blipFill>
          <a:blip r:embed="rId2"/>
          <a:stretch>
            <a:fillRect/>
          </a:stretch>
        </p:blipFill>
        <p:spPr>
          <a:xfrm>
            <a:off x="5903343" y="2757488"/>
            <a:ext cx="6096000" cy="3328902"/>
          </a:xfrm>
          <a:prstGeom prst="rect">
            <a:avLst/>
          </a:prstGeom>
        </p:spPr>
      </p:pic>
      <p:sp>
        <p:nvSpPr>
          <p:cNvPr id="9" name="TextBox 8">
            <a:extLst>
              <a:ext uri="{FF2B5EF4-FFF2-40B4-BE49-F238E27FC236}">
                <a16:creationId xmlns:a16="http://schemas.microsoft.com/office/drawing/2014/main" id="{E690D04D-2D83-978D-AE40-83DEA4E63794}"/>
              </a:ext>
            </a:extLst>
          </p:cNvPr>
          <p:cNvSpPr txBox="1"/>
          <p:nvPr/>
        </p:nvSpPr>
        <p:spPr>
          <a:xfrm>
            <a:off x="379469" y="2354364"/>
            <a:ext cx="5523874" cy="3888244"/>
          </a:xfrm>
          <a:prstGeom prst="rect">
            <a:avLst/>
          </a:prstGeom>
          <a:noFill/>
        </p:spPr>
        <p:txBody>
          <a:bodyPr wrap="square">
            <a:spAutoFit/>
          </a:bodyPr>
          <a:lstStyle/>
          <a:p>
            <a:pPr marL="342900" indent="-342900" algn="just">
              <a:spcAft>
                <a:spcPts val="800"/>
              </a:spcAft>
              <a:buFont typeface="Arial" panose="020B0604020202020204" pitchFamily="34" charset="0"/>
              <a:buChar char="•"/>
            </a:pPr>
            <a:r>
              <a:rPr lang="en-US" sz="2200" b="0" i="0" dirty="0">
                <a:solidFill>
                  <a:srgbClr val="333333"/>
                </a:solidFill>
                <a:effectLst/>
                <a:latin typeface="inter-regular"/>
              </a:rPr>
              <a:t>Java is best known for its security. </a:t>
            </a:r>
          </a:p>
          <a:p>
            <a:pPr marL="342900" indent="-342900" algn="just">
              <a:spcAft>
                <a:spcPts val="800"/>
              </a:spcAft>
              <a:buFont typeface="Arial" panose="020B0604020202020204" pitchFamily="34" charset="0"/>
              <a:buChar char="•"/>
            </a:pPr>
            <a:r>
              <a:rPr lang="en-US" sz="2200" b="0" i="0" dirty="0">
                <a:solidFill>
                  <a:srgbClr val="333333"/>
                </a:solidFill>
                <a:effectLst/>
                <a:latin typeface="inter-regular"/>
              </a:rPr>
              <a:t>With Java, we can develop virus-free systems. </a:t>
            </a:r>
          </a:p>
          <a:p>
            <a:pPr marL="342900" indent="-342900" algn="just">
              <a:spcAft>
                <a:spcPts val="800"/>
              </a:spcAft>
              <a:buFont typeface="Arial" panose="020B0604020202020204" pitchFamily="34" charset="0"/>
              <a:buChar char="•"/>
            </a:pPr>
            <a:r>
              <a:rPr lang="en-US" sz="2200" b="0" i="0" dirty="0">
                <a:solidFill>
                  <a:srgbClr val="333333"/>
                </a:solidFill>
                <a:effectLst/>
                <a:latin typeface="inter-regular"/>
              </a:rPr>
              <a:t>Java is secured because:</a:t>
            </a:r>
          </a:p>
          <a:p>
            <a:pPr algn="just">
              <a:spcAft>
                <a:spcPts val="800"/>
              </a:spcAft>
            </a:pPr>
            <a:endParaRPr lang="en-US" sz="2200" b="0" i="0" dirty="0">
              <a:solidFill>
                <a:srgbClr val="333333"/>
              </a:solidFill>
              <a:effectLst/>
              <a:latin typeface="inter-regular"/>
            </a:endParaRPr>
          </a:p>
          <a:p>
            <a:pPr algn="just"/>
            <a:r>
              <a:rPr lang="en-US" sz="2200" b="1" i="0" dirty="0">
                <a:solidFill>
                  <a:srgbClr val="000000"/>
                </a:solidFill>
                <a:effectLst/>
                <a:latin typeface="inter-bold"/>
              </a:rPr>
              <a:t>      --   No explicit pointer</a:t>
            </a:r>
            <a:endParaRPr lang="en-US" sz="2200" dirty="0">
              <a:solidFill>
                <a:srgbClr val="000000"/>
              </a:solidFill>
              <a:latin typeface="inter-regular"/>
            </a:endParaRPr>
          </a:p>
          <a:p>
            <a:pPr algn="just"/>
            <a:r>
              <a:rPr lang="en-US" sz="2200" b="1" i="0" dirty="0">
                <a:solidFill>
                  <a:srgbClr val="000000"/>
                </a:solidFill>
                <a:effectLst/>
                <a:latin typeface="inter-regular"/>
              </a:rPr>
              <a:t>      -- </a:t>
            </a:r>
            <a:r>
              <a:rPr lang="en-US" sz="2200" b="1" i="0" dirty="0">
                <a:solidFill>
                  <a:srgbClr val="000000"/>
                </a:solidFill>
                <a:effectLst/>
                <a:latin typeface="inter-bold"/>
              </a:rPr>
              <a:t>Java Programs run inside a virtual  </a:t>
            </a:r>
            <a:br>
              <a:rPr lang="en-US" sz="2200" b="1" i="0" dirty="0">
                <a:solidFill>
                  <a:srgbClr val="000000"/>
                </a:solidFill>
                <a:effectLst/>
                <a:latin typeface="inter-bold"/>
              </a:rPr>
            </a:br>
            <a:r>
              <a:rPr lang="en-US" sz="2200" b="1" i="0" dirty="0">
                <a:solidFill>
                  <a:srgbClr val="000000"/>
                </a:solidFill>
                <a:effectLst/>
                <a:latin typeface="inter-bold"/>
              </a:rPr>
              <a:t>            machine sandbox</a:t>
            </a:r>
            <a:endParaRPr lang="en-US" sz="2200" b="0" i="0" dirty="0">
              <a:solidFill>
                <a:srgbClr val="000000"/>
              </a:solidFill>
              <a:effectLst/>
              <a:latin typeface="inter-regular"/>
            </a:endParaRPr>
          </a:p>
          <a:p>
            <a:br>
              <a:rPr lang="en-US" sz="2200" dirty="0"/>
            </a:br>
            <a:endParaRPr lang="en-US" sz="2200" dirty="0">
              <a:solidFill>
                <a:srgbClr val="0070C0"/>
              </a:solidFill>
              <a:latin typeface="inter-regular"/>
            </a:endParaRPr>
          </a:p>
        </p:txBody>
      </p:sp>
    </p:spTree>
    <p:extLst>
      <p:ext uri="{BB962C8B-B14F-4D97-AF65-F5344CB8AC3E}">
        <p14:creationId xmlns:p14="http://schemas.microsoft.com/office/powerpoint/2010/main" val="2837470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4909036"/>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a:r>
              <a:rPr lang="en-US" sz="2400" b="1" i="0" dirty="0">
                <a:solidFill>
                  <a:srgbClr val="FF0000"/>
                </a:solidFill>
                <a:effectLst/>
                <a:latin typeface="urw-din"/>
              </a:rPr>
              <a:t>4</a:t>
            </a:r>
            <a:r>
              <a:rPr lang="en-US" sz="2400" b="1" dirty="0">
                <a:solidFill>
                  <a:srgbClr val="FF0000"/>
                </a:solidFill>
                <a:latin typeface="urw-din"/>
              </a:rPr>
              <a:t>. Architecture-neutral</a:t>
            </a:r>
          </a:p>
          <a:p>
            <a:pPr algn="just"/>
            <a:endParaRPr lang="en-US" sz="2400" b="1" dirty="0">
              <a:solidFill>
                <a:srgbClr val="273239"/>
              </a:solidFill>
              <a:latin typeface="urw-din"/>
            </a:endParaRPr>
          </a:p>
          <a:p>
            <a:pPr marL="342900" indent="-342900" algn="just">
              <a:buFont typeface="Arial" panose="020B0604020202020204" pitchFamily="34" charset="0"/>
              <a:buChar char="•"/>
            </a:pPr>
            <a:r>
              <a:rPr lang="en-US" sz="2400" b="0" i="0" dirty="0">
                <a:solidFill>
                  <a:srgbClr val="333333"/>
                </a:solidFill>
                <a:effectLst/>
                <a:latin typeface="inter-regular"/>
              </a:rPr>
              <a:t>Java is architecture neutral because there are no implementation dependent features, for example, the size of primitive types is fixed.</a:t>
            </a:r>
          </a:p>
          <a:p>
            <a:pPr marL="342900" indent="-342900" algn="just">
              <a:buFont typeface="Arial" panose="020B0604020202020204" pitchFamily="34" charset="0"/>
              <a:buChar char="•"/>
            </a:pPr>
            <a:endParaRPr lang="en-US" sz="2400" b="0" i="0" dirty="0">
              <a:solidFill>
                <a:srgbClr val="333333"/>
              </a:solidFill>
              <a:effectLst/>
              <a:latin typeface="inter-regular"/>
            </a:endParaRPr>
          </a:p>
          <a:p>
            <a:pPr marL="342900" indent="-342900" algn="just">
              <a:buFont typeface="Arial" panose="020B0604020202020204" pitchFamily="34" charset="0"/>
              <a:buChar char="•"/>
            </a:pPr>
            <a:r>
              <a:rPr lang="en-US" sz="2400" b="0" i="0" dirty="0">
                <a:solidFill>
                  <a:srgbClr val="333333"/>
                </a:solidFill>
                <a:effectLst/>
                <a:latin typeface="inter-regular"/>
              </a:rPr>
              <a:t>In C programming, int data type occupies 2 bytes of memory for 32-bit architecture and 4 bytes of memory for 64-bit architecture. </a:t>
            </a:r>
          </a:p>
          <a:p>
            <a:pPr marL="342900" indent="-342900" algn="just">
              <a:buFont typeface="Arial" panose="020B0604020202020204" pitchFamily="34" charset="0"/>
              <a:buChar char="•"/>
            </a:pPr>
            <a:endParaRPr lang="en-US" sz="2400" b="0" i="0" dirty="0">
              <a:solidFill>
                <a:srgbClr val="333333"/>
              </a:solidFill>
              <a:effectLst/>
              <a:latin typeface="inter-regular"/>
            </a:endParaRPr>
          </a:p>
          <a:p>
            <a:pPr marL="342900" indent="-342900" algn="just">
              <a:buFont typeface="Arial" panose="020B0604020202020204" pitchFamily="34" charset="0"/>
              <a:buChar char="•"/>
            </a:pPr>
            <a:r>
              <a:rPr lang="en-US" sz="2400" b="0" i="0" dirty="0">
                <a:solidFill>
                  <a:srgbClr val="333333"/>
                </a:solidFill>
                <a:effectLst/>
                <a:latin typeface="inter-regular"/>
              </a:rPr>
              <a:t>However, in java, it occupies 4 bytes of memory for both 32 and 64-bit architectures in Java.</a:t>
            </a:r>
          </a:p>
          <a:p>
            <a:pPr algn="just" fontAlgn="base"/>
            <a:endParaRPr lang="en-US" sz="2200" b="0" i="0" dirty="0">
              <a:solidFill>
                <a:srgbClr val="1A2C47"/>
              </a:solidFill>
              <a:effectLst/>
              <a:latin typeface="Source Sans Pro" panose="020B0503030403020204" pitchFamily="34" charset="0"/>
            </a:endParaRPr>
          </a:p>
        </p:txBody>
      </p:sp>
    </p:spTree>
    <p:extLst>
      <p:ext uri="{BB962C8B-B14F-4D97-AF65-F5344CB8AC3E}">
        <p14:creationId xmlns:p14="http://schemas.microsoft.com/office/powerpoint/2010/main" val="1308310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447919"/>
          </a:xfrm>
          <a:prstGeom prst="rect">
            <a:avLst/>
          </a:prstGeom>
          <a:noFill/>
        </p:spPr>
        <p:txBody>
          <a:bodyPr wrap="square" rtlCol="0">
            <a:spAutoFit/>
          </a:bodyPr>
          <a:lstStyle/>
          <a:p>
            <a:pPr algn="just">
              <a:spcAft>
                <a:spcPts val="1800"/>
              </a:spcAft>
            </a:pPr>
            <a:r>
              <a:rPr lang="en-US" sz="3600" u="sng" dirty="0">
                <a:solidFill>
                  <a:srgbClr val="7030A0"/>
                </a:solidFill>
              </a:rPr>
              <a:t>Features of Java</a:t>
            </a:r>
          </a:p>
          <a:p>
            <a:pPr algn="just">
              <a:spcAft>
                <a:spcPts val="1200"/>
              </a:spcAft>
            </a:pPr>
            <a:r>
              <a:rPr lang="en-US" sz="2400" b="1" dirty="0">
                <a:solidFill>
                  <a:srgbClr val="FF0000"/>
                </a:solidFill>
                <a:latin typeface="urw-din"/>
              </a:rPr>
              <a:t>5. Distributed Language</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Java is distributed because it facilitates users to create distributed applications in Java. </a:t>
            </a:r>
          </a:p>
          <a:p>
            <a:pPr marL="342900" indent="-342900" algn="just">
              <a:spcAft>
                <a:spcPts val="600"/>
              </a:spcAft>
              <a:buFont typeface="Arial" panose="020B0604020202020204" pitchFamily="34" charset="0"/>
              <a:buChar char="•"/>
            </a:pPr>
            <a:r>
              <a:rPr lang="en-US" sz="2400" b="0" i="0" dirty="0" err="1">
                <a:solidFill>
                  <a:srgbClr val="333333"/>
                </a:solidFill>
                <a:effectLst/>
                <a:latin typeface="inter-regular"/>
              </a:rPr>
              <a:t>RMI</a:t>
            </a:r>
            <a:r>
              <a:rPr lang="en-US" sz="2400" b="0" i="0" dirty="0">
                <a:solidFill>
                  <a:srgbClr val="333333"/>
                </a:solidFill>
                <a:effectLst/>
                <a:latin typeface="inter-regular"/>
              </a:rPr>
              <a:t> and EJB are used for creating distributed applications. </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This feature of Java makes us able to access files by calling the methods from any machine on the internet.</a:t>
            </a:r>
            <a:endParaRPr lang="en-US" sz="2200" b="0" i="0" dirty="0">
              <a:solidFill>
                <a:srgbClr val="1A2C47"/>
              </a:solidFill>
              <a:effectLst/>
              <a:latin typeface="Source Sans Pro" panose="020B0503030403020204" pitchFamily="34" charset="0"/>
            </a:endParaRPr>
          </a:p>
          <a:p>
            <a:pPr algn="just">
              <a:spcAft>
                <a:spcPts val="1200"/>
              </a:spcAft>
            </a:pPr>
            <a:r>
              <a:rPr lang="en-US" sz="2400" b="1" dirty="0">
                <a:solidFill>
                  <a:srgbClr val="FF0000"/>
                </a:solidFill>
                <a:latin typeface="urw-din"/>
              </a:rPr>
              <a:t>6. Multi-threaded Language</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A thread is like a separate program, executing concurrently. </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We can write Java programs that deal with many tasks at once by defining multiple threads. </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The main advantage of multi-threading is that it doesn't occupy memory for each thread. </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It shares a common memory area. Threads are important for multi-media, Web applications etc.</a:t>
            </a:r>
          </a:p>
        </p:txBody>
      </p:sp>
    </p:spTree>
    <p:extLst>
      <p:ext uri="{BB962C8B-B14F-4D97-AF65-F5344CB8AC3E}">
        <p14:creationId xmlns:p14="http://schemas.microsoft.com/office/powerpoint/2010/main" val="4257982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848029"/>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r>
              <a:rPr lang="en-US" sz="2800" b="1" i="0" dirty="0">
                <a:effectLst/>
                <a:latin typeface="Source Sans Pro" panose="020B0503030403020204" pitchFamily="34" charset="0"/>
              </a:rPr>
              <a:t>Java Development Kit(</a:t>
            </a:r>
            <a:r>
              <a:rPr lang="en-US" sz="2800" b="1" i="0" dirty="0" err="1">
                <a:effectLst/>
                <a:latin typeface="Source Sans Pro" panose="020B0503030403020204" pitchFamily="34" charset="0"/>
              </a:rPr>
              <a:t>JDK</a:t>
            </a:r>
            <a:r>
              <a:rPr lang="en-US" sz="2800" b="1" i="0" dirty="0">
                <a:effectLst/>
                <a:latin typeface="Source Sans Pro" panose="020B0503030403020204" pitchFamily="34" charset="0"/>
              </a:rPr>
              <a:t>)</a:t>
            </a:r>
          </a:p>
          <a:p>
            <a:pPr marL="342900" indent="-342900" algn="just">
              <a:buFont typeface="Arial" panose="020B0604020202020204" pitchFamily="34" charset="0"/>
              <a:buChar char="•"/>
            </a:pPr>
            <a:endParaRPr lang="en-US" sz="2400" b="0" i="0" dirty="0">
              <a:effectLst/>
              <a:latin typeface="Source Sans Pro" panose="020B0503030403020204" pitchFamily="34" charset="0"/>
            </a:endParaRPr>
          </a:p>
          <a:p>
            <a:pPr marL="342900" indent="-342900" algn="just">
              <a:buFont typeface="Arial" panose="020B0604020202020204" pitchFamily="34" charset="0"/>
              <a:buChar char="•"/>
            </a:pPr>
            <a:r>
              <a:rPr lang="en-US" sz="2400" b="0" i="0" dirty="0">
                <a:effectLst/>
                <a:latin typeface="Source Sans Pro" panose="020B0503030403020204" pitchFamily="34" charset="0"/>
              </a:rPr>
              <a:t>As the name formally states Java development kit is a full-time kit.</a:t>
            </a:r>
          </a:p>
          <a:p>
            <a:pPr marL="342900" indent="-342900" algn="just">
              <a:buFont typeface="Arial" panose="020B0604020202020204" pitchFamily="34" charset="0"/>
              <a:buChar char="•"/>
            </a:pPr>
            <a:endParaRPr lang="en-US" sz="2400" dirty="0">
              <a:latin typeface="Source Sans Pro" panose="020B0503030403020204" pitchFamily="34" charset="0"/>
            </a:endParaRPr>
          </a:p>
          <a:p>
            <a:pPr marL="342900" indent="-342900" algn="just">
              <a:buFont typeface="Arial" panose="020B0604020202020204" pitchFamily="34" charset="0"/>
              <a:buChar char="•"/>
            </a:pPr>
            <a:r>
              <a:rPr lang="en-US" sz="2400" b="0" i="0" dirty="0">
                <a:solidFill>
                  <a:srgbClr val="333333"/>
                </a:solidFill>
                <a:effectLst/>
                <a:latin typeface="inter-regular"/>
              </a:rPr>
              <a:t>The </a:t>
            </a:r>
            <a:r>
              <a:rPr lang="en-US" sz="2400" b="0" i="0" dirty="0" err="1">
                <a:solidFill>
                  <a:srgbClr val="333333"/>
                </a:solidFill>
                <a:effectLst/>
                <a:latin typeface="inter-regular"/>
              </a:rPr>
              <a:t>JDK</a:t>
            </a:r>
            <a:r>
              <a:rPr lang="en-US" sz="2400" b="0" i="0" dirty="0">
                <a:solidFill>
                  <a:srgbClr val="333333"/>
                </a:solidFill>
                <a:effectLst/>
                <a:latin typeface="inter-regular"/>
              </a:rPr>
              <a:t> contains a private Java Virtual Machine (JVM) and a few other resources such as an interpreter/loader (java), a compiler (</a:t>
            </a:r>
            <a:r>
              <a:rPr lang="en-US" sz="2400" b="0" i="0" dirty="0" err="1">
                <a:solidFill>
                  <a:srgbClr val="333333"/>
                </a:solidFill>
                <a:effectLst/>
                <a:latin typeface="inter-regular"/>
              </a:rPr>
              <a:t>javac</a:t>
            </a:r>
            <a:r>
              <a:rPr lang="en-US" sz="2400" b="0" i="0" dirty="0">
                <a:solidFill>
                  <a:srgbClr val="333333"/>
                </a:solidFill>
                <a:effectLst/>
                <a:latin typeface="inter-regular"/>
              </a:rPr>
              <a:t>), an archiver (jar), a documentation generator (Javadoc), etc. to complete the development of a Java Application.</a:t>
            </a:r>
            <a:endParaRPr lang="en-US" sz="2400" b="0" i="0" dirty="0">
              <a:effectLst/>
              <a:latin typeface="Source Sans Pro" panose="020B0503030403020204" pitchFamily="34" charset="0"/>
            </a:endParaRPr>
          </a:p>
          <a:p>
            <a:pPr marL="342900" indent="-342900" algn="just">
              <a:buFont typeface="Arial" panose="020B0604020202020204" pitchFamily="34" charset="0"/>
              <a:buChar char="•"/>
            </a:pPr>
            <a:endParaRPr lang="en-US" sz="2400" b="0" i="0" dirty="0">
              <a:effectLst/>
              <a:latin typeface="Source Sans Pro" panose="020B0503030403020204" pitchFamily="34" charset="0"/>
            </a:endParaRPr>
          </a:p>
          <a:p>
            <a:pPr marL="342900" indent="-342900" algn="just">
              <a:buFont typeface="Arial" panose="020B0604020202020204" pitchFamily="34" charset="0"/>
              <a:buChar char="•"/>
            </a:pPr>
            <a:r>
              <a:rPr lang="en-US" sz="2400" b="0" i="0" dirty="0">
                <a:effectLst/>
                <a:latin typeface="Source Sans Pro" panose="020B0503030403020204" pitchFamily="34" charset="0"/>
              </a:rPr>
              <a:t>For program execution in java, we need to have </a:t>
            </a:r>
            <a:r>
              <a:rPr lang="en-US" sz="2400" b="0" i="0" dirty="0" err="1">
                <a:effectLst/>
                <a:latin typeface="Source Sans Pro" panose="020B0503030403020204" pitchFamily="34" charset="0"/>
              </a:rPr>
              <a:t>JDK</a:t>
            </a:r>
            <a:r>
              <a:rPr lang="en-US" sz="2400" b="0" i="0" dirty="0">
                <a:effectLst/>
                <a:latin typeface="Source Sans Pro" panose="020B0503030403020204" pitchFamily="34" charset="0"/>
              </a:rPr>
              <a:t> installed on our computers to further lead to the creation, compilation, and running of the java program.</a:t>
            </a:r>
          </a:p>
          <a:p>
            <a:pPr marL="342900" indent="-342900" algn="just">
              <a:buFont typeface="Arial" panose="020B0604020202020204" pitchFamily="34" charset="0"/>
              <a:buChar char="•"/>
            </a:pPr>
            <a:endParaRPr lang="en-US" sz="2400" b="0" i="0" dirty="0">
              <a:effectLst/>
              <a:latin typeface="Source Sans Pro" panose="020B0503030403020204" pitchFamily="34" charset="0"/>
            </a:endParaRPr>
          </a:p>
          <a:p>
            <a:pPr marL="342900" indent="-342900" algn="just">
              <a:buFont typeface="Arial" panose="020B0604020202020204" pitchFamily="34" charset="0"/>
              <a:buChar char="•"/>
            </a:pPr>
            <a:r>
              <a:rPr lang="en-US" sz="2400" b="0" i="0" dirty="0">
                <a:effectLst/>
                <a:latin typeface="Source Sans Pro" panose="020B0503030403020204" pitchFamily="34" charset="0"/>
              </a:rPr>
              <a:t>Here, as we use </a:t>
            </a:r>
            <a:r>
              <a:rPr lang="en-US" sz="2400" b="0" i="0" dirty="0" err="1">
                <a:effectLst/>
                <a:latin typeface="Source Sans Pro" panose="020B0503030403020204" pitchFamily="34" charset="0"/>
              </a:rPr>
              <a:t>JDK</a:t>
            </a:r>
            <a:r>
              <a:rPr lang="en-US" sz="2400" b="0" i="0" dirty="0">
                <a:effectLst/>
                <a:latin typeface="Source Sans Pro" panose="020B0503030403020204" pitchFamily="34" charset="0"/>
              </a:rPr>
              <a:t>, we need an environment to run the programs. </a:t>
            </a:r>
          </a:p>
          <a:p>
            <a:pPr marL="342900" indent="-342900" algn="just">
              <a:buFont typeface="Arial" panose="020B0604020202020204" pitchFamily="34" charset="0"/>
              <a:buChar char="•"/>
            </a:pPr>
            <a:endParaRPr lang="en-US" sz="2400" b="0" i="0" dirty="0">
              <a:effectLst/>
              <a:latin typeface="Source Sans Pro" panose="020B0503030403020204" pitchFamily="34" charset="0"/>
            </a:endParaRPr>
          </a:p>
          <a:p>
            <a:pPr marL="342900" indent="-342900" algn="just">
              <a:buFont typeface="Arial" panose="020B0604020202020204" pitchFamily="34" charset="0"/>
              <a:buChar char="•"/>
            </a:pPr>
            <a:r>
              <a:rPr lang="en-US" sz="2400" b="0" i="0" dirty="0">
                <a:effectLst/>
                <a:latin typeface="Source Sans Pro" panose="020B0503030403020204" pitchFamily="34" charset="0"/>
              </a:rPr>
              <a:t>We use JRE Java Runtime Environment which provides the least requirements to execute the java program. It provides the JVM, Core classes, and supporting files.</a:t>
            </a:r>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2782628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2046714"/>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r>
              <a:rPr lang="en-US" sz="2800" b="1" i="0" dirty="0">
                <a:effectLst/>
                <a:latin typeface="Source Sans Pro" panose="020B0503030403020204" pitchFamily="34" charset="0"/>
              </a:rPr>
              <a:t>Java Development Kit(</a:t>
            </a:r>
            <a:r>
              <a:rPr lang="en-US" sz="2800" b="1" i="0" dirty="0" err="1">
                <a:effectLst/>
                <a:latin typeface="Source Sans Pro" panose="020B0503030403020204" pitchFamily="34" charset="0"/>
              </a:rPr>
              <a:t>JDK</a:t>
            </a:r>
            <a:r>
              <a:rPr lang="en-US" sz="2800" b="1" i="0" dirty="0">
                <a:effectLst/>
                <a:latin typeface="Source Sans Pro" panose="020B0503030403020204" pitchFamily="34" charset="0"/>
              </a:rPr>
              <a:t>)</a:t>
            </a:r>
          </a:p>
          <a:p>
            <a:pPr algn="just"/>
            <a:endParaRPr lang="en-US" sz="2400" b="0" i="0" dirty="0">
              <a:effectLst/>
              <a:latin typeface="Source Sans Pro" panose="020B0503030403020204" pitchFamily="34" charset="0"/>
            </a:endParaRPr>
          </a:p>
          <a:p>
            <a:endParaRPr lang="en-US" sz="2400" b="0" i="0" dirty="0">
              <a:solidFill>
                <a:srgbClr val="333333"/>
              </a:solidFill>
              <a:effectLst/>
              <a:latin typeface="inter-regular"/>
            </a:endParaRPr>
          </a:p>
        </p:txBody>
      </p:sp>
      <p:pic>
        <p:nvPicPr>
          <p:cNvPr id="7" name="Picture 6">
            <a:extLst>
              <a:ext uri="{FF2B5EF4-FFF2-40B4-BE49-F238E27FC236}">
                <a16:creationId xmlns:a16="http://schemas.microsoft.com/office/drawing/2014/main" id="{21640934-1D0D-EE84-B3FD-F61D7CBAD82F}"/>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352674" y="1823115"/>
            <a:ext cx="7486650" cy="4371975"/>
          </a:xfrm>
          <a:prstGeom prst="rect">
            <a:avLst/>
          </a:prstGeom>
        </p:spPr>
      </p:pic>
    </p:spTree>
    <p:extLst>
      <p:ext uri="{BB962C8B-B14F-4D97-AF65-F5344CB8AC3E}">
        <p14:creationId xmlns:p14="http://schemas.microsoft.com/office/powerpoint/2010/main" val="1760820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217087"/>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Runtime Environment(JRE)</a:t>
            </a:r>
          </a:p>
          <a:p>
            <a:pPr marL="342900" indent="-342900" algn="just">
              <a:spcAft>
                <a:spcPts val="600"/>
              </a:spcAft>
              <a:buFont typeface="Arial" panose="020B0604020202020204" pitchFamily="34" charset="0"/>
              <a:buChar char="•"/>
            </a:pPr>
            <a:r>
              <a:rPr lang="en-US" sz="2400" b="0" i="0" dirty="0">
                <a:solidFill>
                  <a:srgbClr val="1A2C47"/>
                </a:solidFill>
                <a:effectLst/>
                <a:latin typeface="Source Sans Pro" panose="020B0503030403020204" pitchFamily="34" charset="0"/>
              </a:rPr>
              <a:t>Here </a:t>
            </a:r>
            <a:r>
              <a:rPr lang="en-US" sz="2400" b="0" i="0" dirty="0" err="1">
                <a:solidFill>
                  <a:srgbClr val="1A2C47"/>
                </a:solidFill>
                <a:effectLst/>
                <a:latin typeface="Source Sans Pro" panose="020B0503030403020204" pitchFamily="34" charset="0"/>
              </a:rPr>
              <a:t>JDK</a:t>
            </a:r>
            <a:r>
              <a:rPr lang="en-US" sz="2400" b="0" i="0" dirty="0">
                <a:solidFill>
                  <a:srgbClr val="1A2C47"/>
                </a:solidFill>
                <a:effectLst/>
                <a:latin typeface="Source Sans Pro" panose="020B0503030403020204" pitchFamily="34" charset="0"/>
              </a:rPr>
              <a:t> includes JRE. Which in turn after installation allows the java program to run.</a:t>
            </a:r>
          </a:p>
          <a:p>
            <a:pPr marL="342900" indent="-342900" algn="l">
              <a:spcAft>
                <a:spcPts val="600"/>
              </a:spcAft>
              <a:buFont typeface="Arial" panose="020B0604020202020204" pitchFamily="34" charset="0"/>
              <a:buChar char="•"/>
            </a:pPr>
            <a:r>
              <a:rPr lang="en-US" sz="2400" b="0" i="0" dirty="0">
                <a:effectLst/>
                <a:latin typeface="Source Sans Pro" panose="020B0503030403020204" pitchFamily="34" charset="0"/>
              </a:rPr>
              <a:t>JRE is made up of multiple elements altogether and they are:</a:t>
            </a:r>
          </a:p>
          <a:p>
            <a:pPr lvl="1">
              <a:spcAft>
                <a:spcPts val="600"/>
              </a:spcAft>
              <a:buFont typeface="Arial" panose="020B0604020202020204" pitchFamily="34" charset="0"/>
              <a:buChar char="•"/>
            </a:pPr>
            <a:r>
              <a:rPr lang="en-US" sz="2400" b="0" i="0" dirty="0">
                <a:solidFill>
                  <a:srgbClr val="61738E"/>
                </a:solidFill>
                <a:effectLst/>
                <a:latin typeface="Source Sans Pro" panose="020B0503030403020204" pitchFamily="34" charset="0"/>
              </a:rPr>
              <a:t>  </a:t>
            </a:r>
            <a:r>
              <a:rPr lang="en-US" sz="2400" b="0" i="0" dirty="0">
                <a:solidFill>
                  <a:srgbClr val="0070C0"/>
                </a:solidFill>
                <a:effectLst/>
                <a:latin typeface="Source Sans Pro" panose="020B0503030403020204" pitchFamily="34" charset="0"/>
              </a:rPr>
              <a:t>Java virtual machine (JVM)</a:t>
            </a:r>
          </a:p>
          <a:p>
            <a:pPr lvl="1">
              <a:spcAft>
                <a:spcPts val="600"/>
              </a:spcAft>
              <a:buFont typeface="Arial" panose="020B0604020202020204" pitchFamily="34" charset="0"/>
              <a:buChar char="•"/>
            </a:pPr>
            <a:r>
              <a:rPr lang="en-US" sz="2400" b="0" i="0" dirty="0">
                <a:solidFill>
                  <a:srgbClr val="0070C0"/>
                </a:solidFill>
                <a:effectLst/>
                <a:latin typeface="Source Sans Pro" panose="020B0503030403020204" pitchFamily="34" charset="0"/>
              </a:rPr>
              <a:t>  Java class libraries</a:t>
            </a:r>
          </a:p>
          <a:p>
            <a:pPr lvl="1">
              <a:spcAft>
                <a:spcPts val="600"/>
              </a:spcAft>
              <a:buFont typeface="Arial" panose="020B0604020202020204" pitchFamily="34" charset="0"/>
              <a:buChar char="•"/>
            </a:pPr>
            <a:r>
              <a:rPr lang="en-US" sz="2400" b="0" i="0" dirty="0">
                <a:solidFill>
                  <a:srgbClr val="0070C0"/>
                </a:solidFill>
                <a:effectLst/>
                <a:latin typeface="Source Sans Pro" panose="020B0503030403020204" pitchFamily="34" charset="0"/>
              </a:rPr>
              <a:t>  Java class loader</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It is also written as Java RTE. The Java Runtime Environment is a set of software tools which are used for developing Java applications. </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It is used to provide the runtime environment. </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It is the implementation of JVM that physically exists. </a:t>
            </a:r>
          </a:p>
          <a:p>
            <a:pPr marL="342900" indent="-342900" algn="just">
              <a:spcAft>
                <a:spcPts val="600"/>
              </a:spcAft>
              <a:buFont typeface="Arial" panose="020B0604020202020204" pitchFamily="34" charset="0"/>
              <a:buChar char="•"/>
            </a:pPr>
            <a:r>
              <a:rPr lang="en-US" sz="2400" b="0" i="0" dirty="0">
                <a:solidFill>
                  <a:srgbClr val="333333"/>
                </a:solidFill>
                <a:effectLst/>
                <a:latin typeface="inter-regular"/>
              </a:rPr>
              <a:t>It contains a set of libraries + other files that JVM uses at runtime.</a:t>
            </a:r>
            <a:endParaRPr lang="en-US" sz="2400" b="0" i="0" dirty="0">
              <a:effectLst/>
              <a:latin typeface="Source Sans Pro" panose="020B0503030403020204" pitchFamily="34" charset="0"/>
            </a:endParaRPr>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1171375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1831271"/>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Runtime Environment(JRE)</a:t>
            </a:r>
          </a:p>
          <a:p>
            <a:endParaRPr lang="en-US" sz="2400" b="0" i="0" dirty="0">
              <a:solidFill>
                <a:srgbClr val="333333"/>
              </a:solidFill>
              <a:effectLst/>
              <a:latin typeface="inter-regular"/>
            </a:endParaRPr>
          </a:p>
        </p:txBody>
      </p:sp>
      <p:pic>
        <p:nvPicPr>
          <p:cNvPr id="3" name="Picture 2">
            <a:extLst>
              <a:ext uri="{FF2B5EF4-FFF2-40B4-BE49-F238E27FC236}">
                <a16:creationId xmlns:a16="http://schemas.microsoft.com/office/drawing/2014/main" id="{BE3DA522-8FFC-AC7D-E0B1-5D472A16CE5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357436" y="1936033"/>
            <a:ext cx="7477125" cy="4362450"/>
          </a:xfrm>
          <a:prstGeom prst="rect">
            <a:avLst/>
          </a:prstGeom>
        </p:spPr>
      </p:pic>
    </p:spTree>
    <p:extLst>
      <p:ext uri="{BB962C8B-B14F-4D97-AF65-F5344CB8AC3E}">
        <p14:creationId xmlns:p14="http://schemas.microsoft.com/office/powerpoint/2010/main" val="20584534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078587"/>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Virtual Machine(JVM)</a:t>
            </a:r>
          </a:p>
          <a:p>
            <a:pPr marL="342900" indent="-342900" algn="l">
              <a:spcAft>
                <a:spcPts val="600"/>
              </a:spcAft>
              <a:buFont typeface="Arial" panose="020B0604020202020204" pitchFamily="34" charset="0"/>
              <a:buChar char="•"/>
            </a:pPr>
            <a:r>
              <a:rPr lang="en-US" sz="2400" b="0" i="0" dirty="0">
                <a:effectLst/>
                <a:latin typeface="Source Sans Pro" panose="020B0503030403020204" pitchFamily="34" charset="0"/>
              </a:rPr>
              <a:t>This </a:t>
            </a:r>
            <a:r>
              <a:rPr lang="en-US" sz="2200" b="0" i="0" dirty="0">
                <a:effectLst/>
                <a:latin typeface="Source Sans Pro" panose="020B0503030403020204" pitchFamily="34" charset="0"/>
              </a:rPr>
              <a:t>generally is referred to as JVM and contains three phases that we have to follow. </a:t>
            </a:r>
          </a:p>
          <a:p>
            <a:pPr marL="342900" indent="-342900" algn="l">
              <a:spcAft>
                <a:spcPts val="600"/>
              </a:spcAft>
              <a:buFont typeface="Arial" panose="020B0604020202020204" pitchFamily="34" charset="0"/>
              <a:buChar char="•"/>
            </a:pPr>
            <a:r>
              <a:rPr lang="en-US" sz="2200" b="0" i="0" dirty="0">
                <a:effectLst/>
                <a:latin typeface="Source Sans Pro" panose="020B0503030403020204" pitchFamily="34" charset="0"/>
              </a:rPr>
              <a:t>It is a very important part not only of </a:t>
            </a:r>
            <a:r>
              <a:rPr lang="en-US" sz="2200" b="0" i="0" dirty="0" err="1">
                <a:effectLst/>
                <a:latin typeface="Source Sans Pro" panose="020B0503030403020204" pitchFamily="34" charset="0"/>
              </a:rPr>
              <a:t>JDK</a:t>
            </a:r>
            <a:r>
              <a:rPr lang="en-US" sz="2200" b="0" i="0" dirty="0">
                <a:effectLst/>
                <a:latin typeface="Source Sans Pro" panose="020B0503030403020204" pitchFamily="34" charset="0"/>
              </a:rPr>
              <a:t> but also JRE as it is inbuilt in both of the places. </a:t>
            </a:r>
          </a:p>
          <a:p>
            <a:pPr marL="342900" indent="-342900" algn="l">
              <a:spcAft>
                <a:spcPts val="600"/>
              </a:spcAft>
              <a:buFont typeface="Arial" panose="020B0604020202020204" pitchFamily="34" charset="0"/>
              <a:buChar char="•"/>
            </a:pPr>
            <a:r>
              <a:rPr lang="en-US" sz="2200" b="0" i="0" dirty="0">
                <a:effectLst/>
                <a:latin typeface="Source Sans Pro" panose="020B0503030403020204" pitchFamily="34" charset="0"/>
              </a:rPr>
              <a:t>When you run a program using the JRE and </a:t>
            </a:r>
            <a:r>
              <a:rPr lang="en-US" sz="2200" b="0" i="0" dirty="0" err="1">
                <a:effectLst/>
                <a:latin typeface="Source Sans Pro" panose="020B0503030403020204" pitchFamily="34" charset="0"/>
              </a:rPr>
              <a:t>JDK</a:t>
            </a:r>
            <a:r>
              <a:rPr lang="en-US" sz="2200" b="0" i="0" dirty="0">
                <a:effectLst/>
                <a:latin typeface="Source Sans Pro" panose="020B0503030403020204" pitchFamily="34" charset="0"/>
              </a:rPr>
              <a:t> it also goes to the JVM as it is required to run the java program and it also interprets the program. </a:t>
            </a:r>
          </a:p>
          <a:p>
            <a:pPr marL="342900" indent="-342900" algn="l">
              <a:spcAft>
                <a:spcPts val="600"/>
              </a:spcAft>
              <a:buFont typeface="Arial" panose="020B0604020202020204" pitchFamily="34" charset="0"/>
              <a:buChar char="•"/>
            </a:pPr>
            <a:r>
              <a:rPr lang="en-US" sz="2200" b="0" i="0" dirty="0">
                <a:effectLst/>
                <a:latin typeface="Source Sans Pro" panose="020B0503030403020204" pitchFamily="34" charset="0"/>
              </a:rPr>
              <a:t>The phases are as follows:</a:t>
            </a:r>
          </a:p>
          <a:p>
            <a:pPr marL="342900" indent="-342900" algn="just">
              <a:spcAft>
                <a:spcPts val="600"/>
              </a:spcAft>
              <a:buFont typeface="Arial" panose="020B0604020202020204" pitchFamily="34" charset="0"/>
              <a:buChar char="•"/>
            </a:pPr>
            <a:r>
              <a:rPr lang="en-US" sz="2200" b="0" i="0" dirty="0">
                <a:solidFill>
                  <a:srgbClr val="FF0000"/>
                </a:solidFill>
                <a:effectLst/>
                <a:latin typeface="Source Sans Pro" panose="020B0503030403020204" pitchFamily="34" charset="0"/>
              </a:rPr>
              <a:t>Compile the Code: </a:t>
            </a:r>
            <a:r>
              <a:rPr lang="en-US" sz="2200" b="0" i="0" dirty="0">
                <a:effectLst/>
                <a:latin typeface="Source Sans Pro" panose="020B0503030403020204" pitchFamily="34" charset="0"/>
              </a:rPr>
              <a:t>The Java Development Kit(</a:t>
            </a:r>
            <a:r>
              <a:rPr lang="en-US" sz="2200" b="0" i="0" dirty="0" err="1">
                <a:effectLst/>
                <a:latin typeface="Source Sans Pro" panose="020B0503030403020204" pitchFamily="34" charset="0"/>
              </a:rPr>
              <a:t>JDK</a:t>
            </a:r>
            <a:r>
              <a:rPr lang="en-US" sz="2200" b="0" i="0" dirty="0">
                <a:effectLst/>
                <a:latin typeface="Source Sans Pro" panose="020B0503030403020204" pitchFamily="34" charset="0"/>
              </a:rPr>
              <a:t>) provides us with the </a:t>
            </a:r>
            <a:r>
              <a:rPr lang="en-US" sz="2200" b="0" i="0" dirty="0" err="1">
                <a:effectLst/>
                <a:latin typeface="Source Sans Pro" panose="020B0503030403020204" pitchFamily="34" charset="0"/>
              </a:rPr>
              <a:t>JAVAC</a:t>
            </a:r>
            <a:r>
              <a:rPr lang="en-US" sz="2200" b="0" i="0" dirty="0">
                <a:effectLst/>
                <a:latin typeface="Source Sans Pro" panose="020B0503030403020204" pitchFamily="34" charset="0"/>
              </a:rPr>
              <a:t> compiler to get through this step. we basically require the </a:t>
            </a:r>
            <a:r>
              <a:rPr lang="en-US" sz="2200" b="0" i="0" dirty="0" err="1">
                <a:effectLst/>
                <a:latin typeface="Source Sans Pro" panose="020B0503030403020204" pitchFamily="34" charset="0"/>
              </a:rPr>
              <a:t>jdk</a:t>
            </a:r>
            <a:r>
              <a:rPr lang="en-US" sz="2200" b="0" i="0" dirty="0">
                <a:effectLst/>
                <a:latin typeface="Source Sans Pro" panose="020B0503030403020204" pitchFamily="34" charset="0"/>
              </a:rPr>
              <a:t> to convert our source code into a specific format that can be easily executed by the Java Runtime Environment(JRE).</a:t>
            </a:r>
          </a:p>
          <a:p>
            <a:pPr marL="342900" indent="-342900" algn="just">
              <a:spcAft>
                <a:spcPts val="600"/>
              </a:spcAft>
              <a:buFont typeface="Arial" panose="020B0604020202020204" pitchFamily="34" charset="0"/>
              <a:buChar char="•"/>
            </a:pPr>
            <a:r>
              <a:rPr lang="en-US" sz="2200" b="0" i="0" dirty="0">
                <a:solidFill>
                  <a:srgbClr val="FF0000"/>
                </a:solidFill>
                <a:effectLst/>
                <a:latin typeface="Source Sans Pro" panose="020B0503030403020204" pitchFamily="34" charset="0"/>
              </a:rPr>
              <a:t>Run the Code: </a:t>
            </a:r>
            <a:r>
              <a:rPr lang="en-US" sz="2200" b="0" i="0" dirty="0">
                <a:effectLst/>
                <a:latin typeface="Source Sans Pro" panose="020B0503030403020204" pitchFamily="34" charset="0"/>
              </a:rPr>
              <a:t>JVM runs the </a:t>
            </a:r>
            <a:r>
              <a:rPr lang="en-US" sz="2200" b="0" i="0" dirty="0">
                <a:solidFill>
                  <a:srgbClr val="0070C0"/>
                </a:solidFill>
                <a:effectLst/>
                <a:latin typeface="Source Sans Pro" panose="020B0503030403020204" pitchFamily="34" charset="0"/>
              </a:rPr>
              <a:t>bytecode</a:t>
            </a:r>
            <a:r>
              <a:rPr lang="en-US" sz="2200" b="0" i="0" dirty="0">
                <a:effectLst/>
                <a:latin typeface="Source Sans Pro" panose="020B0503030403020204" pitchFamily="34" charset="0"/>
              </a:rPr>
              <a:t> that is provided by the compiler. Since we have always been told Java is a platform-independent language, the output produced by the JVM is easily executable on any machine and this is the reason behind Java being platform Independent</a:t>
            </a:r>
            <a:r>
              <a:rPr lang="en-US" sz="2400" b="0" i="0" dirty="0">
                <a:effectLst/>
                <a:latin typeface="Source Sans Pro" panose="020B0503030403020204" pitchFamily="34" charset="0"/>
              </a:rPr>
              <a:t>.</a:t>
            </a:r>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3162730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5863144"/>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Virtual Machine(JVM)</a:t>
            </a:r>
          </a:p>
          <a:p>
            <a:pPr marL="342900" indent="-342900" algn="just">
              <a:spcAft>
                <a:spcPts val="1200"/>
              </a:spcAft>
              <a:buFont typeface="Arial" panose="020B0604020202020204" pitchFamily="34" charset="0"/>
              <a:buChar char="•"/>
            </a:pPr>
            <a:r>
              <a:rPr lang="en-US" sz="2400" dirty="0"/>
              <a:t>JVMs are available for many hardware and software platforms. </a:t>
            </a:r>
          </a:p>
          <a:p>
            <a:pPr marL="342900" indent="-342900" algn="just">
              <a:spcAft>
                <a:spcPts val="1200"/>
              </a:spcAft>
              <a:buFont typeface="Arial" panose="020B0604020202020204" pitchFamily="34" charset="0"/>
              <a:buChar char="•"/>
            </a:pPr>
            <a:r>
              <a:rPr lang="en-US" sz="2400" dirty="0"/>
              <a:t>JVM, JRE, and </a:t>
            </a:r>
            <a:r>
              <a:rPr lang="en-US" sz="2400" dirty="0" err="1"/>
              <a:t>JDK</a:t>
            </a:r>
            <a:r>
              <a:rPr lang="en-US" sz="2400" dirty="0"/>
              <a:t> are platform dependent because the configuration of each OS is different from each other. </a:t>
            </a:r>
          </a:p>
          <a:p>
            <a:pPr marL="342900" indent="-342900" algn="just">
              <a:spcAft>
                <a:spcPts val="1200"/>
              </a:spcAft>
              <a:buFont typeface="Arial" panose="020B0604020202020204" pitchFamily="34" charset="0"/>
              <a:buChar char="•"/>
            </a:pPr>
            <a:r>
              <a:rPr lang="en-US" sz="2400" dirty="0"/>
              <a:t>However, Java is platform independent. </a:t>
            </a:r>
          </a:p>
          <a:p>
            <a:pPr marL="342900" indent="-342900" algn="just">
              <a:spcAft>
                <a:spcPts val="1200"/>
              </a:spcAft>
              <a:buFont typeface="Arial" panose="020B0604020202020204" pitchFamily="34" charset="0"/>
              <a:buChar char="•"/>
            </a:pPr>
            <a:r>
              <a:rPr lang="en-US" sz="2400" dirty="0"/>
              <a:t>There are three notions of the JVM: </a:t>
            </a:r>
          </a:p>
          <a:p>
            <a:pPr marL="800100" lvl="1" indent="-342900" algn="just">
              <a:spcAft>
                <a:spcPts val="1200"/>
              </a:spcAft>
              <a:buFont typeface="Wingdings" panose="05000000000000000000" pitchFamily="2" charset="2"/>
              <a:buChar char="ü"/>
            </a:pPr>
            <a:r>
              <a:rPr lang="en-US" sz="2400" i="1" dirty="0"/>
              <a:t>Specification </a:t>
            </a:r>
          </a:p>
          <a:p>
            <a:pPr marL="800100" lvl="1" indent="-342900" algn="just">
              <a:spcAft>
                <a:spcPts val="1200"/>
              </a:spcAft>
              <a:buFont typeface="Wingdings" panose="05000000000000000000" pitchFamily="2" charset="2"/>
              <a:buChar char="ü"/>
            </a:pPr>
            <a:r>
              <a:rPr lang="en-US" sz="2400" i="1" dirty="0"/>
              <a:t>Implementation</a:t>
            </a:r>
          </a:p>
          <a:p>
            <a:pPr marL="800100" lvl="1" indent="-342900" algn="just">
              <a:spcAft>
                <a:spcPts val="1200"/>
              </a:spcAft>
              <a:buFont typeface="Wingdings" panose="05000000000000000000" pitchFamily="2" charset="2"/>
              <a:buChar char="ü"/>
            </a:pPr>
            <a:r>
              <a:rPr lang="en-US" sz="2400" i="1" dirty="0"/>
              <a:t>Instance </a:t>
            </a:r>
            <a:endParaRPr lang="en-US" sz="2400" dirty="0"/>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3536700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5740033"/>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Virtual Machine(JVM)</a:t>
            </a:r>
          </a:p>
          <a:p>
            <a:pPr algn="l">
              <a:spcAft>
                <a:spcPts val="1200"/>
              </a:spcAft>
            </a:pPr>
            <a:endParaRPr lang="en-US" sz="2800" b="1" i="0" dirty="0">
              <a:effectLst/>
              <a:latin typeface="Source Sans Pro" panose="020B0503030403020204" pitchFamily="34" charset="0"/>
            </a:endParaRPr>
          </a:p>
          <a:p>
            <a:pPr>
              <a:buFont typeface="+mj-lt"/>
              <a:buAutoNum type="arabicPeriod"/>
            </a:pPr>
            <a:r>
              <a:rPr lang="en-US" sz="2400" b="1" dirty="0"/>
              <a:t> A specification</a:t>
            </a:r>
            <a:r>
              <a:rPr lang="en-US" sz="2400" dirty="0"/>
              <a:t> where working of Java Virtual Machine is specified. But implementation provider is independent to choose the algorithm. Its implementation has been provided by Oracle and other companies.</a:t>
            </a:r>
          </a:p>
          <a:p>
            <a:endParaRPr lang="en-US" sz="2400" dirty="0"/>
          </a:p>
          <a:p>
            <a:pPr marL="457200" indent="-457200">
              <a:buFont typeface="+mj-lt"/>
              <a:buAutoNum type="arabicPeriod" startAt="2"/>
            </a:pPr>
            <a:r>
              <a:rPr lang="en-US" sz="2400" b="1" dirty="0"/>
              <a:t>An implementation</a:t>
            </a:r>
            <a:r>
              <a:rPr lang="en-US" sz="2400" dirty="0"/>
              <a:t> Its implementation is known as JRE (Java Runtime Environment).</a:t>
            </a:r>
          </a:p>
          <a:p>
            <a:pPr>
              <a:buFont typeface="+mj-lt"/>
              <a:buAutoNum type="arabicPeriod" startAt="2"/>
            </a:pPr>
            <a:endParaRPr lang="en-US" sz="2400" dirty="0"/>
          </a:p>
          <a:p>
            <a:endParaRPr lang="en-US" sz="2400" dirty="0"/>
          </a:p>
          <a:p>
            <a:pPr marL="457200" indent="-457200">
              <a:buFont typeface="+mj-lt"/>
              <a:buAutoNum type="arabicPeriod" startAt="3"/>
            </a:pPr>
            <a:r>
              <a:rPr lang="en-US" sz="2400" b="1" dirty="0"/>
              <a:t>Runtime Instance</a:t>
            </a:r>
            <a:r>
              <a:rPr lang="en-US" sz="2400" dirty="0"/>
              <a:t> Whenever you write java command on the command prompt to run the java class, an instance of JVM is created.</a:t>
            </a:r>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3443260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20720"/>
            <a:ext cx="11433061" cy="1831271"/>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Virtual Machine(JVM)</a:t>
            </a:r>
          </a:p>
          <a:p>
            <a:endParaRPr lang="en-US" sz="2400" b="0" i="0" dirty="0">
              <a:solidFill>
                <a:srgbClr val="333333"/>
              </a:solidFill>
              <a:effectLst/>
              <a:latin typeface="inter-regular"/>
            </a:endParaRPr>
          </a:p>
        </p:txBody>
      </p:sp>
      <p:sp>
        <p:nvSpPr>
          <p:cNvPr id="4" name="Rectangle 3">
            <a:extLst>
              <a:ext uri="{FF2B5EF4-FFF2-40B4-BE49-F238E27FC236}">
                <a16:creationId xmlns:a16="http://schemas.microsoft.com/office/drawing/2014/main" id="{43E194EC-5C5F-CBA4-E718-302BCD88A418}"/>
              </a:ext>
            </a:extLst>
          </p:cNvPr>
          <p:cNvSpPr/>
          <p:nvPr/>
        </p:nvSpPr>
        <p:spPr>
          <a:xfrm>
            <a:off x="1526459" y="1933307"/>
            <a:ext cx="7033338" cy="461665"/>
          </a:xfrm>
          <a:prstGeom prst="rect">
            <a:avLst/>
          </a:prstGeom>
        </p:spPr>
        <p:txBody>
          <a:bodyPr wrap="square">
            <a:spAutoFit/>
          </a:bodyPr>
          <a:lstStyle/>
          <a:p>
            <a:r>
              <a:rPr lang="en-US" sz="2400" dirty="0"/>
              <a:t>The JVM performs following operation:</a:t>
            </a:r>
            <a:endParaRPr lang="en-IN" sz="2400" dirty="0"/>
          </a:p>
        </p:txBody>
      </p:sp>
      <p:sp>
        <p:nvSpPr>
          <p:cNvPr id="7" name="Rectangle 6">
            <a:extLst>
              <a:ext uri="{FF2B5EF4-FFF2-40B4-BE49-F238E27FC236}">
                <a16:creationId xmlns:a16="http://schemas.microsoft.com/office/drawing/2014/main" id="{5A2F8FE5-001A-CB2C-A1DE-CC1A10349F2A}"/>
              </a:ext>
            </a:extLst>
          </p:cNvPr>
          <p:cNvSpPr/>
          <p:nvPr/>
        </p:nvSpPr>
        <p:spPr>
          <a:xfrm>
            <a:off x="2295480" y="3228307"/>
            <a:ext cx="6356907" cy="1569660"/>
          </a:xfrm>
          <a:prstGeom prst="rect">
            <a:avLst/>
          </a:prstGeom>
        </p:spPr>
        <p:txBody>
          <a:bodyPr wrap="square">
            <a:spAutoFit/>
          </a:bodyPr>
          <a:lstStyle/>
          <a:p>
            <a:pPr>
              <a:buFont typeface="Arial" panose="020B0604020202020204" pitchFamily="34" charset="0"/>
              <a:buChar char="•"/>
            </a:pPr>
            <a:r>
              <a:rPr lang="fr-FR" sz="2400" dirty="0" err="1"/>
              <a:t>Loads</a:t>
            </a:r>
            <a:r>
              <a:rPr lang="fr-FR" sz="2400" dirty="0"/>
              <a:t> code</a:t>
            </a:r>
          </a:p>
          <a:p>
            <a:pPr>
              <a:buFont typeface="Arial" panose="020B0604020202020204" pitchFamily="34" charset="0"/>
              <a:buChar char="•"/>
            </a:pPr>
            <a:r>
              <a:rPr lang="fr-FR" sz="2400" dirty="0" err="1"/>
              <a:t>Verifies</a:t>
            </a:r>
            <a:r>
              <a:rPr lang="fr-FR" sz="2400" dirty="0"/>
              <a:t> code</a:t>
            </a:r>
          </a:p>
          <a:p>
            <a:pPr>
              <a:buFont typeface="Arial" panose="020B0604020202020204" pitchFamily="34" charset="0"/>
              <a:buChar char="•"/>
            </a:pPr>
            <a:r>
              <a:rPr lang="fr-FR" sz="2400" dirty="0" err="1"/>
              <a:t>Executes</a:t>
            </a:r>
            <a:r>
              <a:rPr lang="fr-FR" sz="2400" dirty="0"/>
              <a:t> code</a:t>
            </a:r>
          </a:p>
          <a:p>
            <a:pPr>
              <a:buFont typeface="Arial" panose="020B0604020202020204" pitchFamily="34" charset="0"/>
              <a:buChar char="•"/>
            </a:pPr>
            <a:r>
              <a:rPr lang="fr-FR" sz="2400" dirty="0" err="1"/>
              <a:t>Provides</a:t>
            </a:r>
            <a:r>
              <a:rPr lang="fr-FR" sz="2400" dirty="0"/>
              <a:t> </a:t>
            </a:r>
            <a:r>
              <a:rPr lang="fr-FR" sz="2400" dirty="0" err="1"/>
              <a:t>runtime</a:t>
            </a:r>
            <a:r>
              <a:rPr lang="fr-FR" sz="2400" dirty="0"/>
              <a:t> </a:t>
            </a:r>
            <a:r>
              <a:rPr lang="fr-FR" sz="2400" dirty="0" err="1"/>
              <a:t>environment</a:t>
            </a:r>
            <a:endParaRPr lang="fr-FR" sz="2400" dirty="0"/>
          </a:p>
        </p:txBody>
      </p:sp>
    </p:spTree>
    <p:extLst>
      <p:ext uri="{BB962C8B-B14F-4D97-AF65-F5344CB8AC3E}">
        <p14:creationId xmlns:p14="http://schemas.microsoft.com/office/powerpoint/2010/main" val="661342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691148" y="533398"/>
            <a:ext cx="8214853" cy="5650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300" b="1" dirty="0">
                <a:latin typeface="Arial" panose="020B0604020202020204" pitchFamily="34" charset="0"/>
              </a:rPr>
              <a:t>JVM Architecture</a:t>
            </a:r>
          </a:p>
          <a:p>
            <a:pPr eaLnBrk="0" fontAlgn="base" hangingPunct="0">
              <a:spcBef>
                <a:spcPct val="0"/>
              </a:spcBef>
              <a:spcAft>
                <a:spcPct val="0"/>
              </a:spcAft>
            </a:pPr>
            <a:r>
              <a:rPr lang="en-US" altLang="en-US" sz="900" dirty="0">
                <a:latin typeface="Arial" panose="020B0604020202020204" pitchFamily="34" charset="0"/>
              </a:rPr>
              <a:t>Let's understand the internal architecture of JVM. It contains </a:t>
            </a:r>
            <a:r>
              <a:rPr lang="en-US" altLang="en-US" sz="900" dirty="0" err="1">
                <a:latin typeface="Arial" panose="020B0604020202020204" pitchFamily="34" charset="0"/>
              </a:rPr>
              <a:t>classloader</a:t>
            </a:r>
            <a:r>
              <a:rPr lang="en-US" altLang="en-US" sz="900" dirty="0">
                <a:latin typeface="Arial" panose="020B0604020202020204" pitchFamily="34" charset="0"/>
              </a:rPr>
              <a:t>, memory area, execution engine etc.</a:t>
            </a:r>
            <a:endParaRPr lang="en-US" altLang="en-US" dirty="0">
              <a:latin typeface="Arial" panose="020B0604020202020204" pitchFamily="34" charset="0"/>
            </a:endParaRPr>
          </a:p>
          <a:p>
            <a:pPr eaLnBrk="0" fontAlgn="base" hangingPunct="0">
              <a:spcBef>
                <a:spcPct val="0"/>
              </a:spcBef>
              <a:spcAft>
                <a:spcPct val="0"/>
              </a:spcAft>
            </a:pPr>
            <a:r>
              <a:rPr lang="en-US" altLang="en-US" dirty="0">
                <a:latin typeface="Arial" panose="020B0604020202020204" pitchFamily="34" charset="0"/>
              </a:rPr>
              <a:t>  </a:t>
            </a:r>
            <a:r>
              <a:rPr lang="en-US" altLang="en-US" sz="33600" dirty="0">
                <a:latin typeface="Arial" panose="020B0604020202020204" pitchFamily="34" charset="0"/>
              </a:rPr>
              <a:t> </a:t>
            </a:r>
            <a:endParaRPr lang="en-US" altLang="en-US" dirty="0">
              <a:latin typeface="Arial" panose="020B0604020202020204" pitchFamily="34" charset="0"/>
            </a:endParaRPr>
          </a:p>
        </p:txBody>
      </p:sp>
      <p:pic>
        <p:nvPicPr>
          <p:cNvPr id="1026" name="Picture 2" descr="JVM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1" y="990601"/>
            <a:ext cx="4844499" cy="5334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5801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6580" y="1700981"/>
            <a:ext cx="10304206" cy="4247317"/>
          </a:xfrm>
          <a:prstGeom prst="rect">
            <a:avLst/>
          </a:prstGeom>
        </p:spPr>
        <p:txBody>
          <a:bodyPr wrap="square">
            <a:spAutoFit/>
          </a:bodyPr>
          <a:lstStyle/>
          <a:p>
            <a:pPr algn="just"/>
            <a:r>
              <a:rPr lang="en-US" sz="2000" b="1" dirty="0" err="1"/>
              <a:t>Classloader</a:t>
            </a:r>
            <a:endParaRPr lang="en-US" sz="2000" b="1" dirty="0"/>
          </a:p>
          <a:p>
            <a:pPr algn="just">
              <a:spcAft>
                <a:spcPts val="1200"/>
              </a:spcAft>
            </a:pPr>
            <a:r>
              <a:rPr lang="en-US" sz="2000" dirty="0" err="1"/>
              <a:t>Classloader</a:t>
            </a:r>
            <a:r>
              <a:rPr lang="en-US" sz="2000" dirty="0"/>
              <a:t> is a subsystem of JVM which is used to load class files. Whenever we run the java program, it is loaded first by the </a:t>
            </a:r>
            <a:r>
              <a:rPr lang="en-US" sz="2000" dirty="0" err="1"/>
              <a:t>classloader</a:t>
            </a:r>
            <a:r>
              <a:rPr lang="en-US" sz="2000" dirty="0"/>
              <a:t>. There are three built-in </a:t>
            </a:r>
            <a:r>
              <a:rPr lang="en-US" sz="2000" dirty="0" err="1"/>
              <a:t>classloaders</a:t>
            </a:r>
            <a:r>
              <a:rPr lang="en-US" sz="2000" dirty="0"/>
              <a:t> in Java.</a:t>
            </a:r>
          </a:p>
          <a:p>
            <a:pPr algn="just">
              <a:spcAft>
                <a:spcPts val="1200"/>
              </a:spcAft>
              <a:buFont typeface="+mj-lt"/>
              <a:buAutoNum type="arabicPeriod"/>
            </a:pPr>
            <a:r>
              <a:rPr lang="en-US" sz="2000" b="1" dirty="0"/>
              <a:t>Bootstrap </a:t>
            </a:r>
            <a:r>
              <a:rPr lang="en-US" sz="2000" b="1" dirty="0" err="1"/>
              <a:t>ClassLoader</a:t>
            </a:r>
            <a:r>
              <a:rPr lang="en-US" sz="2000" dirty="0"/>
              <a:t>: This is the first </a:t>
            </a:r>
            <a:r>
              <a:rPr lang="en-US" sz="2000" dirty="0" err="1"/>
              <a:t>classloader</a:t>
            </a:r>
            <a:r>
              <a:rPr lang="en-US" sz="2000" dirty="0"/>
              <a:t> which is the super class of Extension </a:t>
            </a:r>
            <a:r>
              <a:rPr lang="en-US" sz="2000" dirty="0" err="1"/>
              <a:t>classloader</a:t>
            </a:r>
            <a:r>
              <a:rPr lang="en-US" sz="2000" dirty="0"/>
              <a:t>. It loads the </a:t>
            </a:r>
            <a:r>
              <a:rPr lang="en-US" sz="2000" i="1" dirty="0"/>
              <a:t>rt.jar</a:t>
            </a:r>
            <a:r>
              <a:rPr lang="en-US" sz="2000" dirty="0"/>
              <a:t> file which contains all class files of Java Standard Edition like </a:t>
            </a:r>
            <a:r>
              <a:rPr lang="en-US" sz="2000" dirty="0" err="1"/>
              <a:t>java.lang</a:t>
            </a:r>
            <a:r>
              <a:rPr lang="en-US" sz="2000" dirty="0"/>
              <a:t> package classes, java.net package classes, </a:t>
            </a:r>
            <a:r>
              <a:rPr lang="en-US" sz="2000" dirty="0" err="1"/>
              <a:t>java.util</a:t>
            </a:r>
            <a:r>
              <a:rPr lang="en-US" sz="2000" dirty="0"/>
              <a:t> package classes, java.io package classes, </a:t>
            </a:r>
            <a:r>
              <a:rPr lang="en-US" sz="2000" dirty="0" err="1"/>
              <a:t>java.sql</a:t>
            </a:r>
            <a:r>
              <a:rPr lang="en-US" sz="2000" dirty="0"/>
              <a:t> package classes etc.</a:t>
            </a:r>
          </a:p>
          <a:p>
            <a:pPr algn="just">
              <a:spcAft>
                <a:spcPts val="1200"/>
              </a:spcAft>
              <a:buFont typeface="+mj-lt"/>
              <a:buAutoNum type="arabicPeriod"/>
            </a:pPr>
            <a:r>
              <a:rPr lang="en-US" sz="2000" b="1" dirty="0"/>
              <a:t>Extension ClassLoader</a:t>
            </a:r>
            <a:r>
              <a:rPr lang="en-US" sz="2000" dirty="0"/>
              <a:t>: This is the child </a:t>
            </a:r>
            <a:r>
              <a:rPr lang="en-US" sz="2000" dirty="0" err="1"/>
              <a:t>classloader</a:t>
            </a:r>
            <a:r>
              <a:rPr lang="en-US" sz="2000" dirty="0"/>
              <a:t> of Bootstrap and parent </a:t>
            </a:r>
            <a:r>
              <a:rPr lang="en-US" sz="2000" dirty="0" err="1"/>
              <a:t>classloader</a:t>
            </a:r>
            <a:r>
              <a:rPr lang="en-US" sz="2000" dirty="0"/>
              <a:t> of System </a:t>
            </a:r>
            <a:r>
              <a:rPr lang="en-US" sz="2000" dirty="0" err="1"/>
              <a:t>classloader</a:t>
            </a:r>
            <a:r>
              <a:rPr lang="en-US" sz="2000" dirty="0"/>
              <a:t>. It </a:t>
            </a:r>
            <a:r>
              <a:rPr lang="en-US" sz="2000" dirty="0" err="1"/>
              <a:t>loades</a:t>
            </a:r>
            <a:r>
              <a:rPr lang="en-US" sz="2000" dirty="0"/>
              <a:t> the jar files located inside </a:t>
            </a:r>
            <a:r>
              <a:rPr lang="en-US" sz="2000" i="1" dirty="0"/>
              <a:t>$JAVA_HOME/</a:t>
            </a:r>
            <a:r>
              <a:rPr lang="en-US" sz="2000" i="1" dirty="0" err="1"/>
              <a:t>jre</a:t>
            </a:r>
            <a:r>
              <a:rPr lang="en-US" sz="2000" i="1" dirty="0"/>
              <a:t>/lib/</a:t>
            </a:r>
            <a:r>
              <a:rPr lang="en-US" sz="2000" i="1" dirty="0" err="1"/>
              <a:t>ext</a:t>
            </a:r>
            <a:r>
              <a:rPr lang="en-US" sz="2000" dirty="0"/>
              <a:t> directory.</a:t>
            </a:r>
          </a:p>
          <a:p>
            <a:pPr algn="just">
              <a:spcAft>
                <a:spcPts val="1200"/>
              </a:spcAft>
              <a:buFont typeface="+mj-lt"/>
              <a:buAutoNum type="arabicPeriod"/>
            </a:pPr>
            <a:r>
              <a:rPr lang="en-US" sz="2000" b="1" dirty="0"/>
              <a:t>System/Application ClassLoader</a:t>
            </a:r>
            <a:r>
              <a:rPr lang="en-US" sz="2000" dirty="0"/>
              <a:t>: This is the child </a:t>
            </a:r>
            <a:r>
              <a:rPr lang="en-US" sz="2000" dirty="0" err="1"/>
              <a:t>classloader</a:t>
            </a:r>
            <a:r>
              <a:rPr lang="en-US" sz="2000" dirty="0"/>
              <a:t> of Extension </a:t>
            </a:r>
            <a:r>
              <a:rPr lang="en-US" sz="2000" dirty="0" err="1"/>
              <a:t>classloader</a:t>
            </a:r>
            <a:r>
              <a:rPr lang="en-US" sz="2000" dirty="0"/>
              <a:t>. It loads the </a:t>
            </a:r>
            <a:r>
              <a:rPr lang="en-US" sz="2000" dirty="0" err="1"/>
              <a:t>classfiles</a:t>
            </a:r>
            <a:r>
              <a:rPr lang="en-US" sz="2000" dirty="0"/>
              <a:t> from </a:t>
            </a:r>
            <a:r>
              <a:rPr lang="en-US" sz="2000" dirty="0" err="1"/>
              <a:t>classpath</a:t>
            </a:r>
            <a:r>
              <a:rPr lang="en-US" sz="2000" dirty="0"/>
              <a:t>. By default, </a:t>
            </a:r>
            <a:r>
              <a:rPr lang="en-US" sz="2000" dirty="0" err="1"/>
              <a:t>classpath</a:t>
            </a:r>
            <a:r>
              <a:rPr lang="en-US" sz="2000" dirty="0"/>
              <a:t> is set to current directory. You can change the </a:t>
            </a:r>
            <a:r>
              <a:rPr lang="en-US" sz="2000" dirty="0" err="1"/>
              <a:t>classpath</a:t>
            </a:r>
            <a:r>
              <a:rPr lang="en-US" sz="2000" dirty="0"/>
              <a:t> using "-</a:t>
            </a:r>
            <a:r>
              <a:rPr lang="en-US" sz="2000" dirty="0" err="1"/>
              <a:t>cp</a:t>
            </a:r>
            <a:r>
              <a:rPr lang="en-US" sz="2000" dirty="0"/>
              <a:t>" or "-</a:t>
            </a:r>
            <a:r>
              <a:rPr lang="en-US" sz="2000" dirty="0" err="1"/>
              <a:t>classpath</a:t>
            </a:r>
            <a:r>
              <a:rPr lang="en-US" sz="2000" dirty="0"/>
              <a:t>" switch. It is also known as Application </a:t>
            </a:r>
            <a:r>
              <a:rPr lang="en-US" sz="2000" dirty="0" err="1"/>
              <a:t>classloader</a:t>
            </a:r>
            <a:r>
              <a:rPr lang="en-US" sz="2000" dirty="0"/>
              <a:t>.</a:t>
            </a:r>
          </a:p>
        </p:txBody>
      </p:sp>
      <p:sp>
        <p:nvSpPr>
          <p:cNvPr id="3" name="TextBox 2">
            <a:extLst>
              <a:ext uri="{FF2B5EF4-FFF2-40B4-BE49-F238E27FC236}">
                <a16:creationId xmlns:a16="http://schemas.microsoft.com/office/drawing/2014/main" id="{952D221A-32DF-1B03-F3AC-B213862C3A44}"/>
              </a:ext>
            </a:extLst>
          </p:cNvPr>
          <p:cNvSpPr txBox="1"/>
          <p:nvPr/>
        </p:nvSpPr>
        <p:spPr>
          <a:xfrm>
            <a:off x="379469" y="120720"/>
            <a:ext cx="11433061" cy="1831271"/>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Virtual Machine(JVM)</a:t>
            </a:r>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1537123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0038" y="1703727"/>
            <a:ext cx="10235381" cy="3323987"/>
          </a:xfrm>
          <a:prstGeom prst="rect">
            <a:avLst/>
          </a:prstGeom>
        </p:spPr>
        <p:txBody>
          <a:bodyPr wrap="square">
            <a:spAutoFit/>
          </a:bodyPr>
          <a:lstStyle/>
          <a:p>
            <a:pPr>
              <a:spcAft>
                <a:spcPts val="1200"/>
              </a:spcAft>
            </a:pPr>
            <a:r>
              <a:rPr lang="en-US" sz="2000" b="1" dirty="0"/>
              <a:t>2) Class(Method) Area</a:t>
            </a:r>
          </a:p>
          <a:p>
            <a:pPr>
              <a:spcAft>
                <a:spcPts val="1200"/>
              </a:spcAft>
            </a:pPr>
            <a:r>
              <a:rPr lang="en-US" sz="2000" dirty="0"/>
              <a:t>Class(Method) Area stores per-class structures such as the runtime constant pool, field and method data, the code for methods.</a:t>
            </a:r>
          </a:p>
          <a:p>
            <a:pPr>
              <a:spcAft>
                <a:spcPts val="1200"/>
              </a:spcAft>
            </a:pPr>
            <a:r>
              <a:rPr lang="en-US" sz="2000" b="1" dirty="0"/>
              <a:t>3) Heap</a:t>
            </a:r>
          </a:p>
          <a:p>
            <a:pPr>
              <a:spcAft>
                <a:spcPts val="1200"/>
              </a:spcAft>
            </a:pPr>
            <a:r>
              <a:rPr lang="en-US" sz="2000" dirty="0"/>
              <a:t>It is the runtime data area in which objects are allocated.</a:t>
            </a:r>
          </a:p>
          <a:p>
            <a:pPr>
              <a:spcAft>
                <a:spcPts val="1200"/>
              </a:spcAft>
            </a:pPr>
            <a:r>
              <a:rPr lang="en-US" sz="2000" b="1" dirty="0"/>
              <a:t>4) Stack</a:t>
            </a:r>
          </a:p>
          <a:p>
            <a:pPr>
              <a:spcAft>
                <a:spcPts val="1200"/>
              </a:spcAft>
            </a:pPr>
            <a:r>
              <a:rPr lang="en-US" sz="2000" dirty="0"/>
              <a:t>Java Stack stores frames. It holds local variables and partial results, and plays a part in method invocation and return.</a:t>
            </a:r>
          </a:p>
        </p:txBody>
      </p:sp>
      <p:sp>
        <p:nvSpPr>
          <p:cNvPr id="3" name="Rectangle 2"/>
          <p:cNvSpPr/>
          <p:nvPr/>
        </p:nvSpPr>
        <p:spPr>
          <a:xfrm>
            <a:off x="929147" y="5533123"/>
            <a:ext cx="10333703" cy="1015663"/>
          </a:xfrm>
          <a:prstGeom prst="rect">
            <a:avLst/>
          </a:prstGeom>
        </p:spPr>
        <p:txBody>
          <a:bodyPr wrap="square">
            <a:spAutoFit/>
          </a:bodyPr>
          <a:lstStyle/>
          <a:p>
            <a:pPr algn="just"/>
            <a:r>
              <a:rPr lang="en-US" sz="2000" b="1" dirty="0"/>
              <a:t>Note: </a:t>
            </a:r>
            <a:r>
              <a:rPr lang="en-US" sz="2000" dirty="0"/>
              <a:t>Each thread has a private JVM stack, created at the same time as thread.</a:t>
            </a:r>
          </a:p>
          <a:p>
            <a:pPr algn="just"/>
            <a:r>
              <a:rPr lang="en-US" sz="2000" dirty="0"/>
              <a:t>A new frame is created each time a method is invoked. A frame is destroyed when its method invocation completes.</a:t>
            </a:r>
          </a:p>
        </p:txBody>
      </p:sp>
      <p:sp>
        <p:nvSpPr>
          <p:cNvPr id="4" name="TextBox 3">
            <a:extLst>
              <a:ext uri="{FF2B5EF4-FFF2-40B4-BE49-F238E27FC236}">
                <a16:creationId xmlns:a16="http://schemas.microsoft.com/office/drawing/2014/main" id="{A2096BDA-F812-4726-E19C-141299410AC7}"/>
              </a:ext>
            </a:extLst>
          </p:cNvPr>
          <p:cNvSpPr txBox="1"/>
          <p:nvPr/>
        </p:nvSpPr>
        <p:spPr>
          <a:xfrm>
            <a:off x="379469" y="120720"/>
            <a:ext cx="11433061" cy="1831271"/>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Virtual Machine(JVM)</a:t>
            </a:r>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26895828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5676" y="2153264"/>
            <a:ext cx="9832259" cy="2308324"/>
          </a:xfrm>
          <a:prstGeom prst="rect">
            <a:avLst/>
          </a:prstGeom>
        </p:spPr>
        <p:txBody>
          <a:bodyPr wrap="square">
            <a:spAutoFit/>
          </a:bodyPr>
          <a:lstStyle/>
          <a:p>
            <a:r>
              <a:rPr lang="en-US" sz="2400" b="1" dirty="0"/>
              <a:t>5) Program Counter Register</a:t>
            </a:r>
          </a:p>
          <a:p>
            <a:pPr algn="just"/>
            <a:r>
              <a:rPr lang="en-US" sz="2400" dirty="0"/>
              <a:t>PC (program counter) register contains the address of the Java virtual machine instruction currently being executed.</a:t>
            </a:r>
          </a:p>
          <a:p>
            <a:endParaRPr lang="en-US" sz="2400" dirty="0"/>
          </a:p>
          <a:p>
            <a:r>
              <a:rPr lang="en-US" sz="2400" b="1" dirty="0"/>
              <a:t>6) Native Method Stack</a:t>
            </a:r>
          </a:p>
          <a:p>
            <a:r>
              <a:rPr lang="en-US" sz="2400" dirty="0"/>
              <a:t>It contains all the native methods used in the application.</a:t>
            </a:r>
          </a:p>
        </p:txBody>
      </p:sp>
      <p:sp>
        <p:nvSpPr>
          <p:cNvPr id="3" name="TextBox 2">
            <a:extLst>
              <a:ext uri="{FF2B5EF4-FFF2-40B4-BE49-F238E27FC236}">
                <a16:creationId xmlns:a16="http://schemas.microsoft.com/office/drawing/2014/main" id="{359F8F90-C343-83C7-E897-1E4A0BA003E8}"/>
              </a:ext>
            </a:extLst>
          </p:cNvPr>
          <p:cNvSpPr txBox="1"/>
          <p:nvPr/>
        </p:nvSpPr>
        <p:spPr>
          <a:xfrm>
            <a:off x="379469" y="120720"/>
            <a:ext cx="11433061" cy="1831271"/>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Virtual Machine(JVM)</a:t>
            </a:r>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12981263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3999" y="1816792"/>
            <a:ext cx="4572000" cy="830997"/>
          </a:xfrm>
          <a:prstGeom prst="rect">
            <a:avLst/>
          </a:prstGeom>
        </p:spPr>
        <p:txBody>
          <a:bodyPr>
            <a:spAutoFit/>
          </a:bodyPr>
          <a:lstStyle/>
          <a:p>
            <a:r>
              <a:rPr lang="en-US" sz="2400" b="1" dirty="0"/>
              <a:t>7) Execution Engine</a:t>
            </a:r>
          </a:p>
          <a:p>
            <a:r>
              <a:rPr lang="en-US" sz="2400" dirty="0"/>
              <a:t>     It contains:</a:t>
            </a:r>
          </a:p>
        </p:txBody>
      </p:sp>
      <p:sp>
        <p:nvSpPr>
          <p:cNvPr id="3" name="Rectangle 2"/>
          <p:cNvSpPr/>
          <p:nvPr/>
        </p:nvSpPr>
        <p:spPr>
          <a:xfrm>
            <a:off x="1752598" y="2845928"/>
            <a:ext cx="9053053" cy="2862322"/>
          </a:xfrm>
          <a:prstGeom prst="rect">
            <a:avLst/>
          </a:prstGeom>
        </p:spPr>
        <p:txBody>
          <a:bodyPr wrap="square">
            <a:spAutoFit/>
          </a:bodyPr>
          <a:lstStyle/>
          <a:p>
            <a:pPr algn="just">
              <a:buFont typeface="+mj-lt"/>
              <a:buAutoNum type="arabicPeriod"/>
            </a:pPr>
            <a:r>
              <a:rPr lang="en-US" sz="2000" b="1" dirty="0"/>
              <a:t> A virtual processor</a:t>
            </a:r>
          </a:p>
          <a:p>
            <a:pPr algn="just"/>
            <a:endParaRPr lang="en-US" sz="2000" dirty="0"/>
          </a:p>
          <a:p>
            <a:pPr marL="342900" indent="-342900" algn="just">
              <a:buFont typeface="+mj-lt"/>
              <a:buAutoNum type="arabicPeriod" startAt="2"/>
            </a:pPr>
            <a:r>
              <a:rPr lang="en-US" sz="2000" b="1" dirty="0"/>
              <a:t>Interpreter:</a:t>
            </a:r>
            <a:r>
              <a:rPr lang="en-US" sz="2000" dirty="0"/>
              <a:t> Read bytecode stream then execute the instructions.</a:t>
            </a:r>
          </a:p>
          <a:p>
            <a:pPr algn="just">
              <a:buFont typeface="+mj-lt"/>
              <a:buAutoNum type="arabicPeriod" startAt="2"/>
            </a:pPr>
            <a:endParaRPr lang="en-US" sz="2000" dirty="0"/>
          </a:p>
          <a:p>
            <a:pPr algn="just">
              <a:buFont typeface="+mj-lt"/>
              <a:buAutoNum type="arabicPeriod" startAt="2"/>
            </a:pPr>
            <a:r>
              <a:rPr lang="en-US" sz="2000" b="1" dirty="0"/>
              <a:t>Just-In-Time(JIT) compiler:</a:t>
            </a:r>
            <a:r>
              <a:rPr lang="en-US" sz="2000" dirty="0"/>
              <a:t> It is used to improve the performance. JIT compiles parts of the byte code that have similar functionality at the same time, and hence reduces the amount of time needed for compilation. Here, the term "compiler" refers to a translator from the instruction set of a Java virtual machine (JVM) to the instruction set of a specific CPU.</a:t>
            </a:r>
          </a:p>
        </p:txBody>
      </p:sp>
      <p:sp>
        <p:nvSpPr>
          <p:cNvPr id="4" name="TextBox 3">
            <a:extLst>
              <a:ext uri="{FF2B5EF4-FFF2-40B4-BE49-F238E27FC236}">
                <a16:creationId xmlns:a16="http://schemas.microsoft.com/office/drawing/2014/main" id="{A18D4FBD-5DBF-9ABA-62B1-897698CEAE18}"/>
              </a:ext>
            </a:extLst>
          </p:cNvPr>
          <p:cNvSpPr txBox="1"/>
          <p:nvPr/>
        </p:nvSpPr>
        <p:spPr>
          <a:xfrm>
            <a:off x="463971" y="187492"/>
            <a:ext cx="11433061" cy="1831271"/>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Virtual Machine(JVM)</a:t>
            </a:r>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12927793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1819" y="2202426"/>
            <a:ext cx="9026013" cy="2308324"/>
          </a:xfrm>
          <a:prstGeom prst="rect">
            <a:avLst/>
          </a:prstGeom>
        </p:spPr>
        <p:txBody>
          <a:bodyPr wrap="square">
            <a:spAutoFit/>
          </a:bodyPr>
          <a:lstStyle/>
          <a:p>
            <a:r>
              <a:rPr lang="en-US" sz="2400" b="1" dirty="0"/>
              <a:t>8) Java Native Interface</a:t>
            </a:r>
          </a:p>
          <a:p>
            <a:endParaRPr lang="en-US" sz="2400" b="1" dirty="0"/>
          </a:p>
          <a:p>
            <a:r>
              <a:rPr lang="en-US" sz="2400" dirty="0"/>
              <a:t>Java Native Interface (JNI) is a framework which provides an interface to communicate with another application written in another language like C, C++, Assembly etc. Java uses JNI framework to send output to the Console or interact with OS libraries.</a:t>
            </a:r>
          </a:p>
        </p:txBody>
      </p:sp>
      <p:sp>
        <p:nvSpPr>
          <p:cNvPr id="3" name="TextBox 2">
            <a:extLst>
              <a:ext uri="{FF2B5EF4-FFF2-40B4-BE49-F238E27FC236}">
                <a16:creationId xmlns:a16="http://schemas.microsoft.com/office/drawing/2014/main" id="{9FE8E637-72F2-78C4-4B68-91AAF2F8B3BA}"/>
              </a:ext>
            </a:extLst>
          </p:cNvPr>
          <p:cNvSpPr txBox="1"/>
          <p:nvPr/>
        </p:nvSpPr>
        <p:spPr>
          <a:xfrm>
            <a:off x="379469" y="120720"/>
            <a:ext cx="11433061" cy="1831271"/>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lgn="l">
              <a:spcAft>
                <a:spcPts val="1200"/>
              </a:spcAft>
            </a:pPr>
            <a:r>
              <a:rPr lang="en-US" sz="2800" b="1" i="0" dirty="0">
                <a:effectLst/>
                <a:latin typeface="Source Sans Pro" panose="020B0503030403020204" pitchFamily="34" charset="0"/>
              </a:rPr>
              <a:t>Java Virtual Machine(JVM)</a:t>
            </a:r>
          </a:p>
          <a:p>
            <a:endParaRPr lang="en-US" sz="2400" b="0" i="0" dirty="0">
              <a:solidFill>
                <a:srgbClr val="333333"/>
              </a:solidFill>
              <a:effectLst/>
              <a:latin typeface="inter-regular"/>
            </a:endParaRPr>
          </a:p>
        </p:txBody>
      </p:sp>
    </p:spTree>
    <p:extLst>
      <p:ext uri="{BB962C8B-B14F-4D97-AF65-F5344CB8AC3E}">
        <p14:creationId xmlns:p14="http://schemas.microsoft.com/office/powerpoint/2010/main" val="33068687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1308050"/>
          </a:xfrm>
          <a:prstGeom prst="rect">
            <a:avLst/>
          </a:prstGeom>
          <a:noFill/>
        </p:spPr>
        <p:txBody>
          <a:bodyPr wrap="square" rtlCol="0">
            <a:spAutoFit/>
          </a:bodyPr>
          <a:lstStyle/>
          <a:p>
            <a:pPr algn="just">
              <a:spcAft>
                <a:spcPts val="1800"/>
              </a:spcAft>
            </a:pPr>
            <a:r>
              <a:rPr lang="en-US" sz="3600" u="sng" dirty="0">
                <a:solidFill>
                  <a:srgbClr val="7030A0"/>
                </a:solidFill>
              </a:rPr>
              <a:t>Some Important Java Terminology</a:t>
            </a:r>
          </a:p>
          <a:p>
            <a:pPr>
              <a:spcAft>
                <a:spcPts val="1200"/>
              </a:spcAft>
            </a:pPr>
            <a:r>
              <a:rPr lang="en-US" sz="2800" b="1" i="0" dirty="0">
                <a:effectLst/>
                <a:latin typeface="Source Sans Pro" panose="020B0503030403020204" pitchFamily="34" charset="0"/>
              </a:rPr>
              <a:t>Bytecode in the Development Process</a:t>
            </a:r>
            <a:r>
              <a:rPr lang="en-US" sz="2400" dirty="0">
                <a:solidFill>
                  <a:srgbClr val="333333"/>
                </a:solidFill>
                <a:latin typeface="inter-regular"/>
              </a:rPr>
              <a:t>:</a:t>
            </a:r>
            <a:endParaRPr lang="en-US" sz="2800" b="1" i="0" dirty="0">
              <a:effectLst/>
              <a:latin typeface="Source Sans Pro" panose="020B0503030403020204" pitchFamily="34" charset="0"/>
            </a:endParaRPr>
          </a:p>
        </p:txBody>
      </p:sp>
      <p:sp>
        <p:nvSpPr>
          <p:cNvPr id="7" name="TextBox 6">
            <a:extLst>
              <a:ext uri="{FF2B5EF4-FFF2-40B4-BE49-F238E27FC236}">
                <a16:creationId xmlns:a16="http://schemas.microsoft.com/office/drawing/2014/main" id="{50E641E8-A16B-6750-9DEF-BDA874B49828}"/>
              </a:ext>
            </a:extLst>
          </p:cNvPr>
          <p:cNvSpPr txBox="1"/>
          <p:nvPr/>
        </p:nvSpPr>
        <p:spPr>
          <a:xfrm>
            <a:off x="462116" y="2333416"/>
            <a:ext cx="6381136" cy="2800767"/>
          </a:xfrm>
          <a:prstGeom prst="rect">
            <a:avLst/>
          </a:prstGeom>
          <a:noFill/>
        </p:spPr>
        <p:txBody>
          <a:bodyPr wrap="square">
            <a:spAutoFit/>
          </a:bodyPr>
          <a:lstStyle/>
          <a:p>
            <a:pPr marL="342900" indent="-342900" algn="just">
              <a:buFont typeface="Arial" panose="020B0604020202020204" pitchFamily="34" charset="0"/>
              <a:buChar char="•"/>
            </a:pPr>
            <a:r>
              <a:rPr lang="en-US" sz="2200" b="0" i="0" dirty="0">
                <a:solidFill>
                  <a:srgbClr val="1A2C47"/>
                </a:solidFill>
                <a:effectLst/>
                <a:latin typeface="Source Sans Pro" panose="020B0503030403020204" pitchFamily="34" charset="0"/>
              </a:rPr>
              <a:t>The source code that is provided to the </a:t>
            </a:r>
            <a:r>
              <a:rPr lang="en-US" sz="2200" b="0" i="0" dirty="0" err="1">
                <a:solidFill>
                  <a:srgbClr val="1A2C47"/>
                </a:solidFill>
                <a:effectLst/>
                <a:latin typeface="Source Sans Pro" panose="020B0503030403020204" pitchFamily="34" charset="0"/>
              </a:rPr>
              <a:t>JAVAC</a:t>
            </a:r>
            <a:r>
              <a:rPr lang="en-US" sz="2200" b="0" i="0" dirty="0">
                <a:solidFill>
                  <a:srgbClr val="1A2C47"/>
                </a:solidFill>
                <a:effectLst/>
                <a:latin typeface="Source Sans Pro" panose="020B0503030403020204" pitchFamily="34" charset="0"/>
              </a:rPr>
              <a:t> compiler that is present in </a:t>
            </a:r>
            <a:r>
              <a:rPr lang="en-US" sz="2200" b="0" i="0" dirty="0" err="1">
                <a:solidFill>
                  <a:srgbClr val="1A2C47"/>
                </a:solidFill>
                <a:effectLst/>
                <a:latin typeface="Source Sans Pro" panose="020B0503030403020204" pitchFamily="34" charset="0"/>
              </a:rPr>
              <a:t>JDK</a:t>
            </a:r>
            <a:r>
              <a:rPr lang="en-US" sz="2200" b="0" i="0" dirty="0">
                <a:solidFill>
                  <a:srgbClr val="1A2C47"/>
                </a:solidFill>
                <a:effectLst/>
                <a:latin typeface="Source Sans Pro" panose="020B0503030403020204" pitchFamily="34" charset="0"/>
              </a:rPr>
              <a:t> gets compiled into a bytecode which can be executed by the JVM. </a:t>
            </a:r>
          </a:p>
          <a:p>
            <a:pPr marL="342900" indent="-342900" algn="just">
              <a:buFont typeface="Arial" panose="020B0604020202020204" pitchFamily="34" charset="0"/>
              <a:buChar char="•"/>
            </a:pPr>
            <a:endParaRPr lang="en-US" sz="2200" dirty="0">
              <a:solidFill>
                <a:srgbClr val="1A2C47"/>
              </a:solidFill>
              <a:latin typeface="Source Sans Pro" panose="020B0503030403020204" pitchFamily="34" charset="0"/>
            </a:endParaRPr>
          </a:p>
          <a:p>
            <a:pPr marL="342900" indent="-342900" algn="just">
              <a:buFont typeface="Arial" panose="020B0604020202020204" pitchFamily="34" charset="0"/>
              <a:buChar char="•"/>
            </a:pPr>
            <a:r>
              <a:rPr lang="en-US" sz="2200" b="0" i="0" dirty="0">
                <a:solidFill>
                  <a:srgbClr val="1A2C47"/>
                </a:solidFill>
                <a:effectLst/>
                <a:latin typeface="Source Sans Pro" panose="020B0503030403020204" pitchFamily="34" charset="0"/>
              </a:rPr>
              <a:t>It gets saved as a .class file by the compiler itself. </a:t>
            </a:r>
          </a:p>
          <a:p>
            <a:pPr marL="342900" indent="-342900" algn="just">
              <a:buFont typeface="Arial" panose="020B0604020202020204" pitchFamily="34" charset="0"/>
              <a:buChar char="•"/>
            </a:pPr>
            <a:endParaRPr lang="en-US" sz="2200" dirty="0">
              <a:solidFill>
                <a:srgbClr val="1A2C47"/>
              </a:solidFill>
              <a:latin typeface="Source Sans Pro" panose="020B0503030403020204" pitchFamily="34" charset="0"/>
            </a:endParaRPr>
          </a:p>
          <a:p>
            <a:pPr marL="342900" indent="-342900" algn="just">
              <a:buFont typeface="Arial" panose="020B0604020202020204" pitchFamily="34" charset="0"/>
              <a:buChar char="•"/>
            </a:pPr>
            <a:r>
              <a:rPr lang="en-US" sz="2200" b="0" i="0" dirty="0">
                <a:solidFill>
                  <a:srgbClr val="1A2C47"/>
                </a:solidFill>
                <a:effectLst/>
                <a:latin typeface="Source Sans Pro" panose="020B0503030403020204" pitchFamily="34" charset="0"/>
              </a:rPr>
              <a:t>we can also view this bytecode using a disassembler like </a:t>
            </a:r>
            <a:r>
              <a:rPr lang="en-US" sz="2200" b="0" i="0" dirty="0" err="1">
                <a:solidFill>
                  <a:srgbClr val="1A2C47"/>
                </a:solidFill>
                <a:effectLst/>
                <a:latin typeface="Source Sans Pro" panose="020B0503030403020204" pitchFamily="34" charset="0"/>
              </a:rPr>
              <a:t>javap</a:t>
            </a:r>
            <a:r>
              <a:rPr lang="en-US" sz="2200" b="0" i="0" dirty="0">
                <a:solidFill>
                  <a:srgbClr val="1A2C47"/>
                </a:solidFill>
                <a:effectLst/>
                <a:latin typeface="Source Sans Pro" panose="020B0503030403020204" pitchFamily="34" charset="0"/>
              </a:rPr>
              <a:t>.</a:t>
            </a:r>
            <a:endParaRPr lang="fr-FR" sz="2200" dirty="0"/>
          </a:p>
        </p:txBody>
      </p:sp>
      <p:pic>
        <p:nvPicPr>
          <p:cNvPr id="4" name="Picture 3">
            <a:extLst>
              <a:ext uri="{FF2B5EF4-FFF2-40B4-BE49-F238E27FC236}">
                <a16:creationId xmlns:a16="http://schemas.microsoft.com/office/drawing/2014/main" id="{115A8012-EDBA-6C9D-27D5-9CA747015699}"/>
              </a:ext>
            </a:extLst>
          </p:cNvPr>
          <p:cNvPicPr>
            <a:picLocks noChangeAspect="1"/>
          </p:cNvPicPr>
          <p:nvPr/>
        </p:nvPicPr>
        <p:blipFill>
          <a:blip r:embed="rId2"/>
          <a:stretch>
            <a:fillRect/>
          </a:stretch>
        </p:blipFill>
        <p:spPr>
          <a:xfrm>
            <a:off x="7100734" y="1104900"/>
            <a:ext cx="4933950" cy="4953000"/>
          </a:xfrm>
          <a:prstGeom prst="rect">
            <a:avLst/>
          </a:prstGeom>
        </p:spPr>
      </p:pic>
    </p:spTree>
    <p:extLst>
      <p:ext uri="{BB962C8B-B14F-4D97-AF65-F5344CB8AC3E}">
        <p14:creationId xmlns:p14="http://schemas.microsoft.com/office/powerpoint/2010/main" val="2807822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46331"/>
          </a:xfrm>
          <a:prstGeom prst="rect">
            <a:avLst/>
          </a:prstGeom>
          <a:noFill/>
        </p:spPr>
        <p:txBody>
          <a:bodyPr wrap="square" rtlCol="0">
            <a:spAutoFit/>
          </a:bodyPr>
          <a:lstStyle/>
          <a:p>
            <a:pPr algn="just">
              <a:spcAft>
                <a:spcPts val="1800"/>
              </a:spcAft>
            </a:pPr>
            <a:r>
              <a:rPr lang="en-US" sz="3600" u="sng" dirty="0">
                <a:solidFill>
                  <a:srgbClr val="7030A0"/>
                </a:solidFill>
              </a:rPr>
              <a:t>MCQs:</a:t>
            </a:r>
          </a:p>
        </p:txBody>
      </p:sp>
      <p:pic>
        <p:nvPicPr>
          <p:cNvPr id="3" name="Picture 2">
            <a:extLst>
              <a:ext uri="{FF2B5EF4-FFF2-40B4-BE49-F238E27FC236}">
                <a16:creationId xmlns:a16="http://schemas.microsoft.com/office/drawing/2014/main" id="{313CAFB7-9442-43F9-F30A-673CB4103164}"/>
              </a:ext>
            </a:extLst>
          </p:cNvPr>
          <p:cNvPicPr>
            <a:picLocks noChangeAspect="1"/>
          </p:cNvPicPr>
          <p:nvPr/>
        </p:nvPicPr>
        <p:blipFill>
          <a:blip r:embed="rId2"/>
          <a:stretch>
            <a:fillRect/>
          </a:stretch>
        </p:blipFill>
        <p:spPr>
          <a:xfrm>
            <a:off x="677227" y="1196317"/>
            <a:ext cx="8099828" cy="1907858"/>
          </a:xfrm>
          <a:prstGeom prst="rect">
            <a:avLst/>
          </a:prstGeom>
        </p:spPr>
      </p:pic>
      <p:pic>
        <p:nvPicPr>
          <p:cNvPr id="9" name="Picture 8">
            <a:extLst>
              <a:ext uri="{FF2B5EF4-FFF2-40B4-BE49-F238E27FC236}">
                <a16:creationId xmlns:a16="http://schemas.microsoft.com/office/drawing/2014/main" id="{E26802DE-2DAD-7AE5-8ABC-4B74E8608A9B}"/>
              </a:ext>
            </a:extLst>
          </p:cNvPr>
          <p:cNvPicPr>
            <a:picLocks noChangeAspect="1"/>
          </p:cNvPicPr>
          <p:nvPr/>
        </p:nvPicPr>
        <p:blipFill>
          <a:blip r:embed="rId3"/>
          <a:stretch>
            <a:fillRect/>
          </a:stretch>
        </p:blipFill>
        <p:spPr>
          <a:xfrm>
            <a:off x="677227" y="3429000"/>
            <a:ext cx="9472036" cy="2015327"/>
          </a:xfrm>
          <a:prstGeom prst="rect">
            <a:avLst/>
          </a:prstGeom>
        </p:spPr>
      </p:pic>
    </p:spTree>
    <p:extLst>
      <p:ext uri="{BB962C8B-B14F-4D97-AF65-F5344CB8AC3E}">
        <p14:creationId xmlns:p14="http://schemas.microsoft.com/office/powerpoint/2010/main" val="1808995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46331"/>
          </a:xfrm>
          <a:prstGeom prst="rect">
            <a:avLst/>
          </a:prstGeom>
          <a:noFill/>
        </p:spPr>
        <p:txBody>
          <a:bodyPr wrap="square" rtlCol="0">
            <a:spAutoFit/>
          </a:bodyPr>
          <a:lstStyle/>
          <a:p>
            <a:pPr algn="just">
              <a:spcAft>
                <a:spcPts val="1800"/>
              </a:spcAft>
            </a:pPr>
            <a:r>
              <a:rPr lang="en-US" sz="3600" u="sng" dirty="0">
                <a:solidFill>
                  <a:srgbClr val="7030A0"/>
                </a:solidFill>
              </a:rPr>
              <a:t>MCQs:</a:t>
            </a:r>
          </a:p>
        </p:txBody>
      </p:sp>
      <p:pic>
        <p:nvPicPr>
          <p:cNvPr id="4" name="Picture 3">
            <a:extLst>
              <a:ext uri="{FF2B5EF4-FFF2-40B4-BE49-F238E27FC236}">
                <a16:creationId xmlns:a16="http://schemas.microsoft.com/office/drawing/2014/main" id="{5273DECA-64E5-06A0-91A4-DC62FF604280}"/>
              </a:ext>
            </a:extLst>
          </p:cNvPr>
          <p:cNvPicPr>
            <a:picLocks noChangeAspect="1"/>
          </p:cNvPicPr>
          <p:nvPr/>
        </p:nvPicPr>
        <p:blipFill>
          <a:blip r:embed="rId2"/>
          <a:stretch>
            <a:fillRect/>
          </a:stretch>
        </p:blipFill>
        <p:spPr>
          <a:xfrm>
            <a:off x="823912" y="1121092"/>
            <a:ext cx="6491288" cy="1971599"/>
          </a:xfrm>
          <a:prstGeom prst="rect">
            <a:avLst/>
          </a:prstGeom>
        </p:spPr>
      </p:pic>
      <p:pic>
        <p:nvPicPr>
          <p:cNvPr id="11" name="Picture 10">
            <a:extLst>
              <a:ext uri="{FF2B5EF4-FFF2-40B4-BE49-F238E27FC236}">
                <a16:creationId xmlns:a16="http://schemas.microsoft.com/office/drawing/2014/main" id="{15474509-A193-3560-7C87-2D2810BD7F68}"/>
              </a:ext>
            </a:extLst>
          </p:cNvPr>
          <p:cNvPicPr>
            <a:picLocks noChangeAspect="1"/>
          </p:cNvPicPr>
          <p:nvPr/>
        </p:nvPicPr>
        <p:blipFill>
          <a:blip r:embed="rId3"/>
          <a:stretch>
            <a:fillRect/>
          </a:stretch>
        </p:blipFill>
        <p:spPr>
          <a:xfrm>
            <a:off x="940593" y="3262896"/>
            <a:ext cx="6257925" cy="2105025"/>
          </a:xfrm>
          <a:prstGeom prst="rect">
            <a:avLst/>
          </a:prstGeom>
        </p:spPr>
      </p:pic>
    </p:spTree>
    <p:extLst>
      <p:ext uri="{BB962C8B-B14F-4D97-AF65-F5344CB8AC3E}">
        <p14:creationId xmlns:p14="http://schemas.microsoft.com/office/powerpoint/2010/main" val="1479102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225161"/>
            <a:ext cx="11433061" cy="646331"/>
          </a:xfrm>
          <a:prstGeom prst="rect">
            <a:avLst/>
          </a:prstGeom>
          <a:noFill/>
        </p:spPr>
        <p:txBody>
          <a:bodyPr wrap="square" rtlCol="0">
            <a:spAutoFit/>
          </a:bodyPr>
          <a:lstStyle/>
          <a:p>
            <a:pPr algn="just">
              <a:spcAft>
                <a:spcPts val="1800"/>
              </a:spcAft>
            </a:pPr>
            <a:r>
              <a:rPr lang="en-US" sz="3600" u="sng" dirty="0">
                <a:solidFill>
                  <a:srgbClr val="7030A0"/>
                </a:solidFill>
              </a:rPr>
              <a:t>MCQs:</a:t>
            </a:r>
          </a:p>
        </p:txBody>
      </p:sp>
      <p:sp>
        <p:nvSpPr>
          <p:cNvPr id="7" name="TextBox 6">
            <a:extLst>
              <a:ext uri="{FF2B5EF4-FFF2-40B4-BE49-F238E27FC236}">
                <a16:creationId xmlns:a16="http://schemas.microsoft.com/office/drawing/2014/main" id="{4603B05C-3F6F-8843-5D99-C0EAA738835D}"/>
              </a:ext>
            </a:extLst>
          </p:cNvPr>
          <p:cNvSpPr txBox="1"/>
          <p:nvPr/>
        </p:nvSpPr>
        <p:spPr>
          <a:xfrm>
            <a:off x="996042" y="1282874"/>
            <a:ext cx="8297247" cy="1938992"/>
          </a:xfrm>
          <a:prstGeom prst="rect">
            <a:avLst/>
          </a:prstGeom>
          <a:noFill/>
        </p:spPr>
        <p:txBody>
          <a:bodyPr wrap="square">
            <a:spAutoFit/>
          </a:bodyPr>
          <a:lstStyle/>
          <a:p>
            <a:pPr>
              <a:spcAft>
                <a:spcPts val="1200"/>
              </a:spcAft>
            </a:pPr>
            <a:r>
              <a:rPr lang="en-US" sz="2200" dirty="0">
                <a:solidFill>
                  <a:srgbClr val="3A3A3A"/>
                </a:solidFill>
                <a:latin typeface="Open Sans" panose="020B0606030504020204" pitchFamily="34" charset="0"/>
              </a:rPr>
              <a:t>5</a:t>
            </a:r>
            <a:r>
              <a:rPr lang="en-US" sz="2200" b="0" i="0" dirty="0">
                <a:solidFill>
                  <a:srgbClr val="3A3A3A"/>
                </a:solidFill>
                <a:effectLst/>
                <a:latin typeface="Open Sans" panose="020B0606030504020204" pitchFamily="34" charset="0"/>
              </a:rPr>
              <a:t>. Which environment variable is used to set the java path?</a:t>
            </a:r>
          </a:p>
          <a:p>
            <a:pPr>
              <a:spcAft>
                <a:spcPts val="1200"/>
              </a:spcAft>
            </a:pPr>
            <a:r>
              <a:rPr lang="en-US" sz="2200" b="0" i="0" dirty="0">
                <a:solidFill>
                  <a:srgbClr val="3A3A3A"/>
                </a:solidFill>
                <a:effectLst/>
                <a:latin typeface="Open Sans" panose="020B0606030504020204" pitchFamily="34" charset="0"/>
              </a:rPr>
              <a:t>a) </a:t>
            </a:r>
            <a:r>
              <a:rPr lang="en-US" sz="2200" b="0" i="0" dirty="0" err="1">
                <a:solidFill>
                  <a:srgbClr val="3A3A3A"/>
                </a:solidFill>
                <a:effectLst/>
                <a:latin typeface="Open Sans" panose="020B0606030504020204" pitchFamily="34" charset="0"/>
              </a:rPr>
              <a:t>MAVEN_Path</a:t>
            </a:r>
            <a:br>
              <a:rPr lang="en-US" sz="2200" dirty="0"/>
            </a:br>
            <a:r>
              <a:rPr lang="en-US" sz="2200" b="0" i="0" dirty="0">
                <a:solidFill>
                  <a:srgbClr val="3A3A3A"/>
                </a:solidFill>
                <a:effectLst/>
                <a:latin typeface="Open Sans" panose="020B0606030504020204" pitchFamily="34" charset="0"/>
              </a:rPr>
              <a:t>b) </a:t>
            </a:r>
            <a:r>
              <a:rPr lang="en-US" sz="2200" b="0" i="0" dirty="0" err="1">
                <a:solidFill>
                  <a:srgbClr val="3A3A3A"/>
                </a:solidFill>
                <a:effectLst/>
                <a:latin typeface="Open Sans" panose="020B0606030504020204" pitchFamily="34" charset="0"/>
              </a:rPr>
              <a:t>JavaPATH</a:t>
            </a:r>
            <a:br>
              <a:rPr lang="en-US" sz="2200" dirty="0"/>
            </a:br>
            <a:r>
              <a:rPr lang="en-US" sz="2200" b="0" i="0" dirty="0">
                <a:solidFill>
                  <a:srgbClr val="3A3A3A"/>
                </a:solidFill>
                <a:effectLst/>
                <a:latin typeface="Open Sans" panose="020B0606030504020204" pitchFamily="34" charset="0"/>
              </a:rPr>
              <a:t>c) JAVA</a:t>
            </a:r>
            <a:br>
              <a:rPr lang="en-US" sz="2200" dirty="0"/>
            </a:br>
            <a:r>
              <a:rPr lang="en-US" sz="2200" b="0" i="0" dirty="0">
                <a:solidFill>
                  <a:srgbClr val="3A3A3A"/>
                </a:solidFill>
                <a:effectLst/>
                <a:latin typeface="Open Sans" panose="020B0606030504020204" pitchFamily="34" charset="0"/>
              </a:rPr>
              <a:t>d) </a:t>
            </a:r>
            <a:r>
              <a:rPr lang="en-US" sz="2200" b="0" i="0" dirty="0" err="1">
                <a:solidFill>
                  <a:srgbClr val="3A3A3A"/>
                </a:solidFill>
                <a:effectLst/>
                <a:latin typeface="Open Sans" panose="020B0606030504020204" pitchFamily="34" charset="0"/>
              </a:rPr>
              <a:t>JAVA_HOME</a:t>
            </a:r>
            <a:endParaRPr lang="fr-FR" sz="2200" dirty="0"/>
          </a:p>
        </p:txBody>
      </p:sp>
      <p:sp>
        <p:nvSpPr>
          <p:cNvPr id="9" name="TextBox 8">
            <a:extLst>
              <a:ext uri="{FF2B5EF4-FFF2-40B4-BE49-F238E27FC236}">
                <a16:creationId xmlns:a16="http://schemas.microsoft.com/office/drawing/2014/main" id="{EEFA3B0E-3CC2-0CDB-4C7F-D36F0206085F}"/>
              </a:ext>
            </a:extLst>
          </p:cNvPr>
          <p:cNvSpPr txBox="1"/>
          <p:nvPr/>
        </p:nvSpPr>
        <p:spPr>
          <a:xfrm>
            <a:off x="1061357" y="3636134"/>
            <a:ext cx="6776357" cy="1938992"/>
          </a:xfrm>
          <a:prstGeom prst="rect">
            <a:avLst/>
          </a:prstGeom>
          <a:noFill/>
        </p:spPr>
        <p:txBody>
          <a:bodyPr wrap="square">
            <a:spAutoFit/>
          </a:bodyPr>
          <a:lstStyle/>
          <a:p>
            <a:pPr algn="just">
              <a:spcAft>
                <a:spcPts val="1200"/>
              </a:spcAft>
            </a:pPr>
            <a:r>
              <a:rPr lang="en-US" sz="2200" b="0" i="0" dirty="0">
                <a:solidFill>
                  <a:srgbClr val="333333"/>
                </a:solidFill>
                <a:effectLst/>
                <a:latin typeface="inter-regular"/>
              </a:rPr>
              <a:t>6) _____ is used to find and fix bugs in the Java programs.</a:t>
            </a:r>
          </a:p>
          <a:p>
            <a:pPr algn="just">
              <a:buFont typeface="+mj-lt"/>
              <a:buAutoNum type="arabicPeriod"/>
            </a:pPr>
            <a:r>
              <a:rPr lang="en-US" sz="2200" b="0" i="0" dirty="0">
                <a:solidFill>
                  <a:srgbClr val="000000"/>
                </a:solidFill>
                <a:effectLst/>
                <a:latin typeface="inter-regular"/>
              </a:rPr>
              <a:t>JVM</a:t>
            </a:r>
          </a:p>
          <a:p>
            <a:pPr algn="just">
              <a:buFont typeface="+mj-lt"/>
              <a:buAutoNum type="arabicPeriod"/>
            </a:pPr>
            <a:r>
              <a:rPr lang="en-US" sz="2200" b="0" i="0" dirty="0">
                <a:solidFill>
                  <a:srgbClr val="000000"/>
                </a:solidFill>
                <a:effectLst/>
                <a:latin typeface="inter-regular"/>
              </a:rPr>
              <a:t>JRE</a:t>
            </a:r>
          </a:p>
          <a:p>
            <a:pPr algn="just">
              <a:buFont typeface="+mj-lt"/>
              <a:buAutoNum type="arabicPeriod"/>
            </a:pPr>
            <a:r>
              <a:rPr lang="en-US" sz="2200" b="0" i="0" dirty="0" err="1">
                <a:solidFill>
                  <a:srgbClr val="000000"/>
                </a:solidFill>
                <a:effectLst/>
                <a:latin typeface="inter-regular"/>
              </a:rPr>
              <a:t>JDK</a:t>
            </a:r>
            <a:endParaRPr lang="en-US" sz="2200" b="0" i="0" dirty="0">
              <a:solidFill>
                <a:srgbClr val="000000"/>
              </a:solidFill>
              <a:effectLst/>
              <a:latin typeface="inter-regular"/>
            </a:endParaRPr>
          </a:p>
          <a:p>
            <a:pPr algn="just">
              <a:buFont typeface="+mj-lt"/>
              <a:buAutoNum type="arabicPeriod"/>
            </a:pPr>
            <a:r>
              <a:rPr lang="en-US" sz="2200" b="0" i="0" dirty="0" err="1">
                <a:solidFill>
                  <a:srgbClr val="000000"/>
                </a:solidFill>
                <a:effectLst/>
                <a:latin typeface="inter-regular"/>
              </a:rPr>
              <a:t>JDB</a:t>
            </a:r>
            <a:endParaRPr lang="en-US" sz="2200" b="0" i="0" dirty="0">
              <a:solidFill>
                <a:srgbClr val="000000"/>
              </a:solidFill>
              <a:effectLst/>
              <a:latin typeface="inter-regular"/>
            </a:endParaRPr>
          </a:p>
        </p:txBody>
      </p:sp>
    </p:spTree>
    <p:extLst>
      <p:ext uri="{BB962C8B-B14F-4D97-AF65-F5344CB8AC3E}">
        <p14:creationId xmlns:p14="http://schemas.microsoft.com/office/powerpoint/2010/main" val="4211380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8508"/>
            <a:ext cx="11433061" cy="646331"/>
          </a:xfrm>
          <a:prstGeom prst="rect">
            <a:avLst/>
          </a:prstGeom>
          <a:noFill/>
        </p:spPr>
        <p:txBody>
          <a:bodyPr wrap="square" rtlCol="0">
            <a:spAutoFit/>
          </a:bodyPr>
          <a:lstStyle/>
          <a:p>
            <a:pPr algn="just">
              <a:spcAft>
                <a:spcPts val="1800"/>
              </a:spcAft>
            </a:pPr>
            <a:r>
              <a:rPr lang="en-US" sz="3600" u="sng" dirty="0">
                <a:solidFill>
                  <a:srgbClr val="7030A0"/>
                </a:solidFill>
              </a:rPr>
              <a:t>MCQs:</a:t>
            </a:r>
          </a:p>
        </p:txBody>
      </p:sp>
      <p:sp>
        <p:nvSpPr>
          <p:cNvPr id="10" name="TextBox 9">
            <a:extLst>
              <a:ext uri="{FF2B5EF4-FFF2-40B4-BE49-F238E27FC236}">
                <a16:creationId xmlns:a16="http://schemas.microsoft.com/office/drawing/2014/main" id="{C1BF40EA-0943-DDBF-61A7-502558518A72}"/>
              </a:ext>
            </a:extLst>
          </p:cNvPr>
          <p:cNvSpPr txBox="1"/>
          <p:nvPr/>
        </p:nvSpPr>
        <p:spPr>
          <a:xfrm>
            <a:off x="606322" y="1230791"/>
            <a:ext cx="6097554" cy="923330"/>
          </a:xfrm>
          <a:prstGeom prst="rect">
            <a:avLst/>
          </a:prstGeom>
          <a:noFill/>
        </p:spPr>
        <p:txBody>
          <a:bodyPr wrap="square">
            <a:spAutoFit/>
          </a:bodyPr>
          <a:lstStyle/>
          <a:p>
            <a:pPr algn="l"/>
            <a:r>
              <a:rPr lang="en-US" b="1" i="0" dirty="0">
                <a:effectLst/>
                <a:latin typeface="Verdana" panose="020B0604030504040204" pitchFamily="34" charset="0"/>
              </a:rPr>
              <a:t>7. What are the main operations of JVM?</a:t>
            </a:r>
          </a:p>
          <a:p>
            <a:br>
              <a:rPr lang="en-US" dirty="0"/>
            </a:br>
            <a:endParaRPr lang="fr-FR" dirty="0"/>
          </a:p>
        </p:txBody>
      </p:sp>
      <p:sp>
        <p:nvSpPr>
          <p:cNvPr id="12" name="TextBox 11">
            <a:extLst>
              <a:ext uri="{FF2B5EF4-FFF2-40B4-BE49-F238E27FC236}">
                <a16:creationId xmlns:a16="http://schemas.microsoft.com/office/drawing/2014/main" id="{193F0B4F-0C02-AA69-3F6B-E808B5DE662E}"/>
              </a:ext>
            </a:extLst>
          </p:cNvPr>
          <p:cNvSpPr txBox="1"/>
          <p:nvPr/>
        </p:nvSpPr>
        <p:spPr>
          <a:xfrm>
            <a:off x="606322" y="1732995"/>
            <a:ext cx="11280709" cy="369332"/>
          </a:xfrm>
          <a:prstGeom prst="rect">
            <a:avLst/>
          </a:prstGeom>
          <a:noFill/>
        </p:spPr>
        <p:txBody>
          <a:bodyPr wrap="square">
            <a:spAutoFit/>
          </a:bodyPr>
          <a:lstStyle/>
          <a:p>
            <a:pPr algn="l"/>
            <a:r>
              <a:rPr lang="en-US" b="1" i="0" dirty="0">
                <a:solidFill>
                  <a:srgbClr val="000000"/>
                </a:solidFill>
                <a:effectLst/>
                <a:latin typeface="Verdana" panose="020B0604030504040204" pitchFamily="34" charset="0"/>
              </a:rPr>
              <a:t>A. </a:t>
            </a:r>
            <a:r>
              <a:rPr lang="en-US" b="0" i="0" dirty="0">
                <a:solidFill>
                  <a:srgbClr val="000000"/>
                </a:solidFill>
                <a:effectLst/>
                <a:latin typeface="Verdana" panose="020B0604030504040204" pitchFamily="34" charset="0"/>
              </a:rPr>
              <a:t>1) To load code 2) To compile code 3) To executes code 4) To provide runtime environment.</a:t>
            </a:r>
          </a:p>
        </p:txBody>
      </p:sp>
      <p:sp>
        <p:nvSpPr>
          <p:cNvPr id="8" name="Rectangle 4">
            <a:extLst>
              <a:ext uri="{FF2B5EF4-FFF2-40B4-BE49-F238E27FC236}">
                <a16:creationId xmlns:a16="http://schemas.microsoft.com/office/drawing/2014/main" id="{6B347EC8-E8A3-DCB5-8DB0-C390FA06AF51}"/>
              </a:ext>
            </a:extLst>
          </p:cNvPr>
          <p:cNvSpPr>
            <a:spLocks noChangeArrowheads="1"/>
          </p:cNvSpPr>
          <p:nvPr/>
        </p:nvSpPr>
        <p:spPr bwMode="auto">
          <a:xfrm>
            <a:off x="568832" y="2211530"/>
            <a:ext cx="11206208" cy="800219"/>
          </a:xfrm>
          <a:prstGeom prst="rect">
            <a:avLst/>
          </a:prstGeom>
          <a:solidFill>
            <a:srgbClr val="FFFF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solidFill>
                  <a:srgbClr val="000000"/>
                </a:solidFill>
                <a:latin typeface="Verdana" panose="020B0604030504040204" pitchFamily="34" charset="0"/>
              </a:rPr>
              <a:t>B.</a:t>
            </a:r>
            <a:r>
              <a:rPr lang="en-US" altLang="en-US" dirty="0">
                <a:solidFill>
                  <a:srgbClr val="000000"/>
                </a:solidFill>
                <a:latin typeface="Verdana" panose="020B0604030504040204" pitchFamily="34" charset="0"/>
              </a:rPr>
              <a:t> 1) To compile code 2) To load code 3) To Executes code 4) To provide runtime environment.</a:t>
            </a:r>
          </a:p>
          <a:p>
            <a:pPr marL="0" marR="0" lvl="0" indent="0" algn="ctr"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333333"/>
                </a:solidFill>
                <a:effectLst/>
                <a:latin typeface="Verdana" panose="020B060403050404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6171BF44-0040-9E8C-2FB6-0FDC25D68CE5}"/>
              </a:ext>
            </a:extLst>
          </p:cNvPr>
          <p:cNvSpPr txBox="1"/>
          <p:nvPr/>
        </p:nvSpPr>
        <p:spPr>
          <a:xfrm>
            <a:off x="606322" y="2731700"/>
            <a:ext cx="11355355" cy="369332"/>
          </a:xfrm>
          <a:prstGeom prst="rect">
            <a:avLst/>
          </a:prstGeom>
          <a:noFill/>
        </p:spPr>
        <p:txBody>
          <a:bodyPr wrap="square">
            <a:spAutoFit/>
          </a:bodyPr>
          <a:lstStyle/>
          <a:p>
            <a:r>
              <a:rPr lang="en-US" b="1" i="0" dirty="0">
                <a:solidFill>
                  <a:srgbClr val="000000"/>
                </a:solidFill>
                <a:effectLst/>
                <a:latin typeface="Verdana" panose="020B0604030504040204" pitchFamily="34" charset="0"/>
              </a:rPr>
              <a:t>C. </a:t>
            </a:r>
            <a:r>
              <a:rPr lang="en-US" b="0" i="0" dirty="0">
                <a:solidFill>
                  <a:srgbClr val="000000"/>
                </a:solidFill>
                <a:effectLst/>
                <a:latin typeface="Verdana" panose="020B0604030504040204" pitchFamily="34" charset="0"/>
              </a:rPr>
              <a:t>1) To debug code 2) To compile code 3) To Executes code 4) To provide runtime environment.</a:t>
            </a:r>
            <a:endParaRPr lang="fr-FR" dirty="0"/>
          </a:p>
        </p:txBody>
      </p:sp>
      <p:sp>
        <p:nvSpPr>
          <p:cNvPr id="17" name="TextBox 16">
            <a:extLst>
              <a:ext uri="{FF2B5EF4-FFF2-40B4-BE49-F238E27FC236}">
                <a16:creationId xmlns:a16="http://schemas.microsoft.com/office/drawing/2014/main" id="{B1A7CCEF-E6E8-8754-EE29-AF8B2D8B697E}"/>
              </a:ext>
            </a:extLst>
          </p:cNvPr>
          <p:cNvSpPr txBox="1"/>
          <p:nvPr/>
        </p:nvSpPr>
        <p:spPr>
          <a:xfrm>
            <a:off x="606322" y="3208753"/>
            <a:ext cx="11392845" cy="369332"/>
          </a:xfrm>
          <a:prstGeom prst="rect">
            <a:avLst/>
          </a:prstGeom>
          <a:noFill/>
        </p:spPr>
        <p:txBody>
          <a:bodyPr wrap="square">
            <a:spAutoFit/>
          </a:bodyPr>
          <a:lstStyle/>
          <a:p>
            <a:r>
              <a:rPr lang="en-US" b="1" i="0" dirty="0">
                <a:solidFill>
                  <a:srgbClr val="000000"/>
                </a:solidFill>
                <a:effectLst/>
                <a:latin typeface="Verdana" panose="020B0604030504040204" pitchFamily="34" charset="0"/>
              </a:rPr>
              <a:t>D. </a:t>
            </a:r>
            <a:r>
              <a:rPr lang="en-US" i="0" dirty="0">
                <a:solidFill>
                  <a:srgbClr val="000000"/>
                </a:solidFill>
                <a:effectLst/>
                <a:latin typeface="Verdana" panose="020B0604030504040204" pitchFamily="34" charset="0"/>
              </a:rPr>
              <a:t>1) To load code 2) To Verify code 3) To Executes code 4) To provide runtime environment.</a:t>
            </a:r>
            <a:endParaRPr lang="fr-FR" dirty="0"/>
          </a:p>
        </p:txBody>
      </p:sp>
      <p:sp>
        <p:nvSpPr>
          <p:cNvPr id="14" name="TextBox 13">
            <a:extLst>
              <a:ext uri="{FF2B5EF4-FFF2-40B4-BE49-F238E27FC236}">
                <a16:creationId xmlns:a16="http://schemas.microsoft.com/office/drawing/2014/main" id="{95D6277E-6C2E-1710-4E39-2BA04D9B241A}"/>
              </a:ext>
            </a:extLst>
          </p:cNvPr>
          <p:cNvSpPr txBox="1"/>
          <p:nvPr/>
        </p:nvSpPr>
        <p:spPr>
          <a:xfrm>
            <a:off x="690465" y="3902629"/>
            <a:ext cx="8145625" cy="2308324"/>
          </a:xfrm>
          <a:prstGeom prst="rect">
            <a:avLst/>
          </a:prstGeom>
          <a:noFill/>
        </p:spPr>
        <p:txBody>
          <a:bodyPr wrap="square" rtlCol="0">
            <a:spAutoFit/>
          </a:bodyPr>
          <a:lstStyle/>
          <a:p>
            <a:r>
              <a:rPr lang="en-IN" sz="2400" b="1" dirty="0"/>
              <a:t>8. Which of the following is not a part of JRE?</a:t>
            </a:r>
          </a:p>
          <a:p>
            <a:pPr marL="342900" indent="-342900">
              <a:buAutoNum type="arabicPeriod"/>
            </a:pPr>
            <a:r>
              <a:rPr lang="en-IN" sz="2400" dirty="0"/>
              <a:t>JVM</a:t>
            </a:r>
          </a:p>
          <a:p>
            <a:pPr marL="342900" indent="-342900">
              <a:buAutoNum type="arabicPeriod"/>
            </a:pPr>
            <a:r>
              <a:rPr lang="en-IN" sz="2400" dirty="0"/>
              <a:t>Java Class Libraries</a:t>
            </a:r>
          </a:p>
          <a:p>
            <a:pPr marL="342900" indent="-342900">
              <a:buAutoNum type="arabicPeriod"/>
            </a:pPr>
            <a:r>
              <a:rPr lang="en-IN" sz="2400" dirty="0" err="1"/>
              <a:t>Javac</a:t>
            </a:r>
            <a:endParaRPr lang="en-IN" sz="2400" dirty="0"/>
          </a:p>
          <a:p>
            <a:pPr marL="342900" indent="-342900">
              <a:buAutoNum type="arabicPeriod"/>
            </a:pPr>
            <a:r>
              <a:rPr lang="en-IN" sz="2400" dirty="0"/>
              <a:t>Achieve .jar files</a:t>
            </a:r>
          </a:p>
          <a:p>
            <a:pPr marL="342900" indent="-342900">
              <a:buAutoNum type="arabicPeriod"/>
            </a:pPr>
            <a:endParaRPr lang="en-IN" sz="2400" dirty="0"/>
          </a:p>
        </p:txBody>
      </p:sp>
    </p:spTree>
    <p:extLst>
      <p:ext uri="{BB962C8B-B14F-4D97-AF65-F5344CB8AC3E}">
        <p14:creationId xmlns:p14="http://schemas.microsoft.com/office/powerpoint/2010/main" val="17588088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8508"/>
            <a:ext cx="11433061" cy="646331"/>
          </a:xfrm>
          <a:prstGeom prst="rect">
            <a:avLst/>
          </a:prstGeom>
          <a:noFill/>
        </p:spPr>
        <p:txBody>
          <a:bodyPr wrap="square" rtlCol="0">
            <a:spAutoFit/>
          </a:bodyPr>
          <a:lstStyle/>
          <a:p>
            <a:pPr algn="just">
              <a:spcAft>
                <a:spcPts val="1800"/>
              </a:spcAft>
            </a:pPr>
            <a:r>
              <a:rPr lang="en-US" sz="3600" u="sng" dirty="0">
                <a:solidFill>
                  <a:srgbClr val="7030A0"/>
                </a:solidFill>
              </a:rPr>
              <a:t>MCQs:</a:t>
            </a:r>
          </a:p>
        </p:txBody>
      </p:sp>
      <p:sp>
        <p:nvSpPr>
          <p:cNvPr id="11" name="TextBox 10">
            <a:extLst>
              <a:ext uri="{FF2B5EF4-FFF2-40B4-BE49-F238E27FC236}">
                <a16:creationId xmlns:a16="http://schemas.microsoft.com/office/drawing/2014/main" id="{2ECD2937-9342-4276-1CF7-625033167848}"/>
              </a:ext>
            </a:extLst>
          </p:cNvPr>
          <p:cNvSpPr txBox="1"/>
          <p:nvPr/>
        </p:nvSpPr>
        <p:spPr>
          <a:xfrm>
            <a:off x="872412" y="1309823"/>
            <a:ext cx="7746741" cy="1938992"/>
          </a:xfrm>
          <a:prstGeom prst="rect">
            <a:avLst/>
          </a:prstGeom>
          <a:noFill/>
        </p:spPr>
        <p:txBody>
          <a:bodyPr wrap="square">
            <a:spAutoFit/>
          </a:bodyPr>
          <a:lstStyle/>
          <a:p>
            <a:pPr>
              <a:spcAft>
                <a:spcPts val="1200"/>
              </a:spcAft>
            </a:pPr>
            <a:r>
              <a:rPr lang="en-US" sz="2200" b="1" dirty="0">
                <a:solidFill>
                  <a:srgbClr val="3A3A3A"/>
                </a:solidFill>
                <a:latin typeface="Open Sans" panose="020B0606030504020204" pitchFamily="34" charset="0"/>
              </a:rPr>
              <a:t>9</a:t>
            </a:r>
            <a:r>
              <a:rPr lang="en-US" sz="2200" b="1" i="0" dirty="0">
                <a:solidFill>
                  <a:srgbClr val="3A3A3A"/>
                </a:solidFill>
                <a:effectLst/>
                <a:latin typeface="Open Sans" panose="020B0606030504020204" pitchFamily="34" charset="0"/>
              </a:rPr>
              <a:t>. Which one of the following is not a feature of Java?</a:t>
            </a:r>
          </a:p>
          <a:p>
            <a:pPr>
              <a:spcAft>
                <a:spcPts val="1200"/>
              </a:spcAft>
            </a:pPr>
            <a:r>
              <a:rPr lang="en-US" sz="2200" b="0" i="0" dirty="0">
                <a:solidFill>
                  <a:srgbClr val="3A3A3A"/>
                </a:solidFill>
                <a:effectLst/>
                <a:latin typeface="Open Sans" panose="020B0606030504020204" pitchFamily="34" charset="0"/>
              </a:rPr>
              <a:t>a) Object-oriented</a:t>
            </a:r>
            <a:br>
              <a:rPr lang="en-US" sz="2200" dirty="0"/>
            </a:br>
            <a:r>
              <a:rPr lang="en-US" sz="2200" b="0" i="0" dirty="0">
                <a:solidFill>
                  <a:srgbClr val="3A3A3A"/>
                </a:solidFill>
                <a:effectLst/>
                <a:latin typeface="Open Sans" panose="020B0606030504020204" pitchFamily="34" charset="0"/>
              </a:rPr>
              <a:t>b) Use of pointers</a:t>
            </a:r>
            <a:br>
              <a:rPr lang="en-US" sz="2200" dirty="0"/>
            </a:br>
            <a:r>
              <a:rPr lang="en-US" sz="2200" b="0" i="0" dirty="0">
                <a:solidFill>
                  <a:srgbClr val="3A3A3A"/>
                </a:solidFill>
                <a:effectLst/>
                <a:latin typeface="Open Sans" panose="020B0606030504020204" pitchFamily="34" charset="0"/>
              </a:rPr>
              <a:t>c) Portable</a:t>
            </a:r>
            <a:br>
              <a:rPr lang="en-US" sz="2200" dirty="0"/>
            </a:br>
            <a:r>
              <a:rPr lang="en-US" sz="2200" b="0" i="0" dirty="0">
                <a:solidFill>
                  <a:srgbClr val="3A3A3A"/>
                </a:solidFill>
                <a:effectLst/>
                <a:latin typeface="Open Sans" panose="020B0606030504020204" pitchFamily="34" charset="0"/>
              </a:rPr>
              <a:t>d) Dynamic and Extensible</a:t>
            </a:r>
            <a:endParaRPr lang="fr-FR" sz="2200" dirty="0"/>
          </a:p>
        </p:txBody>
      </p:sp>
      <p:sp>
        <p:nvSpPr>
          <p:cNvPr id="13" name="TextBox 12">
            <a:extLst>
              <a:ext uri="{FF2B5EF4-FFF2-40B4-BE49-F238E27FC236}">
                <a16:creationId xmlns:a16="http://schemas.microsoft.com/office/drawing/2014/main" id="{EA703CD2-6B5C-4BE8-8960-CC412CF50460}"/>
              </a:ext>
            </a:extLst>
          </p:cNvPr>
          <p:cNvSpPr txBox="1"/>
          <p:nvPr/>
        </p:nvSpPr>
        <p:spPr>
          <a:xfrm>
            <a:off x="872412" y="3733800"/>
            <a:ext cx="11238723" cy="1938992"/>
          </a:xfrm>
          <a:prstGeom prst="rect">
            <a:avLst/>
          </a:prstGeom>
          <a:noFill/>
        </p:spPr>
        <p:txBody>
          <a:bodyPr wrap="square">
            <a:spAutoFit/>
          </a:bodyPr>
          <a:lstStyle/>
          <a:p>
            <a:pPr algn="l" fontAlgn="base">
              <a:spcAft>
                <a:spcPts val="1200"/>
              </a:spcAft>
            </a:pPr>
            <a:r>
              <a:rPr lang="en-US" sz="2200" b="1" i="0" u="none" strike="noStrike" dirty="0">
                <a:solidFill>
                  <a:srgbClr val="333333"/>
                </a:solidFill>
                <a:effectLst/>
                <a:latin typeface="Open Sans" panose="020B0606030504020204" pitchFamily="34" charset="0"/>
              </a:rPr>
              <a:t>Q10. Which of the following option leads to the portability and security of Java?</a:t>
            </a:r>
            <a:endParaRPr lang="en-US" sz="2200" b="0" i="0" u="none" strike="noStrike" dirty="0">
              <a:solidFill>
                <a:srgbClr val="333333"/>
              </a:solidFill>
              <a:effectLst/>
              <a:latin typeface="Open Sans" panose="020B0606030504020204" pitchFamily="34" charset="0"/>
            </a:endParaRPr>
          </a:p>
          <a:p>
            <a:pPr algn="l" fontAlgn="base"/>
            <a:r>
              <a:rPr lang="en-US" sz="2200" b="1" i="0" u="none" strike="noStrike" dirty="0">
                <a:solidFill>
                  <a:srgbClr val="333333"/>
                </a:solidFill>
                <a:effectLst/>
                <a:latin typeface="Open Sans" panose="020B0606030504020204" pitchFamily="34" charset="0"/>
              </a:rPr>
              <a:t>a) </a:t>
            </a:r>
            <a:r>
              <a:rPr lang="en-US" sz="2200" b="0" i="0" u="none" strike="noStrike" dirty="0">
                <a:solidFill>
                  <a:srgbClr val="333333"/>
                </a:solidFill>
                <a:effectLst/>
                <a:latin typeface="Open Sans" panose="020B0606030504020204" pitchFamily="34" charset="0"/>
              </a:rPr>
              <a:t>Bytecode is executed by JVM</a:t>
            </a:r>
          </a:p>
          <a:p>
            <a:pPr algn="l" fontAlgn="base"/>
            <a:r>
              <a:rPr lang="en-US" sz="2200" b="1" i="0" u="none" strike="noStrike" dirty="0">
                <a:solidFill>
                  <a:srgbClr val="333333"/>
                </a:solidFill>
                <a:effectLst/>
                <a:latin typeface="Open Sans" panose="020B0606030504020204" pitchFamily="34" charset="0"/>
              </a:rPr>
              <a:t>b) </a:t>
            </a:r>
            <a:r>
              <a:rPr lang="en-US" sz="2200" b="0" i="0" u="none" strike="noStrike" dirty="0">
                <a:solidFill>
                  <a:srgbClr val="333333"/>
                </a:solidFill>
                <a:effectLst/>
                <a:latin typeface="Open Sans" panose="020B0606030504020204" pitchFamily="34" charset="0"/>
              </a:rPr>
              <a:t>The applet makes the Java code secure and portable</a:t>
            </a:r>
          </a:p>
          <a:p>
            <a:pPr algn="l" fontAlgn="base"/>
            <a:r>
              <a:rPr lang="en-US" sz="2200" b="1" i="0" u="none" strike="noStrike" dirty="0">
                <a:solidFill>
                  <a:srgbClr val="333333"/>
                </a:solidFill>
                <a:effectLst/>
                <a:latin typeface="Open Sans" panose="020B0606030504020204" pitchFamily="34" charset="0"/>
              </a:rPr>
              <a:t>c) </a:t>
            </a:r>
            <a:r>
              <a:rPr lang="en-US" sz="2200" b="0" i="0" u="none" strike="noStrike" dirty="0">
                <a:solidFill>
                  <a:srgbClr val="333333"/>
                </a:solidFill>
                <a:effectLst/>
                <a:latin typeface="Open Sans" panose="020B0606030504020204" pitchFamily="34" charset="0"/>
              </a:rPr>
              <a:t>Use of exception handling</a:t>
            </a:r>
          </a:p>
          <a:p>
            <a:pPr algn="l" fontAlgn="base"/>
            <a:r>
              <a:rPr lang="en-US" sz="2200" b="1" i="0" u="none" strike="noStrike" dirty="0">
                <a:solidFill>
                  <a:srgbClr val="333333"/>
                </a:solidFill>
                <a:effectLst/>
                <a:latin typeface="Open Sans" panose="020B0606030504020204" pitchFamily="34" charset="0"/>
              </a:rPr>
              <a:t>d) </a:t>
            </a:r>
            <a:r>
              <a:rPr lang="en-US" sz="2200" b="0" i="0" u="none" strike="noStrike" dirty="0">
                <a:solidFill>
                  <a:srgbClr val="333333"/>
                </a:solidFill>
                <a:effectLst/>
                <a:latin typeface="Open Sans" panose="020B0606030504020204" pitchFamily="34" charset="0"/>
              </a:rPr>
              <a:t>Dynamic binding between objects</a:t>
            </a:r>
          </a:p>
        </p:txBody>
      </p:sp>
    </p:spTree>
    <p:extLst>
      <p:ext uri="{BB962C8B-B14F-4D97-AF65-F5344CB8AC3E}">
        <p14:creationId xmlns:p14="http://schemas.microsoft.com/office/powerpoint/2010/main" val="2253159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6" descr="Introduction to VB.NET - Page 2">
            <a:extLst>
              <a:ext uri="{FF2B5EF4-FFF2-40B4-BE49-F238E27FC236}">
                <a16:creationId xmlns:a16="http://schemas.microsoft.com/office/drawing/2014/main" id="{6D695191-D386-6505-EB90-5661567D9E2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634A4CFE-C0FE-E395-3CB6-8225DAC90ADC}"/>
              </a:ext>
            </a:extLst>
          </p:cNvPr>
          <p:cNvSpPr txBox="1"/>
          <p:nvPr/>
        </p:nvSpPr>
        <p:spPr>
          <a:xfrm>
            <a:off x="379469" y="178508"/>
            <a:ext cx="11433061" cy="646331"/>
          </a:xfrm>
          <a:prstGeom prst="rect">
            <a:avLst/>
          </a:prstGeom>
          <a:noFill/>
        </p:spPr>
        <p:txBody>
          <a:bodyPr wrap="square" rtlCol="0">
            <a:spAutoFit/>
          </a:bodyPr>
          <a:lstStyle/>
          <a:p>
            <a:pPr algn="just">
              <a:spcAft>
                <a:spcPts val="1800"/>
              </a:spcAft>
            </a:pPr>
            <a:r>
              <a:rPr lang="en-US" sz="3600" u="sng" dirty="0">
                <a:solidFill>
                  <a:srgbClr val="7030A0"/>
                </a:solidFill>
              </a:rPr>
              <a:t>MCQs:</a:t>
            </a:r>
          </a:p>
        </p:txBody>
      </p:sp>
      <p:sp>
        <p:nvSpPr>
          <p:cNvPr id="7" name="TextBox 6">
            <a:extLst>
              <a:ext uri="{FF2B5EF4-FFF2-40B4-BE49-F238E27FC236}">
                <a16:creationId xmlns:a16="http://schemas.microsoft.com/office/drawing/2014/main" id="{D502FE71-7D32-9277-5963-3E56DDFB656E}"/>
              </a:ext>
            </a:extLst>
          </p:cNvPr>
          <p:cNvSpPr txBox="1"/>
          <p:nvPr/>
        </p:nvSpPr>
        <p:spPr>
          <a:xfrm>
            <a:off x="858417" y="1329526"/>
            <a:ext cx="8406882" cy="1938992"/>
          </a:xfrm>
          <a:prstGeom prst="rect">
            <a:avLst/>
          </a:prstGeom>
          <a:noFill/>
        </p:spPr>
        <p:txBody>
          <a:bodyPr wrap="square">
            <a:spAutoFit/>
          </a:bodyPr>
          <a:lstStyle/>
          <a:p>
            <a:pPr>
              <a:spcAft>
                <a:spcPts val="1200"/>
              </a:spcAft>
            </a:pPr>
            <a:r>
              <a:rPr lang="en-US" sz="2200" b="1" i="0" dirty="0">
                <a:solidFill>
                  <a:srgbClr val="3A3A3A"/>
                </a:solidFill>
                <a:effectLst/>
                <a:latin typeface="Open Sans" panose="020B0606030504020204" pitchFamily="34" charset="0"/>
              </a:rPr>
              <a:t>11. Which component is responsible to run java program?</a:t>
            </a:r>
          </a:p>
          <a:p>
            <a:pPr>
              <a:spcAft>
                <a:spcPts val="1200"/>
              </a:spcAft>
            </a:pPr>
            <a:r>
              <a:rPr lang="en-US" sz="2200" b="0" i="0" dirty="0">
                <a:solidFill>
                  <a:srgbClr val="3A3A3A"/>
                </a:solidFill>
                <a:effectLst/>
                <a:latin typeface="Open Sans" panose="020B0606030504020204" pitchFamily="34" charset="0"/>
              </a:rPr>
              <a:t>a) JVM</a:t>
            </a:r>
            <a:br>
              <a:rPr lang="en-US" sz="2200" dirty="0"/>
            </a:br>
            <a:r>
              <a:rPr lang="en-US" sz="2200" b="0" i="0" dirty="0">
                <a:solidFill>
                  <a:srgbClr val="3A3A3A"/>
                </a:solidFill>
                <a:effectLst/>
                <a:latin typeface="Open Sans" panose="020B0606030504020204" pitchFamily="34" charset="0"/>
              </a:rPr>
              <a:t>b) </a:t>
            </a:r>
            <a:r>
              <a:rPr lang="en-US" sz="2200" b="0" i="0" dirty="0" err="1">
                <a:solidFill>
                  <a:srgbClr val="3A3A3A"/>
                </a:solidFill>
                <a:effectLst/>
                <a:latin typeface="Open Sans" panose="020B0606030504020204" pitchFamily="34" charset="0"/>
              </a:rPr>
              <a:t>JDK</a:t>
            </a:r>
            <a:br>
              <a:rPr lang="en-US" sz="2200" dirty="0"/>
            </a:br>
            <a:r>
              <a:rPr lang="en-US" sz="2200" b="0" i="0" dirty="0">
                <a:solidFill>
                  <a:srgbClr val="3A3A3A"/>
                </a:solidFill>
                <a:effectLst/>
                <a:latin typeface="Open Sans" panose="020B0606030504020204" pitchFamily="34" charset="0"/>
              </a:rPr>
              <a:t>c) JIT</a:t>
            </a:r>
            <a:br>
              <a:rPr lang="en-US" sz="2200" dirty="0"/>
            </a:br>
            <a:r>
              <a:rPr lang="en-US" sz="2200" b="0" i="0" dirty="0">
                <a:solidFill>
                  <a:srgbClr val="3A3A3A"/>
                </a:solidFill>
                <a:effectLst/>
                <a:latin typeface="Open Sans" panose="020B0606030504020204" pitchFamily="34" charset="0"/>
              </a:rPr>
              <a:t>d) JRE</a:t>
            </a:r>
            <a:endParaRPr lang="fr-FR" sz="2200" dirty="0"/>
          </a:p>
        </p:txBody>
      </p:sp>
    </p:spTree>
    <p:extLst>
      <p:ext uri="{BB962C8B-B14F-4D97-AF65-F5344CB8AC3E}">
        <p14:creationId xmlns:p14="http://schemas.microsoft.com/office/powerpoint/2010/main" val="2907844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3083</TotalTime>
  <Words>4213</Words>
  <Application>Microsoft Office PowerPoint</Application>
  <PresentationFormat>Widescreen</PresentationFormat>
  <Paragraphs>360</Paragraphs>
  <Slides>48</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48</vt:i4>
      </vt:variant>
    </vt:vector>
  </HeadingPairs>
  <TitlesOfParts>
    <vt:vector size="62" baseType="lpstr">
      <vt:lpstr>Arial</vt:lpstr>
      <vt:lpstr>Calibri</vt:lpstr>
      <vt:lpstr>Calibri Light</vt:lpstr>
      <vt:lpstr>erdana</vt:lpstr>
      <vt:lpstr>inter-bold</vt:lpstr>
      <vt:lpstr>inter-regular</vt:lpstr>
      <vt:lpstr>Nunito</vt:lpstr>
      <vt:lpstr>Open Sans</vt:lpstr>
      <vt:lpstr>Source Sans Pro</vt:lpstr>
      <vt:lpstr>Times New Roman</vt:lpstr>
      <vt:lpstr>urw-din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Ajay Rastogy</dc:creator>
  <cp:lastModifiedBy>Ajay Rastogy</cp:lastModifiedBy>
  <cp:revision>45</cp:revision>
  <dcterms:created xsi:type="dcterms:W3CDTF">2022-05-14T16:51:17Z</dcterms:created>
  <dcterms:modified xsi:type="dcterms:W3CDTF">2022-07-15T05:25:44Z</dcterms:modified>
</cp:coreProperties>
</file>