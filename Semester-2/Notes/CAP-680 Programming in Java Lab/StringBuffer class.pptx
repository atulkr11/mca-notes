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339" r:id="rId2"/>
    <p:sldId id="323" r:id="rId3"/>
    <p:sldId id="334" r:id="rId4"/>
    <p:sldId id="324" r:id="rId5"/>
    <p:sldId id="325" r:id="rId6"/>
    <p:sldId id="326" r:id="rId7"/>
    <p:sldId id="343" r:id="rId8"/>
    <p:sldId id="327" r:id="rId9"/>
    <p:sldId id="341" r:id="rId10"/>
    <p:sldId id="332" r:id="rId11"/>
    <p:sldId id="328" r:id="rId12"/>
    <p:sldId id="329" r:id="rId13"/>
    <p:sldId id="333" r:id="rId14"/>
    <p:sldId id="330" r:id="rId15"/>
    <p:sldId id="331" r:id="rId16"/>
    <p:sldId id="274" r:id="rId17"/>
    <p:sldId id="340" r:id="rId1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umar" initials="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>
      <p:cViewPr varScale="1">
        <p:scale>
          <a:sx n="72" d="100"/>
          <a:sy n="72" d="100"/>
        </p:scale>
        <p:origin x="132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15B114A-F8C1-4ABE-9628-100FCBE5451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9E01B8-64F8-416F-89D9-5A597AF3DEE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DD28B758-7D0F-4F1D-9EE9-7DFD421445C4}" type="datetimeFigureOut">
              <a:rPr lang="en-US"/>
              <a:pPr>
                <a:defRPr/>
              </a:pPr>
              <a:t>3/7/2022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9B0537C-F857-4540-AB3A-1A609460B4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28FDC8E-4DDF-480A-9909-4918101F8D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8FD19D-52A1-44BE-8921-231129190D1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AE8C65-583F-4248-978E-D8D9C1ADFD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BE7EA5B-8418-4031-9FF4-71BFE67C46AF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688BE-1811-4FDC-B140-8ECE6BFDE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62F60A-3853-4F2B-BC24-848CCD72E97E}" type="datetimeFigureOut">
              <a:rPr lang="en-US"/>
              <a:pPr>
                <a:defRPr/>
              </a:pPr>
              <a:t>3/7/2022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0D136-8F87-4E18-A4C6-2DFD98E49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42CC51-1255-41C8-97AD-74D6B3EA1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E22422-CDF2-4490-A15A-E82EF7F46C0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6734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783CD0-9819-4516-AB07-025C6A1B8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DAAF89-150F-4613-AA91-348008D111BE}" type="datetimeFigureOut">
              <a:rPr lang="en-US"/>
              <a:pPr>
                <a:defRPr/>
              </a:pPr>
              <a:t>3/7/2022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C5D844-1593-4DEB-A060-D962724C9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DD5848-8275-41EB-B8BF-E71E8DDE0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602A84-4C1B-4615-AB5E-F82791348FA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6069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49FDEA-02E0-4EA5-B36F-6BF57C096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601B66-B8A1-4D79-A17C-79C8E5E12262}" type="datetimeFigureOut">
              <a:rPr lang="en-US"/>
              <a:pPr>
                <a:defRPr/>
              </a:pPr>
              <a:t>3/7/2022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365D9F-56F6-433D-B297-CCA703B58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5B606-B84E-498F-81AC-3A9A00FCC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15C4BA-18B8-4019-8CEF-7AFFEEFF855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0902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E1908DF-1BCC-4BA7-81B5-0CF3BF603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28AF0D-8A9F-4C44-B2E4-50DDFE8EE106}" type="datetimeFigureOut">
              <a:rPr lang="en-US"/>
              <a:pPr>
                <a:defRPr/>
              </a:pPr>
              <a:t>3/7/2022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3EAF128-9F51-4150-8F81-B9345F29C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B982F38-63BE-4069-9FB1-B6F6EF404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FDC1CF-3744-43EA-9F61-D0E36506AFE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1421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5CE0A95-7FE2-4BED-8D3E-EA12AD1A5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A11A55-5E05-483A-A5D6-B62DD935C44C}" type="datetimeFigureOut">
              <a:rPr lang="en-US"/>
              <a:pPr>
                <a:defRPr/>
              </a:pPr>
              <a:t>3/7/2022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C9295F4-1403-4A61-BE26-A0C38675A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C295427-6E1B-42A8-929F-F4555CDE3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09CC3E-A540-4702-B893-DE1B2DEC742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5820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E3F6DD81-A521-4641-911B-D6C0F154C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14A65E-8688-49BE-BD79-52FD769215FB}" type="datetimeFigureOut">
              <a:rPr lang="en-US"/>
              <a:pPr>
                <a:defRPr/>
              </a:pPr>
              <a:t>3/7/2022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E212D29-BDC6-4191-8C28-78A09EBF9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0FFDE16-E739-49D7-8432-EC6D326A1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A8D366-D5EC-470B-8804-A3A7953E98C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9402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78D64CBC-C374-4CE5-875C-05D2D1889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701800-2707-4350-B092-78941CE4389A}" type="datetimeFigureOut">
              <a:rPr lang="en-US"/>
              <a:pPr>
                <a:defRPr/>
              </a:pPr>
              <a:t>3/7/2022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BCF9E5A-8314-49DD-A70D-15379980D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75A0478-175A-4044-9896-9290C5B4A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D96124-36D2-42B0-9773-10291CBE8B9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381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B7B9D0D-42A0-4F83-AF1A-CC427DDA8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8E2948-D4F8-4E30-9AD9-2828C39515BC}" type="datetimeFigureOut">
              <a:rPr lang="en-US"/>
              <a:pPr>
                <a:defRPr/>
              </a:pPr>
              <a:t>3/7/2022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246AC4A-C6D2-406B-B53B-1D1E7E154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4342935-58EA-4CBD-A931-0E42BCDCE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035362-30F2-4D81-8913-D66B3547CEC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8408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53506E6-27C9-46D8-ADC5-9124554A6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6A0978-FD7D-4068-BE7C-A31A12EA5AB7}" type="datetimeFigureOut">
              <a:rPr lang="en-US"/>
              <a:pPr>
                <a:defRPr/>
              </a:pPr>
              <a:t>3/7/2022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C18B4A3-A388-4CDB-B4D6-66381B798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9CD13D5-9C21-4C0A-84BE-48FEDF62B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BCE581-13E9-4727-A8B4-E81C968F37B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736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1FC04-EA94-4FA0-A15B-8FAB3DD3D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D37C76-2AF4-4864-A255-F0E35C6589C3}" type="datetimeFigureOut">
              <a:rPr lang="en-US"/>
              <a:pPr>
                <a:defRPr/>
              </a:pPr>
              <a:t>3/7/2022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ED66C-4F87-4120-A814-969119FCC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113AE8-0E8B-4E4D-A3FE-DF307048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D37145-7CD1-4FA5-811A-587C2C3525B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4221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E8265-8233-46A4-A3E0-992681C89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78CC8D-B900-498F-885B-F4E0692F5E61}" type="datetimeFigureOut">
              <a:rPr lang="en-US"/>
              <a:pPr>
                <a:defRPr/>
              </a:pPr>
              <a:t>3/7/2022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5C362-9580-4E44-9343-1642247AE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FDB38D-5447-48D5-9B51-1CA43F939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95EB6D-078E-4987-B965-7C05F31E0F3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4020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3429000"/>
            <a:ext cx="7086600" cy="1752600"/>
          </a:xfrm>
        </p:spPr>
        <p:txBody>
          <a:bodyPr/>
          <a:lstStyle>
            <a:lvl1pPr marL="0" indent="0" algn="l">
              <a:buNone/>
              <a:defRPr>
                <a:solidFill>
                  <a:srgbClr val="C000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839322" y="3352800"/>
            <a:ext cx="7056784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839322" y="3352800"/>
            <a:ext cx="7056784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4" y="0"/>
            <a:ext cx="9124950" cy="94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4" y="0"/>
            <a:ext cx="9124950" cy="94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Subtitle 2"/>
          <p:cNvSpPr txBox="1">
            <a:spLocks/>
          </p:cNvSpPr>
          <p:nvPr/>
        </p:nvSpPr>
        <p:spPr>
          <a:xfrm>
            <a:off x="1375935" y="3886200"/>
            <a:ext cx="64008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rgbClr val="C00000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043608" y="3352800"/>
            <a:ext cx="7056784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4" y="0"/>
            <a:ext cx="9124950" cy="94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Subtitle 2"/>
          <p:cNvSpPr txBox="1">
            <a:spLocks/>
          </p:cNvSpPr>
          <p:nvPr userDrawn="1"/>
        </p:nvSpPr>
        <p:spPr>
          <a:xfrm>
            <a:off x="1375935" y="3886200"/>
            <a:ext cx="64008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rgbClr val="C00000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cxnSp>
        <p:nvCxnSpPr>
          <p:cNvPr id="16" name="Straight Connector 15"/>
          <p:cNvCxnSpPr/>
          <p:nvPr userDrawn="1"/>
        </p:nvCxnSpPr>
        <p:spPr>
          <a:xfrm>
            <a:off x="1043608" y="3352800"/>
            <a:ext cx="7056784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 userDrawn="1"/>
        </p:nvSpPr>
        <p:spPr>
          <a:xfrm>
            <a:off x="4556070" y="5562600"/>
            <a:ext cx="457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0" dirty="0">
                <a:solidFill>
                  <a:srgbClr val="002060"/>
                </a:solidFill>
                <a:latin typeface="Arial Rounded MT Bold" pitchFamily="34" charset="0"/>
              </a:rPr>
              <a:t>Created By: 		</a:t>
            </a:r>
          </a:p>
          <a:p>
            <a:pPr algn="r"/>
            <a:r>
              <a:rPr lang="en-US" sz="2000" b="0" dirty="0">
                <a:solidFill>
                  <a:srgbClr val="002060"/>
                </a:solidFill>
                <a:latin typeface="Arial Rounded MT Bold" pitchFamily="34" charset="0"/>
              </a:rPr>
              <a:t>Kumar Vishal</a:t>
            </a:r>
          </a:p>
          <a:p>
            <a:pPr algn="r"/>
            <a:r>
              <a:rPr lang="en-US" sz="2000" b="0" dirty="0">
                <a:solidFill>
                  <a:srgbClr val="002060"/>
                </a:solidFill>
                <a:latin typeface="Arial Rounded MT Bold" pitchFamily="34" charset="0"/>
              </a:rPr>
              <a:t>		(SCA),</a:t>
            </a:r>
            <a:r>
              <a:rPr lang="en-US" sz="2000" b="0" baseline="0" dirty="0">
                <a:solidFill>
                  <a:srgbClr val="002060"/>
                </a:solidFill>
                <a:latin typeface="Arial Rounded MT Bold" pitchFamily="34" charset="0"/>
              </a:rPr>
              <a:t> LPU</a:t>
            </a:r>
            <a:endParaRPr lang="en-US" sz="2000" b="0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5079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9001EBED-6D85-4AC3-B6B0-BCBEF7ABAD6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E54CE7AD-AA69-4259-B371-8BAC118AE0E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9162D-2E82-4D06-AD25-2B5BCFCA9C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837288D-3915-4357-97CE-5A5014EEECD5}" type="datetimeFigureOut">
              <a:rPr lang="en-US"/>
              <a:pPr>
                <a:defRPr/>
              </a:pPr>
              <a:t>3/7/2022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1F954D-EF48-435D-AE9D-D83AC7C8D6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95A389-AE07-4331-AA8F-4C1CF9AD85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B5666B64-BC88-4D36-B35F-54BA84B03AB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685800" y="1806575"/>
            <a:ext cx="7772400" cy="1470025"/>
          </a:xfrm>
        </p:spPr>
        <p:txBody>
          <a:bodyPr>
            <a:normAutofit/>
          </a:bodyPr>
          <a:lstStyle/>
          <a:p>
            <a:r>
              <a:rPr lang="en-US" dirty="0"/>
              <a:t>CAP680</a:t>
            </a:r>
            <a:br>
              <a:rPr lang="en-US" dirty="0"/>
            </a:br>
            <a:r>
              <a:rPr lang="en-US" dirty="0"/>
              <a:t>PROGRAMMING IN JAVA-LAB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BECCA4-3A37-4387-A2EA-0660123EB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3737" y="4558727"/>
            <a:ext cx="2295525" cy="229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589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>
            <a:extLst>
              <a:ext uri="{FF2B5EF4-FFF2-40B4-BE49-F238E27FC236}">
                <a16:creationId xmlns:a16="http://schemas.microsoft.com/office/drawing/2014/main" id="{B547E134-9A86-4B74-ADE9-7D63D6940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StringBuffer class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66563" name="Content Placeholder 2">
            <a:extLst>
              <a:ext uri="{FF2B5EF4-FFF2-40B4-BE49-F238E27FC236}">
                <a16:creationId xmlns:a16="http://schemas.microsoft.com/office/drawing/2014/main" id="{E8887319-3818-4FBC-B1FC-16C8BCD6D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/>
          <a:lstStyle/>
          <a:p>
            <a:pPr eaLnBrk="1" hangingPunct="1"/>
            <a:r>
              <a:rPr lang="en-US" altLang="en-US" dirty="0" err="1"/>
              <a:t>StringBuffer</a:t>
            </a:r>
            <a:r>
              <a:rPr lang="en-US" altLang="en-US" b="1" dirty="0"/>
              <a:t> </a:t>
            </a:r>
            <a:r>
              <a:rPr lang="en-US" altLang="en-US" dirty="0"/>
              <a:t>is mutable means one can change the value of the object .</a:t>
            </a:r>
          </a:p>
          <a:p>
            <a:pPr eaLnBrk="1" hangingPunct="1"/>
            <a:r>
              <a:rPr lang="en-US" altLang="en-US" dirty="0"/>
              <a:t> The object created through </a:t>
            </a:r>
            <a:r>
              <a:rPr lang="en-US" altLang="en-US" dirty="0" err="1"/>
              <a:t>StringBuffer</a:t>
            </a:r>
            <a:r>
              <a:rPr lang="en-US" altLang="en-US" dirty="0"/>
              <a:t> is stored in the heap . </a:t>
            </a:r>
          </a:p>
          <a:p>
            <a:pPr eaLnBrk="1" hangingPunct="1"/>
            <a:r>
              <a:rPr lang="en-US" altLang="en-US" dirty="0"/>
              <a:t>each method in </a:t>
            </a:r>
            <a:r>
              <a:rPr lang="en-US" altLang="en-US" dirty="0" err="1"/>
              <a:t>StringBuffer</a:t>
            </a:r>
            <a:r>
              <a:rPr lang="en-US" altLang="en-US" dirty="0"/>
              <a:t> is synchronized that is </a:t>
            </a:r>
            <a:r>
              <a:rPr lang="en-US" altLang="en-US" dirty="0" err="1"/>
              <a:t>StringBuffer</a:t>
            </a:r>
            <a:r>
              <a:rPr lang="en-US" altLang="en-US" dirty="0"/>
              <a:t> is thread safe due to this it does not allow  two threads to simultaneously access the same method . Each method can be accessed by one thread at a time .</a:t>
            </a:r>
            <a:br>
              <a:rPr lang="en-US" altLang="en-US" dirty="0"/>
            </a:br>
            <a:endParaRPr lang="en-US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1AF0995-B6D9-4220-BF33-9842E71EC09B}"/>
              </a:ext>
            </a:extLst>
          </p:cNvPr>
          <p:cNvGraphicFramePr>
            <a:graphicFrameLocks noGrp="1"/>
          </p:cNvGraphicFramePr>
          <p:nvPr/>
        </p:nvGraphicFramePr>
        <p:xfrm>
          <a:off x="381000" y="1295400"/>
          <a:ext cx="8458200" cy="2714948"/>
        </p:xfrm>
        <a:graphic>
          <a:graphicData uri="http://schemas.openxmlformats.org/drawingml/2006/table">
            <a:tbl>
              <a:tblPr/>
              <a:tblGrid>
                <a:gridCol w="422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0189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verdana"/>
                        </a:rPr>
                        <a:t>StringBuffer </a:t>
                      </a:r>
                      <a:endParaRPr lang="en-US" sz="1600" b="1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84180" marR="84180" marT="84169" marB="84169">
                    <a:lnL w="9525" cap="flat" cmpd="sng" algn="ctr">
                      <a:solidFill>
                        <a:srgbClr val="60C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0C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0C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/>
                        </a:rPr>
                        <a:t>StringBuilder</a:t>
                      </a:r>
                    </a:p>
                    <a:p>
                      <a:endParaRPr lang="en-US" sz="1300" dirty="0"/>
                    </a:p>
                  </a:txBody>
                  <a:tcPr marL="67344" marR="67344" marT="33668" marB="33668">
                    <a:lnL w="9525" cap="flat" cmpd="sng" algn="ctr">
                      <a:solidFill>
                        <a:srgbClr val="60C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3644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solidFill>
                            <a:srgbClr val="000000"/>
                          </a:solidFill>
                          <a:latin typeface="verdana"/>
                        </a:rPr>
                        <a:t>StringBuffer is </a:t>
                      </a:r>
                      <a:r>
                        <a:rPr lang="en-US" sz="1800" i="1" dirty="0">
                          <a:solidFill>
                            <a:srgbClr val="000000"/>
                          </a:solidFill>
                          <a:latin typeface="verdana"/>
                        </a:rPr>
                        <a:t>synchronized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latin typeface="verdana"/>
                        </a:rPr>
                        <a:t> i.e. thread safe. It means two threads can't call the methods of StringBuffer simultaneously.</a:t>
                      </a:r>
                    </a:p>
                  </a:txBody>
                  <a:tcPr marL="56120" marR="56120" marT="56113" marB="56113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solidFill>
                            <a:srgbClr val="000000"/>
                          </a:solidFill>
                          <a:latin typeface="verdana"/>
                        </a:rPr>
                        <a:t>StringBuilder is </a:t>
                      </a:r>
                      <a:r>
                        <a:rPr lang="en-US" sz="1800" i="1" dirty="0">
                          <a:solidFill>
                            <a:srgbClr val="000000"/>
                          </a:solidFill>
                          <a:latin typeface="verdana"/>
                        </a:rPr>
                        <a:t>non-synchronized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latin typeface="verdana"/>
                        </a:rPr>
                        <a:t> i.e. not thread safe. It means two threads can call the methods of StringBuilder simultaneously.</a:t>
                      </a:r>
                    </a:p>
                  </a:txBody>
                  <a:tcPr marL="56120" marR="56120" marT="56113" marB="56113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793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solidFill>
                            <a:srgbClr val="000000"/>
                          </a:solidFill>
                          <a:latin typeface="verdana"/>
                        </a:rPr>
                        <a:t>StringBuffer is </a:t>
                      </a:r>
                      <a:r>
                        <a:rPr lang="en-US" sz="1800" i="1">
                          <a:solidFill>
                            <a:srgbClr val="000000"/>
                          </a:solidFill>
                          <a:latin typeface="verdana"/>
                        </a:rPr>
                        <a:t>less efficient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verdana"/>
                        </a:rPr>
                        <a:t> than StringBuilder.</a:t>
                      </a:r>
                    </a:p>
                  </a:txBody>
                  <a:tcPr marL="56120" marR="56120" marT="56113" marB="56113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solidFill>
                            <a:srgbClr val="000000"/>
                          </a:solidFill>
                          <a:latin typeface="verdana"/>
                        </a:rPr>
                        <a:t>StringBuilder is </a:t>
                      </a:r>
                      <a:r>
                        <a:rPr lang="en-US" sz="1800" i="1" dirty="0">
                          <a:solidFill>
                            <a:srgbClr val="000000"/>
                          </a:solidFill>
                          <a:latin typeface="verdana"/>
                        </a:rPr>
                        <a:t>more efficient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latin typeface="verdana"/>
                        </a:rPr>
                        <a:t> than StringBuffer.</a:t>
                      </a:r>
                    </a:p>
                  </a:txBody>
                  <a:tcPr marL="56120" marR="56120" marT="56113" marB="56113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7604" name="TextBox 4">
            <a:extLst>
              <a:ext uri="{FF2B5EF4-FFF2-40B4-BE49-F238E27FC236}">
                <a16:creationId xmlns:a16="http://schemas.microsoft.com/office/drawing/2014/main" id="{B9DCD3A6-A9E5-400B-8ED9-7AE1818121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81000"/>
            <a:ext cx="8229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/>
              <a:t>Differences between StringBuffer and StringBuilder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>
            <a:extLst>
              <a:ext uri="{FF2B5EF4-FFF2-40B4-BE49-F238E27FC236}">
                <a16:creationId xmlns:a16="http://schemas.microsoft.com/office/drawing/2014/main" id="{F8D9B4F0-1D59-41AA-A594-A6DD90DC4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1143000"/>
          </a:xfrm>
        </p:spPr>
        <p:txBody>
          <a:bodyPr/>
          <a:lstStyle/>
          <a:p>
            <a:r>
              <a:rPr lang="en-US" altLang="en-US" sz="3600"/>
              <a:t>methods of StringBuffer/StringBuilder class </a:t>
            </a:r>
          </a:p>
        </p:txBody>
      </p:sp>
      <p:sp>
        <p:nvSpPr>
          <p:cNvPr id="68611" name="Content Placeholder 2">
            <a:extLst>
              <a:ext uri="{FF2B5EF4-FFF2-40B4-BE49-F238E27FC236}">
                <a16:creationId xmlns:a16="http://schemas.microsoft.com/office/drawing/2014/main" id="{FB7695BE-29F1-4D42-A395-BFE6C21E5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/>
          <a:lstStyle/>
          <a:p>
            <a:r>
              <a:rPr lang="en-US" altLang="en-US" sz="2800" b="1" i="1" dirty="0"/>
              <a:t> append()</a:t>
            </a:r>
          </a:p>
          <a:p>
            <a:r>
              <a:rPr lang="en-US" altLang="en-US" sz="2800" b="1" i="1" dirty="0"/>
              <a:t>capacity()</a:t>
            </a:r>
          </a:p>
          <a:p>
            <a:r>
              <a:rPr lang="en-US" altLang="en-US" sz="2800" b="1" dirty="0" err="1"/>
              <a:t>ensureCapacity</a:t>
            </a:r>
            <a:r>
              <a:rPr lang="en-US" altLang="en-US" sz="2800" b="1" dirty="0"/>
              <a:t>()</a:t>
            </a:r>
            <a:r>
              <a:rPr lang="en-US" altLang="en-US" sz="2800" dirty="0"/>
              <a:t> </a:t>
            </a:r>
            <a:endParaRPr lang="en-US" altLang="en-US" sz="2800" b="1" i="1" dirty="0"/>
          </a:p>
          <a:p>
            <a:r>
              <a:rPr lang="en-US" altLang="en-US" sz="2800" b="1" i="1" dirty="0"/>
              <a:t>insert()</a:t>
            </a:r>
          </a:p>
          <a:p>
            <a:r>
              <a:rPr lang="en-US" altLang="en-US" sz="2800" b="1" dirty="0"/>
              <a:t>reverse()</a:t>
            </a:r>
          </a:p>
          <a:p>
            <a:r>
              <a:rPr lang="en-US" altLang="en-US" sz="2800" b="1" dirty="0"/>
              <a:t>replace()</a:t>
            </a:r>
          </a:p>
          <a:p>
            <a:r>
              <a:rPr lang="en-US" altLang="en-US" sz="2800" b="1" dirty="0"/>
              <a:t>length()</a:t>
            </a:r>
            <a:r>
              <a:rPr lang="en-US" altLang="en-US" sz="2800" dirty="0"/>
              <a:t> </a:t>
            </a:r>
          </a:p>
          <a:p>
            <a:r>
              <a:rPr lang="en-US" altLang="en-US" sz="2800" b="1" dirty="0"/>
              <a:t>delete()</a:t>
            </a:r>
          </a:p>
          <a:p>
            <a:r>
              <a:rPr lang="en-US" altLang="en-US" sz="2800" b="1" dirty="0" err="1"/>
              <a:t>deleteCharAt</a:t>
            </a:r>
            <a:r>
              <a:rPr lang="en-US" altLang="en-US" sz="2800" b="1" dirty="0"/>
              <a:t>()</a:t>
            </a:r>
          </a:p>
          <a:p>
            <a:r>
              <a:rPr lang="en-US" altLang="en-US" sz="2800" b="1" dirty="0"/>
              <a:t>substring() </a:t>
            </a:r>
          </a:p>
          <a:p>
            <a:endParaRPr lang="en-US" altLang="en-US" sz="2800" b="1" dirty="0"/>
          </a:p>
          <a:p>
            <a:endParaRPr lang="en-US" altLang="en-US" sz="2800" b="1" i="1" dirty="0"/>
          </a:p>
          <a:p>
            <a:endParaRPr lang="en-US" alt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le 1">
            <a:extLst>
              <a:ext uri="{FF2B5EF4-FFF2-40B4-BE49-F238E27FC236}">
                <a16:creationId xmlns:a16="http://schemas.microsoft.com/office/drawing/2014/main" id="{B5D27711-06C8-49E4-B2F7-59C2DEFC0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b="1" i="1"/>
              <a:t>append()</a:t>
            </a:r>
            <a:endParaRPr lang="en-US" altLang="en-US"/>
          </a:p>
        </p:txBody>
      </p:sp>
      <p:sp>
        <p:nvSpPr>
          <p:cNvPr id="69635" name="Content Placeholder 2">
            <a:extLst>
              <a:ext uri="{FF2B5EF4-FFF2-40B4-BE49-F238E27FC236}">
                <a16:creationId xmlns:a16="http://schemas.microsoft.com/office/drawing/2014/main" id="{17D1FC80-2215-4B63-A83E-CDFA548A90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is used to append the string from one string to another string like concat. 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/>
              <a:t>Syntax: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/>
              <a:t>StringBufferClassReference.append(any type)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/>
              <a:t>Any type:-  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/>
              <a:t> append(char), append(boolean), append(int), append(float), append(double) etc.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>
            <a:extLst>
              <a:ext uri="{FF2B5EF4-FFF2-40B4-BE49-F238E27FC236}">
                <a16:creationId xmlns:a16="http://schemas.microsoft.com/office/drawing/2014/main" id="{57C6F6EE-0596-4D6B-BD69-83F0ACBD5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i="1"/>
              <a:t>capacity()</a:t>
            </a:r>
            <a:br>
              <a:rPr lang="en-US" altLang="en-US" b="1" i="1"/>
            </a:br>
            <a:endParaRPr lang="en-US" altLang="en-US"/>
          </a:p>
        </p:txBody>
      </p:sp>
      <p:sp>
        <p:nvSpPr>
          <p:cNvPr id="70659" name="Content Placeholder 2">
            <a:extLst>
              <a:ext uri="{FF2B5EF4-FFF2-40B4-BE49-F238E27FC236}">
                <a16:creationId xmlns:a16="http://schemas.microsoft.com/office/drawing/2014/main" id="{AD80E47E-4F23-4657-B641-37A172A38B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is used to return the current capacity of buffer.</a:t>
            </a:r>
          </a:p>
          <a:p>
            <a:r>
              <a:rPr lang="en-US" altLang="en-US"/>
              <a:t>The default capacity of the buffer is 16.</a:t>
            </a:r>
          </a:p>
          <a:p>
            <a:r>
              <a:rPr lang="en-US" altLang="en-US"/>
              <a:t> If the number of character increases from its current capacity, it increases the capacity by (oldcapacity*2)+2.</a:t>
            </a:r>
          </a:p>
          <a:p>
            <a:r>
              <a:rPr lang="en-US" altLang="en-US"/>
              <a:t> For example if your current capacity is 16, it will be (16*2)+2=34.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Content Placeholder 2">
            <a:extLst>
              <a:ext uri="{FF2B5EF4-FFF2-40B4-BE49-F238E27FC236}">
                <a16:creationId xmlns:a16="http://schemas.microsoft.com/office/drawing/2014/main" id="{C7ACD23C-39A7-4AD4-8AFF-3040CF333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/>
              <a:t>Condition1: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/>
              <a:t>StringBuffer sb=new StringBuffer(); 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2800"/>
              <a:t>System.out.println("Current Capacity:"+sb.capacity());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2800"/>
              <a:t>// Current Capacity:16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2800"/>
              <a:t>Condition2: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2800"/>
              <a:t>StringBuffer sb=new StringBuffer(“hello”); 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2800"/>
              <a:t>System.out.println("Current Capacity:"+sb.capacity());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2800"/>
              <a:t>// Current Capacity:21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 sz="2800"/>
          </a:p>
          <a:p>
            <a:pPr>
              <a:buFont typeface="Arial" panose="020B0604020202020204" pitchFamily="34" charset="0"/>
              <a:buNone/>
            </a:pPr>
            <a:endParaRPr lang="en-US" altLang="en-US" sz="2800"/>
          </a:p>
          <a:p>
            <a:pPr>
              <a:buFont typeface="Arial" panose="020B0604020202020204" pitchFamily="34" charset="0"/>
              <a:buNone/>
            </a:pPr>
            <a:endParaRPr lang="en-US" altLang="en-US" sz="2800"/>
          </a:p>
          <a:p>
            <a:pPr>
              <a:buFont typeface="Arial" panose="020B0604020202020204" pitchFamily="34" charset="0"/>
              <a:buNone/>
            </a:pPr>
            <a:endParaRPr lang="en-US" altLang="en-US" sz="2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1">
            <a:extLst>
              <a:ext uri="{FF2B5EF4-FFF2-40B4-BE49-F238E27FC236}">
                <a16:creationId xmlns:a16="http://schemas.microsoft.com/office/drawing/2014/main" id="{1474A484-0C0F-43DA-AC1A-80148D739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ensureCapacity()</a:t>
            </a:r>
            <a:r>
              <a:rPr lang="en-US" altLang="en-US"/>
              <a:t> </a:t>
            </a:r>
            <a:br>
              <a:rPr lang="en-US" altLang="en-US" b="1" i="1"/>
            </a:br>
            <a:endParaRPr lang="en-US" altLang="en-US"/>
          </a:p>
        </p:txBody>
      </p:sp>
      <p:sp>
        <p:nvSpPr>
          <p:cNvPr id="72707" name="Content Placeholder 2">
            <a:extLst>
              <a:ext uri="{FF2B5EF4-FFF2-40B4-BE49-F238E27FC236}">
                <a16:creationId xmlns:a16="http://schemas.microsoft.com/office/drawing/2014/main" id="{4742925C-89CB-4927-BE16-97AD7E8629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/>
          <a:lstStyle/>
          <a:p>
            <a:r>
              <a:rPr lang="en-US" altLang="en-US"/>
              <a:t>It ensures that the given capacity is the minimum to the current capacity. If it is greater than the current capacity, it increases the capacity by (oldcapacity*2)+2.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/>
              <a:t>Ex: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/>
              <a:t>If current capacity is:70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/>
              <a:t>sb.ensureCapacity(70); // no change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/>
              <a:t>But 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/>
              <a:t>sb.ensureCapacity(71); // cahnge now 142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85477-3FFC-467B-BBEA-16A62F666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DF623-ED39-4665-94B4-DAB4B92B06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003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Content Placeholder 2">
            <a:extLst>
              <a:ext uri="{FF2B5EF4-FFF2-40B4-BE49-F238E27FC236}">
                <a16:creationId xmlns:a16="http://schemas.microsoft.com/office/drawing/2014/main" id="{BE29C626-4556-4D06-9FC6-17EAF8EED6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/>
              <a:t>Condition1: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/>
              <a:t>StringBuffer sb=new StringBuffer(); 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2800"/>
              <a:t>System.out.println("Current Capacity:"+sb.capacity());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2800"/>
              <a:t>// Current Capacity:16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2800"/>
              <a:t>Condition2: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2800"/>
              <a:t>StringBuffer sb=new StringBuffer(“hello”); 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2800"/>
              <a:t>System.out.println("Current Capacity:"+sb.capacity());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2800"/>
              <a:t>// Current Capacity:21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 sz="2800"/>
          </a:p>
          <a:p>
            <a:pPr>
              <a:buFont typeface="Arial" panose="020B0604020202020204" pitchFamily="34" charset="0"/>
              <a:buNone/>
            </a:pPr>
            <a:endParaRPr lang="en-US" altLang="en-US" sz="2800"/>
          </a:p>
          <a:p>
            <a:pPr>
              <a:buFont typeface="Arial" panose="020B0604020202020204" pitchFamily="34" charset="0"/>
              <a:buNone/>
            </a:pPr>
            <a:endParaRPr lang="en-US" altLang="en-US" sz="2800"/>
          </a:p>
          <a:p>
            <a:pPr>
              <a:buFont typeface="Arial" panose="020B0604020202020204" pitchFamily="34" charset="0"/>
              <a:buNone/>
            </a:pPr>
            <a:endParaRPr lang="en-US" altLang="en-US" sz="2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1">
            <a:extLst>
              <a:ext uri="{FF2B5EF4-FFF2-40B4-BE49-F238E27FC236}">
                <a16:creationId xmlns:a16="http://schemas.microsoft.com/office/drawing/2014/main" id="{0D5CEADF-5DAB-45DD-A4B4-55EB13625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/>
          <a:lstStyle/>
          <a:p>
            <a:pPr algn="l"/>
            <a:br>
              <a:rPr lang="en-US" altLang="en-US" b="1" i="1"/>
            </a:br>
            <a:r>
              <a:rPr lang="en-US" altLang="en-US" b="1" i="1"/>
              <a:t>insert()</a:t>
            </a:r>
            <a:br>
              <a:rPr lang="en-US" altLang="en-US" b="1" i="1"/>
            </a:br>
            <a:endParaRPr lang="en-US" altLang="en-US"/>
          </a:p>
        </p:txBody>
      </p:sp>
      <p:sp>
        <p:nvSpPr>
          <p:cNvPr id="73731" name="Content Placeholder 2">
            <a:extLst>
              <a:ext uri="{FF2B5EF4-FFF2-40B4-BE49-F238E27FC236}">
                <a16:creationId xmlns:a16="http://schemas.microsoft.com/office/drawing/2014/main" id="{C299CAA0-7594-43A6-98AB-49D3CCC4E6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/>
          <a:lstStyle/>
          <a:p>
            <a:r>
              <a:rPr lang="en-US" altLang="en-US"/>
              <a:t>It is used to inserts the string at the specified position.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/>
              <a:t>Syntax: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/>
              <a:t>StringBufferClassReference.insert(pos,string)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/>
          </a:p>
          <a:p>
            <a:pPr>
              <a:buFont typeface="Arial" panose="020B0604020202020204" pitchFamily="34" charset="0"/>
              <a:buNone/>
            </a:pPr>
            <a:r>
              <a:rPr lang="en-US" altLang="en-US"/>
              <a:t>It is used to reverses the current string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/>
              <a:t>Syntax: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/>
              <a:t>StringBufferClassReference.reverse()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/>
          </a:p>
          <a:p>
            <a:pPr>
              <a:buFont typeface="Arial" panose="020B0604020202020204" pitchFamily="34" charset="0"/>
              <a:buNone/>
            </a:pPr>
            <a:endParaRPr lang="en-US" altLang="en-US"/>
          </a:p>
          <a:p>
            <a:pPr>
              <a:buFont typeface="Arial" panose="020B0604020202020204" pitchFamily="34" charset="0"/>
              <a:buNone/>
            </a:pPr>
            <a:endParaRPr lang="en-US" alt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383620C-82B3-441A-A9E1-0DAC7CE38559}"/>
              </a:ext>
            </a:extLst>
          </p:cNvPr>
          <p:cNvSpPr txBox="1">
            <a:spLocks/>
          </p:cNvSpPr>
          <p:nvPr/>
        </p:nvSpPr>
        <p:spPr bwMode="auto">
          <a:xfrm>
            <a:off x="457200" y="3429000"/>
            <a:ext cx="8229600" cy="71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defRPr/>
            </a:pPr>
            <a:br>
              <a:rPr lang="en-US" sz="4400" b="1" i="1" dirty="0">
                <a:latin typeface="+mj-lt"/>
                <a:ea typeface="+mj-ea"/>
                <a:cs typeface="+mj-cs"/>
              </a:rPr>
            </a:br>
            <a:r>
              <a:rPr lang="en-US" sz="4400" b="1" i="1" dirty="0">
                <a:latin typeface="+mj-lt"/>
                <a:ea typeface="+mj-ea"/>
                <a:cs typeface="+mj-cs"/>
              </a:rPr>
              <a:t>reverse()</a:t>
            </a:r>
            <a:br>
              <a:rPr lang="en-US" sz="4400" b="1" i="1" dirty="0">
                <a:latin typeface="+mj-lt"/>
                <a:ea typeface="+mj-ea"/>
                <a:cs typeface="+mj-cs"/>
              </a:rPr>
            </a:br>
            <a:endParaRPr lang="en-US" sz="4400" dirty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Content Placeholder 2">
            <a:extLst>
              <a:ext uri="{FF2B5EF4-FFF2-40B4-BE49-F238E27FC236}">
                <a16:creationId xmlns:a16="http://schemas.microsoft.com/office/drawing/2014/main" id="{B0D1ADE6-10D7-4124-B760-A4D61C7671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57200"/>
            <a:ext cx="8534400" cy="5668963"/>
          </a:xfrm>
        </p:spPr>
        <p:txBody>
          <a:bodyPr/>
          <a:lstStyle/>
          <a:p>
            <a:r>
              <a:rPr lang="en-US" altLang="en-US" b="1"/>
              <a:t>replace():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/>
              <a:t>replaces the string from the specified startingIndex and endingIndex.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b="1"/>
              <a:t>Syntax: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/>
              <a:t>StringBufferClassReference.replace(startingIndex, endingIndex, newstring)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/>
              <a:t>e.g: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/>
          </a:p>
          <a:p>
            <a:pPr>
              <a:buFont typeface="Arial" panose="020B0604020202020204" pitchFamily="34" charset="0"/>
              <a:buNone/>
            </a:pPr>
            <a:r>
              <a:rPr lang="en-US" altLang="en-US"/>
              <a:t>StringBuffer sb=</a:t>
            </a:r>
            <a:r>
              <a:rPr lang="en-US" altLang="en-US" b="1"/>
              <a:t>new</a:t>
            </a:r>
            <a:r>
              <a:rPr lang="en-US" altLang="en-US"/>
              <a:t> StringBuffer("Hello");  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/>
              <a:t>sb.replace(1,3,“kumar");  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/>
              <a:t>System.out.println(sb);//Hkumarlo  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Content Placeholder 2">
            <a:extLst>
              <a:ext uri="{FF2B5EF4-FFF2-40B4-BE49-F238E27FC236}">
                <a16:creationId xmlns:a16="http://schemas.microsoft.com/office/drawing/2014/main" id="{4ECA9236-F8DF-4FAD-AD9C-F0363F871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6172200"/>
          </a:xfrm>
        </p:spPr>
        <p:txBody>
          <a:bodyPr/>
          <a:lstStyle/>
          <a:p>
            <a:r>
              <a:rPr lang="en-US" altLang="en-US" b="1"/>
              <a:t>length()</a:t>
            </a:r>
            <a:r>
              <a:rPr lang="en-US" altLang="en-US"/>
              <a:t> : to find the length of current string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/>
              <a:t>Syntax: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/>
              <a:t>StringBufferClassReference.length()</a:t>
            </a:r>
          </a:p>
          <a:p>
            <a:r>
              <a:rPr lang="en-US" altLang="en-US" b="1"/>
              <a:t>delete(): </a:t>
            </a:r>
            <a:r>
              <a:rPr lang="en-US" altLang="en-US"/>
              <a:t>deletes the string from the specified startingIndex to endingIndex.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b="1"/>
              <a:t>Syntax:</a:t>
            </a:r>
            <a:r>
              <a:rPr lang="en-US" altLang="en-US"/>
              <a:t>StringBufferClassReference.delete(startingIndex,endingIndex)</a:t>
            </a:r>
            <a:endParaRPr lang="en-US" altLang="en-US" b="1"/>
          </a:p>
          <a:p>
            <a:pPr>
              <a:buFont typeface="Arial" panose="020B0604020202020204" pitchFamily="34" charset="0"/>
              <a:buNone/>
            </a:pPr>
            <a:r>
              <a:rPr lang="en-US" altLang="en-US"/>
              <a:t>e.g: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2400"/>
              <a:t>StringBuffer sb=</a:t>
            </a:r>
            <a:r>
              <a:rPr lang="en-US" altLang="en-US" sz="2400" b="1"/>
              <a:t>new</a:t>
            </a:r>
            <a:r>
              <a:rPr lang="en-US" altLang="en-US" sz="2400"/>
              <a:t> StringBuffer("Hello");  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2400"/>
              <a:t>sb.delete(1,3);  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2400"/>
              <a:t>System.out.println(sb);//Hlo  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/>
          </a:p>
          <a:p>
            <a:pPr>
              <a:buFont typeface="Arial" panose="020B0604020202020204" pitchFamily="34" charset="0"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Content Placeholder 2">
            <a:extLst>
              <a:ext uri="{FF2B5EF4-FFF2-40B4-BE49-F238E27FC236}">
                <a16:creationId xmlns:a16="http://schemas.microsoft.com/office/drawing/2014/main" id="{63EB6708-87F0-4FCD-BEED-4053DDBCC1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/>
          <a:lstStyle/>
          <a:p>
            <a:r>
              <a:rPr lang="en-US" altLang="en-US" b="1"/>
              <a:t>deleteCharAt():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/>
              <a:t>deletes the character at the index specified by </a:t>
            </a:r>
            <a:r>
              <a:rPr lang="en-US" altLang="en-US" i="1"/>
              <a:t>loc.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/>
              <a:t>Syntax: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/>
              <a:t>StringBufferClassReference.deleteCharAt(int loc)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/>
              <a:t>e.g: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/>
              <a:t>StringBuffer sb=</a:t>
            </a:r>
            <a:r>
              <a:rPr lang="en-US" altLang="en-US" b="1"/>
              <a:t>new</a:t>
            </a:r>
            <a:r>
              <a:rPr lang="en-US" altLang="en-US"/>
              <a:t> StringBuffer("Hello");  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/>
              <a:t>sb.deleteCharAt(3);  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/>
              <a:t>System.out.println(sb);//Helo  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 b="1"/>
          </a:p>
          <a:p>
            <a:pPr>
              <a:buFont typeface="Arial" panose="020B0604020202020204" pitchFamily="34" charset="0"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3C99009E-CE11-4B88-B8FB-419203B3E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pPr algn="l"/>
            <a:r>
              <a:rPr lang="en-US" altLang="en-US" b="1"/>
              <a:t>substring()</a:t>
            </a:r>
          </a:p>
        </p:txBody>
      </p:sp>
      <p:sp>
        <p:nvSpPr>
          <p:cNvPr id="77827" name="Content Placeholder 2">
            <a:extLst>
              <a:ext uri="{FF2B5EF4-FFF2-40B4-BE49-F238E27FC236}">
                <a16:creationId xmlns:a16="http://schemas.microsoft.com/office/drawing/2014/main" id="{7787E7C0-E85C-4F42-A76B-83CFF3E65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is used to return the substring from the specified startingIndex and endingIndex.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/>
              <a:t>Syntax: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/>
              <a:t>substring(int startingIndex, int endingIndex)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263305A8-70EE-45F6-B1BD-DD040D99A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 dirty="0"/>
          </a:p>
        </p:txBody>
      </p:sp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id="{22E262EB-D117-4E84-BE93-F2858E14E10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marL="0" indent="0" eaLnBrk="1" hangingPunct="1">
              <a:buNone/>
            </a:pPr>
            <a:endParaRPr lang="en-US" altLang="en-US" dirty="0"/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id="{AD5DF288-C29E-4243-948C-2EB537817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3124200" y="6356350"/>
            <a:ext cx="2895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fld id="{6C427B1D-9BCC-4114-B578-D283B12F326C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algn="ctr" eaLnBrk="1" hangingPunct="1"/>
              <a:t>16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EFD40-10F3-4B26-AAFD-8F18C853D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EE13A-F764-48F5-BD5B-B2AC73676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635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4244</TotalTime>
  <Words>456</Words>
  <Application>Microsoft Office PowerPoint</Application>
  <PresentationFormat>On-screen Show (4:3)</PresentationFormat>
  <Paragraphs>103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Arial Rounded MT Bold</vt:lpstr>
      <vt:lpstr>Calibri</vt:lpstr>
      <vt:lpstr>times new roman</vt:lpstr>
      <vt:lpstr>verdana</vt:lpstr>
      <vt:lpstr>Office Theme</vt:lpstr>
      <vt:lpstr>CAP680 PROGRAMMING IN JAVA-LAB</vt:lpstr>
      <vt:lpstr>StringBuffer class </vt:lpstr>
      <vt:lpstr>PowerPoint Presentation</vt:lpstr>
      <vt:lpstr>methods of StringBuffer/StringBuilder class </vt:lpstr>
      <vt:lpstr>append()</vt:lpstr>
      <vt:lpstr>capacity() </vt:lpstr>
      <vt:lpstr>PowerPoint Presentation</vt:lpstr>
      <vt:lpstr>ensureCapacity()  </vt:lpstr>
      <vt:lpstr>PowerPoint Presentation</vt:lpstr>
      <vt:lpstr>PowerPoint Presentation</vt:lpstr>
      <vt:lpstr> insert() </vt:lpstr>
      <vt:lpstr>PowerPoint Presentation</vt:lpstr>
      <vt:lpstr>PowerPoint Presentation</vt:lpstr>
      <vt:lpstr>PowerPoint Presentation</vt:lpstr>
      <vt:lpstr>substring()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</dc:title>
  <dc:creator>kumar</dc:creator>
  <cp:lastModifiedBy>hp</cp:lastModifiedBy>
  <cp:revision>144</cp:revision>
  <dcterms:created xsi:type="dcterms:W3CDTF">2019-09-04T08:28:28Z</dcterms:created>
  <dcterms:modified xsi:type="dcterms:W3CDTF">2022-03-07T07:29:26Z</dcterms:modified>
</cp:coreProperties>
</file>