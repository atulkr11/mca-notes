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97" r:id="rId3"/>
    <p:sldId id="295" r:id="rId4"/>
    <p:sldId id="298" r:id="rId5"/>
    <p:sldId id="300" r:id="rId6"/>
    <p:sldId id="299" r:id="rId7"/>
    <p:sldId id="287" r:id="rId8"/>
    <p:sldId id="292" r:id="rId9"/>
    <p:sldId id="293" r:id="rId10"/>
    <p:sldId id="294" r:id="rId11"/>
    <p:sldId id="302" r:id="rId12"/>
    <p:sldId id="303" r:id="rId13"/>
    <p:sldId id="308" r:id="rId14"/>
    <p:sldId id="314" r:id="rId15"/>
    <p:sldId id="309" r:id="rId16"/>
    <p:sldId id="310" r:id="rId17"/>
    <p:sldId id="311" r:id="rId18"/>
    <p:sldId id="312" r:id="rId19"/>
    <p:sldId id="313" r:id="rId20"/>
    <p:sldId id="258" r:id="rId21"/>
    <p:sldId id="315" r:id="rId22"/>
    <p:sldId id="316" r:id="rId23"/>
    <p:sldId id="317" r:id="rId24"/>
    <p:sldId id="318" r:id="rId25"/>
    <p:sldId id="319" r:id="rId26"/>
    <p:sldId id="346" r:id="rId27"/>
    <p:sldId id="347" r:id="rId28"/>
    <p:sldId id="348" r:id="rId29"/>
    <p:sldId id="349" r:id="rId30"/>
    <p:sldId id="350" r:id="rId31"/>
    <p:sldId id="351" r:id="rId32"/>
    <p:sldId id="352" r:id="rId33"/>
    <p:sldId id="353" r:id="rId34"/>
    <p:sldId id="354" r:id="rId35"/>
    <p:sldId id="355" r:id="rId36"/>
    <p:sldId id="320" r:id="rId37"/>
    <p:sldId id="321" r:id="rId38"/>
    <p:sldId id="322" r:id="rId39"/>
    <p:sldId id="323" r:id="rId40"/>
    <p:sldId id="356" r:id="rId41"/>
    <p:sldId id="324" r:id="rId42"/>
    <p:sldId id="325" r:id="rId43"/>
    <p:sldId id="326" r:id="rId44"/>
    <p:sldId id="327" r:id="rId45"/>
    <p:sldId id="328" r:id="rId46"/>
    <p:sldId id="329" r:id="rId47"/>
    <p:sldId id="357" r:id="rId48"/>
    <p:sldId id="358" r:id="rId49"/>
    <p:sldId id="359" r:id="rId50"/>
    <p:sldId id="360" r:id="rId51"/>
    <p:sldId id="361" r:id="rId52"/>
    <p:sldId id="362" r:id="rId53"/>
    <p:sldId id="363" r:id="rId54"/>
    <p:sldId id="364" r:id="rId55"/>
    <p:sldId id="365" r:id="rId56"/>
    <p:sldId id="366" r:id="rId57"/>
    <p:sldId id="367" r:id="rId58"/>
    <p:sldId id="368" r:id="rId59"/>
    <p:sldId id="369" r:id="rId60"/>
    <p:sldId id="370" r:id="rId61"/>
    <p:sldId id="371" r:id="rId62"/>
    <p:sldId id="372" r:id="rId63"/>
    <p:sldId id="373" r:id="rId64"/>
    <p:sldId id="374"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8" d="100"/>
          <a:sy n="58" d="100"/>
        </p:scale>
        <p:origin x="152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20020FF2-DC22-4BDE-BBB3-08067E5C1705}" type="datetimeFigureOut">
              <a:rPr lang="en-US" smtClean="0"/>
              <a:pPr/>
              <a:t>1/15/2022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0B34E26E-B4C2-4F87-BE50-7192422347C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20020FF2-DC22-4BDE-BBB3-08067E5C1705}" type="datetimeFigureOut">
              <a:rPr lang="en-US" smtClean="0"/>
              <a:pPr/>
              <a:t>1/15/2022</a:t>
            </a:fld>
            <a:endParaRPr lang="en-US"/>
          </a:p>
        </p:txBody>
      </p:sp>
      <p:sp>
        <p:nvSpPr>
          <p:cNvPr id="9" name="Slide Number Placeholder 8"/>
          <p:cNvSpPr>
            <a:spLocks noGrp="1"/>
          </p:cNvSpPr>
          <p:nvPr>
            <p:ph type="sldNum" sz="quarter" idx="15"/>
          </p:nvPr>
        </p:nvSpPr>
        <p:spPr/>
        <p:txBody>
          <a:bodyPr rtlCol="0"/>
          <a:lstStyle/>
          <a:p>
            <a:fld id="{0B34E26E-B4C2-4F87-BE50-7192422347C9}"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20020FF2-DC22-4BDE-BBB3-08067E5C1705}" type="datetimeFigureOut">
              <a:rPr lang="en-US" smtClean="0"/>
              <a:pPr/>
              <a:t>1/15/2022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0B34E26E-B4C2-4F87-BE50-7192422347C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20020FF2-DC22-4BDE-BBB3-08067E5C1705}"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20020FF2-DC22-4BDE-BBB3-08067E5C1705}"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4E26E-B4C2-4F87-BE50-7192422347C9}"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20020FF2-DC22-4BDE-BBB3-08067E5C1705}" type="datetimeFigureOut">
              <a:rPr lang="en-US" smtClean="0"/>
              <a:pPr/>
              <a:t>1/15/2022</a:t>
            </a:fld>
            <a:endParaRPr lang="en-US"/>
          </a:p>
        </p:txBody>
      </p:sp>
      <p:sp>
        <p:nvSpPr>
          <p:cNvPr id="7" name="Slide Number Placeholder 6"/>
          <p:cNvSpPr>
            <a:spLocks noGrp="1"/>
          </p:cNvSpPr>
          <p:nvPr>
            <p:ph type="sldNum" sz="quarter" idx="11"/>
          </p:nvPr>
        </p:nvSpPr>
        <p:spPr/>
        <p:txBody>
          <a:bodyPr rtlCol="0"/>
          <a:lstStyle/>
          <a:p>
            <a:fld id="{0B34E26E-B4C2-4F87-BE50-7192422347C9}"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0FF2-DC22-4BDE-BBB3-08067E5C1705}" type="datetimeFigureOut">
              <a:rPr lang="en-US" smtClean="0"/>
              <a:pPr/>
              <a:t>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4E26E-B4C2-4F87-BE50-7192422347C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20020FF2-DC22-4BDE-BBB3-08067E5C1705}" type="datetimeFigureOut">
              <a:rPr lang="en-US" smtClean="0"/>
              <a:pPr/>
              <a:t>1/15/2022</a:t>
            </a:fld>
            <a:endParaRPr lang="en-US"/>
          </a:p>
        </p:txBody>
      </p:sp>
      <p:sp>
        <p:nvSpPr>
          <p:cNvPr id="22" name="Slide Number Placeholder 21"/>
          <p:cNvSpPr>
            <a:spLocks noGrp="1"/>
          </p:cNvSpPr>
          <p:nvPr>
            <p:ph type="sldNum" sz="quarter" idx="15"/>
          </p:nvPr>
        </p:nvSpPr>
        <p:spPr/>
        <p:txBody>
          <a:bodyPr rtlCol="0"/>
          <a:lstStyle/>
          <a:p>
            <a:fld id="{0B34E26E-B4C2-4F87-BE50-7192422347C9}"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20020FF2-DC22-4BDE-BBB3-08067E5C1705}" type="datetimeFigureOut">
              <a:rPr lang="en-US" smtClean="0"/>
              <a:pPr/>
              <a:t>1/15/2022</a:t>
            </a:fld>
            <a:endParaRPr lang="en-US"/>
          </a:p>
        </p:txBody>
      </p:sp>
      <p:sp>
        <p:nvSpPr>
          <p:cNvPr id="18" name="Slide Number Placeholder 17"/>
          <p:cNvSpPr>
            <a:spLocks noGrp="1"/>
          </p:cNvSpPr>
          <p:nvPr>
            <p:ph type="sldNum" sz="quarter" idx="11"/>
          </p:nvPr>
        </p:nvSpPr>
        <p:spPr/>
        <p:txBody>
          <a:bodyPr rtlCol="0"/>
          <a:lstStyle/>
          <a:p>
            <a:fld id="{0B34E26E-B4C2-4F87-BE50-7192422347C9}"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0020FF2-DC22-4BDE-BBB3-08067E5C1705}"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0020FF2-DC22-4BDE-BBB3-08067E5C1705}"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0020FF2-DC22-4BDE-BBB3-08067E5C1705}" type="datetimeFigureOut">
              <a:rPr lang="en-US" smtClean="0"/>
              <a:pPr/>
              <a:t>1/15/2022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B34E26E-B4C2-4F87-BE50-7192422347C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457200"/>
            <a:ext cx="6172200" cy="2590800"/>
          </a:xfrm>
        </p:spPr>
        <p:txBody>
          <a:bodyPr>
            <a:normAutofit/>
          </a:bodyPr>
          <a:lstStyle/>
          <a:p>
            <a:r>
              <a:rPr lang="en-US" sz="4000" dirty="0"/>
              <a:t>cloud computing</a:t>
            </a:r>
          </a:p>
        </p:txBody>
      </p:sp>
      <p:sp>
        <p:nvSpPr>
          <p:cNvPr id="3" name="Subtitle 2"/>
          <p:cNvSpPr>
            <a:spLocks noGrp="1"/>
          </p:cNvSpPr>
          <p:nvPr>
            <p:ph type="subTitle" idx="1"/>
          </p:nvPr>
        </p:nvSpPr>
        <p:spPr>
          <a:xfrm>
            <a:off x="5791200" y="4724400"/>
            <a:ext cx="2819400" cy="1828800"/>
          </a:xfrm>
        </p:spPr>
        <p:txBody>
          <a:bodyPr>
            <a:normAutofit/>
          </a:bodyPr>
          <a:lstStyle/>
          <a:p>
            <a:r>
              <a:rPr lang="en-US" sz="2400" dirty="0"/>
              <a:t>Presented By:-</a:t>
            </a:r>
          </a:p>
          <a:p>
            <a:r>
              <a:rPr lang="en-US" sz="2400" dirty="0" err="1"/>
              <a:t>Sophiya</a:t>
            </a:r>
            <a:r>
              <a:rPr lang="en-US" sz="2400" dirty="0"/>
              <a:t> Sheikh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Cloud?</a:t>
            </a:r>
          </a:p>
        </p:txBody>
      </p:sp>
      <p:sp>
        <p:nvSpPr>
          <p:cNvPr id="3" name="Content Placeholder 2"/>
          <p:cNvSpPr>
            <a:spLocks noGrp="1"/>
          </p:cNvSpPr>
          <p:nvPr>
            <p:ph sz="quarter" idx="1"/>
          </p:nvPr>
        </p:nvSpPr>
        <p:spPr/>
        <p:txBody>
          <a:bodyPr/>
          <a:lstStyle/>
          <a:p>
            <a:pPr algn="just"/>
            <a:r>
              <a:rPr lang="en-IN" dirty="0"/>
              <a:t>The term Cloud refers to a Network or Internet. In other words, we can say that Cloud is something, which is present at remote location. Cloud can provide services over network, i.e., on public networks or on private networks, </a:t>
            </a:r>
            <a:r>
              <a:rPr lang="en-IN"/>
              <a:t>i.e., </a:t>
            </a:r>
            <a:r>
              <a:rPr lang="en-IN" dirty="0"/>
              <a:t>LAN or VPN.</a:t>
            </a:r>
          </a:p>
          <a:p>
            <a:pPr algn="just"/>
            <a:r>
              <a:rPr lang="en-IN" dirty="0"/>
              <a:t>Applications such as e-mail, web conferencing, customer relationship management (CRM), all run in cloud.</a:t>
            </a:r>
          </a:p>
          <a:p>
            <a:endParaRPr lang="en-IN" dirty="0"/>
          </a:p>
        </p:txBody>
      </p:sp>
    </p:spTree>
    <p:extLst>
      <p:ext uri="{BB962C8B-B14F-4D97-AF65-F5344CB8AC3E}">
        <p14:creationId xmlns:p14="http://schemas.microsoft.com/office/powerpoint/2010/main" val="338575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Cloud</a:t>
            </a:r>
          </a:p>
        </p:txBody>
      </p:sp>
      <p:pic>
        <p:nvPicPr>
          <p:cNvPr id="2051" name="Picture 3"/>
          <p:cNvPicPr>
            <a:picLocks noGrp="1" noChangeAspect="1" noChangeArrowheads="1"/>
          </p:cNvPicPr>
          <p:nvPr>
            <p:ph sz="quarter" idx="1"/>
          </p:nvPr>
        </p:nvPicPr>
        <p:blipFill>
          <a:blip r:embed="rId2"/>
          <a:srcRect/>
          <a:stretch>
            <a:fillRect/>
          </a:stretch>
        </p:blipFill>
        <p:spPr bwMode="auto">
          <a:xfrm>
            <a:off x="990600" y="1524000"/>
            <a:ext cx="6934200" cy="4876800"/>
          </a:xfrm>
          <a:prstGeom prst="rect">
            <a:avLst/>
          </a:prstGeom>
          <a:noFill/>
          <a:ln w="9525">
            <a:noFill/>
            <a:miter lim="800000"/>
            <a:headEnd/>
            <a:tailEnd/>
          </a:ln>
          <a:effectLst/>
        </p:spPr>
      </p:pic>
    </p:spTree>
    <p:extLst>
      <p:ext uri="{BB962C8B-B14F-4D97-AF65-F5344CB8AC3E}">
        <p14:creationId xmlns:p14="http://schemas.microsoft.com/office/powerpoint/2010/main" val="2246864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Cloud Computing ?</a:t>
            </a:r>
          </a:p>
        </p:txBody>
      </p:sp>
      <p:sp>
        <p:nvSpPr>
          <p:cNvPr id="3" name="Content Placeholder 2"/>
          <p:cNvSpPr>
            <a:spLocks noGrp="1"/>
          </p:cNvSpPr>
          <p:nvPr>
            <p:ph sz="quarter" idx="1"/>
          </p:nvPr>
        </p:nvSpPr>
        <p:spPr/>
        <p:txBody>
          <a:bodyPr/>
          <a:lstStyle/>
          <a:p>
            <a:pPr algn="just"/>
            <a:r>
              <a:rPr lang="en-US" dirty="0"/>
              <a:t>Cloud computing is a virtual environment providing IT services on low cost and using third party access for it. </a:t>
            </a:r>
          </a:p>
          <a:p>
            <a:pPr algn="just"/>
            <a:r>
              <a:rPr lang="en-US" dirty="0"/>
              <a:t>“Cloud Computing is a new computing paradigm that is built on virtualization, distributed computing, utility computing and service oriented architecture”. </a:t>
            </a:r>
          </a:p>
          <a:p>
            <a:pPr marL="0" indent="0" algn="just">
              <a:buNone/>
            </a:pPr>
            <a:endParaRPr lang="en-US" dirty="0"/>
          </a:p>
          <a:p>
            <a:endParaRPr lang="en-IN" dirty="0"/>
          </a:p>
        </p:txBody>
      </p:sp>
    </p:spTree>
    <p:extLst>
      <p:ext uri="{BB962C8B-B14F-4D97-AF65-F5344CB8AC3E}">
        <p14:creationId xmlns:p14="http://schemas.microsoft.com/office/powerpoint/2010/main" val="3502201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r>
              <a:rPr lang="en-IN" dirty="0"/>
              <a:t>Continue..</a:t>
            </a:r>
          </a:p>
        </p:txBody>
      </p:sp>
      <p:sp>
        <p:nvSpPr>
          <p:cNvPr id="3" name="Content Placeholder 2"/>
          <p:cNvSpPr>
            <a:spLocks noGrp="1"/>
          </p:cNvSpPr>
          <p:nvPr>
            <p:ph sz="quarter" idx="1"/>
          </p:nvPr>
        </p:nvSpPr>
        <p:spPr/>
        <p:txBody>
          <a:bodyPr/>
          <a:lstStyle/>
          <a:p>
            <a:pPr algn="just"/>
            <a:r>
              <a:rPr lang="en-IN" dirty="0"/>
              <a:t>Cloud Computing refers to manipulating, configuring, and accessing the applications online. It offers online data storage, infrastructure and application.</a:t>
            </a:r>
          </a:p>
          <a:p>
            <a:pPr algn="just"/>
            <a:r>
              <a:rPr lang="en-IN" dirty="0"/>
              <a:t>We need not to install a piece of software on our local PC and this is how the cloud computing overcomes platform dependency issues. Hence, the Cloud Computing is making our business application mobile and collaborative.</a:t>
            </a:r>
          </a:p>
          <a:p>
            <a:endParaRPr lang="en-IN" dirty="0"/>
          </a:p>
        </p:txBody>
      </p:sp>
    </p:spTree>
    <p:extLst>
      <p:ext uri="{BB962C8B-B14F-4D97-AF65-F5344CB8AC3E}">
        <p14:creationId xmlns:p14="http://schemas.microsoft.com/office/powerpoint/2010/main" val="129741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Cloud Computing - Overview</a:t>
            </a:r>
          </a:p>
        </p:txBody>
      </p:sp>
      <p:sp>
        <p:nvSpPr>
          <p:cNvPr id="3" name="Content Placeholder 2"/>
          <p:cNvSpPr>
            <a:spLocks noGrp="1"/>
          </p:cNvSpPr>
          <p:nvPr>
            <p:ph sz="quarter" idx="1"/>
          </p:nvPr>
        </p:nvSpPr>
        <p:spPr/>
        <p:txBody>
          <a:bodyPr/>
          <a:lstStyle/>
          <a:p>
            <a:pPr algn="just"/>
            <a:r>
              <a:rPr lang="en-IN" dirty="0"/>
              <a:t>Cloud Computing provides us a means by which we can access the applications as utilities, over the Internet. It allows us to create, configure, and customize applications online.</a:t>
            </a:r>
          </a:p>
          <a:p>
            <a:pPr algn="just"/>
            <a:r>
              <a:rPr lang="en-US" dirty="0"/>
              <a:t>This can reduce complexity; fulfill hardware requirement and client side requirements. It is very popular now a day and because it handle massive amount of data. </a:t>
            </a:r>
          </a:p>
          <a:p>
            <a:endParaRPr lang="en-IN" dirty="0"/>
          </a:p>
          <a:p>
            <a:endParaRPr lang="en-IN" dirty="0"/>
          </a:p>
        </p:txBody>
      </p:sp>
    </p:spTree>
    <p:extLst>
      <p:ext uri="{BB962C8B-B14F-4D97-AF65-F5344CB8AC3E}">
        <p14:creationId xmlns:p14="http://schemas.microsoft.com/office/powerpoint/2010/main" val="1791055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a:t>
            </a:r>
          </a:p>
        </p:txBody>
      </p:sp>
      <p:sp>
        <p:nvSpPr>
          <p:cNvPr id="3" name="Content Placeholder 2"/>
          <p:cNvSpPr>
            <a:spLocks noGrp="1"/>
          </p:cNvSpPr>
          <p:nvPr>
            <p:ph sz="quarter" idx="1"/>
          </p:nvPr>
        </p:nvSpPr>
        <p:spPr/>
        <p:txBody>
          <a:bodyPr/>
          <a:lstStyle/>
          <a:p>
            <a:pPr algn="just"/>
            <a:r>
              <a:rPr lang="en-IN" dirty="0"/>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  </a:t>
            </a:r>
          </a:p>
          <a:p>
            <a:pPr algn="just"/>
            <a:endParaRPr lang="en-IN" dirty="0"/>
          </a:p>
          <a:p>
            <a:endParaRPr lang="en-IN" dirty="0"/>
          </a:p>
        </p:txBody>
      </p:sp>
    </p:spTree>
    <p:extLst>
      <p:ext uri="{BB962C8B-B14F-4D97-AF65-F5344CB8AC3E}">
        <p14:creationId xmlns:p14="http://schemas.microsoft.com/office/powerpoint/2010/main" val="194673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Elementary Definition</a:t>
            </a:r>
          </a:p>
        </p:txBody>
      </p:sp>
      <p:sp>
        <p:nvSpPr>
          <p:cNvPr id="3" name="Content Placeholder 2"/>
          <p:cNvSpPr>
            <a:spLocks noGrp="1"/>
          </p:cNvSpPr>
          <p:nvPr>
            <p:ph sz="quarter" idx="1"/>
          </p:nvPr>
        </p:nvSpPr>
        <p:spPr/>
        <p:txBody>
          <a:bodyPr/>
          <a:lstStyle/>
          <a:p>
            <a:pPr algn="just"/>
            <a:r>
              <a:rPr lang="en-IN" dirty="0"/>
              <a:t>The cloud is just a mutation form of the Internet. Cloud computing signifies storing and accessing data and programs over the Internet instead of your computer’s hard drive. </a:t>
            </a:r>
          </a:p>
          <a:p>
            <a:pPr algn="just"/>
            <a:r>
              <a:rPr lang="en-IN" dirty="0"/>
              <a:t>Cloud computing means storing and accessing data and programs over the Internet instead of your computer’s hard drive. The cloud is just a metaphor for the Internet. </a:t>
            </a:r>
          </a:p>
          <a:p>
            <a:pPr algn="just"/>
            <a:r>
              <a:rPr lang="en-IN" dirty="0"/>
              <a:t>Cloud Computing can be defined as a computer technology that yields the processing power of many inter-networked computers while impersonating the structure that is behind it.</a:t>
            </a:r>
          </a:p>
          <a:p>
            <a:endParaRPr lang="en-IN" dirty="0"/>
          </a:p>
        </p:txBody>
      </p:sp>
    </p:spTree>
    <p:extLst>
      <p:ext uri="{BB962C8B-B14F-4D97-AF65-F5344CB8AC3E}">
        <p14:creationId xmlns:p14="http://schemas.microsoft.com/office/powerpoint/2010/main" val="2801876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Technical Perspective</a:t>
            </a:r>
          </a:p>
        </p:txBody>
      </p:sp>
      <p:sp>
        <p:nvSpPr>
          <p:cNvPr id="3" name="Content Placeholder 2"/>
          <p:cNvSpPr>
            <a:spLocks noGrp="1"/>
          </p:cNvSpPr>
          <p:nvPr>
            <p:ph sz="quarter" idx="1"/>
          </p:nvPr>
        </p:nvSpPr>
        <p:spPr/>
        <p:txBody>
          <a:bodyPr/>
          <a:lstStyle/>
          <a:p>
            <a:pPr algn="just"/>
            <a:r>
              <a:rPr lang="en-IN" dirty="0"/>
              <a:t>Cloud computing refers to an efficient method of managing lots of computer servers, data storage and networking.</a:t>
            </a:r>
          </a:p>
          <a:p>
            <a:pPr algn="just"/>
            <a:r>
              <a:rPr lang="en-IN" dirty="0"/>
              <a:t>The evolution of the term “cloud” can be preferred to the anonymous nature of this technology’s framework; the system works for users yet they really have no idea the inherent complexities that the system utilizes.</a:t>
            </a:r>
          </a:p>
          <a:p>
            <a:pPr algn="just"/>
            <a:r>
              <a:rPr lang="en-IN" dirty="0"/>
              <a:t>Cloud is a new evolution of IT service delivery from a remote location, either over the Internet or an intranet, involving multi-tenant environments enabled by virtualization.</a:t>
            </a:r>
          </a:p>
          <a:p>
            <a:endParaRPr lang="en-IN" dirty="0"/>
          </a:p>
        </p:txBody>
      </p:sp>
    </p:spTree>
    <p:extLst>
      <p:ext uri="{BB962C8B-B14F-4D97-AF65-F5344CB8AC3E}">
        <p14:creationId xmlns:p14="http://schemas.microsoft.com/office/powerpoint/2010/main" val="1270040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 Researchers’ Point of View</a:t>
            </a:r>
          </a:p>
        </p:txBody>
      </p:sp>
      <p:sp>
        <p:nvSpPr>
          <p:cNvPr id="3" name="Content Placeholder 2"/>
          <p:cNvSpPr>
            <a:spLocks noGrp="1"/>
          </p:cNvSpPr>
          <p:nvPr>
            <p:ph sz="quarter" idx="1"/>
          </p:nvPr>
        </p:nvSpPr>
        <p:spPr/>
        <p:txBody>
          <a:bodyPr/>
          <a:lstStyle/>
          <a:p>
            <a:pPr algn="just"/>
            <a:r>
              <a:rPr lang="en-IN" dirty="0"/>
              <a:t>	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endParaRPr lang="en-IN" dirty="0"/>
          </a:p>
        </p:txBody>
      </p:sp>
    </p:spTree>
    <p:extLst>
      <p:ext uri="{BB962C8B-B14F-4D97-AF65-F5344CB8AC3E}">
        <p14:creationId xmlns:p14="http://schemas.microsoft.com/office/powerpoint/2010/main" val="3751894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Virtualization</a:t>
            </a:r>
          </a:p>
        </p:txBody>
      </p:sp>
      <p:sp>
        <p:nvSpPr>
          <p:cNvPr id="3" name="Content Placeholder 2"/>
          <p:cNvSpPr>
            <a:spLocks noGrp="1"/>
          </p:cNvSpPr>
          <p:nvPr>
            <p:ph sz="quarter" idx="1"/>
          </p:nvPr>
        </p:nvSpPr>
        <p:spPr>
          <a:xfrm>
            <a:off x="427182" y="1600200"/>
            <a:ext cx="7467600" cy="4873752"/>
          </a:xfrm>
        </p:spPr>
        <p:txBody>
          <a:bodyPr/>
          <a:lstStyle/>
          <a:p>
            <a:pPr algn="just"/>
            <a:r>
              <a:rPr lang="en-IN" dirty="0"/>
              <a:t>Through virtualization,  Cloud  computing  is  able  to  address  with  the same physical infrastructure a large client base with different computational  needs.  In  contrast  to  previous paradigms (Clusters and Grid computing), Cloud computing is not  application-oriented  but  service-oriented;  it  offers  on-demand  virtualized  resources  as  measurable  and  billable utilities.</a:t>
            </a:r>
          </a:p>
          <a:p>
            <a:endParaRPr lang="en-IN" dirty="0"/>
          </a:p>
        </p:txBody>
      </p:sp>
    </p:spTree>
    <p:extLst>
      <p:ext uri="{BB962C8B-B14F-4D97-AF65-F5344CB8AC3E}">
        <p14:creationId xmlns:p14="http://schemas.microsoft.com/office/powerpoint/2010/main" val="350106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Cloud Computing</a:t>
            </a:r>
          </a:p>
        </p:txBody>
      </p:sp>
      <p:sp>
        <p:nvSpPr>
          <p:cNvPr id="3" name="Content Placeholder 2"/>
          <p:cNvSpPr>
            <a:spLocks noGrp="1"/>
          </p:cNvSpPr>
          <p:nvPr>
            <p:ph sz="quarter" idx="1"/>
          </p:nvPr>
        </p:nvSpPr>
        <p:spPr/>
        <p:txBody>
          <a:bodyPr>
            <a:normAutofit/>
          </a:bodyPr>
          <a:lstStyle/>
          <a:p>
            <a:pPr algn="just"/>
            <a:r>
              <a:rPr lang="en-US" dirty="0"/>
              <a:t>Before emerging the cloud computing, there was Client/Server computing which is basically a centralized storage in which all the software applications, all the data and all the controls are resided on the server side.</a:t>
            </a:r>
          </a:p>
          <a:p>
            <a:pPr algn="just"/>
            <a:r>
              <a:rPr lang="en-US" dirty="0"/>
              <a:t>If a single user wants to access specific data or run a program, he/she need to connect to the server and then gain appropriate access, and then he/she can do his/her business.</a:t>
            </a:r>
          </a:p>
          <a:p>
            <a:pPr algn="just"/>
            <a:r>
              <a:rPr lang="en-US" dirty="0"/>
              <a:t>Then after, distributed computing came into picture, where all the computers are networked together and share their resources when needed.</a:t>
            </a:r>
            <a:endParaRPr lang="en-IN" dirty="0"/>
          </a:p>
        </p:txBody>
      </p:sp>
    </p:spTree>
    <p:extLst>
      <p:ext uri="{BB962C8B-B14F-4D97-AF65-F5344CB8AC3E}">
        <p14:creationId xmlns:p14="http://schemas.microsoft.com/office/powerpoint/2010/main" val="15673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fontScale="92500"/>
          </a:bodyPr>
          <a:lstStyle/>
          <a:p>
            <a:pPr algn="just"/>
            <a:r>
              <a:rPr lang="en-US" dirty="0"/>
              <a:t>The actual history of Cloud computing is not that old, the first business and consumer Cloud Computing services website (Salesforce.com and Google) were launched in 1999. </a:t>
            </a:r>
          </a:p>
          <a:p>
            <a:pPr algn="just"/>
            <a:r>
              <a:rPr lang="en-US" dirty="0"/>
              <a:t>Cloud computing is tied directly to the development of the Internet and Business technology since Cloud computing is the solution to the problem of how the Internet can help improve Business Technology.</a:t>
            </a:r>
          </a:p>
          <a:p>
            <a:pPr algn="just"/>
            <a:r>
              <a:rPr lang="en-US" dirty="0"/>
              <a:t>Business technology has long and fascinating history, one that is almost as long as business itself, but the development that most directly influenced the history of Cloud computing start with the emergence of computers as providers of real business solutions.</a:t>
            </a:r>
          </a:p>
          <a:p>
            <a:endParaRPr lang="en-IN" dirty="0"/>
          </a:p>
        </p:txBody>
      </p:sp>
    </p:spTree>
    <p:extLst>
      <p:ext uri="{BB962C8B-B14F-4D97-AF65-F5344CB8AC3E}">
        <p14:creationId xmlns:p14="http://schemas.microsoft.com/office/powerpoint/2010/main" val="1383642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52400"/>
            <a:ext cx="7467600" cy="6324599"/>
          </a:xfrm>
        </p:spPr>
      </p:pic>
    </p:spTree>
    <p:extLst>
      <p:ext uri="{BB962C8B-B14F-4D97-AF65-F5344CB8AC3E}">
        <p14:creationId xmlns:p14="http://schemas.microsoft.com/office/powerpoint/2010/main" val="525883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fontScale="92500"/>
          </a:bodyPr>
          <a:lstStyle/>
          <a:p>
            <a:r>
              <a:rPr lang="en-US" cap="all" dirty="0"/>
              <a:t>EARLY 1960S</a:t>
            </a:r>
          </a:p>
          <a:p>
            <a:pPr marL="365760" lvl="1" indent="0" algn="just">
              <a:buNone/>
            </a:pPr>
            <a:r>
              <a:rPr lang="en-US" dirty="0"/>
              <a:t>The computer scientist John McCarthy, come up with concept of timesharing, and enabling Organization to simultaneously use an expensive mainframe. This computing is described as a significant contribution to the development of the Internet, and a pioneer of Cloud computing.</a:t>
            </a:r>
          </a:p>
          <a:p>
            <a:r>
              <a:rPr lang="en-US" cap="all" dirty="0"/>
              <a:t>IN 1969</a:t>
            </a:r>
          </a:p>
          <a:p>
            <a:pPr marL="365760" lvl="1" indent="0" algn="just">
              <a:buNone/>
            </a:pPr>
            <a:r>
              <a:rPr lang="en-US" dirty="0"/>
              <a:t>The idea of an “Intergalactic Computer Network” or “Galactic Network” (a computer networking concept similar to today’s Internet) was introduced by J.C.R. </a:t>
            </a:r>
            <a:r>
              <a:rPr lang="en-US" dirty="0" err="1"/>
              <a:t>Licklider</a:t>
            </a:r>
            <a:r>
              <a:rPr lang="en-US" dirty="0"/>
              <a:t>, who was responsible for enabling the development of ARPANET (Advanced Research Projects Agency Network). His vision was for everyone on the globe to be interconnected and being able to access programs and data at any site, from anywhere.</a:t>
            </a:r>
          </a:p>
          <a:p>
            <a:endParaRPr lang="en-IN" dirty="0"/>
          </a:p>
        </p:txBody>
      </p:sp>
    </p:spTree>
    <p:extLst>
      <p:ext uri="{BB962C8B-B14F-4D97-AF65-F5344CB8AC3E}">
        <p14:creationId xmlns:p14="http://schemas.microsoft.com/office/powerpoint/2010/main" val="78746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a:bodyPr>
          <a:lstStyle/>
          <a:p>
            <a:r>
              <a:rPr lang="en-US" cap="all" dirty="0"/>
              <a:t>IN 1970</a:t>
            </a:r>
          </a:p>
          <a:p>
            <a:pPr marL="365760" lvl="1" indent="0" algn="just">
              <a:buNone/>
            </a:pPr>
            <a:r>
              <a:rPr lang="en-US" dirty="0"/>
              <a:t>Using virtualization software like VMware. It become possible to run more than one Operating System simultaneously in an isolated environment. It was possible to run a completely different Computer (virtual machine) inside a different Operating System.</a:t>
            </a:r>
          </a:p>
          <a:p>
            <a:r>
              <a:rPr lang="en-US" cap="all" dirty="0"/>
              <a:t>IN 1997</a:t>
            </a:r>
          </a:p>
          <a:p>
            <a:pPr marL="365760" lvl="1" indent="0" algn="just">
              <a:buNone/>
            </a:pPr>
            <a:r>
              <a:rPr lang="en-US" dirty="0"/>
              <a:t>The first known definition of the term “Cloud Computing” seems to be by Prof. </a:t>
            </a:r>
            <a:r>
              <a:rPr lang="en-US" dirty="0" err="1"/>
              <a:t>Ramnath</a:t>
            </a:r>
            <a:r>
              <a:rPr lang="en-US" dirty="0"/>
              <a:t> </a:t>
            </a:r>
            <a:r>
              <a:rPr lang="en-US" dirty="0" err="1"/>
              <a:t>Chellappa</a:t>
            </a:r>
            <a:r>
              <a:rPr lang="en-US" dirty="0"/>
              <a:t> in Dallas in 1997 – “A computing paradigm where the boundaries of computing will be determined by economic rationale rather than technical limits alone.”</a:t>
            </a:r>
          </a:p>
          <a:p>
            <a:endParaRPr lang="en-IN" dirty="0"/>
          </a:p>
        </p:txBody>
      </p:sp>
    </p:spTree>
    <p:extLst>
      <p:ext uri="{BB962C8B-B14F-4D97-AF65-F5344CB8AC3E}">
        <p14:creationId xmlns:p14="http://schemas.microsoft.com/office/powerpoint/2010/main" val="379778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fontScale="92500" lnSpcReduction="10000"/>
          </a:bodyPr>
          <a:lstStyle/>
          <a:p>
            <a:r>
              <a:rPr lang="en-US" cap="all" dirty="0"/>
              <a:t>IN 1999</a:t>
            </a:r>
          </a:p>
          <a:p>
            <a:pPr marL="365760" lvl="1" indent="0" algn="just">
              <a:buNone/>
            </a:pPr>
            <a:r>
              <a:rPr lang="en-US" dirty="0"/>
              <a:t>The arrival of Salesforce.com in 1999 pioneered the concept of delivering enterprise applications via simple website. The services firm covered the way for both specialist and mainstream software firms to deliver applications over the Internet.</a:t>
            </a:r>
          </a:p>
          <a:p>
            <a:r>
              <a:rPr lang="en-US" cap="all" dirty="0"/>
              <a:t>IN 2002</a:t>
            </a:r>
          </a:p>
          <a:p>
            <a:pPr marL="365760" lvl="1" indent="0" algn="just">
              <a:buNone/>
            </a:pPr>
            <a:r>
              <a:rPr lang="en-US" i="1" dirty="0"/>
              <a:t>In 2002, </a:t>
            </a:r>
            <a:r>
              <a:rPr lang="en-US" b="1" dirty="0"/>
              <a:t>Amazon</a:t>
            </a:r>
            <a:r>
              <a:rPr lang="en-US" i="1" dirty="0"/>
              <a:t> started Amazon Web Services</a:t>
            </a:r>
            <a:r>
              <a:rPr lang="en-US" dirty="0"/>
              <a:t>, providing services like storage, computation and even human intelligence.</a:t>
            </a:r>
          </a:p>
          <a:p>
            <a:r>
              <a:rPr lang="en-US" cap="all" dirty="0"/>
              <a:t>IN 2003</a:t>
            </a:r>
          </a:p>
          <a:p>
            <a:pPr marL="365760" lvl="1" indent="0" algn="just">
              <a:buNone/>
            </a:pPr>
            <a:r>
              <a:rPr lang="en-US" dirty="0"/>
              <a:t>The first public release of </a:t>
            </a:r>
            <a:r>
              <a:rPr lang="en-US" dirty="0" err="1"/>
              <a:t>Xen</a:t>
            </a:r>
            <a:r>
              <a:rPr lang="en-US" dirty="0"/>
              <a:t>, which creates a Virtual Machine Monitor (VMM) also known as a hypervisor, a software system that allows the execution of multiple virtual guest operating systems simultaneously on a single machine.</a:t>
            </a:r>
          </a:p>
          <a:p>
            <a:endParaRPr lang="en-IN" dirty="0"/>
          </a:p>
        </p:txBody>
      </p:sp>
    </p:spTree>
    <p:extLst>
      <p:ext uri="{BB962C8B-B14F-4D97-AF65-F5344CB8AC3E}">
        <p14:creationId xmlns:p14="http://schemas.microsoft.com/office/powerpoint/2010/main" val="941543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lnSpcReduction="10000"/>
          </a:bodyPr>
          <a:lstStyle/>
          <a:p>
            <a:r>
              <a:rPr lang="en-US" cap="all" dirty="0"/>
              <a:t>IN 2006</a:t>
            </a:r>
          </a:p>
          <a:p>
            <a:pPr marL="365760" lvl="1" indent="0" algn="just">
              <a:buNone/>
            </a:pPr>
            <a:r>
              <a:rPr lang="en-US" dirty="0"/>
              <a:t>In 2006, Amazon expanded its cloud services. First was its Elastic Compute cloud (EC2), which allowed people to access computers and run their own applications on them, all on the cloud. </a:t>
            </a:r>
          </a:p>
          <a:p>
            <a:pPr marL="365760" lvl="1" indent="0" algn="just">
              <a:buNone/>
            </a:pPr>
            <a:r>
              <a:rPr lang="en-US" dirty="0"/>
              <a:t>Then they brought out Simple Storage Service (S3). This introduced the pay-as-you-go model to both users and the industry as a whole, and it has basically become standard practice now.</a:t>
            </a:r>
          </a:p>
          <a:p>
            <a:r>
              <a:rPr lang="en-US" cap="all" dirty="0"/>
              <a:t>IN 2009</a:t>
            </a:r>
          </a:p>
          <a:p>
            <a:pPr marL="365760" lvl="1" indent="0" algn="just">
              <a:buNone/>
            </a:pPr>
            <a:r>
              <a:rPr lang="en-US" i="1" dirty="0"/>
              <a:t>In 2009, </a:t>
            </a:r>
            <a:r>
              <a:rPr lang="en-US" b="1" dirty="0"/>
              <a:t>Google Apps</a:t>
            </a:r>
            <a:r>
              <a:rPr lang="en-US" i="1" dirty="0"/>
              <a:t> also started to provide cloud computing enterprise applications.</a:t>
            </a:r>
            <a:endParaRPr lang="en-US" dirty="0"/>
          </a:p>
          <a:p>
            <a:pPr marL="365760" lvl="1" indent="0" algn="just">
              <a:buNone/>
            </a:pPr>
            <a:r>
              <a:rPr lang="en-US" i="1" dirty="0"/>
              <a:t>In 2009, </a:t>
            </a:r>
            <a:r>
              <a:rPr lang="en-US" b="1" dirty="0"/>
              <a:t>Microsoft</a:t>
            </a:r>
            <a:r>
              <a:rPr lang="en-US" i="1" dirty="0"/>
              <a:t> launched Windows Azure</a:t>
            </a:r>
            <a:r>
              <a:rPr lang="en-US" dirty="0"/>
              <a:t>, and companies like Oracle and HP have all joined the game. </a:t>
            </a:r>
          </a:p>
          <a:p>
            <a:pPr marL="365760" lvl="1" indent="0" algn="just">
              <a:buNone/>
            </a:pPr>
            <a:endParaRPr lang="en-US" dirty="0"/>
          </a:p>
          <a:p>
            <a:endParaRPr lang="en-IN" dirty="0"/>
          </a:p>
        </p:txBody>
      </p:sp>
    </p:spTree>
    <p:extLst>
      <p:ext uri="{BB962C8B-B14F-4D97-AF65-F5344CB8AC3E}">
        <p14:creationId xmlns:p14="http://schemas.microsoft.com/office/powerpoint/2010/main" val="690460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lstStyle/>
          <a:p>
            <a:r>
              <a:rPr lang="en-US" cap="all" dirty="0"/>
              <a:t>IN 2013</a:t>
            </a:r>
          </a:p>
          <a:p>
            <a:pPr marL="365760" lvl="1" indent="0" algn="just">
              <a:buNone/>
            </a:pPr>
            <a:r>
              <a:rPr lang="en-US" dirty="0"/>
              <a:t>The Worldwide Public Cloud Services Market </a:t>
            </a:r>
            <a:r>
              <a:rPr lang="en-US" dirty="0" err="1"/>
              <a:t>totalled</a:t>
            </a:r>
            <a:r>
              <a:rPr lang="en-US" dirty="0"/>
              <a:t> £78bn, up 18.5 per cent on 2012, with IaaS (infrastructure-as-a-service) the fastest growing market service.</a:t>
            </a:r>
          </a:p>
          <a:p>
            <a:r>
              <a:rPr lang="en-US" cap="all" dirty="0"/>
              <a:t>IN 2014</a:t>
            </a:r>
          </a:p>
          <a:p>
            <a:pPr marL="365760" lvl="1" indent="0" algn="just">
              <a:buNone/>
            </a:pPr>
            <a:r>
              <a:rPr lang="en-US" dirty="0"/>
              <a:t>In 2014, global business spending for infrastructure and services related to the cloud will reach an estimated £103.8bn, up 20% from the amount spent in 2013 (Constellation Research).</a:t>
            </a:r>
          </a:p>
          <a:p>
            <a:endParaRPr lang="en-IN" dirty="0"/>
          </a:p>
        </p:txBody>
      </p:sp>
    </p:spTree>
    <p:extLst>
      <p:ext uri="{BB962C8B-B14F-4D97-AF65-F5344CB8AC3E}">
        <p14:creationId xmlns:p14="http://schemas.microsoft.com/office/powerpoint/2010/main" val="3159354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Cloud Computing Architecture</a:t>
            </a:r>
          </a:p>
        </p:txBody>
      </p:sp>
      <p:pic>
        <p:nvPicPr>
          <p:cNvPr id="1031" name="Picture 7"/>
          <p:cNvPicPr>
            <a:picLocks noGrp="1" noChangeAspect="1" noChangeArrowheads="1"/>
          </p:cNvPicPr>
          <p:nvPr>
            <p:ph sz="quarter" idx="1"/>
          </p:nvPr>
        </p:nvPicPr>
        <p:blipFill>
          <a:blip r:embed="rId2"/>
          <a:stretch>
            <a:fillRect/>
          </a:stretch>
        </p:blipFill>
        <p:spPr bwMode="auto">
          <a:xfrm>
            <a:off x="1066800" y="1828800"/>
            <a:ext cx="7010400" cy="44958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Need and Benefits of Cloud Computing</a:t>
            </a:r>
          </a:p>
        </p:txBody>
      </p:sp>
      <p:sp>
        <p:nvSpPr>
          <p:cNvPr id="3" name="Content Placeholder 2"/>
          <p:cNvSpPr>
            <a:spLocks noGrp="1"/>
          </p:cNvSpPr>
          <p:nvPr>
            <p:ph sz="quarter" idx="1"/>
          </p:nvPr>
        </p:nvSpPr>
        <p:spPr/>
        <p:txBody>
          <a:bodyPr>
            <a:normAutofit fontScale="85000" lnSpcReduction="10000"/>
          </a:bodyPr>
          <a:lstStyle/>
          <a:p>
            <a:pPr algn="just"/>
            <a:r>
              <a:rPr lang="en-US" dirty="0"/>
              <a:t>Cloud computing is perhaps the most flamboyant technological innovation of the 21st century. This is because it has seen the fastest adoption into the mainstream than any other technology in the domain. This adoption has been fueled mainly by the ever-increasing number of smartphones and mobile devices that can access the internet. </a:t>
            </a:r>
          </a:p>
          <a:p>
            <a:pPr algn="just"/>
            <a:r>
              <a:rPr lang="en-US" dirty="0"/>
              <a:t>Cloud computing is not just for organizations and businesses; it’s also useful for the average person as well. </a:t>
            </a:r>
          </a:p>
          <a:p>
            <a:pPr algn="just"/>
            <a:r>
              <a:rPr lang="en-US" dirty="0"/>
              <a:t>It enables us to run software programs without installing them on our computers; it enables us to store and access our multimedia content via the internet, it enables us to develop and test programs without necessarily having servers and so on. </a:t>
            </a:r>
          </a:p>
          <a:p>
            <a:pPr algn="just"/>
            <a:r>
              <a:rPr lang="en-US" dirty="0"/>
              <a:t>Cloud computing is a 21st-century marvel that holds its importance in almost every field you can think of.</a:t>
            </a:r>
            <a:endParaRPr lang="en-IN" dirty="0"/>
          </a:p>
        </p:txBody>
      </p:sp>
    </p:spTree>
    <p:extLst>
      <p:ext uri="{BB962C8B-B14F-4D97-AF65-F5344CB8AC3E}">
        <p14:creationId xmlns:p14="http://schemas.microsoft.com/office/powerpoint/2010/main" val="3620104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lnSpcReduction="10000"/>
          </a:bodyPr>
          <a:lstStyle/>
          <a:p>
            <a:pPr algn="just"/>
            <a:r>
              <a:rPr lang="en-US" dirty="0"/>
              <a:t>Basically, we need cloud computing because of the numerous individual and business problems that we encounter today. </a:t>
            </a:r>
          </a:p>
          <a:p>
            <a:pPr algn="just"/>
            <a:r>
              <a:rPr lang="en-US" dirty="0"/>
              <a:t>These problems range from acquiring and maintaining expensive hardware and software resources that we use in our daily operations to streamlining these resources in the most efficient manner for our benefit and the benefit of the society at large. </a:t>
            </a:r>
          </a:p>
          <a:p>
            <a:pPr algn="just"/>
            <a:r>
              <a:rPr lang="en-US" dirty="0"/>
              <a:t>In handling these challenges, cloud computing offers numerous benefits that have surpassed our expectations and delivered more than we had previously thought. These benefits are as follows:</a:t>
            </a:r>
            <a:endParaRPr lang="en-IN" dirty="0"/>
          </a:p>
        </p:txBody>
      </p:sp>
    </p:spTree>
    <p:extLst>
      <p:ext uri="{BB962C8B-B14F-4D97-AF65-F5344CB8AC3E}">
        <p14:creationId xmlns:p14="http://schemas.microsoft.com/office/powerpoint/2010/main" val="3358430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Flexibility </a:t>
            </a:r>
          </a:p>
        </p:txBody>
      </p:sp>
      <p:sp>
        <p:nvSpPr>
          <p:cNvPr id="3" name="Content Placeholder 2"/>
          <p:cNvSpPr>
            <a:spLocks noGrp="1"/>
          </p:cNvSpPr>
          <p:nvPr>
            <p:ph sz="quarter" idx="1"/>
          </p:nvPr>
        </p:nvSpPr>
        <p:spPr/>
        <p:txBody>
          <a:bodyPr>
            <a:normAutofit fontScale="77500" lnSpcReduction="20000"/>
          </a:bodyPr>
          <a:lstStyle/>
          <a:p>
            <a:pPr algn="just"/>
            <a:r>
              <a:rPr lang="en-US" dirty="0"/>
              <a:t>Users can scale services to fit their needs, customize applications and access cloud services from anywhere with an internet connection.</a:t>
            </a:r>
          </a:p>
          <a:p>
            <a:pPr marL="822960" lvl="1" indent="-457200" algn="just">
              <a:buFont typeface="+mj-lt"/>
              <a:buAutoNum type="arabicPeriod"/>
            </a:pPr>
            <a:r>
              <a:rPr lang="en-US" dirty="0"/>
              <a:t>Scalability</a:t>
            </a:r>
          </a:p>
          <a:p>
            <a:pPr marL="365760" lvl="1" indent="0" algn="just">
              <a:buNone/>
            </a:pPr>
            <a:r>
              <a:rPr lang="en-US" dirty="0"/>
              <a:t>	Cloud infrastructure scales on demand to support fluctuating 	workloads.</a:t>
            </a:r>
          </a:p>
          <a:p>
            <a:pPr marL="365760" lvl="1" indent="0" algn="just">
              <a:buNone/>
            </a:pPr>
            <a:r>
              <a:rPr lang="en-US" dirty="0">
                <a:solidFill>
                  <a:schemeClr val="accent1"/>
                </a:solidFill>
              </a:rPr>
              <a:t>2.</a:t>
            </a:r>
            <a:r>
              <a:rPr lang="en-US" dirty="0"/>
              <a:t>	Storage options</a:t>
            </a:r>
          </a:p>
          <a:p>
            <a:pPr marL="365760" lvl="1" indent="0" algn="just">
              <a:buNone/>
            </a:pPr>
            <a:r>
              <a:rPr lang="en-US" dirty="0"/>
              <a:t>	Users can choose public, private or hybrid storage offerings, 	depending on security needs and other considerations.</a:t>
            </a:r>
          </a:p>
          <a:p>
            <a:pPr marL="365760" lvl="1" indent="0" algn="just">
              <a:buNone/>
            </a:pPr>
            <a:r>
              <a:rPr lang="en-US" dirty="0">
                <a:solidFill>
                  <a:schemeClr val="accent1"/>
                </a:solidFill>
              </a:rPr>
              <a:t>3.</a:t>
            </a:r>
            <a:r>
              <a:rPr lang="en-US" dirty="0"/>
              <a:t>	Control choices</a:t>
            </a:r>
          </a:p>
          <a:p>
            <a:pPr marL="365760" lvl="1" indent="0" algn="just">
              <a:buNone/>
            </a:pPr>
            <a:r>
              <a:rPr lang="en-US" dirty="0"/>
              <a:t>	Organizations can determine their level of control with as-a-service 	options. These include software as a service (SaaS), platform as a 	service (PaaS) and infrastructure as a service (IaaS).</a:t>
            </a:r>
          </a:p>
          <a:p>
            <a:pPr marL="365760" lvl="1" indent="0" algn="just">
              <a:buNone/>
            </a:pPr>
            <a:r>
              <a:rPr lang="en-US" dirty="0">
                <a:solidFill>
                  <a:schemeClr val="accent1"/>
                </a:solidFill>
              </a:rPr>
              <a:t>4.</a:t>
            </a:r>
            <a:r>
              <a:rPr lang="en-US" dirty="0"/>
              <a:t>	Tool selection</a:t>
            </a:r>
          </a:p>
          <a:p>
            <a:pPr marL="365760" lvl="1" indent="0" algn="just">
              <a:buNone/>
            </a:pPr>
            <a:r>
              <a:rPr lang="en-US" dirty="0"/>
              <a:t>	Users can select from a menu of prebuilt tools and features to build 	a solution that fits their specific needs.</a:t>
            </a:r>
          </a:p>
          <a:p>
            <a:pPr marL="365760" lvl="1" indent="0" algn="just">
              <a:buNone/>
            </a:pPr>
            <a:r>
              <a:rPr lang="en-US" dirty="0">
                <a:solidFill>
                  <a:schemeClr val="accent1"/>
                </a:solidFill>
              </a:rPr>
              <a:t>5.</a:t>
            </a:r>
            <a:r>
              <a:rPr lang="en-US" dirty="0"/>
              <a:t>	Security features</a:t>
            </a:r>
          </a:p>
          <a:p>
            <a:pPr marL="365760" lvl="1" indent="0" algn="just">
              <a:buNone/>
            </a:pPr>
            <a:r>
              <a:rPr lang="en-US" dirty="0"/>
              <a:t>	Virtual private cloud, encryption and API keys help keep data 	secure.</a:t>
            </a:r>
            <a:endParaRPr lang="en-IN" dirty="0"/>
          </a:p>
        </p:txBody>
      </p:sp>
    </p:spTree>
    <p:extLst>
      <p:ext uri="{BB962C8B-B14F-4D97-AF65-F5344CB8AC3E}">
        <p14:creationId xmlns:p14="http://schemas.microsoft.com/office/powerpoint/2010/main" val="3539543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Efficiency</a:t>
            </a:r>
          </a:p>
        </p:txBody>
      </p:sp>
      <p:sp>
        <p:nvSpPr>
          <p:cNvPr id="3" name="Content Placeholder 2"/>
          <p:cNvSpPr>
            <a:spLocks noGrp="1"/>
          </p:cNvSpPr>
          <p:nvPr>
            <p:ph sz="quarter" idx="1"/>
          </p:nvPr>
        </p:nvSpPr>
        <p:spPr/>
        <p:txBody>
          <a:bodyPr>
            <a:normAutofit fontScale="70000" lnSpcReduction="20000"/>
          </a:bodyPr>
          <a:lstStyle/>
          <a:p>
            <a:pPr algn="just"/>
            <a:r>
              <a:rPr lang="en-US" dirty="0"/>
              <a:t>Enterprise users can get applications to market quickly, without worrying about underlying infrastructure costs or maintenance.</a:t>
            </a:r>
          </a:p>
          <a:p>
            <a:pPr marL="0" indent="0" algn="just">
              <a:buNone/>
            </a:pPr>
            <a:r>
              <a:rPr lang="en-US" dirty="0">
                <a:solidFill>
                  <a:schemeClr val="accent1"/>
                </a:solidFill>
              </a:rPr>
              <a:t>    1.</a:t>
            </a:r>
            <a:r>
              <a:rPr lang="en-US" dirty="0"/>
              <a:t>	Accessibility</a:t>
            </a:r>
          </a:p>
          <a:p>
            <a:pPr marL="0" indent="0" algn="just">
              <a:buNone/>
            </a:pPr>
            <a:r>
              <a:rPr lang="en-US" dirty="0"/>
              <a:t>	Cloud-based applications and data are accessible from virtually 	any internet-connected device.</a:t>
            </a:r>
          </a:p>
          <a:p>
            <a:pPr marL="0" indent="0" algn="just">
              <a:buNone/>
            </a:pPr>
            <a:r>
              <a:rPr lang="en-US" dirty="0"/>
              <a:t>   </a:t>
            </a:r>
            <a:r>
              <a:rPr lang="en-US" dirty="0">
                <a:solidFill>
                  <a:schemeClr val="accent1"/>
                </a:solidFill>
              </a:rPr>
              <a:t> 2.</a:t>
            </a:r>
            <a:r>
              <a:rPr lang="en-US" dirty="0"/>
              <a:t>	Speed to market</a:t>
            </a:r>
          </a:p>
          <a:p>
            <a:pPr marL="0" indent="0" algn="just">
              <a:buNone/>
            </a:pPr>
            <a:r>
              <a:rPr lang="en-US" dirty="0"/>
              <a:t>	Developing in the cloud enables users to get their applications 	to market quickly.</a:t>
            </a:r>
          </a:p>
          <a:p>
            <a:pPr marL="0" indent="0" algn="just">
              <a:buNone/>
            </a:pPr>
            <a:r>
              <a:rPr lang="en-US" dirty="0"/>
              <a:t>    </a:t>
            </a:r>
            <a:r>
              <a:rPr lang="en-US" dirty="0">
                <a:solidFill>
                  <a:schemeClr val="accent1"/>
                </a:solidFill>
              </a:rPr>
              <a:t>3.</a:t>
            </a:r>
            <a:r>
              <a:rPr lang="en-US" dirty="0"/>
              <a:t>	Data security</a:t>
            </a:r>
          </a:p>
          <a:p>
            <a:pPr marL="0" indent="0" algn="just">
              <a:buNone/>
            </a:pPr>
            <a:r>
              <a:rPr lang="en-US" dirty="0"/>
              <a:t>	Hardware failures do not result in data loss because of 	networked backups.</a:t>
            </a:r>
          </a:p>
          <a:p>
            <a:pPr marL="0" indent="0" algn="just">
              <a:buNone/>
            </a:pPr>
            <a:r>
              <a:rPr lang="en-US" dirty="0"/>
              <a:t>    </a:t>
            </a:r>
            <a:r>
              <a:rPr lang="en-US" dirty="0">
                <a:solidFill>
                  <a:schemeClr val="accent1"/>
                </a:solidFill>
              </a:rPr>
              <a:t>4.</a:t>
            </a:r>
            <a:r>
              <a:rPr lang="en-US" dirty="0"/>
              <a:t>	Savings on equipment</a:t>
            </a:r>
          </a:p>
          <a:p>
            <a:pPr marL="0" indent="0" algn="just">
              <a:buNone/>
            </a:pPr>
            <a:r>
              <a:rPr lang="en-US" dirty="0"/>
              <a:t>	Cloud computing uses remote resources, saving organizations 	the cost of servers and other equipment.</a:t>
            </a:r>
          </a:p>
          <a:p>
            <a:pPr marL="0" indent="0" algn="just">
              <a:buNone/>
            </a:pPr>
            <a:r>
              <a:rPr lang="en-US" dirty="0"/>
              <a:t>   </a:t>
            </a:r>
            <a:r>
              <a:rPr lang="en-US" dirty="0">
                <a:solidFill>
                  <a:schemeClr val="accent1"/>
                </a:solidFill>
              </a:rPr>
              <a:t> 5.</a:t>
            </a:r>
            <a:r>
              <a:rPr lang="en-US" dirty="0"/>
              <a:t>	Pay structure</a:t>
            </a:r>
          </a:p>
          <a:p>
            <a:pPr marL="0" indent="0" algn="just">
              <a:buNone/>
            </a:pPr>
            <a:r>
              <a:rPr lang="en-US" dirty="0"/>
              <a:t>	A “utility” pay structure means users only pay for the resources 	they use.</a:t>
            </a:r>
          </a:p>
          <a:p>
            <a:pPr marL="0" indent="0" algn="just">
              <a:buNone/>
            </a:pPr>
            <a:endParaRPr lang="en-IN" dirty="0"/>
          </a:p>
        </p:txBody>
      </p:sp>
    </p:spTree>
    <p:extLst>
      <p:ext uri="{BB962C8B-B14F-4D97-AF65-F5344CB8AC3E}">
        <p14:creationId xmlns:p14="http://schemas.microsoft.com/office/powerpoint/2010/main" val="2082371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Strategic Value</a:t>
            </a:r>
          </a:p>
        </p:txBody>
      </p:sp>
      <p:sp>
        <p:nvSpPr>
          <p:cNvPr id="3" name="Content Placeholder 2"/>
          <p:cNvSpPr>
            <a:spLocks noGrp="1"/>
          </p:cNvSpPr>
          <p:nvPr>
            <p:ph sz="quarter" idx="1"/>
          </p:nvPr>
        </p:nvSpPr>
        <p:spPr/>
        <p:txBody>
          <a:bodyPr>
            <a:normAutofit fontScale="85000" lnSpcReduction="20000"/>
          </a:bodyPr>
          <a:lstStyle/>
          <a:p>
            <a:pPr algn="just"/>
            <a:r>
              <a:rPr lang="en-US" dirty="0"/>
              <a:t>Cloud services give enterprises a competitive advantage by providing the most innovative technology available.</a:t>
            </a:r>
          </a:p>
          <a:p>
            <a:pPr marL="0" indent="0" algn="just">
              <a:buNone/>
            </a:pPr>
            <a:r>
              <a:rPr lang="en-US" dirty="0"/>
              <a:t>    </a:t>
            </a:r>
            <a:r>
              <a:rPr lang="en-US" dirty="0">
                <a:solidFill>
                  <a:schemeClr val="accent1"/>
                </a:solidFill>
              </a:rPr>
              <a:t>1.</a:t>
            </a:r>
            <a:r>
              <a:rPr lang="en-US" dirty="0"/>
              <a:t>	Streamlined work</a:t>
            </a:r>
          </a:p>
          <a:p>
            <a:pPr marL="0" indent="0" algn="just">
              <a:buNone/>
            </a:pPr>
            <a:r>
              <a:rPr lang="en-US" dirty="0"/>
              <a:t>	Cloud service providers (CSPs) manage underlying 	infrastructure, enabling organizations to focus on 	application development and other priorities.</a:t>
            </a:r>
          </a:p>
          <a:p>
            <a:pPr marL="0" indent="0" algn="just">
              <a:buNone/>
            </a:pPr>
            <a:r>
              <a:rPr lang="en-US" dirty="0"/>
              <a:t>    </a:t>
            </a:r>
            <a:r>
              <a:rPr lang="en-US" dirty="0">
                <a:solidFill>
                  <a:schemeClr val="accent1"/>
                </a:solidFill>
              </a:rPr>
              <a:t>2.</a:t>
            </a:r>
            <a:r>
              <a:rPr lang="en-US" dirty="0"/>
              <a:t>	Regular updates</a:t>
            </a:r>
          </a:p>
          <a:p>
            <a:pPr marL="0" indent="0" algn="just">
              <a:buNone/>
            </a:pPr>
            <a:r>
              <a:rPr lang="en-US" dirty="0"/>
              <a:t>  	Service providers regularly update offerings to give 	users the most up-to-date technology.</a:t>
            </a:r>
          </a:p>
          <a:p>
            <a:pPr marL="0" indent="0" algn="just">
              <a:buNone/>
            </a:pPr>
            <a:r>
              <a:rPr lang="en-US" dirty="0"/>
              <a:t>   </a:t>
            </a:r>
            <a:r>
              <a:rPr lang="en-US" dirty="0">
                <a:solidFill>
                  <a:schemeClr val="accent1"/>
                </a:solidFill>
              </a:rPr>
              <a:t> 3.</a:t>
            </a:r>
            <a:r>
              <a:rPr lang="en-US" dirty="0"/>
              <a:t>	Collaboration</a:t>
            </a:r>
          </a:p>
          <a:p>
            <a:pPr marL="0" indent="0" algn="just">
              <a:buNone/>
            </a:pPr>
            <a:r>
              <a:rPr lang="en-US" dirty="0"/>
              <a:t>	Worldwide access means teams can collaborate from 	widespread locations.</a:t>
            </a:r>
          </a:p>
          <a:p>
            <a:pPr marL="0" indent="0" algn="just">
              <a:buNone/>
            </a:pPr>
            <a:r>
              <a:rPr lang="en-US" dirty="0"/>
              <a:t>   </a:t>
            </a:r>
            <a:r>
              <a:rPr lang="en-US" dirty="0">
                <a:solidFill>
                  <a:schemeClr val="accent1"/>
                </a:solidFill>
              </a:rPr>
              <a:t> 4.</a:t>
            </a:r>
            <a:r>
              <a:rPr lang="en-US" dirty="0"/>
              <a:t>	Competitive edge</a:t>
            </a:r>
          </a:p>
          <a:p>
            <a:pPr marL="0" indent="0" algn="just">
              <a:buNone/>
            </a:pPr>
            <a:r>
              <a:rPr lang="en-US"/>
              <a:t>	Organizations </a:t>
            </a:r>
            <a:r>
              <a:rPr lang="en-US" dirty="0"/>
              <a:t>can move more nimbly </a:t>
            </a:r>
            <a:r>
              <a:rPr lang="en-US"/>
              <a:t>than 	competitors </a:t>
            </a:r>
            <a:r>
              <a:rPr lang="en-US" dirty="0"/>
              <a:t>who must devote IT resources </a:t>
            </a:r>
            <a:r>
              <a:rPr lang="en-US"/>
              <a:t>to 	managing </a:t>
            </a:r>
            <a:r>
              <a:rPr lang="en-US" dirty="0"/>
              <a:t>infrastructure.</a:t>
            </a:r>
            <a:endParaRPr lang="en-IN" dirty="0"/>
          </a:p>
        </p:txBody>
      </p:sp>
    </p:spTree>
    <p:extLst>
      <p:ext uri="{BB962C8B-B14F-4D97-AF65-F5344CB8AC3E}">
        <p14:creationId xmlns:p14="http://schemas.microsoft.com/office/powerpoint/2010/main" val="3271244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4A940-184F-4DB1-BA81-5965AD12F046}"/>
              </a:ext>
            </a:extLst>
          </p:cNvPr>
          <p:cNvSpPr>
            <a:spLocks noGrp="1"/>
          </p:cNvSpPr>
          <p:nvPr>
            <p:ph type="title"/>
          </p:nvPr>
        </p:nvSpPr>
        <p:spPr/>
        <p:txBody>
          <a:bodyPr/>
          <a:lstStyle/>
          <a:p>
            <a:r>
              <a:rPr lang="en-GB" dirty="0"/>
              <a:t>Components Of Cloud Computing Architecture</a:t>
            </a:r>
            <a:endParaRPr lang="en-IN" dirty="0"/>
          </a:p>
        </p:txBody>
      </p:sp>
      <p:sp>
        <p:nvSpPr>
          <p:cNvPr id="3" name="Content Placeholder 2">
            <a:extLst>
              <a:ext uri="{FF2B5EF4-FFF2-40B4-BE49-F238E27FC236}">
                <a16:creationId xmlns:a16="http://schemas.microsoft.com/office/drawing/2014/main" id="{6A0B6246-47A5-4BD3-9B74-609AFF1AF8C4}"/>
              </a:ext>
            </a:extLst>
          </p:cNvPr>
          <p:cNvSpPr>
            <a:spLocks noGrp="1"/>
          </p:cNvSpPr>
          <p:nvPr>
            <p:ph sz="quarter" idx="1"/>
          </p:nvPr>
        </p:nvSpPr>
        <p:spPr/>
        <p:txBody>
          <a:bodyPr/>
          <a:lstStyle/>
          <a:p>
            <a:pPr algn="just"/>
            <a:r>
              <a:rPr lang="en-GB" dirty="0"/>
              <a:t>All kinds of businesses, let it be small-scale large-scale, are shifting to cloud-based services. </a:t>
            </a:r>
          </a:p>
          <a:p>
            <a:pPr algn="just"/>
            <a:r>
              <a:rPr lang="en-GB" dirty="0"/>
              <a:t>The adoption of both public and private clouds have increased in the past few years. </a:t>
            </a:r>
          </a:p>
          <a:p>
            <a:pPr algn="just"/>
            <a:r>
              <a:rPr lang="en-GB" dirty="0"/>
              <a:t>The reason behind this shift is lower operating costs and increased flexibility. </a:t>
            </a:r>
          </a:p>
          <a:p>
            <a:pPr algn="just"/>
            <a:r>
              <a:rPr lang="en-GB" dirty="0"/>
              <a:t>Cloud computing technology utilizes remote servers to store, manage, and access data on the internet rather than have a local infrastructure. </a:t>
            </a:r>
            <a:endParaRPr lang="en-IN" dirty="0"/>
          </a:p>
        </p:txBody>
      </p:sp>
    </p:spTree>
    <p:extLst>
      <p:ext uri="{BB962C8B-B14F-4D97-AF65-F5344CB8AC3E}">
        <p14:creationId xmlns:p14="http://schemas.microsoft.com/office/powerpoint/2010/main" val="727353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14DF-0F0A-41B4-BB89-CDAD72B16E41}"/>
              </a:ext>
            </a:extLst>
          </p:cNvPr>
          <p:cNvSpPr>
            <a:spLocks noGrp="1"/>
          </p:cNvSpPr>
          <p:nvPr>
            <p:ph type="title"/>
          </p:nvPr>
        </p:nvSpPr>
        <p:spPr/>
        <p:txBody>
          <a:bodyPr/>
          <a:lstStyle/>
          <a:p>
            <a:r>
              <a:rPr lang="en-GB" dirty="0"/>
              <a:t>Why Cloud Computing?</a:t>
            </a:r>
            <a:endParaRPr lang="en-IN" dirty="0"/>
          </a:p>
        </p:txBody>
      </p:sp>
      <p:sp>
        <p:nvSpPr>
          <p:cNvPr id="3" name="Content Placeholder 2">
            <a:extLst>
              <a:ext uri="{FF2B5EF4-FFF2-40B4-BE49-F238E27FC236}">
                <a16:creationId xmlns:a16="http://schemas.microsoft.com/office/drawing/2014/main" id="{037DCAB4-B79F-4CAB-9589-FA494BD36182}"/>
              </a:ext>
            </a:extLst>
          </p:cNvPr>
          <p:cNvSpPr>
            <a:spLocks noGrp="1"/>
          </p:cNvSpPr>
          <p:nvPr>
            <p:ph sz="quarter" idx="1"/>
          </p:nvPr>
        </p:nvSpPr>
        <p:spPr/>
        <p:txBody>
          <a:bodyPr>
            <a:normAutofit/>
          </a:bodyPr>
          <a:lstStyle/>
          <a:p>
            <a:pPr algn="just"/>
            <a:r>
              <a:rPr lang="en-GB" dirty="0"/>
              <a:t>In cloud computing, we can develop new applications and services, store and backup our data, host blogs, and websites, </a:t>
            </a:r>
            <a:r>
              <a:rPr lang="en-GB" dirty="0" err="1"/>
              <a:t>analyze</a:t>
            </a:r>
            <a:r>
              <a:rPr lang="en-GB" dirty="0"/>
              <a:t> the data, and stream audio and video. </a:t>
            </a:r>
          </a:p>
          <a:p>
            <a:pPr algn="just"/>
            <a:r>
              <a:rPr lang="en-GB" dirty="0"/>
              <a:t>There is no need for large and complex cloud computing infrastructure as the storage and processing are done on remote servers called cloud servers.</a:t>
            </a:r>
          </a:p>
        </p:txBody>
      </p:sp>
    </p:spTree>
    <p:extLst>
      <p:ext uri="{BB962C8B-B14F-4D97-AF65-F5344CB8AC3E}">
        <p14:creationId xmlns:p14="http://schemas.microsoft.com/office/powerpoint/2010/main" val="1824168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A1DC-F090-45D2-ABAC-9C3E586EA2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A603AE5-9F4C-4F92-A3BD-5185C127F1D8}"/>
              </a:ext>
            </a:extLst>
          </p:cNvPr>
          <p:cNvSpPr>
            <a:spLocks noGrp="1"/>
          </p:cNvSpPr>
          <p:nvPr>
            <p:ph sz="quarter" idx="1"/>
          </p:nvPr>
        </p:nvSpPr>
        <p:spPr/>
        <p:txBody>
          <a:bodyPr/>
          <a:lstStyle/>
          <a:p>
            <a:pPr algn="just"/>
            <a:r>
              <a:rPr lang="en-GB" dirty="0"/>
              <a:t>As the software platform and databases are hosted remotely, the individual computers are free from the storage and computing tasks. </a:t>
            </a:r>
          </a:p>
          <a:p>
            <a:pPr algn="just"/>
            <a:r>
              <a:rPr lang="en-GB" dirty="0"/>
              <a:t>Cloud computing offers a wide range of benefits, including high efficiency, cost reduction, data security, scalability, mobility, disaster recovery, and complete control over the data.</a:t>
            </a:r>
            <a:endParaRPr lang="en-IN" dirty="0"/>
          </a:p>
          <a:p>
            <a:endParaRPr lang="en-IN" dirty="0"/>
          </a:p>
        </p:txBody>
      </p:sp>
    </p:spTree>
    <p:extLst>
      <p:ext uri="{BB962C8B-B14F-4D97-AF65-F5344CB8AC3E}">
        <p14:creationId xmlns:p14="http://schemas.microsoft.com/office/powerpoint/2010/main" val="3499190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06B6-6D01-4391-A64F-152B7F1A67EE}"/>
              </a:ext>
            </a:extLst>
          </p:cNvPr>
          <p:cNvSpPr>
            <a:spLocks noGrp="1"/>
          </p:cNvSpPr>
          <p:nvPr>
            <p:ph type="title"/>
          </p:nvPr>
        </p:nvSpPr>
        <p:spPr/>
        <p:txBody>
          <a:bodyPr/>
          <a:lstStyle/>
          <a:p>
            <a:r>
              <a:rPr lang="en-GB" dirty="0"/>
              <a:t>The Components </a:t>
            </a:r>
            <a:endParaRPr lang="en-IN" dirty="0"/>
          </a:p>
        </p:txBody>
      </p:sp>
      <p:sp>
        <p:nvSpPr>
          <p:cNvPr id="3" name="Content Placeholder 2">
            <a:extLst>
              <a:ext uri="{FF2B5EF4-FFF2-40B4-BE49-F238E27FC236}">
                <a16:creationId xmlns:a16="http://schemas.microsoft.com/office/drawing/2014/main" id="{BFE97E06-F75A-407E-8DB6-A00D89F1ED97}"/>
              </a:ext>
            </a:extLst>
          </p:cNvPr>
          <p:cNvSpPr>
            <a:spLocks noGrp="1"/>
          </p:cNvSpPr>
          <p:nvPr>
            <p:ph sz="quarter" idx="1"/>
          </p:nvPr>
        </p:nvSpPr>
        <p:spPr/>
        <p:txBody>
          <a:bodyPr/>
          <a:lstStyle/>
          <a:p>
            <a:pPr algn="just"/>
            <a:r>
              <a:rPr lang="en-GB" dirty="0"/>
              <a:t>The cloud computing architecture consists of two parts front end and the back end, the front end part is the one that is used by the user, and the back end part is managed by the host. Both ends are connected to each other via the internet. </a:t>
            </a:r>
          </a:p>
          <a:p>
            <a:pPr algn="just"/>
            <a:r>
              <a:rPr lang="en-GB" dirty="0"/>
              <a:t>The frontend includes applications and interfaces that help the user access the cloud services. The company offering cloud services manages the back end and has data storage facilities, virtual machines, security systems, and servers.</a:t>
            </a:r>
            <a:endParaRPr lang="en-IN" dirty="0"/>
          </a:p>
        </p:txBody>
      </p:sp>
    </p:spTree>
    <p:extLst>
      <p:ext uri="{BB962C8B-B14F-4D97-AF65-F5344CB8AC3E}">
        <p14:creationId xmlns:p14="http://schemas.microsoft.com/office/powerpoint/2010/main" val="790466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CE58-032F-4375-A768-841C9AD8CB59}"/>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0D0036FE-1B4C-4C0E-947F-D201BBE3F9FC}"/>
              </a:ext>
            </a:extLst>
          </p:cNvPr>
          <p:cNvSpPr>
            <a:spLocks noGrp="1"/>
          </p:cNvSpPr>
          <p:nvPr>
            <p:ph sz="quarter" idx="1"/>
          </p:nvPr>
        </p:nvSpPr>
        <p:spPr/>
        <p:txBody>
          <a:bodyPr>
            <a:normAutofit lnSpcReduction="10000"/>
          </a:bodyPr>
          <a:lstStyle/>
          <a:p>
            <a:pPr marL="0" indent="0" algn="just">
              <a:buNone/>
            </a:pPr>
            <a:r>
              <a:rPr lang="en-GB" dirty="0"/>
              <a:t>1. Client Infrastructure</a:t>
            </a:r>
          </a:p>
          <a:p>
            <a:pPr algn="just"/>
            <a:r>
              <a:rPr lang="en-GB" dirty="0"/>
              <a:t>The client infrastructure component is the part of the frontend which provides a graphic user interface for the user to interact with the cloud. </a:t>
            </a:r>
          </a:p>
          <a:p>
            <a:pPr marL="0" indent="0" algn="just">
              <a:buNone/>
            </a:pPr>
            <a:r>
              <a:rPr lang="en-GB" dirty="0"/>
              <a:t>2. Application</a:t>
            </a:r>
          </a:p>
          <a:p>
            <a:pPr algn="just"/>
            <a:r>
              <a:rPr lang="en-GB" dirty="0"/>
              <a:t>An application is any platform like an app or software offered by a company by which the clients access the cloud.</a:t>
            </a:r>
          </a:p>
          <a:p>
            <a:pPr marL="0" indent="0" algn="just">
              <a:buNone/>
            </a:pPr>
            <a:r>
              <a:rPr lang="en-GB" dirty="0"/>
              <a:t>3. Service</a:t>
            </a:r>
          </a:p>
          <a:p>
            <a:pPr algn="just"/>
            <a:r>
              <a:rPr lang="en-GB" dirty="0"/>
              <a:t>A cloud service manages the kind of service that a client needs to use according to his requirement. There are three types of services in cloud computing. </a:t>
            </a:r>
          </a:p>
          <a:p>
            <a:pPr algn="just"/>
            <a:endParaRPr lang="en-IN" dirty="0"/>
          </a:p>
        </p:txBody>
      </p:sp>
    </p:spTree>
    <p:extLst>
      <p:ext uri="{BB962C8B-B14F-4D97-AF65-F5344CB8AC3E}">
        <p14:creationId xmlns:p14="http://schemas.microsoft.com/office/powerpoint/2010/main" val="2947171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F44F5-AC80-43DA-A2AB-C76805DB7CEC}"/>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9FC2B5C0-0475-4BAA-BC7D-C80CA1239E54}"/>
              </a:ext>
            </a:extLst>
          </p:cNvPr>
          <p:cNvSpPr>
            <a:spLocks noGrp="1"/>
          </p:cNvSpPr>
          <p:nvPr>
            <p:ph sz="quarter" idx="1"/>
          </p:nvPr>
        </p:nvSpPr>
        <p:spPr/>
        <p:txBody>
          <a:bodyPr/>
          <a:lstStyle/>
          <a:p>
            <a:pPr algn="just"/>
            <a:r>
              <a:rPr lang="en-GB" dirty="0"/>
              <a:t>-Software as a Service (SaaS): SaaS-based services are known as cloud application services. They run directly through a web browser eliminating the need for any download or installation of the applications—for example, slack </a:t>
            </a:r>
            <a:r>
              <a:rPr lang="en-GB" dirty="0" err="1"/>
              <a:t>Hubspot</a:t>
            </a:r>
            <a:r>
              <a:rPr lang="en-GB" dirty="0"/>
              <a:t> and Google apps. </a:t>
            </a:r>
          </a:p>
          <a:p>
            <a:pPr algn="just"/>
            <a:r>
              <a:rPr lang="en-GB" dirty="0"/>
              <a:t>-Platform as a Service (PaaS): PaaS services are similar to SaaS. However, PaaS services provide a platform for users to build, edit, and launch the software. For example, Magneto commerce cloud and Windows Azure. </a:t>
            </a:r>
            <a:endParaRPr lang="en-IN" dirty="0"/>
          </a:p>
        </p:txBody>
      </p:sp>
    </p:spTree>
    <p:extLst>
      <p:ext uri="{BB962C8B-B14F-4D97-AF65-F5344CB8AC3E}">
        <p14:creationId xmlns:p14="http://schemas.microsoft.com/office/powerpoint/2010/main" val="3347843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D85A0-8C92-4F9D-BDC8-BC7B6E3C5CA9}"/>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3A59B18C-5882-43D3-AE21-48A55981E7A1}"/>
              </a:ext>
            </a:extLst>
          </p:cNvPr>
          <p:cNvSpPr>
            <a:spLocks noGrp="1"/>
          </p:cNvSpPr>
          <p:nvPr>
            <p:ph sz="quarter" idx="1"/>
          </p:nvPr>
        </p:nvSpPr>
        <p:spPr/>
        <p:txBody>
          <a:bodyPr/>
          <a:lstStyle/>
          <a:p>
            <a:pPr algn="just"/>
            <a:r>
              <a:rPr lang="en-GB" dirty="0"/>
              <a:t>-Infrastructure as a service (IaaS): IaaS manages application data runtime environments and middleware. It provides virtual services that eliminate the need for physical computing resources such as RAM, CPU, and data centres. In IaaS, the companies run virtual servers, networks, and storage on the cloud on a paid basis. For example, Google Compute Engine (GCE), Amazon Elastic Compute Cloud, and Amazon Web Services (AWS).</a:t>
            </a:r>
            <a:endParaRPr lang="en-IN" dirty="0"/>
          </a:p>
        </p:txBody>
      </p:sp>
    </p:spTree>
    <p:extLst>
      <p:ext uri="{BB962C8B-B14F-4D97-AF65-F5344CB8AC3E}">
        <p14:creationId xmlns:p14="http://schemas.microsoft.com/office/powerpoint/2010/main" val="2737978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BFE5-08D4-489F-8F5E-6ECFC15F0CF6}"/>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5216949E-4077-4AEE-8D31-208496BB9E8D}"/>
              </a:ext>
            </a:extLst>
          </p:cNvPr>
          <p:cNvSpPr>
            <a:spLocks noGrp="1"/>
          </p:cNvSpPr>
          <p:nvPr>
            <p:ph sz="quarter" idx="1"/>
          </p:nvPr>
        </p:nvSpPr>
        <p:spPr/>
        <p:txBody>
          <a:bodyPr/>
          <a:lstStyle/>
          <a:p>
            <a:pPr marL="0" indent="0" algn="just">
              <a:buNone/>
            </a:pPr>
            <a:r>
              <a:rPr lang="en-GB" dirty="0"/>
              <a:t>4. Runtime Cloud</a:t>
            </a:r>
          </a:p>
          <a:p>
            <a:pPr algn="just"/>
            <a:r>
              <a:rPr lang="en-GB" dirty="0"/>
              <a:t>The runtime cloud provides the execution and runtime environment to the virtual machines. </a:t>
            </a:r>
          </a:p>
          <a:p>
            <a:pPr marL="0" indent="0" algn="just">
              <a:buNone/>
            </a:pPr>
            <a:r>
              <a:rPr lang="en-GB" dirty="0"/>
              <a:t>5. Storage</a:t>
            </a:r>
          </a:p>
          <a:p>
            <a:pPr algn="just"/>
            <a:r>
              <a:rPr lang="en-GB" dirty="0"/>
              <a:t>The storage component of cloud computing provides the storage capacity in the cloud for storing and managing data. In cloud storage, the data can be accessible to multiple clients simultaneously. Cloud storage is generally in the form of three basic configurations: public cloud, private cloud, and hybrid cloud.</a:t>
            </a:r>
            <a:endParaRPr lang="en-IN" dirty="0"/>
          </a:p>
        </p:txBody>
      </p:sp>
    </p:spTree>
    <p:extLst>
      <p:ext uri="{BB962C8B-B14F-4D97-AF65-F5344CB8AC3E}">
        <p14:creationId xmlns:p14="http://schemas.microsoft.com/office/powerpoint/2010/main" val="733070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C20FB-76A2-4CA9-A78E-EFDD30C42DE1}"/>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C832EB10-0BD0-4F6B-8B15-1962DB774C36}"/>
              </a:ext>
            </a:extLst>
          </p:cNvPr>
          <p:cNvSpPr>
            <a:spLocks noGrp="1"/>
          </p:cNvSpPr>
          <p:nvPr>
            <p:ph sz="quarter" idx="1"/>
          </p:nvPr>
        </p:nvSpPr>
        <p:spPr/>
        <p:txBody>
          <a:bodyPr>
            <a:normAutofit lnSpcReduction="10000"/>
          </a:bodyPr>
          <a:lstStyle/>
          <a:p>
            <a:pPr marL="0" indent="0" algn="just">
              <a:buNone/>
            </a:pPr>
            <a:r>
              <a:rPr lang="en-GB" dirty="0"/>
              <a:t>6. Infrastructure</a:t>
            </a:r>
          </a:p>
          <a:p>
            <a:pPr algn="just"/>
            <a:r>
              <a:rPr lang="en-GB" dirty="0"/>
              <a:t>The infrastructure provides services on the host level, application level, and network level. It includes the software and hardware components such as the storage network devices server and any other storage resource required to support the cloud computing model. </a:t>
            </a:r>
          </a:p>
          <a:p>
            <a:pPr marL="0" indent="0" algn="just">
              <a:buNone/>
            </a:pPr>
            <a:r>
              <a:rPr lang="en-GB" dirty="0"/>
              <a:t>7. Management</a:t>
            </a:r>
          </a:p>
          <a:p>
            <a:pPr algn="just"/>
            <a:r>
              <a:rPr lang="en-GB" dirty="0"/>
              <a:t>Management is used for managing the components such as storage services, applications, runtime cloud infrastructure, and security issues in the backend and for establishing coordination. </a:t>
            </a:r>
            <a:endParaRPr lang="en-IN" dirty="0"/>
          </a:p>
        </p:txBody>
      </p:sp>
    </p:spTree>
    <p:extLst>
      <p:ext uri="{BB962C8B-B14F-4D97-AF65-F5344CB8AC3E}">
        <p14:creationId xmlns:p14="http://schemas.microsoft.com/office/powerpoint/2010/main" val="1653335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5723C-C3DE-4EE4-B1A3-31CC3AA354A9}"/>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A7B78B2B-2951-4799-8AE5-C50E53FB29A7}"/>
              </a:ext>
            </a:extLst>
          </p:cNvPr>
          <p:cNvSpPr>
            <a:spLocks noGrp="1"/>
          </p:cNvSpPr>
          <p:nvPr>
            <p:ph sz="quarter" idx="1"/>
          </p:nvPr>
        </p:nvSpPr>
        <p:spPr/>
        <p:txBody>
          <a:bodyPr>
            <a:normAutofit lnSpcReduction="10000"/>
          </a:bodyPr>
          <a:lstStyle/>
          <a:p>
            <a:pPr marL="0" indent="0" algn="just">
              <a:buNone/>
            </a:pPr>
            <a:r>
              <a:rPr lang="en-GB" dirty="0"/>
              <a:t>8. Security</a:t>
            </a:r>
          </a:p>
          <a:p>
            <a:pPr algn="just"/>
            <a:r>
              <a:rPr lang="en-GB" dirty="0"/>
              <a:t>Security is the backend component of cloud computing, which insurance the security of data in the cloud. The security system in the cloud includes a broad set of policies, technologies, applications, and controls that are used for protecting the IP’s, data, applications, infrastructure, and the services offered in cloud computing.</a:t>
            </a:r>
          </a:p>
          <a:p>
            <a:pPr marL="0" indent="0" algn="just">
              <a:buNone/>
            </a:pPr>
            <a:r>
              <a:rPr lang="en-GB" dirty="0"/>
              <a:t>9. Internet</a:t>
            </a:r>
          </a:p>
          <a:p>
            <a:pPr algn="just"/>
            <a:r>
              <a:rPr lang="en-GB" dirty="0"/>
              <a:t>Internet is the medium using which the frontend and backend components communicate and interact with each other.</a:t>
            </a:r>
            <a:endParaRPr lang="en-IN" dirty="0"/>
          </a:p>
        </p:txBody>
      </p:sp>
    </p:spTree>
    <p:extLst>
      <p:ext uri="{BB962C8B-B14F-4D97-AF65-F5344CB8AC3E}">
        <p14:creationId xmlns:p14="http://schemas.microsoft.com/office/powerpoint/2010/main" val="2228047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Characteristics of Cloud Computing</a:t>
            </a:r>
          </a:p>
        </p:txBody>
      </p:sp>
      <p:sp>
        <p:nvSpPr>
          <p:cNvPr id="3" name="Content Placeholder 2"/>
          <p:cNvSpPr>
            <a:spLocks noGrp="1"/>
          </p:cNvSpPr>
          <p:nvPr>
            <p:ph sz="quarter" idx="1"/>
          </p:nvPr>
        </p:nvSpPr>
        <p:spPr/>
        <p:txBody>
          <a:bodyPr>
            <a:normAutofit/>
          </a:bodyPr>
          <a:lstStyle/>
          <a:p>
            <a:pPr algn="just"/>
            <a:r>
              <a:rPr lang="en-US" dirty="0"/>
              <a:t>As cloud computing services mature both commercially and technologically, it will be easier for companies to maximize the potential benefits. Knowing what cloud computing is and what it does, however, is just as important. The National Institute of Standards and Technology (NIST) defines cloud computing as it is known today through five particular characteristics.</a:t>
            </a:r>
          </a:p>
        </p:txBody>
      </p:sp>
    </p:spTree>
    <p:extLst>
      <p:ext uri="{BB962C8B-B14F-4D97-AF65-F5344CB8AC3E}">
        <p14:creationId xmlns:p14="http://schemas.microsoft.com/office/powerpoint/2010/main" val="2045258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lnSpcReduction="10000"/>
          </a:bodyPr>
          <a:lstStyle/>
          <a:p>
            <a:r>
              <a:rPr lang="en-IN" b="1" dirty="0"/>
              <a:t>On-demand self-service</a:t>
            </a:r>
          </a:p>
          <a:p>
            <a:pPr marL="365760" lvl="1" indent="0" algn="just">
              <a:buNone/>
            </a:pPr>
            <a:r>
              <a:rPr lang="en-US" dirty="0"/>
              <a:t>Cloud computing resources can be provisioned without human interaction from the service provider. In other words, a manufacturing organization can provision additional computing resources as needed without going through the cloud service provider. This can be a storage space, virtual machine instances, database instances, and so on.</a:t>
            </a:r>
          </a:p>
          <a:p>
            <a:r>
              <a:rPr lang="en-US" b="1" dirty="0"/>
              <a:t>Broad network access</a:t>
            </a:r>
            <a:endParaRPr lang="en-US" dirty="0"/>
          </a:p>
          <a:p>
            <a:pPr marL="365760" lvl="1" indent="0" algn="just">
              <a:buNone/>
            </a:pPr>
            <a:r>
              <a:rPr lang="en-US" dirty="0"/>
              <a:t>Cloud computing resources are available over the network and can be accessed by diverse customer platforms. It other words, cloud services are available over a network—ideally high broadband communication link—such as the internet, or in the case of a private clouds it could be a local area network (LAN).</a:t>
            </a:r>
          </a:p>
          <a:p>
            <a:endParaRPr lang="en-IN" dirty="0"/>
          </a:p>
          <a:p>
            <a:endParaRPr lang="en-IN" dirty="0"/>
          </a:p>
        </p:txBody>
      </p:sp>
    </p:spTree>
    <p:extLst>
      <p:ext uri="{BB962C8B-B14F-4D97-AF65-F5344CB8AC3E}">
        <p14:creationId xmlns:p14="http://schemas.microsoft.com/office/powerpoint/2010/main" val="4255816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a:bodyPr>
          <a:lstStyle/>
          <a:p>
            <a:r>
              <a:rPr lang="en-US" b="1" dirty="0"/>
              <a:t>Multi-tenancy and resource pooling</a:t>
            </a:r>
            <a:endParaRPr lang="en-US" dirty="0"/>
          </a:p>
          <a:p>
            <a:pPr marL="365760" lvl="1" indent="0" algn="just">
              <a:buNone/>
            </a:pPr>
            <a:r>
              <a:rPr lang="en-US" dirty="0"/>
              <a:t>Cloud computing resources are designed to support a multi-tenant model. </a:t>
            </a:r>
          </a:p>
          <a:p>
            <a:pPr marL="365760" lvl="1" indent="0" algn="just">
              <a:buNone/>
            </a:pPr>
            <a:r>
              <a:rPr lang="en-US" dirty="0"/>
              <a:t>Multi-tenancy allows multiple customers to share the same applications or the same physical infrastructure while retaining privacy and security over their information. </a:t>
            </a:r>
          </a:p>
          <a:p>
            <a:pPr marL="365760" lvl="1" indent="0" algn="just">
              <a:buNone/>
            </a:pPr>
            <a:r>
              <a:rPr lang="en-US" dirty="0"/>
              <a:t>It’s similar to people living in an apartment building, sharing the same building infrastructure but they still have their own apartments and privacy within that infrastructure. That is how cloud multi-tenancy works.</a:t>
            </a:r>
          </a:p>
          <a:p>
            <a:endParaRPr lang="en-IN" dirty="0"/>
          </a:p>
        </p:txBody>
      </p:sp>
    </p:spTree>
    <p:extLst>
      <p:ext uri="{BB962C8B-B14F-4D97-AF65-F5344CB8AC3E}">
        <p14:creationId xmlns:p14="http://schemas.microsoft.com/office/powerpoint/2010/main" val="1975413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a:bodyPr>
          <a:lstStyle/>
          <a:p>
            <a:r>
              <a:rPr lang="en-IN" b="1" dirty="0"/>
              <a:t>Rapid elasticity and scalability</a:t>
            </a:r>
          </a:p>
          <a:p>
            <a:pPr marL="365760" lvl="1" indent="0" algn="just">
              <a:buNone/>
            </a:pPr>
            <a:r>
              <a:rPr lang="en-US" dirty="0"/>
              <a:t>Cloud computing resources can scale up or down rapidly and, in some cases, automatically, in response to business demands. </a:t>
            </a:r>
          </a:p>
          <a:p>
            <a:pPr marL="365760" lvl="1" indent="0" algn="just">
              <a:buNone/>
            </a:pPr>
            <a:r>
              <a:rPr lang="en-US" dirty="0"/>
              <a:t>It is a key feature of cloud computing. The usage, capacity, and therefore cost, can be scaled up or down with no additional contract or penalties.</a:t>
            </a:r>
          </a:p>
          <a:p>
            <a:pPr marL="365760" lvl="1" indent="0" algn="just">
              <a:buNone/>
            </a:pPr>
            <a:r>
              <a:rPr lang="en-US" dirty="0"/>
              <a:t>Elasticity is a landmark of cloud computing and it implies that manufacturing organizations can rapidly provision and de-provision any of the cloud computing resources. </a:t>
            </a:r>
          </a:p>
          <a:p>
            <a:pPr marL="365760" lvl="1" indent="0" algn="just">
              <a:buNone/>
            </a:pPr>
            <a:r>
              <a:rPr lang="en-US" dirty="0"/>
              <a:t>Rapid provisioning and de-provisioning might apply to storage or virtual machines or customer applications.</a:t>
            </a:r>
          </a:p>
          <a:p>
            <a:endParaRPr lang="en-IN" dirty="0"/>
          </a:p>
        </p:txBody>
      </p:sp>
    </p:spTree>
    <p:extLst>
      <p:ext uri="{BB962C8B-B14F-4D97-AF65-F5344CB8AC3E}">
        <p14:creationId xmlns:p14="http://schemas.microsoft.com/office/powerpoint/2010/main" val="2613580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914F-89FC-4354-8BD8-96BAB43046F0}"/>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FBBEE866-BA71-431A-8212-60C9F651B8CD}"/>
              </a:ext>
            </a:extLst>
          </p:cNvPr>
          <p:cNvSpPr>
            <a:spLocks noGrp="1"/>
          </p:cNvSpPr>
          <p:nvPr>
            <p:ph sz="quarter" idx="1"/>
          </p:nvPr>
        </p:nvSpPr>
        <p:spPr/>
        <p:txBody>
          <a:bodyPr/>
          <a:lstStyle/>
          <a:p>
            <a:pPr algn="just"/>
            <a:r>
              <a:rPr lang="en-US" dirty="0"/>
              <a:t>With cloud computing scalability, there is less capital expenditure on the cloud customer side. </a:t>
            </a:r>
          </a:p>
          <a:p>
            <a:pPr algn="just"/>
            <a:r>
              <a:rPr lang="en-US" dirty="0"/>
              <a:t>This is because as the cloud customer needs additional computing resources, they can simply provision them as needed, and they are available right away. Scalability is more planned and gradual. </a:t>
            </a:r>
          </a:p>
          <a:p>
            <a:pPr algn="just"/>
            <a:r>
              <a:rPr lang="en-US" dirty="0"/>
              <a:t>For instance, scalability means that manufacturing organizations are gradually planning for more capacity and of course the cloud can handle that scaling up or scaling down.</a:t>
            </a:r>
          </a:p>
          <a:p>
            <a:endParaRPr lang="en-IN" dirty="0"/>
          </a:p>
        </p:txBody>
      </p:sp>
    </p:spTree>
    <p:extLst>
      <p:ext uri="{BB962C8B-B14F-4D97-AF65-F5344CB8AC3E}">
        <p14:creationId xmlns:p14="http://schemas.microsoft.com/office/powerpoint/2010/main" val="39591645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a:bodyPr>
          <a:lstStyle/>
          <a:p>
            <a:r>
              <a:rPr lang="en-US" b="1" dirty="0"/>
              <a:t>Measured service</a:t>
            </a:r>
            <a:endParaRPr lang="en-US" dirty="0"/>
          </a:p>
          <a:p>
            <a:pPr marL="365760" lvl="1" indent="0" algn="just">
              <a:buNone/>
            </a:pPr>
            <a:r>
              <a:rPr lang="en-US" dirty="0"/>
              <a:t>Cloud computing resources usage is metered, and manufacturing organizations pay accordingly for what they have used. Resource utilization can be optimized by leveraging charge-per-use capabilities. </a:t>
            </a:r>
          </a:p>
          <a:p>
            <a:pPr marL="365760" lvl="1" indent="0" algn="just">
              <a:buNone/>
            </a:pPr>
            <a:r>
              <a:rPr lang="en-US" dirty="0"/>
              <a:t>This means that cloud resource usage—whether virtual server instances that are running or storage in the cloud—gets monitored, measured and reported by the cloud service provider. </a:t>
            </a:r>
          </a:p>
          <a:p>
            <a:pPr marL="365760" lvl="1" indent="0" algn="just">
              <a:buNone/>
            </a:pPr>
            <a:r>
              <a:rPr lang="en-US" dirty="0"/>
              <a:t>The cost model is based on “pay for what you use”—the payment is variable based on the actual consumption by the manufacturing organization.</a:t>
            </a:r>
          </a:p>
          <a:p>
            <a:endParaRPr lang="en-IN" dirty="0"/>
          </a:p>
        </p:txBody>
      </p:sp>
    </p:spTree>
    <p:extLst>
      <p:ext uri="{BB962C8B-B14F-4D97-AF65-F5344CB8AC3E}">
        <p14:creationId xmlns:p14="http://schemas.microsoft.com/office/powerpoint/2010/main" val="2141134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Disadvantages of Cloud Computing</a:t>
            </a:r>
            <a:endParaRPr lang="en-IN" dirty="0"/>
          </a:p>
        </p:txBody>
      </p:sp>
      <p:sp>
        <p:nvSpPr>
          <p:cNvPr id="3" name="Content Placeholder 2"/>
          <p:cNvSpPr>
            <a:spLocks noGrp="1"/>
          </p:cNvSpPr>
          <p:nvPr>
            <p:ph sz="quarter" idx="1"/>
          </p:nvPr>
        </p:nvSpPr>
        <p:spPr/>
        <p:txBody>
          <a:bodyPr/>
          <a:lstStyle/>
          <a:p>
            <a:pPr algn="just"/>
            <a:r>
              <a:rPr lang="en-US" dirty="0"/>
              <a:t>There are benefits from cloud computing usage but it is undeniable that this system also has some disadvantages. The risks of cloud computing you should know such as:</a:t>
            </a:r>
          </a:p>
          <a:p>
            <a:endParaRPr lang="en-US" dirty="0"/>
          </a:p>
          <a:p>
            <a:pPr marL="365760" lvl="1" indent="0">
              <a:buNone/>
            </a:pPr>
            <a:r>
              <a:rPr lang="en-US" b="1" dirty="0"/>
              <a:t>#1. Risk of data confidentiality</a:t>
            </a:r>
            <a:endParaRPr lang="en-US" dirty="0"/>
          </a:p>
          <a:p>
            <a:pPr marL="365760" lvl="1" indent="0">
              <a:buNone/>
            </a:pPr>
            <a:r>
              <a:rPr lang="en-US" dirty="0"/>
              <a:t>There is always a risk that user data can be accessed by other people. So, data and cloud protection must be good because it won’t be dangerous for data confidentiality.</a:t>
            </a:r>
          </a:p>
          <a:p>
            <a:endParaRPr lang="en-IN" dirty="0"/>
          </a:p>
        </p:txBody>
      </p:sp>
    </p:spTree>
    <p:extLst>
      <p:ext uri="{BB962C8B-B14F-4D97-AF65-F5344CB8AC3E}">
        <p14:creationId xmlns:p14="http://schemas.microsoft.com/office/powerpoint/2010/main" val="2492821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lstStyle/>
          <a:p>
            <a:pPr marL="0" indent="0">
              <a:buNone/>
            </a:pPr>
            <a:r>
              <a:rPr lang="en-US" b="1" dirty="0"/>
              <a:t>#2. Depends on internet connection</a:t>
            </a:r>
            <a:endParaRPr lang="en-US" dirty="0"/>
          </a:p>
          <a:p>
            <a:pPr marL="0" indent="0" algn="just">
              <a:buNone/>
            </a:pPr>
            <a:r>
              <a:rPr lang="en-US" dirty="0"/>
              <a:t>The internet is the only way to cloud computing. When there is no internet connection in your place, or the internet path to the cloud provider is in trouble, automatically access to your cloud computing machine will be disconnected. Now this is where the biggest obstacle is happening in developing countries and remote areas that do not have good internet access. And the weakness of public cloud is where everyone accesses the same server and server and will increase the risk of attack, and down the server.</a:t>
            </a:r>
          </a:p>
          <a:p>
            <a:endParaRPr lang="en-IN" dirty="0"/>
          </a:p>
        </p:txBody>
      </p:sp>
    </p:spTree>
    <p:extLst>
      <p:ext uri="{BB962C8B-B14F-4D97-AF65-F5344CB8AC3E}">
        <p14:creationId xmlns:p14="http://schemas.microsoft.com/office/powerpoint/2010/main" val="2916253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a:bodyPr>
          <a:lstStyle/>
          <a:p>
            <a:pPr marL="0" indent="0">
              <a:buNone/>
            </a:pPr>
            <a:r>
              <a:rPr lang="en-US" b="1" dirty="0"/>
              <a:t>#3. The level of security</a:t>
            </a:r>
            <a:endParaRPr lang="en-US" dirty="0"/>
          </a:p>
          <a:p>
            <a:pPr marL="0" indent="0" algn="just">
              <a:buNone/>
            </a:pPr>
            <a:r>
              <a:rPr lang="en-US" dirty="0"/>
              <a:t>Secrecy and security are among the most doubtful things in cloud computing. By using a cloud computing system means we are fully entrusted with the security and confidentiality of data to companies that provide cloud computing servers. When you experience a problem, you cannot sue the server for errors in the data. When you experience a problem, you cannot sue the server for errors in the data.</a:t>
            </a:r>
          </a:p>
          <a:p>
            <a:endParaRPr lang="en-IN" dirty="0"/>
          </a:p>
        </p:txBody>
      </p:sp>
    </p:spTree>
    <p:extLst>
      <p:ext uri="{BB962C8B-B14F-4D97-AF65-F5344CB8AC3E}">
        <p14:creationId xmlns:p14="http://schemas.microsoft.com/office/powerpoint/2010/main" val="1099708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fontScale="92500"/>
          </a:bodyPr>
          <a:lstStyle/>
          <a:p>
            <a:pPr marL="0" indent="0">
              <a:buNone/>
            </a:pPr>
            <a:r>
              <a:rPr lang="en-US" b="1" dirty="0"/>
              <a:t>#4. Compliance</a:t>
            </a:r>
            <a:endParaRPr lang="en-US" dirty="0"/>
          </a:p>
          <a:p>
            <a:pPr marL="0" indent="0" algn="just">
              <a:buNone/>
            </a:pPr>
            <a:r>
              <a:rPr lang="en-US" dirty="0"/>
              <a:t>Which refers to the risk of a level compliance deviation from the provider against the regulations applied by the user.</a:t>
            </a:r>
            <a:endParaRPr lang="en-US" b="1" dirty="0"/>
          </a:p>
          <a:p>
            <a:pPr marL="0" indent="0">
              <a:buNone/>
            </a:pPr>
            <a:r>
              <a:rPr lang="en-US" b="1" dirty="0"/>
              <a:t>#5. Vulnerable in the event of an attack</a:t>
            </a:r>
            <a:endParaRPr lang="en-US" dirty="0"/>
          </a:p>
          <a:p>
            <a:pPr marL="0" indent="0" algn="just">
              <a:buNone/>
            </a:pPr>
            <a:r>
              <a:rPr lang="en-US" dirty="0"/>
              <a:t>There are lots of arguments against cloud computing one of which is computing because the Cloud Computing work system is online, each component that is on Cloud Computing can be exposed to a wide range, this is a wide-open opportunity for attacks on data or activities stored on the server. When an attack is carried out by hackers, the problems that occur are data security and data privacy.</a:t>
            </a:r>
          </a:p>
          <a:p>
            <a:pPr marL="0" indent="0">
              <a:buNone/>
            </a:pPr>
            <a:endParaRPr lang="en-IN" dirty="0"/>
          </a:p>
        </p:txBody>
      </p:sp>
    </p:spTree>
    <p:extLst>
      <p:ext uri="{BB962C8B-B14F-4D97-AF65-F5344CB8AC3E}">
        <p14:creationId xmlns:p14="http://schemas.microsoft.com/office/powerpoint/2010/main" val="953803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a:t>
            </a:r>
          </a:p>
        </p:txBody>
      </p:sp>
      <p:sp>
        <p:nvSpPr>
          <p:cNvPr id="3" name="Content Placeholder 2"/>
          <p:cNvSpPr>
            <a:spLocks noGrp="1"/>
          </p:cNvSpPr>
          <p:nvPr>
            <p:ph sz="quarter" idx="1"/>
          </p:nvPr>
        </p:nvSpPr>
        <p:spPr/>
        <p:txBody>
          <a:bodyPr>
            <a:normAutofit lnSpcReduction="10000"/>
          </a:bodyPr>
          <a:lstStyle/>
          <a:p>
            <a:pPr marL="0" indent="0">
              <a:buNone/>
            </a:pPr>
            <a:r>
              <a:rPr lang="en-US" b="1" dirty="0"/>
              <a:t>#6. Data Mobility</a:t>
            </a:r>
            <a:endParaRPr lang="en-US" dirty="0"/>
          </a:p>
          <a:p>
            <a:pPr marL="0" indent="0" algn="just">
              <a:buNone/>
            </a:pPr>
            <a:r>
              <a:rPr lang="en-US" dirty="0"/>
              <a:t>Which refers to the possibility of sharing data between cloud services and how to retrieve data if one day the user makes a process of terminating cloud computing services. And there is local storage where the data can be used at any time as needed.</a:t>
            </a:r>
            <a:endParaRPr lang="en-US" b="1" dirty="0"/>
          </a:p>
          <a:p>
            <a:pPr marL="0" indent="0">
              <a:buNone/>
            </a:pPr>
            <a:r>
              <a:rPr lang="en-US" b="1" dirty="0"/>
              <a:t>#7. Technical problem</a:t>
            </a:r>
            <a:endParaRPr lang="en-US" dirty="0"/>
          </a:p>
          <a:p>
            <a:pPr marL="0" indent="0" algn="just">
              <a:buNone/>
            </a:pPr>
            <a:r>
              <a:rPr lang="en-US" dirty="0"/>
              <a:t>Besides that the use of Cloud Computing makes you unable to manage it yourself when there is a problem or a problem, you must contact customer support who is not necessarily ready 24/7. This is a problem because for some support you also have to pay more money.</a:t>
            </a:r>
          </a:p>
          <a:p>
            <a:endParaRPr lang="en-IN" dirty="0"/>
          </a:p>
        </p:txBody>
      </p:sp>
    </p:spTree>
    <p:extLst>
      <p:ext uri="{BB962C8B-B14F-4D97-AF65-F5344CB8AC3E}">
        <p14:creationId xmlns:p14="http://schemas.microsoft.com/office/powerpoint/2010/main" val="2523535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45942-AA12-4F11-A446-A140BA145906}"/>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ED46641E-0E07-42E3-AAA8-11C74B6898B0}"/>
              </a:ext>
            </a:extLst>
          </p:cNvPr>
          <p:cNvSpPr>
            <a:spLocks noGrp="1"/>
          </p:cNvSpPr>
          <p:nvPr>
            <p:ph sz="quarter" idx="1"/>
          </p:nvPr>
        </p:nvSpPr>
        <p:spPr/>
        <p:txBody>
          <a:bodyPr/>
          <a:lstStyle/>
          <a:p>
            <a:pPr marL="0" indent="0">
              <a:buNone/>
            </a:pPr>
            <a:r>
              <a:rPr lang="en-US" b="1" dirty="0"/>
              <a:t>#8. Low Connection</a:t>
            </a:r>
            <a:endParaRPr lang="en-US" dirty="0"/>
          </a:p>
          <a:p>
            <a:pPr marL="0" indent="0" algn="just">
              <a:buNone/>
            </a:pPr>
            <a:r>
              <a:rPr lang="en-US" dirty="0"/>
              <a:t>Does not work well if the connection is slow. The quality of cloud computing servers is one of the most important considerations before we decide to provide cloud computing server service, providers. When the server is down or the performance is not good, we will be harmed because of poor server quality.</a:t>
            </a:r>
          </a:p>
          <a:p>
            <a:endParaRPr lang="en-IN" dirty="0"/>
          </a:p>
        </p:txBody>
      </p:sp>
    </p:spTree>
    <p:extLst>
      <p:ext uri="{BB962C8B-B14F-4D97-AF65-F5344CB8AC3E}">
        <p14:creationId xmlns:p14="http://schemas.microsoft.com/office/powerpoint/2010/main" val="29574077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BD28-2F3C-4711-830C-BFAC4DB78D6A}"/>
              </a:ext>
            </a:extLst>
          </p:cNvPr>
          <p:cNvSpPr>
            <a:spLocks noGrp="1"/>
          </p:cNvSpPr>
          <p:nvPr>
            <p:ph type="title"/>
          </p:nvPr>
        </p:nvSpPr>
        <p:spPr/>
        <p:txBody>
          <a:bodyPr/>
          <a:lstStyle/>
          <a:p>
            <a:r>
              <a:rPr lang="en-GB" dirty="0"/>
              <a:t>Cloud Computing Applications</a:t>
            </a:r>
            <a:endParaRPr lang="en-IN" dirty="0"/>
          </a:p>
        </p:txBody>
      </p:sp>
      <p:sp>
        <p:nvSpPr>
          <p:cNvPr id="3" name="Content Placeholder 2">
            <a:extLst>
              <a:ext uri="{FF2B5EF4-FFF2-40B4-BE49-F238E27FC236}">
                <a16:creationId xmlns:a16="http://schemas.microsoft.com/office/drawing/2014/main" id="{908F94F0-8763-4D27-82C1-88036E26A7BA}"/>
              </a:ext>
            </a:extLst>
          </p:cNvPr>
          <p:cNvSpPr>
            <a:spLocks noGrp="1"/>
          </p:cNvSpPr>
          <p:nvPr>
            <p:ph sz="quarter" idx="1"/>
          </p:nvPr>
        </p:nvSpPr>
        <p:spPr/>
        <p:txBody>
          <a:bodyPr/>
          <a:lstStyle/>
          <a:p>
            <a:pPr algn="just"/>
            <a:r>
              <a:rPr lang="en-GB" dirty="0"/>
              <a:t>Cloud service providers provide various applications in the field of art, business, data storage, and backup services, education, entertainment, management, social networking, etc.</a:t>
            </a:r>
          </a:p>
          <a:p>
            <a:pPr algn="just"/>
            <a:r>
              <a:rPr lang="en-GB" dirty="0"/>
              <a:t>The most widely used cloud computing applications are given below -</a:t>
            </a:r>
            <a:endParaRPr lang="en-IN" dirty="0"/>
          </a:p>
        </p:txBody>
      </p:sp>
    </p:spTree>
    <p:extLst>
      <p:ext uri="{BB962C8B-B14F-4D97-AF65-F5344CB8AC3E}">
        <p14:creationId xmlns:p14="http://schemas.microsoft.com/office/powerpoint/2010/main" val="31115363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55212-A61E-47D7-8354-471479E45FAE}"/>
              </a:ext>
            </a:extLst>
          </p:cNvPr>
          <p:cNvSpPr>
            <a:spLocks noGrp="1"/>
          </p:cNvSpPr>
          <p:nvPr>
            <p:ph type="title"/>
          </p:nvPr>
        </p:nvSpPr>
        <p:spPr/>
        <p:txBody>
          <a:bodyPr/>
          <a:lstStyle/>
          <a:p>
            <a:r>
              <a:rPr lang="en-GB" dirty="0"/>
              <a:t>Continue..</a:t>
            </a:r>
            <a:endParaRPr lang="en-IN" dirty="0"/>
          </a:p>
        </p:txBody>
      </p:sp>
      <p:pic>
        <p:nvPicPr>
          <p:cNvPr id="1026" name="Picture 2" descr="Cloud Computing Applications">
            <a:extLst>
              <a:ext uri="{FF2B5EF4-FFF2-40B4-BE49-F238E27FC236}">
                <a16:creationId xmlns:a16="http://schemas.microsoft.com/office/drawing/2014/main" id="{36A659E1-FE32-4C6A-9CD4-821F78FC5D9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571259" y="2188904"/>
            <a:ext cx="5239481" cy="369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263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407-56F7-4C9F-813D-E1B0836FFB7C}"/>
              </a:ext>
            </a:extLst>
          </p:cNvPr>
          <p:cNvSpPr>
            <a:spLocks noGrp="1"/>
          </p:cNvSpPr>
          <p:nvPr>
            <p:ph type="title"/>
          </p:nvPr>
        </p:nvSpPr>
        <p:spPr/>
        <p:txBody>
          <a:bodyPr/>
          <a:lstStyle/>
          <a:p>
            <a:r>
              <a:rPr lang="en-GB" dirty="0"/>
              <a:t>1. Art Applications</a:t>
            </a:r>
            <a:endParaRPr lang="en-IN" dirty="0"/>
          </a:p>
        </p:txBody>
      </p:sp>
      <p:sp>
        <p:nvSpPr>
          <p:cNvPr id="3" name="Content Placeholder 2">
            <a:extLst>
              <a:ext uri="{FF2B5EF4-FFF2-40B4-BE49-F238E27FC236}">
                <a16:creationId xmlns:a16="http://schemas.microsoft.com/office/drawing/2014/main" id="{40200ADB-B63D-4AAB-9B3D-DCBB210DBD6F}"/>
              </a:ext>
            </a:extLst>
          </p:cNvPr>
          <p:cNvSpPr>
            <a:spLocks noGrp="1"/>
          </p:cNvSpPr>
          <p:nvPr>
            <p:ph sz="quarter" idx="1"/>
          </p:nvPr>
        </p:nvSpPr>
        <p:spPr/>
        <p:txBody>
          <a:bodyPr>
            <a:normAutofit fontScale="77500" lnSpcReduction="20000"/>
          </a:bodyPr>
          <a:lstStyle/>
          <a:p>
            <a:pPr marL="0" indent="0" algn="just">
              <a:buNone/>
            </a:pPr>
            <a:r>
              <a:rPr lang="en-GB" dirty="0"/>
              <a:t>Cloud computing offers various art applications for quickly and easily design attractive cards, booklets, and images. Some most commonly used cloud art applications are given below:</a:t>
            </a:r>
          </a:p>
          <a:p>
            <a:pPr marL="0" indent="0" algn="just">
              <a:buNone/>
            </a:pPr>
            <a:r>
              <a:rPr lang="en-GB" b="1" dirty="0" err="1"/>
              <a:t>i</a:t>
            </a:r>
            <a:r>
              <a:rPr lang="en-GB" b="1" dirty="0"/>
              <a:t> Moo</a:t>
            </a:r>
          </a:p>
          <a:p>
            <a:pPr algn="just"/>
            <a:r>
              <a:rPr lang="en-GB" dirty="0"/>
              <a:t>Moo is one of the best cloud art applications. It is used for designing and printing business cards, postcards, and mini cards.</a:t>
            </a:r>
          </a:p>
          <a:p>
            <a:pPr marL="0" indent="0" algn="just">
              <a:buNone/>
            </a:pPr>
            <a:r>
              <a:rPr lang="en-GB" b="1" dirty="0"/>
              <a:t>ii. Vistaprint</a:t>
            </a:r>
          </a:p>
          <a:p>
            <a:pPr algn="just"/>
            <a:r>
              <a:rPr lang="en-GB" dirty="0"/>
              <a:t>Vistaprint allows us to easily design various printed marketing products such as business cards, Postcards, Booklets, and wedding invitations cards.</a:t>
            </a:r>
          </a:p>
          <a:p>
            <a:pPr marL="0" indent="0" algn="just">
              <a:buNone/>
            </a:pPr>
            <a:r>
              <a:rPr lang="en-GB" b="1" dirty="0"/>
              <a:t>iii. Adobe Creative Cloud</a:t>
            </a:r>
          </a:p>
          <a:p>
            <a:pPr algn="just"/>
            <a:r>
              <a:rPr lang="en-GB" dirty="0"/>
              <a:t>Adobe creative cloud is made for designers, artists, filmmakers, and other creative professionals. It is a suite of apps which includes </a:t>
            </a:r>
            <a:r>
              <a:rPr lang="en-GB" dirty="0" err="1"/>
              <a:t>PhotoShop</a:t>
            </a:r>
            <a:r>
              <a:rPr lang="en-GB" dirty="0"/>
              <a:t> image editing programming, Illustrator, InDesign, </a:t>
            </a:r>
            <a:r>
              <a:rPr lang="en-GB" dirty="0" err="1"/>
              <a:t>TypeKit</a:t>
            </a:r>
            <a:r>
              <a:rPr lang="en-GB" dirty="0"/>
              <a:t>, Dreamweaver, XD, and Audition.</a:t>
            </a:r>
            <a:endParaRPr lang="en-IN" dirty="0"/>
          </a:p>
        </p:txBody>
      </p:sp>
    </p:spTree>
    <p:extLst>
      <p:ext uri="{BB962C8B-B14F-4D97-AF65-F5344CB8AC3E}">
        <p14:creationId xmlns:p14="http://schemas.microsoft.com/office/powerpoint/2010/main" val="9840312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D3B64-10F2-410A-BDB6-2776D87CB102}"/>
              </a:ext>
            </a:extLst>
          </p:cNvPr>
          <p:cNvSpPr>
            <a:spLocks noGrp="1"/>
          </p:cNvSpPr>
          <p:nvPr>
            <p:ph type="title"/>
          </p:nvPr>
        </p:nvSpPr>
        <p:spPr/>
        <p:txBody>
          <a:bodyPr/>
          <a:lstStyle/>
          <a:p>
            <a:r>
              <a:rPr lang="en-GB" dirty="0"/>
              <a:t>2. Business Applications</a:t>
            </a:r>
            <a:endParaRPr lang="en-IN" dirty="0"/>
          </a:p>
        </p:txBody>
      </p:sp>
      <p:sp>
        <p:nvSpPr>
          <p:cNvPr id="3" name="Content Placeholder 2">
            <a:extLst>
              <a:ext uri="{FF2B5EF4-FFF2-40B4-BE49-F238E27FC236}">
                <a16:creationId xmlns:a16="http://schemas.microsoft.com/office/drawing/2014/main" id="{F5E62A57-5AD2-49AF-8AEC-DA2FF362AF9A}"/>
              </a:ext>
            </a:extLst>
          </p:cNvPr>
          <p:cNvSpPr>
            <a:spLocks noGrp="1"/>
          </p:cNvSpPr>
          <p:nvPr>
            <p:ph sz="quarter" idx="1"/>
          </p:nvPr>
        </p:nvSpPr>
        <p:spPr/>
        <p:txBody>
          <a:bodyPr>
            <a:normAutofit fontScale="92500" lnSpcReduction="20000"/>
          </a:bodyPr>
          <a:lstStyle/>
          <a:p>
            <a:pPr algn="just"/>
            <a:r>
              <a:rPr lang="en-GB" dirty="0"/>
              <a:t>Business applications are based on cloud service providers. Today, every organization requires the cloud business application to grow their business. It also ensures that business applications are 24*7 available to users.</a:t>
            </a:r>
          </a:p>
          <a:p>
            <a:pPr algn="just"/>
            <a:r>
              <a:rPr lang="en-GB" dirty="0"/>
              <a:t>There are the following business applications of cloud computing -</a:t>
            </a:r>
          </a:p>
          <a:p>
            <a:pPr marL="0" indent="0" algn="just">
              <a:buNone/>
            </a:pPr>
            <a:r>
              <a:rPr lang="en-GB" dirty="0" err="1"/>
              <a:t>i</a:t>
            </a:r>
            <a:r>
              <a:rPr lang="en-GB" dirty="0"/>
              <a:t>. </a:t>
            </a:r>
            <a:r>
              <a:rPr lang="en-GB" dirty="0" err="1"/>
              <a:t>MailChimp</a:t>
            </a:r>
            <a:endParaRPr lang="en-GB" dirty="0"/>
          </a:p>
          <a:p>
            <a:pPr algn="just"/>
            <a:r>
              <a:rPr lang="en-GB" dirty="0" err="1"/>
              <a:t>MailChimp</a:t>
            </a:r>
            <a:r>
              <a:rPr lang="en-GB" dirty="0"/>
              <a:t> is an email publishing platform which provides various options to design, send, and save templates for emails.</a:t>
            </a:r>
          </a:p>
          <a:p>
            <a:pPr marL="0" indent="0" algn="just">
              <a:buNone/>
            </a:pPr>
            <a:r>
              <a:rPr lang="en-GB" dirty="0"/>
              <a:t>ii. Salesforce</a:t>
            </a:r>
          </a:p>
          <a:p>
            <a:pPr algn="just"/>
            <a:r>
              <a:rPr lang="en-GB" dirty="0"/>
              <a:t>Salesforce platform provides tools for sales, service, marketing, e-commerce, and more. It also provides a cloud development platform.</a:t>
            </a:r>
            <a:endParaRPr lang="en-IN" dirty="0"/>
          </a:p>
        </p:txBody>
      </p:sp>
    </p:spTree>
    <p:extLst>
      <p:ext uri="{BB962C8B-B14F-4D97-AF65-F5344CB8AC3E}">
        <p14:creationId xmlns:p14="http://schemas.microsoft.com/office/powerpoint/2010/main" val="22856710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BF2A-E7DB-47A9-B1A5-931B11CAD0C9}"/>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DE984BBB-7E8D-4F93-A0D1-BE91668FD8C0}"/>
              </a:ext>
            </a:extLst>
          </p:cNvPr>
          <p:cNvSpPr>
            <a:spLocks noGrp="1"/>
          </p:cNvSpPr>
          <p:nvPr>
            <p:ph sz="quarter" idx="1"/>
          </p:nvPr>
        </p:nvSpPr>
        <p:spPr/>
        <p:txBody>
          <a:bodyPr>
            <a:normAutofit lnSpcReduction="10000"/>
          </a:bodyPr>
          <a:lstStyle/>
          <a:p>
            <a:pPr marL="0" indent="0" algn="just">
              <a:buNone/>
            </a:pPr>
            <a:r>
              <a:rPr lang="en-GB" dirty="0"/>
              <a:t>iii. Chatter</a:t>
            </a:r>
          </a:p>
          <a:p>
            <a:pPr algn="just"/>
            <a:r>
              <a:rPr lang="en-GB" dirty="0"/>
              <a:t>Chatter helps us to share important information about the organization in real-time.</a:t>
            </a:r>
          </a:p>
          <a:p>
            <a:pPr marL="0" indent="0" algn="just">
              <a:buNone/>
            </a:pPr>
            <a:r>
              <a:rPr lang="en-GB" dirty="0"/>
              <a:t>iv. Bitrix24</a:t>
            </a:r>
          </a:p>
          <a:p>
            <a:pPr algn="just"/>
            <a:r>
              <a:rPr lang="en-GB" dirty="0"/>
              <a:t>Bitrix24 is a collaboration platform that provides communication, management, and social collaboration tools.</a:t>
            </a:r>
          </a:p>
          <a:p>
            <a:pPr marL="0" indent="0" algn="just">
              <a:buNone/>
            </a:pPr>
            <a:r>
              <a:rPr lang="en-GB" dirty="0"/>
              <a:t>v. </a:t>
            </a:r>
            <a:r>
              <a:rPr lang="en-GB" dirty="0" err="1"/>
              <a:t>Paypal</a:t>
            </a:r>
            <a:endParaRPr lang="en-GB" dirty="0"/>
          </a:p>
          <a:p>
            <a:pPr algn="just"/>
            <a:r>
              <a:rPr lang="en-GB" dirty="0" err="1"/>
              <a:t>Paypal</a:t>
            </a:r>
            <a:r>
              <a:rPr lang="en-GB" dirty="0"/>
              <a:t> offers the simplest and easiest online payment mode using a secure internet account. </a:t>
            </a:r>
            <a:r>
              <a:rPr lang="en-GB" dirty="0" err="1"/>
              <a:t>Paypal</a:t>
            </a:r>
            <a:r>
              <a:rPr lang="en-GB" dirty="0"/>
              <a:t> accepts the payment through debit cards, credit cards, and also from </a:t>
            </a:r>
            <a:r>
              <a:rPr lang="en-GB" dirty="0" err="1"/>
              <a:t>Paypal</a:t>
            </a:r>
            <a:r>
              <a:rPr lang="en-GB" dirty="0"/>
              <a:t> account holders.</a:t>
            </a:r>
            <a:endParaRPr lang="en-IN" dirty="0"/>
          </a:p>
        </p:txBody>
      </p:sp>
    </p:spTree>
    <p:extLst>
      <p:ext uri="{BB962C8B-B14F-4D97-AF65-F5344CB8AC3E}">
        <p14:creationId xmlns:p14="http://schemas.microsoft.com/office/powerpoint/2010/main" val="1256956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B065-D80D-4FF7-BCF7-DDD46A9EC9BC}"/>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D997F89D-3AF5-4A35-9E5F-83A04512E793}"/>
              </a:ext>
            </a:extLst>
          </p:cNvPr>
          <p:cNvSpPr>
            <a:spLocks noGrp="1"/>
          </p:cNvSpPr>
          <p:nvPr>
            <p:ph sz="quarter" idx="1"/>
          </p:nvPr>
        </p:nvSpPr>
        <p:spPr/>
        <p:txBody>
          <a:bodyPr>
            <a:normAutofit/>
          </a:bodyPr>
          <a:lstStyle/>
          <a:p>
            <a:pPr marL="0" indent="0" algn="just">
              <a:buNone/>
            </a:pPr>
            <a:r>
              <a:rPr lang="en-GB" dirty="0"/>
              <a:t>vi. Slack</a:t>
            </a:r>
          </a:p>
          <a:p>
            <a:pPr algn="just"/>
            <a:r>
              <a:rPr lang="en-GB" dirty="0"/>
              <a:t>Slack stands for Searchable Log of all Conversation and Knowledge. It provides a user-friendly interface that helps us to create public and private channels for communication.</a:t>
            </a:r>
          </a:p>
          <a:p>
            <a:pPr marL="0" indent="0" algn="just">
              <a:buNone/>
            </a:pPr>
            <a:r>
              <a:rPr lang="en-GB" dirty="0"/>
              <a:t>vii. </a:t>
            </a:r>
            <a:r>
              <a:rPr lang="en-GB" dirty="0" err="1"/>
              <a:t>Quickbooks</a:t>
            </a:r>
            <a:endParaRPr lang="en-GB" dirty="0"/>
          </a:p>
          <a:p>
            <a:pPr algn="just"/>
            <a:r>
              <a:rPr lang="en-GB" dirty="0" err="1"/>
              <a:t>Quickbooks</a:t>
            </a:r>
            <a:r>
              <a:rPr lang="en-GB" dirty="0"/>
              <a:t> works on the terminology "Run Enterprise anytime, anywhere, on any device." It provides online accounting solutions for the business. It allows more than 20 users to work simultaneously on the same system.</a:t>
            </a:r>
            <a:endParaRPr lang="en-IN" dirty="0"/>
          </a:p>
        </p:txBody>
      </p:sp>
    </p:spTree>
    <p:extLst>
      <p:ext uri="{BB962C8B-B14F-4D97-AF65-F5344CB8AC3E}">
        <p14:creationId xmlns:p14="http://schemas.microsoft.com/office/powerpoint/2010/main" val="13439826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D23E1-B133-4D0F-9D59-88FDE949DC27}"/>
              </a:ext>
            </a:extLst>
          </p:cNvPr>
          <p:cNvSpPr>
            <a:spLocks noGrp="1"/>
          </p:cNvSpPr>
          <p:nvPr>
            <p:ph type="title"/>
          </p:nvPr>
        </p:nvSpPr>
        <p:spPr/>
        <p:txBody>
          <a:bodyPr>
            <a:normAutofit/>
          </a:bodyPr>
          <a:lstStyle/>
          <a:p>
            <a:r>
              <a:rPr lang="en-GB" dirty="0"/>
              <a:t>3. Data Storage and Backup Applications</a:t>
            </a:r>
            <a:endParaRPr lang="en-IN" dirty="0"/>
          </a:p>
        </p:txBody>
      </p:sp>
      <p:sp>
        <p:nvSpPr>
          <p:cNvPr id="3" name="Content Placeholder 2">
            <a:extLst>
              <a:ext uri="{FF2B5EF4-FFF2-40B4-BE49-F238E27FC236}">
                <a16:creationId xmlns:a16="http://schemas.microsoft.com/office/drawing/2014/main" id="{7F8CFF9C-CEC6-4AC6-A3B8-42FF878AC9F8}"/>
              </a:ext>
            </a:extLst>
          </p:cNvPr>
          <p:cNvSpPr>
            <a:spLocks noGrp="1"/>
          </p:cNvSpPr>
          <p:nvPr>
            <p:ph sz="quarter" idx="1"/>
          </p:nvPr>
        </p:nvSpPr>
        <p:spPr/>
        <p:txBody>
          <a:bodyPr/>
          <a:lstStyle/>
          <a:p>
            <a:pPr algn="just"/>
            <a:r>
              <a:rPr lang="en-GB" dirty="0"/>
              <a:t>Cloud computing allows us to store information (data, files, images, audios, and videos) on the cloud and access this information using an internet connection. As the cloud provider is responsible for providing security, they offer various backup recovery applications for retrieving the lost data.</a:t>
            </a:r>
          </a:p>
          <a:p>
            <a:pPr algn="just"/>
            <a:r>
              <a:rPr lang="en-GB" dirty="0"/>
              <a:t>A list of data storage and backup applications in the cloud are given below -</a:t>
            </a:r>
            <a:endParaRPr lang="en-IN" dirty="0"/>
          </a:p>
        </p:txBody>
      </p:sp>
    </p:spTree>
    <p:extLst>
      <p:ext uri="{BB962C8B-B14F-4D97-AF65-F5344CB8AC3E}">
        <p14:creationId xmlns:p14="http://schemas.microsoft.com/office/powerpoint/2010/main" val="25398598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AB8B2-DD92-4B09-9020-DA0B1CB290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45F1B1-7D35-47FC-9E6C-2418C7CA25E4}"/>
              </a:ext>
            </a:extLst>
          </p:cNvPr>
          <p:cNvSpPr>
            <a:spLocks noGrp="1"/>
          </p:cNvSpPr>
          <p:nvPr>
            <p:ph sz="quarter" idx="1"/>
          </p:nvPr>
        </p:nvSpPr>
        <p:spPr/>
        <p:txBody>
          <a:bodyPr>
            <a:normAutofit fontScale="92500"/>
          </a:bodyPr>
          <a:lstStyle/>
          <a:p>
            <a:pPr marL="0" indent="0" algn="just">
              <a:buNone/>
            </a:pPr>
            <a:r>
              <a:rPr lang="en-GB" dirty="0" err="1"/>
              <a:t>i</a:t>
            </a:r>
            <a:r>
              <a:rPr lang="en-GB" dirty="0"/>
              <a:t>. Box.com</a:t>
            </a:r>
          </a:p>
          <a:p>
            <a:pPr algn="just"/>
            <a:r>
              <a:rPr lang="en-GB" dirty="0"/>
              <a:t>Box provides an online environment for secure content management, workflow, and collaboration. It allows us to store different files such as Excel, Word, PDF, and images on the cloud. The main advantage of using box is that it provides drag &amp; drop service for files and easily integrates with Office 365, G Suite, Salesforce, and more than 1400 tools.</a:t>
            </a:r>
          </a:p>
          <a:p>
            <a:pPr marL="0" indent="0" algn="just">
              <a:buNone/>
            </a:pPr>
            <a:r>
              <a:rPr lang="en-GB" dirty="0"/>
              <a:t>ii. </a:t>
            </a:r>
            <a:r>
              <a:rPr lang="en-GB" dirty="0" err="1"/>
              <a:t>Mozy</a:t>
            </a:r>
            <a:endParaRPr lang="en-GB" dirty="0"/>
          </a:p>
          <a:p>
            <a:pPr algn="just"/>
            <a:r>
              <a:rPr lang="en-GB" dirty="0" err="1"/>
              <a:t>Mozy</a:t>
            </a:r>
            <a:r>
              <a:rPr lang="en-GB" dirty="0"/>
              <a:t> provides powerful online backup solutions for our personal and business data. It schedules automatically back up for each day at a specific time.</a:t>
            </a:r>
            <a:endParaRPr lang="en-IN" dirty="0"/>
          </a:p>
        </p:txBody>
      </p:sp>
    </p:spTree>
    <p:extLst>
      <p:ext uri="{BB962C8B-B14F-4D97-AF65-F5344CB8AC3E}">
        <p14:creationId xmlns:p14="http://schemas.microsoft.com/office/powerpoint/2010/main" val="1201414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3CEB4-2F13-42CE-AD5C-F86EEFE788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44EBBA-1CDB-4ECA-8AC5-AEBD93826200}"/>
              </a:ext>
            </a:extLst>
          </p:cNvPr>
          <p:cNvSpPr>
            <a:spLocks noGrp="1"/>
          </p:cNvSpPr>
          <p:nvPr>
            <p:ph sz="quarter" idx="1"/>
          </p:nvPr>
        </p:nvSpPr>
        <p:spPr/>
        <p:txBody>
          <a:bodyPr>
            <a:normAutofit lnSpcReduction="10000"/>
          </a:bodyPr>
          <a:lstStyle/>
          <a:p>
            <a:pPr marL="0" indent="0" algn="just">
              <a:buNone/>
            </a:pPr>
            <a:r>
              <a:rPr lang="en-GB" dirty="0"/>
              <a:t>iii. </a:t>
            </a:r>
            <a:r>
              <a:rPr lang="en-GB" dirty="0" err="1"/>
              <a:t>Joukuu</a:t>
            </a:r>
            <a:endParaRPr lang="en-GB" dirty="0"/>
          </a:p>
          <a:p>
            <a:pPr algn="just"/>
            <a:r>
              <a:rPr lang="en-GB" dirty="0" err="1"/>
              <a:t>Joukuu</a:t>
            </a:r>
            <a:r>
              <a:rPr lang="en-GB" dirty="0"/>
              <a:t> provides the simplest way to share and track cloud-based backup files. Many users use </a:t>
            </a:r>
            <a:r>
              <a:rPr lang="en-GB" dirty="0" err="1"/>
              <a:t>joukuu</a:t>
            </a:r>
            <a:r>
              <a:rPr lang="en-GB" dirty="0"/>
              <a:t> to search files, folders, and collaborate on documents.</a:t>
            </a:r>
          </a:p>
          <a:p>
            <a:pPr marL="0" indent="0" algn="just">
              <a:buNone/>
            </a:pPr>
            <a:r>
              <a:rPr lang="en-GB" dirty="0"/>
              <a:t>iv. Google G Suite</a:t>
            </a:r>
          </a:p>
          <a:p>
            <a:pPr algn="just"/>
            <a:r>
              <a:rPr lang="en-GB" dirty="0"/>
              <a:t>Google G Suite is one of the best cloud storage and backup application. It includes Google Calendar, Docs, Forms, Google+, Hangouts, as well as cloud storage and tools for managing cloud apps. The most popular app in the Google G Suite is Gmail. Gmail offers free email services to users.</a:t>
            </a:r>
          </a:p>
          <a:p>
            <a:pPr algn="just"/>
            <a:endParaRPr lang="en-IN" dirty="0"/>
          </a:p>
        </p:txBody>
      </p:sp>
    </p:spTree>
    <p:extLst>
      <p:ext uri="{BB962C8B-B14F-4D97-AF65-F5344CB8AC3E}">
        <p14:creationId xmlns:p14="http://schemas.microsoft.com/office/powerpoint/2010/main" val="4206223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C1415-CE2E-4331-9DF1-0A7BEBB90A88}"/>
              </a:ext>
            </a:extLst>
          </p:cNvPr>
          <p:cNvSpPr>
            <a:spLocks noGrp="1"/>
          </p:cNvSpPr>
          <p:nvPr>
            <p:ph type="title"/>
          </p:nvPr>
        </p:nvSpPr>
        <p:spPr/>
        <p:txBody>
          <a:bodyPr/>
          <a:lstStyle/>
          <a:p>
            <a:r>
              <a:rPr lang="en-GB" dirty="0"/>
              <a:t>4. Education Applications</a:t>
            </a:r>
            <a:endParaRPr lang="en-IN" dirty="0"/>
          </a:p>
        </p:txBody>
      </p:sp>
      <p:sp>
        <p:nvSpPr>
          <p:cNvPr id="3" name="Content Placeholder 2">
            <a:extLst>
              <a:ext uri="{FF2B5EF4-FFF2-40B4-BE49-F238E27FC236}">
                <a16:creationId xmlns:a16="http://schemas.microsoft.com/office/drawing/2014/main" id="{660C0581-53AD-426D-ADB5-2F070E0151B1}"/>
              </a:ext>
            </a:extLst>
          </p:cNvPr>
          <p:cNvSpPr>
            <a:spLocks noGrp="1"/>
          </p:cNvSpPr>
          <p:nvPr>
            <p:ph sz="quarter" idx="1"/>
          </p:nvPr>
        </p:nvSpPr>
        <p:spPr/>
        <p:txBody>
          <a:bodyPr>
            <a:normAutofit/>
          </a:bodyPr>
          <a:lstStyle/>
          <a:p>
            <a:pPr algn="just"/>
            <a:r>
              <a:rPr lang="en-GB" dirty="0"/>
              <a:t>Cloud computing in the education sector becomes very popular. It offers various online distance learning platforms and student information portals to the students. The advantage of using cloud in the field of education is that it offers strong virtual classroom environments, Ease of accessibility, secure data storage, scalability, greater reach for the students, and minimal hardware requirements for the applications.</a:t>
            </a:r>
          </a:p>
          <a:p>
            <a:pPr algn="just"/>
            <a:r>
              <a:rPr lang="en-GB" dirty="0"/>
              <a:t>There are the following education applications offered by the cloud -</a:t>
            </a:r>
            <a:endParaRPr lang="en-IN" dirty="0"/>
          </a:p>
        </p:txBody>
      </p:sp>
    </p:spTree>
    <p:extLst>
      <p:ext uri="{BB962C8B-B14F-4D97-AF65-F5344CB8AC3E}">
        <p14:creationId xmlns:p14="http://schemas.microsoft.com/office/powerpoint/2010/main" val="24136101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0F2FF-A738-4DCE-B615-D5A00AEF516A}"/>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D80BF984-233F-4CDF-ABDB-20E965845352}"/>
              </a:ext>
            </a:extLst>
          </p:cNvPr>
          <p:cNvSpPr>
            <a:spLocks noGrp="1"/>
          </p:cNvSpPr>
          <p:nvPr>
            <p:ph sz="quarter" idx="1"/>
          </p:nvPr>
        </p:nvSpPr>
        <p:spPr/>
        <p:txBody>
          <a:bodyPr>
            <a:normAutofit fontScale="92500" lnSpcReduction="10000"/>
          </a:bodyPr>
          <a:lstStyle/>
          <a:p>
            <a:pPr algn="just"/>
            <a:r>
              <a:rPr lang="en-GB" dirty="0" err="1"/>
              <a:t>i</a:t>
            </a:r>
            <a:r>
              <a:rPr lang="en-GB" dirty="0"/>
              <a:t>. Google Apps for Education: Google Apps for Education is the most widely used platform for free web-based email, calendar, documents, and collaborative study.</a:t>
            </a:r>
          </a:p>
          <a:p>
            <a:pPr algn="just"/>
            <a:r>
              <a:rPr lang="en-GB" dirty="0"/>
              <a:t>ii. Chromebooks for Education: Chromebook for Education is one of the most important Google's projects. It is designed for the purpose that it enhances education innovation.</a:t>
            </a:r>
          </a:p>
          <a:p>
            <a:pPr algn="just"/>
            <a:r>
              <a:rPr lang="en-GB" dirty="0"/>
              <a:t>iii. Tablets with Google Play for Education: It allows educators to quickly implement the latest technology solutions into the classroom and make it available to their students.</a:t>
            </a:r>
          </a:p>
          <a:p>
            <a:pPr algn="just"/>
            <a:r>
              <a:rPr lang="en-GB" dirty="0"/>
              <a:t>iv. AWS in Education: AWS cloud provides an education-friendly environment to universities, community colleges, and schools.</a:t>
            </a:r>
            <a:endParaRPr lang="en-IN" dirty="0"/>
          </a:p>
        </p:txBody>
      </p:sp>
    </p:spTree>
    <p:extLst>
      <p:ext uri="{BB962C8B-B14F-4D97-AF65-F5344CB8AC3E}">
        <p14:creationId xmlns:p14="http://schemas.microsoft.com/office/powerpoint/2010/main" val="30353406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03FB-7B65-4B21-AD6C-52986972B8EF}"/>
              </a:ext>
            </a:extLst>
          </p:cNvPr>
          <p:cNvSpPr>
            <a:spLocks noGrp="1"/>
          </p:cNvSpPr>
          <p:nvPr>
            <p:ph type="title"/>
          </p:nvPr>
        </p:nvSpPr>
        <p:spPr/>
        <p:txBody>
          <a:bodyPr/>
          <a:lstStyle/>
          <a:p>
            <a:r>
              <a:rPr lang="en-GB" dirty="0"/>
              <a:t>5. Entertainment Applications</a:t>
            </a:r>
            <a:endParaRPr lang="en-IN" dirty="0"/>
          </a:p>
        </p:txBody>
      </p:sp>
      <p:sp>
        <p:nvSpPr>
          <p:cNvPr id="3" name="Content Placeholder 2">
            <a:extLst>
              <a:ext uri="{FF2B5EF4-FFF2-40B4-BE49-F238E27FC236}">
                <a16:creationId xmlns:a16="http://schemas.microsoft.com/office/drawing/2014/main" id="{D87EE59F-72FC-4473-9086-74F0270890AC}"/>
              </a:ext>
            </a:extLst>
          </p:cNvPr>
          <p:cNvSpPr>
            <a:spLocks noGrp="1"/>
          </p:cNvSpPr>
          <p:nvPr>
            <p:ph sz="quarter" idx="1"/>
          </p:nvPr>
        </p:nvSpPr>
        <p:spPr/>
        <p:txBody>
          <a:bodyPr>
            <a:normAutofit/>
          </a:bodyPr>
          <a:lstStyle/>
          <a:p>
            <a:pPr marL="0" indent="0" algn="just">
              <a:buNone/>
            </a:pPr>
            <a:r>
              <a:rPr lang="en-GB" dirty="0"/>
              <a:t>Entertainment industries use a multi-cloud strategy to interact with the target audience. Cloud computing offers various entertainment applications such as online games and video conferencing.</a:t>
            </a:r>
          </a:p>
          <a:p>
            <a:pPr marL="0" indent="0" algn="just">
              <a:buNone/>
            </a:pPr>
            <a:r>
              <a:rPr lang="en-GB" dirty="0" err="1"/>
              <a:t>i</a:t>
            </a:r>
            <a:r>
              <a:rPr lang="en-GB" dirty="0"/>
              <a:t>. Online games</a:t>
            </a:r>
          </a:p>
          <a:p>
            <a:pPr algn="just"/>
            <a:r>
              <a:rPr lang="en-GB" dirty="0"/>
              <a:t>Today, cloud gaming becomes one of the most important entertainment media. It offers various online games that run remotely from the cloud. The best cloud gaming services are </a:t>
            </a:r>
            <a:r>
              <a:rPr lang="en-GB" dirty="0" err="1"/>
              <a:t>Shaow</a:t>
            </a:r>
            <a:r>
              <a:rPr lang="en-GB" dirty="0"/>
              <a:t>, GeForce Now, Vortex, Project </a:t>
            </a:r>
            <a:r>
              <a:rPr lang="en-GB" dirty="0" err="1"/>
              <a:t>xCloud</a:t>
            </a:r>
            <a:r>
              <a:rPr lang="en-GB" dirty="0"/>
              <a:t>, and PlayStation Now.</a:t>
            </a:r>
          </a:p>
          <a:p>
            <a:endParaRPr lang="en-GB" dirty="0"/>
          </a:p>
        </p:txBody>
      </p:sp>
    </p:spTree>
    <p:extLst>
      <p:ext uri="{BB962C8B-B14F-4D97-AF65-F5344CB8AC3E}">
        <p14:creationId xmlns:p14="http://schemas.microsoft.com/office/powerpoint/2010/main" val="22158874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EFD2-204B-4045-AEC0-5164CA8CC7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5B341D-20BA-4B39-B0BA-E11B8EE4457C}"/>
              </a:ext>
            </a:extLst>
          </p:cNvPr>
          <p:cNvSpPr>
            <a:spLocks noGrp="1"/>
          </p:cNvSpPr>
          <p:nvPr>
            <p:ph sz="quarter" idx="1"/>
          </p:nvPr>
        </p:nvSpPr>
        <p:spPr/>
        <p:txBody>
          <a:bodyPr/>
          <a:lstStyle/>
          <a:p>
            <a:pPr marL="0" indent="0" algn="just">
              <a:buNone/>
            </a:pPr>
            <a:r>
              <a:rPr lang="en-GB" dirty="0"/>
              <a:t>ii. Video Conferencing Apps</a:t>
            </a:r>
          </a:p>
          <a:p>
            <a:pPr algn="just"/>
            <a:r>
              <a:rPr lang="en-GB" dirty="0"/>
              <a:t>Video conferencing apps provides a simple and instant connected experience. It allows us to communicate with our business partners, friends, and relatives using a cloud-based video conferencing. The benefits of using video conferencing are that it reduces cost, increases efficiency, and removes interoperability.</a:t>
            </a:r>
            <a:endParaRPr lang="en-IN" dirty="0"/>
          </a:p>
          <a:p>
            <a:endParaRPr lang="en-IN" dirty="0"/>
          </a:p>
        </p:txBody>
      </p:sp>
    </p:spTree>
    <p:extLst>
      <p:ext uri="{BB962C8B-B14F-4D97-AF65-F5344CB8AC3E}">
        <p14:creationId xmlns:p14="http://schemas.microsoft.com/office/powerpoint/2010/main" val="2706404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4B6B-0A44-46EF-AAEC-AD145AC3E637}"/>
              </a:ext>
            </a:extLst>
          </p:cNvPr>
          <p:cNvSpPr>
            <a:spLocks noGrp="1"/>
          </p:cNvSpPr>
          <p:nvPr>
            <p:ph type="title"/>
          </p:nvPr>
        </p:nvSpPr>
        <p:spPr/>
        <p:txBody>
          <a:bodyPr/>
          <a:lstStyle/>
          <a:p>
            <a:r>
              <a:rPr lang="en-GB" dirty="0"/>
              <a:t>6. Management Applications</a:t>
            </a:r>
            <a:endParaRPr lang="en-IN" dirty="0"/>
          </a:p>
        </p:txBody>
      </p:sp>
      <p:sp>
        <p:nvSpPr>
          <p:cNvPr id="3" name="Content Placeholder 2">
            <a:extLst>
              <a:ext uri="{FF2B5EF4-FFF2-40B4-BE49-F238E27FC236}">
                <a16:creationId xmlns:a16="http://schemas.microsoft.com/office/drawing/2014/main" id="{9A1C95EA-C6C5-4346-A5DC-2072ACB533F0}"/>
              </a:ext>
            </a:extLst>
          </p:cNvPr>
          <p:cNvSpPr>
            <a:spLocks noGrp="1"/>
          </p:cNvSpPr>
          <p:nvPr>
            <p:ph sz="quarter" idx="1"/>
          </p:nvPr>
        </p:nvSpPr>
        <p:spPr/>
        <p:txBody>
          <a:bodyPr>
            <a:normAutofit fontScale="92500" lnSpcReduction="20000"/>
          </a:bodyPr>
          <a:lstStyle/>
          <a:p>
            <a:pPr algn="just"/>
            <a:r>
              <a:rPr lang="en-GB" dirty="0"/>
              <a:t>Cloud computing offers various cloud management tools which help admins to manage all types of cloud activities, such as resource deployment, data integration, and disaster recovery. These management tools also provide administrative control over the platforms, applications, and infrastructure.</a:t>
            </a:r>
          </a:p>
          <a:p>
            <a:pPr algn="just"/>
            <a:r>
              <a:rPr lang="en-GB" dirty="0"/>
              <a:t>Some important management applications are -</a:t>
            </a:r>
          </a:p>
          <a:p>
            <a:pPr marL="0" indent="0" algn="just">
              <a:buNone/>
            </a:pPr>
            <a:r>
              <a:rPr lang="en-GB" dirty="0" err="1"/>
              <a:t>i</a:t>
            </a:r>
            <a:r>
              <a:rPr lang="en-GB" dirty="0"/>
              <a:t>. Toggl</a:t>
            </a:r>
          </a:p>
          <a:p>
            <a:pPr algn="just"/>
            <a:r>
              <a:rPr lang="en-GB" dirty="0"/>
              <a:t>Toggl helps users to track allocated time period for a particular project.</a:t>
            </a:r>
          </a:p>
          <a:p>
            <a:pPr marL="0" indent="0" algn="just">
              <a:buNone/>
            </a:pPr>
            <a:r>
              <a:rPr lang="en-GB" dirty="0"/>
              <a:t>ii. Evernote</a:t>
            </a:r>
          </a:p>
          <a:p>
            <a:pPr algn="just"/>
            <a:r>
              <a:rPr lang="en-GB" dirty="0"/>
              <a:t>Evernote allows you to sync and save your recorded notes, typed notes, and other notes in one convenient place. It is available for both free as well as a paid version.</a:t>
            </a:r>
            <a:endParaRPr lang="en-IN" dirty="0"/>
          </a:p>
        </p:txBody>
      </p:sp>
    </p:spTree>
    <p:extLst>
      <p:ext uri="{BB962C8B-B14F-4D97-AF65-F5344CB8AC3E}">
        <p14:creationId xmlns:p14="http://schemas.microsoft.com/office/powerpoint/2010/main" val="32325119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78039-CAEC-44CA-9B2D-D136B2C0F3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11E870-2281-4B8A-81EF-6426A85332F4}"/>
              </a:ext>
            </a:extLst>
          </p:cNvPr>
          <p:cNvSpPr>
            <a:spLocks noGrp="1"/>
          </p:cNvSpPr>
          <p:nvPr>
            <p:ph sz="quarter" idx="1"/>
          </p:nvPr>
        </p:nvSpPr>
        <p:spPr/>
        <p:txBody>
          <a:bodyPr>
            <a:normAutofit fontScale="92500" lnSpcReduction="10000"/>
          </a:bodyPr>
          <a:lstStyle/>
          <a:p>
            <a:pPr marL="0" indent="0">
              <a:buNone/>
            </a:pPr>
            <a:r>
              <a:rPr lang="en-GB" dirty="0"/>
              <a:t>iii. Outright</a:t>
            </a:r>
          </a:p>
          <a:p>
            <a:r>
              <a:rPr lang="en-GB" dirty="0"/>
              <a:t>Outright is used by management users for the purpose of accounts. It helps to track income, expenses, profits, and losses in real-time environment.</a:t>
            </a:r>
          </a:p>
          <a:p>
            <a:pPr marL="0" indent="0">
              <a:buNone/>
            </a:pPr>
            <a:r>
              <a:rPr lang="en-GB" dirty="0"/>
              <a:t>iv. GoToMeeting</a:t>
            </a:r>
          </a:p>
          <a:p>
            <a:r>
              <a:rPr lang="en-GB" dirty="0"/>
              <a:t>GoToMeeting provides Video Conferencing and online meeting apps, which allows you to start a meeting with your business partners from anytime, anywhere using mobile phones or tablets. Using GoToMeeting app, you can perform the tasks related to the management such as join meetings in seconds, view presentations on the shared screen, get alerts for upcoming meetings, etc.</a:t>
            </a:r>
            <a:endParaRPr lang="en-IN" dirty="0"/>
          </a:p>
        </p:txBody>
      </p:sp>
    </p:spTree>
    <p:extLst>
      <p:ext uri="{BB962C8B-B14F-4D97-AF65-F5344CB8AC3E}">
        <p14:creationId xmlns:p14="http://schemas.microsoft.com/office/powerpoint/2010/main" val="29020027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CA66-7A01-46E3-A95E-0556003EABCD}"/>
              </a:ext>
            </a:extLst>
          </p:cNvPr>
          <p:cNvSpPr>
            <a:spLocks noGrp="1"/>
          </p:cNvSpPr>
          <p:nvPr>
            <p:ph type="title"/>
          </p:nvPr>
        </p:nvSpPr>
        <p:spPr/>
        <p:txBody>
          <a:bodyPr/>
          <a:lstStyle/>
          <a:p>
            <a:r>
              <a:rPr lang="en-GB" dirty="0"/>
              <a:t>7. Social Applications</a:t>
            </a:r>
            <a:endParaRPr lang="en-IN" dirty="0"/>
          </a:p>
        </p:txBody>
      </p:sp>
      <p:sp>
        <p:nvSpPr>
          <p:cNvPr id="3" name="Content Placeholder 2">
            <a:extLst>
              <a:ext uri="{FF2B5EF4-FFF2-40B4-BE49-F238E27FC236}">
                <a16:creationId xmlns:a16="http://schemas.microsoft.com/office/drawing/2014/main" id="{5DA7DB2E-C4E4-4983-9E62-76AEEBBB153B}"/>
              </a:ext>
            </a:extLst>
          </p:cNvPr>
          <p:cNvSpPr>
            <a:spLocks noGrp="1"/>
          </p:cNvSpPr>
          <p:nvPr>
            <p:ph sz="quarter" idx="1"/>
          </p:nvPr>
        </p:nvSpPr>
        <p:spPr/>
        <p:txBody>
          <a:bodyPr>
            <a:normAutofit lnSpcReduction="10000"/>
          </a:bodyPr>
          <a:lstStyle/>
          <a:p>
            <a:pPr algn="just"/>
            <a:r>
              <a:rPr lang="en-GB" dirty="0"/>
              <a:t>Social cloud applications allow a large number of users to connect with each other using social networking applications such as Facebook, Twitter, </a:t>
            </a:r>
            <a:r>
              <a:rPr lang="en-GB" dirty="0" err="1"/>
              <a:t>Linkedln</a:t>
            </a:r>
            <a:r>
              <a:rPr lang="en-GB" dirty="0"/>
              <a:t>, etc.</a:t>
            </a:r>
          </a:p>
          <a:p>
            <a:pPr algn="just"/>
            <a:r>
              <a:rPr lang="en-GB" dirty="0"/>
              <a:t>There are the following cloud based social applications -</a:t>
            </a:r>
          </a:p>
          <a:p>
            <a:pPr marL="0" indent="0" algn="just">
              <a:buNone/>
            </a:pPr>
            <a:r>
              <a:rPr lang="en-GB" dirty="0" err="1"/>
              <a:t>i</a:t>
            </a:r>
            <a:r>
              <a:rPr lang="en-GB" dirty="0"/>
              <a:t>. Facebook</a:t>
            </a:r>
          </a:p>
          <a:p>
            <a:pPr algn="just"/>
            <a:r>
              <a:rPr lang="en-GB" dirty="0"/>
              <a:t>Facebook is a social networking website which allows active users to share files, photos, videos, status, more to their friends, relatives, and business partners using the cloud storage system. On Facebook, we will always get notifications when our friends like and comment on the posts.</a:t>
            </a:r>
            <a:endParaRPr lang="en-IN" dirty="0"/>
          </a:p>
        </p:txBody>
      </p:sp>
    </p:spTree>
    <p:extLst>
      <p:ext uri="{BB962C8B-B14F-4D97-AF65-F5344CB8AC3E}">
        <p14:creationId xmlns:p14="http://schemas.microsoft.com/office/powerpoint/2010/main" val="3628961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CBB25-E84A-47DD-B2DA-1BA2E664C8D5}"/>
              </a:ext>
            </a:extLst>
          </p:cNvPr>
          <p:cNvSpPr>
            <a:spLocks noGrp="1"/>
          </p:cNvSpPr>
          <p:nvPr>
            <p:ph type="title"/>
          </p:nvPr>
        </p:nvSpPr>
        <p:spPr/>
        <p:txBody>
          <a:bodyPr/>
          <a:lstStyle/>
          <a:p>
            <a:r>
              <a:rPr lang="en-GB" dirty="0"/>
              <a:t>Continue..</a:t>
            </a:r>
            <a:endParaRPr lang="en-IN" dirty="0"/>
          </a:p>
        </p:txBody>
      </p:sp>
      <p:sp>
        <p:nvSpPr>
          <p:cNvPr id="3" name="Content Placeholder 2">
            <a:extLst>
              <a:ext uri="{FF2B5EF4-FFF2-40B4-BE49-F238E27FC236}">
                <a16:creationId xmlns:a16="http://schemas.microsoft.com/office/drawing/2014/main" id="{A4E0C6D0-2937-4D1F-BE88-0DE59AB0F112}"/>
              </a:ext>
            </a:extLst>
          </p:cNvPr>
          <p:cNvSpPr>
            <a:spLocks noGrp="1"/>
          </p:cNvSpPr>
          <p:nvPr>
            <p:ph sz="quarter" idx="1"/>
          </p:nvPr>
        </p:nvSpPr>
        <p:spPr/>
        <p:txBody>
          <a:bodyPr>
            <a:normAutofit lnSpcReduction="10000"/>
          </a:bodyPr>
          <a:lstStyle/>
          <a:p>
            <a:pPr marL="0" indent="0" algn="just">
              <a:buNone/>
            </a:pPr>
            <a:r>
              <a:rPr lang="en-GB" dirty="0"/>
              <a:t>ii. Twitter</a:t>
            </a:r>
          </a:p>
          <a:p>
            <a:pPr algn="just"/>
            <a:r>
              <a:rPr lang="en-GB" dirty="0"/>
              <a:t>Twitter is a social networking site. It is a microblogging system. It allows users to follow high profile celebrities, friends, relatives, and receive news. It sends and receives short posts called tweets.</a:t>
            </a:r>
          </a:p>
          <a:p>
            <a:pPr marL="0" indent="0" algn="just">
              <a:buNone/>
            </a:pPr>
            <a:r>
              <a:rPr lang="en-GB" dirty="0"/>
              <a:t>iii. Yammer</a:t>
            </a:r>
          </a:p>
          <a:p>
            <a:pPr algn="just"/>
            <a:r>
              <a:rPr lang="en-GB" dirty="0"/>
              <a:t>Yammer is the best team collaboration tool that allows a team of employees to chat, share images, documents, and videos.</a:t>
            </a:r>
          </a:p>
          <a:p>
            <a:pPr marL="0" indent="0" algn="just">
              <a:buNone/>
            </a:pPr>
            <a:r>
              <a:rPr lang="en-GB" dirty="0"/>
              <a:t>iv. LinkedIn</a:t>
            </a:r>
          </a:p>
          <a:p>
            <a:pPr algn="just"/>
            <a:r>
              <a:rPr lang="en-GB" dirty="0"/>
              <a:t>LinkedIn is a social network for students, freshers, and professionals.</a:t>
            </a:r>
            <a:endParaRPr lang="en-IN" dirty="0"/>
          </a:p>
        </p:txBody>
      </p:sp>
    </p:spTree>
    <p:extLst>
      <p:ext uri="{BB962C8B-B14F-4D97-AF65-F5344CB8AC3E}">
        <p14:creationId xmlns:p14="http://schemas.microsoft.com/office/powerpoint/2010/main" val="16478135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Cloud Deployment Model</a:t>
            </a:r>
          </a:p>
        </p:txBody>
      </p:sp>
      <p:sp>
        <p:nvSpPr>
          <p:cNvPr id="3" name="Content Placeholder 2"/>
          <p:cNvSpPr>
            <a:spLocks noGrp="1"/>
          </p:cNvSpPr>
          <p:nvPr>
            <p:ph sz="quarter" idx="1"/>
          </p:nvPr>
        </p:nvSpPr>
        <p:spPr/>
        <p:txBody>
          <a:bodyPr/>
          <a:lstStyle/>
          <a:p>
            <a:pPr algn="just"/>
            <a:r>
              <a:rPr lang="en-US" dirty="0"/>
              <a:t>A </a:t>
            </a:r>
            <a:r>
              <a:rPr lang="en-US" b="1" dirty="0"/>
              <a:t>cloud deployment model </a:t>
            </a:r>
            <a:r>
              <a:rPr lang="en-US" dirty="0"/>
              <a:t>is a specific configuration of environment parameters such as the accessibility and proprietorship of the deployment infrastructure and storage size. It means that deployment types vary depending on who controls the infrastructure and where it resides.</a:t>
            </a:r>
          </a:p>
          <a:p>
            <a:pPr algn="just"/>
            <a:r>
              <a:rPr lang="en-US" dirty="0"/>
              <a:t>There are four types of them: public, private, hybrid and community clouds. Additionally, there are also distributed clouds, </a:t>
            </a:r>
            <a:r>
              <a:rPr lang="en-US" dirty="0" err="1"/>
              <a:t>multiclouds</a:t>
            </a:r>
            <a:r>
              <a:rPr lang="en-US" dirty="0"/>
              <a:t>, poly clouds and other models, but they are not so widespread.</a:t>
            </a:r>
            <a:endParaRPr lang="en-IN" dirty="0"/>
          </a:p>
        </p:txBody>
      </p:sp>
    </p:spTree>
    <p:extLst>
      <p:ext uri="{BB962C8B-B14F-4D97-AF65-F5344CB8AC3E}">
        <p14:creationId xmlns:p14="http://schemas.microsoft.com/office/powerpoint/2010/main" val="2476158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Public Cloud</a:t>
            </a:r>
          </a:p>
        </p:txBody>
      </p:sp>
      <p:sp>
        <p:nvSpPr>
          <p:cNvPr id="3" name="Content Placeholder 2"/>
          <p:cNvSpPr>
            <a:spLocks noGrp="1"/>
          </p:cNvSpPr>
          <p:nvPr>
            <p:ph sz="quarter" idx="1"/>
          </p:nvPr>
        </p:nvSpPr>
        <p:spPr/>
        <p:txBody>
          <a:bodyPr>
            <a:normAutofit fontScale="92500" lnSpcReduction="10000"/>
          </a:bodyPr>
          <a:lstStyle/>
          <a:p>
            <a:pPr algn="just"/>
            <a:r>
              <a:rPr lang="en-US" dirty="0"/>
              <a:t>The name speaks for itself: public clouds are available to the general public, and data are created and stored on third-party servers.</a:t>
            </a:r>
          </a:p>
          <a:p>
            <a:pPr algn="just"/>
            <a:r>
              <a:rPr lang="en-US" dirty="0"/>
              <a:t>Server infrastructure belongs to service providers that manage them and administer pool resources, which is why there is no need for user companies to buy and maintain their hardware. </a:t>
            </a:r>
          </a:p>
          <a:p>
            <a:pPr algn="just"/>
            <a:r>
              <a:rPr lang="en-US" dirty="0"/>
              <a:t>Provider companies offer resources as a service both free of charge or on a pay-per-use basis via the Internet connection. Users can scale resources when required.</a:t>
            </a:r>
          </a:p>
          <a:p>
            <a:pPr algn="just"/>
            <a:r>
              <a:rPr lang="en-IN" dirty="0"/>
              <a:t>Examples are Amazon Elastic Compute Cloud (Amazon EC2) — the top service provider, Microsoft Azure, Google App Engine, IBM Cloud, Salesforce </a:t>
            </a:r>
            <a:r>
              <a:rPr lang="en-IN" dirty="0" err="1"/>
              <a:t>Heroku</a:t>
            </a:r>
            <a:r>
              <a:rPr lang="en-IN" dirty="0"/>
              <a:t> and others.</a:t>
            </a:r>
          </a:p>
        </p:txBody>
      </p:sp>
    </p:spTree>
    <p:extLst>
      <p:ext uri="{BB962C8B-B14F-4D97-AF65-F5344CB8AC3E}">
        <p14:creationId xmlns:p14="http://schemas.microsoft.com/office/powerpoint/2010/main" val="33602406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74638"/>
            <a:ext cx="7467600" cy="6199187"/>
          </a:xfrm>
        </p:spPr>
      </p:pic>
    </p:spTree>
    <p:extLst>
      <p:ext uri="{BB962C8B-B14F-4D97-AF65-F5344CB8AC3E}">
        <p14:creationId xmlns:p14="http://schemas.microsoft.com/office/powerpoint/2010/main" val="25491997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Advantages of a Public Cloud</a:t>
            </a:r>
            <a:endParaRPr lang="en-IN" dirty="0"/>
          </a:p>
        </p:txBody>
      </p:sp>
      <p:sp>
        <p:nvSpPr>
          <p:cNvPr id="3" name="Content Placeholder 2"/>
          <p:cNvSpPr>
            <a:spLocks noGrp="1"/>
          </p:cNvSpPr>
          <p:nvPr>
            <p:ph sz="quarter" idx="1"/>
          </p:nvPr>
        </p:nvSpPr>
        <p:spPr/>
        <p:txBody>
          <a:bodyPr>
            <a:normAutofit fontScale="92500"/>
          </a:bodyPr>
          <a:lstStyle/>
          <a:p>
            <a:pPr algn="just"/>
            <a:r>
              <a:rPr lang="en-US" b="1" dirty="0"/>
              <a:t>Hassle-free infrastructure management</a:t>
            </a:r>
            <a:r>
              <a:rPr lang="en-US" dirty="0"/>
              <a:t>. Having a third party running your cloud infrastructure is convenient: you do not need to develop and maintain your software as the service provider does it for you</a:t>
            </a:r>
            <a:r>
              <a:rPr lang="en-US"/>
              <a:t>. </a:t>
            </a:r>
          </a:p>
          <a:p>
            <a:pPr algn="just"/>
            <a:r>
              <a:rPr lang="en-US" b="1"/>
              <a:t>High </a:t>
            </a:r>
            <a:r>
              <a:rPr lang="en-US" b="1" dirty="0"/>
              <a:t>scalability</a:t>
            </a:r>
            <a:r>
              <a:rPr lang="en-US" dirty="0"/>
              <a:t>. You can easily extend the available capacity as your company requirements increase.</a:t>
            </a:r>
          </a:p>
          <a:p>
            <a:pPr algn="just"/>
            <a:r>
              <a:rPr lang="en-US" b="1" dirty="0"/>
              <a:t>Reduced costs</a:t>
            </a:r>
            <a:r>
              <a:rPr lang="en-US" dirty="0"/>
              <a:t>. You pay only for the service you use, no need to invest in hardware or software.</a:t>
            </a:r>
          </a:p>
          <a:p>
            <a:pPr algn="just"/>
            <a:r>
              <a:rPr lang="en-US" b="1" dirty="0"/>
              <a:t>24/7 uptime</a:t>
            </a:r>
            <a:r>
              <a:rPr lang="en-US" dirty="0"/>
              <a:t>. An extensive network of the provider’s servers ensures the constant availability of your infrastructure and its improved operation time.</a:t>
            </a:r>
          </a:p>
          <a:p>
            <a:endParaRPr lang="en-IN" dirty="0"/>
          </a:p>
        </p:txBody>
      </p:sp>
    </p:spTree>
    <p:extLst>
      <p:ext uri="{BB962C8B-B14F-4D97-AF65-F5344CB8AC3E}">
        <p14:creationId xmlns:p14="http://schemas.microsoft.com/office/powerpoint/2010/main" val="29351966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Disadvantages of a Public Cloud</a:t>
            </a:r>
            <a:endParaRPr lang="en-IN" dirty="0"/>
          </a:p>
        </p:txBody>
      </p:sp>
      <p:sp>
        <p:nvSpPr>
          <p:cNvPr id="3" name="Content Placeholder 2"/>
          <p:cNvSpPr>
            <a:spLocks noGrp="1"/>
          </p:cNvSpPr>
          <p:nvPr>
            <p:ph sz="quarter" idx="1"/>
          </p:nvPr>
        </p:nvSpPr>
        <p:spPr/>
        <p:txBody>
          <a:bodyPr>
            <a:normAutofit fontScale="92500" lnSpcReduction="10000"/>
          </a:bodyPr>
          <a:lstStyle/>
          <a:p>
            <a:pPr algn="just"/>
            <a:r>
              <a:rPr lang="en-US" b="1" dirty="0"/>
              <a:t>Compromised reliability</a:t>
            </a:r>
            <a:r>
              <a:rPr lang="en-US" dirty="0"/>
              <a:t>. That same server network is also meant to ensure against failures. But often enough, public clouds experience outages and malfunction, as it was in the case of the Salesforce CRM disruption in 2016 that caused a storage collapse.</a:t>
            </a:r>
          </a:p>
          <a:p>
            <a:pPr algn="just"/>
            <a:r>
              <a:rPr lang="en-US" b="1" dirty="0"/>
              <a:t>Data security and privacy give rise to concern</a:t>
            </a:r>
            <a:r>
              <a:rPr lang="en-US" dirty="0"/>
              <a:t>. Although access to data is easy, a public deployment model deprives users of knowing where their information is kept and who has access to it.</a:t>
            </a:r>
          </a:p>
          <a:p>
            <a:pPr algn="just"/>
            <a:r>
              <a:rPr lang="en-US" b="1" dirty="0"/>
              <a:t>The lack of a bespoke service</a:t>
            </a:r>
            <a:r>
              <a:rPr lang="en-US" dirty="0"/>
              <a:t>. Service providers have only standardized service options, which is why they will probably fail to satisfy their requirements if they are unusual.</a:t>
            </a:r>
          </a:p>
          <a:p>
            <a:endParaRPr lang="en-IN" dirty="0"/>
          </a:p>
        </p:txBody>
      </p:sp>
    </p:spTree>
    <p:extLst>
      <p:ext uri="{BB962C8B-B14F-4D97-AF65-F5344CB8AC3E}">
        <p14:creationId xmlns:p14="http://schemas.microsoft.com/office/powerpoint/2010/main" val="25687559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Private Cloud</a:t>
            </a:r>
          </a:p>
        </p:txBody>
      </p:sp>
      <p:sp>
        <p:nvSpPr>
          <p:cNvPr id="3" name="Content Placeholder 2"/>
          <p:cNvSpPr>
            <a:spLocks noGrp="1"/>
          </p:cNvSpPr>
          <p:nvPr>
            <p:ph sz="quarter" idx="1"/>
          </p:nvPr>
        </p:nvSpPr>
        <p:spPr/>
        <p:txBody>
          <a:bodyPr>
            <a:normAutofit fontScale="92500"/>
          </a:bodyPr>
          <a:lstStyle/>
          <a:p>
            <a:pPr algn="just"/>
            <a:r>
              <a:rPr lang="en-US" dirty="0"/>
              <a:t>There is little to no difference between a public and a private model from the technical point of view, as their architectures are very similar. However, opposed to a public cloud that is available to the general public, only one specific company owns a private one. That is why it is also called an </a:t>
            </a:r>
            <a:r>
              <a:rPr lang="en-US" i="1" dirty="0"/>
              <a:t>internal</a:t>
            </a:r>
            <a:r>
              <a:rPr lang="en-US" dirty="0"/>
              <a:t> or </a:t>
            </a:r>
            <a:r>
              <a:rPr lang="en-US" i="1" dirty="0"/>
              <a:t>corporate</a:t>
            </a:r>
            <a:r>
              <a:rPr lang="en-US" dirty="0"/>
              <a:t>.</a:t>
            </a:r>
          </a:p>
          <a:p>
            <a:pPr algn="just"/>
            <a:r>
              <a:rPr lang="en-US" dirty="0"/>
              <a:t>Only one organization uses this deployment model to run its workloads, and the server can be hosted externally or on the premises of the user company. Regardless of their physical location, these infrastructures are maintained on a designated private network and use software and hardware that are intended for a specific company.</a:t>
            </a:r>
            <a:endParaRPr lang="en-IN" dirty="0"/>
          </a:p>
        </p:txBody>
      </p:sp>
    </p:spTree>
    <p:extLst>
      <p:ext uri="{BB962C8B-B14F-4D97-AF65-F5344CB8AC3E}">
        <p14:creationId xmlns:p14="http://schemas.microsoft.com/office/powerpoint/2010/main" val="22903893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74638"/>
            <a:ext cx="7467600" cy="6199187"/>
          </a:xfrm>
        </p:spPr>
      </p:pic>
    </p:spTree>
    <p:extLst>
      <p:ext uri="{BB962C8B-B14F-4D97-AF65-F5344CB8AC3E}">
        <p14:creationId xmlns:p14="http://schemas.microsoft.com/office/powerpoint/2010/main" val="1453561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Benefits of a Private Cloud</a:t>
            </a:r>
            <a:endParaRPr lang="en-IN" dirty="0"/>
          </a:p>
        </p:txBody>
      </p:sp>
      <p:sp>
        <p:nvSpPr>
          <p:cNvPr id="3" name="Content Placeholder 2"/>
          <p:cNvSpPr>
            <a:spLocks noGrp="1"/>
          </p:cNvSpPr>
          <p:nvPr>
            <p:ph sz="quarter" idx="1"/>
          </p:nvPr>
        </p:nvSpPr>
        <p:spPr/>
        <p:txBody>
          <a:bodyPr/>
          <a:lstStyle/>
          <a:p>
            <a:r>
              <a:rPr lang="en-US" dirty="0"/>
              <a:t>All the benefits of this deployment model result from its autonomy. They are the following</a:t>
            </a:r>
          </a:p>
          <a:p>
            <a:pPr lvl="1" algn="just"/>
            <a:r>
              <a:rPr lang="en-US" dirty="0"/>
              <a:t>Bespoke and flexible development and high scalability, which allows companies to customize their infrastructures in accordance with their requirements</a:t>
            </a:r>
          </a:p>
          <a:p>
            <a:pPr lvl="1" algn="just"/>
            <a:r>
              <a:rPr lang="en-US" dirty="0"/>
              <a:t>High security, privacy and reliability as only authorized persons can access resources</a:t>
            </a:r>
          </a:p>
          <a:p>
            <a:endParaRPr lang="en-IN" dirty="0"/>
          </a:p>
        </p:txBody>
      </p:sp>
    </p:spTree>
    <p:extLst>
      <p:ext uri="{BB962C8B-B14F-4D97-AF65-F5344CB8AC3E}">
        <p14:creationId xmlns:p14="http://schemas.microsoft.com/office/powerpoint/2010/main" val="35073311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Drawbacks of a Private Cloud</a:t>
            </a:r>
            <a:endParaRPr lang="en-IN" dirty="0"/>
          </a:p>
        </p:txBody>
      </p:sp>
      <p:sp>
        <p:nvSpPr>
          <p:cNvPr id="3" name="Content Placeholder 2"/>
          <p:cNvSpPr>
            <a:spLocks noGrp="1"/>
          </p:cNvSpPr>
          <p:nvPr>
            <p:ph sz="quarter" idx="1"/>
          </p:nvPr>
        </p:nvSpPr>
        <p:spPr/>
        <p:txBody>
          <a:bodyPr/>
          <a:lstStyle/>
          <a:p>
            <a:pPr algn="just"/>
            <a:r>
              <a:rPr lang="en-US" dirty="0"/>
              <a:t>The major disadvantage of the private cloud deployment model is its cost, as it requires considerable expenses on hardware, software and staff training. That is why this secure and flexible computing deployment model is not a choice for small companies.</a:t>
            </a:r>
            <a:endParaRPr lang="en-IN" dirty="0"/>
          </a:p>
        </p:txBody>
      </p:sp>
    </p:spTree>
    <p:extLst>
      <p:ext uri="{BB962C8B-B14F-4D97-AF65-F5344CB8AC3E}">
        <p14:creationId xmlns:p14="http://schemas.microsoft.com/office/powerpoint/2010/main" val="16243160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Community Cloud</a:t>
            </a:r>
          </a:p>
        </p:txBody>
      </p:sp>
      <p:sp>
        <p:nvSpPr>
          <p:cNvPr id="3" name="Content Placeholder 2"/>
          <p:cNvSpPr>
            <a:spLocks noGrp="1"/>
          </p:cNvSpPr>
          <p:nvPr>
            <p:ph sz="quarter" idx="1"/>
          </p:nvPr>
        </p:nvSpPr>
        <p:spPr/>
        <p:txBody>
          <a:bodyPr>
            <a:normAutofit lnSpcReduction="10000"/>
          </a:bodyPr>
          <a:lstStyle/>
          <a:p>
            <a:pPr algn="just"/>
            <a:r>
              <a:rPr lang="en-US" dirty="0"/>
              <a:t>A community deployment model largely resembles a private one; the only difference is the set of users. While a private type implies that only one company owns the server, in the case of a community one, several organizations with similar backgrounds share the infrastructure and related resources.</a:t>
            </a:r>
          </a:p>
          <a:p>
            <a:pPr algn="just"/>
            <a:r>
              <a:rPr lang="en-US" dirty="0"/>
              <a:t>If the organizations have uniform security, privacy and performance requirements, this multi-tenant data center architecture helps companies achieve their business-specific objectives. That is why a community model is particularly suited for organizations that work on joint projects.</a:t>
            </a:r>
          </a:p>
          <a:p>
            <a:endParaRPr lang="en-IN" dirty="0"/>
          </a:p>
        </p:txBody>
      </p:sp>
    </p:spTree>
    <p:extLst>
      <p:ext uri="{BB962C8B-B14F-4D97-AF65-F5344CB8AC3E}">
        <p14:creationId xmlns:p14="http://schemas.microsoft.com/office/powerpoint/2010/main" val="31555987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74638"/>
            <a:ext cx="7467600" cy="6199187"/>
          </a:xfrm>
        </p:spPr>
      </p:pic>
    </p:spTree>
    <p:extLst>
      <p:ext uri="{BB962C8B-B14F-4D97-AF65-F5344CB8AC3E}">
        <p14:creationId xmlns:p14="http://schemas.microsoft.com/office/powerpoint/2010/main" val="10573264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 and Disadvantages</a:t>
            </a:r>
          </a:p>
        </p:txBody>
      </p:sp>
      <p:sp>
        <p:nvSpPr>
          <p:cNvPr id="3" name="Content Placeholder 2"/>
          <p:cNvSpPr>
            <a:spLocks noGrp="1"/>
          </p:cNvSpPr>
          <p:nvPr>
            <p:ph sz="quarter" idx="1"/>
          </p:nvPr>
        </p:nvSpPr>
        <p:spPr/>
        <p:txBody>
          <a:bodyPr/>
          <a:lstStyle/>
          <a:p>
            <a:r>
              <a:rPr lang="en-US" dirty="0"/>
              <a:t>The Strengths of a Community Cloud</a:t>
            </a:r>
          </a:p>
          <a:p>
            <a:pPr lvl="1"/>
            <a:r>
              <a:rPr lang="en-US" dirty="0"/>
              <a:t>Cost reduction</a:t>
            </a:r>
          </a:p>
          <a:p>
            <a:pPr lvl="1"/>
            <a:r>
              <a:rPr lang="en-US" dirty="0"/>
              <a:t>Improved security, privacy and reliability</a:t>
            </a:r>
          </a:p>
          <a:p>
            <a:pPr lvl="1"/>
            <a:r>
              <a:rPr lang="en-US" dirty="0"/>
              <a:t>Ease of data sharing and collaboration</a:t>
            </a:r>
          </a:p>
          <a:p>
            <a:r>
              <a:rPr lang="en-US" dirty="0"/>
              <a:t>The Shortcomings of a Community Cloud</a:t>
            </a:r>
          </a:p>
          <a:p>
            <a:pPr lvl="1"/>
            <a:r>
              <a:rPr lang="en-US" dirty="0"/>
              <a:t>High cost if compared to a public deployment model</a:t>
            </a:r>
          </a:p>
          <a:p>
            <a:pPr lvl="1"/>
            <a:r>
              <a:rPr lang="en-US" dirty="0"/>
              <a:t>Sharing of fixed storage and bandwidth capacity</a:t>
            </a:r>
          </a:p>
          <a:p>
            <a:pPr lvl="1"/>
            <a:r>
              <a:rPr lang="en-US" dirty="0"/>
              <a:t>It is not widespread so far</a:t>
            </a:r>
          </a:p>
          <a:p>
            <a:endParaRPr lang="en-IN" dirty="0"/>
          </a:p>
        </p:txBody>
      </p:sp>
    </p:spTree>
    <p:extLst>
      <p:ext uri="{BB962C8B-B14F-4D97-AF65-F5344CB8AC3E}">
        <p14:creationId xmlns:p14="http://schemas.microsoft.com/office/powerpoint/2010/main" val="35549066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Cloud</a:t>
            </a:r>
          </a:p>
        </p:txBody>
      </p:sp>
      <p:sp>
        <p:nvSpPr>
          <p:cNvPr id="3" name="Content Placeholder 2"/>
          <p:cNvSpPr>
            <a:spLocks noGrp="1"/>
          </p:cNvSpPr>
          <p:nvPr>
            <p:ph sz="quarter" idx="1"/>
          </p:nvPr>
        </p:nvSpPr>
        <p:spPr/>
        <p:txBody>
          <a:bodyPr/>
          <a:lstStyle/>
          <a:p>
            <a:pPr algn="just"/>
            <a:r>
              <a:rPr lang="en-US" dirty="0"/>
              <a:t>As it is usually the case with any hybrid phenomenon, a hybrid cloud encompasses the best features of the above-mentioned deployment models — public, private and community ones. It allows companies to mix and match the facets of all three types that best suit their requirements.</a:t>
            </a:r>
          </a:p>
          <a:p>
            <a:pPr algn="just"/>
            <a:r>
              <a:rPr lang="en-US" dirty="0"/>
              <a:t>Hybrid cloud deployment model not only safeguards and controls strategically important assets but does so in the most cost- and resource-effective way possible for each specific case. Also, this approach facilitates data and application portability.</a:t>
            </a:r>
            <a:endParaRPr lang="en-IN" dirty="0"/>
          </a:p>
        </p:txBody>
      </p:sp>
    </p:spTree>
    <p:extLst>
      <p:ext uri="{BB962C8B-B14F-4D97-AF65-F5344CB8AC3E}">
        <p14:creationId xmlns:p14="http://schemas.microsoft.com/office/powerpoint/2010/main" val="31500492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274638"/>
            <a:ext cx="7543799" cy="6199187"/>
          </a:xfrm>
        </p:spPr>
      </p:pic>
    </p:spTree>
    <p:extLst>
      <p:ext uri="{BB962C8B-B14F-4D97-AF65-F5344CB8AC3E}">
        <p14:creationId xmlns:p14="http://schemas.microsoft.com/office/powerpoint/2010/main" val="21588000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Benefits of a Hybrid Cloud</a:t>
            </a:r>
            <a:endParaRPr lang="en-IN" dirty="0"/>
          </a:p>
        </p:txBody>
      </p:sp>
      <p:sp>
        <p:nvSpPr>
          <p:cNvPr id="3" name="Content Placeholder 2"/>
          <p:cNvSpPr>
            <a:spLocks noGrp="1"/>
          </p:cNvSpPr>
          <p:nvPr>
            <p:ph sz="quarter" idx="1"/>
          </p:nvPr>
        </p:nvSpPr>
        <p:spPr/>
        <p:txBody>
          <a:bodyPr/>
          <a:lstStyle/>
          <a:p>
            <a:r>
              <a:rPr lang="en-US" dirty="0"/>
              <a:t>Improved security and privacy</a:t>
            </a:r>
          </a:p>
          <a:p>
            <a:r>
              <a:rPr lang="en-US" dirty="0"/>
              <a:t>Enhanced scalability and flexibility</a:t>
            </a:r>
          </a:p>
          <a:p>
            <a:r>
              <a:rPr lang="en-US" dirty="0"/>
              <a:t>Reasonable price</a:t>
            </a:r>
          </a:p>
          <a:p>
            <a:pPr marL="0" indent="0">
              <a:buNone/>
            </a:pPr>
            <a:endParaRPr lang="en-IN" dirty="0"/>
          </a:p>
        </p:txBody>
      </p:sp>
    </p:spTree>
    <p:extLst>
      <p:ext uri="{BB962C8B-B14F-4D97-AF65-F5344CB8AC3E}">
        <p14:creationId xmlns:p14="http://schemas.microsoft.com/office/powerpoint/2010/main" val="36080630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Comparison of Top Cloud Deployment Models</a:t>
            </a:r>
            <a:endParaRPr lang="en-IN"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417638"/>
            <a:ext cx="7467600" cy="5211762"/>
          </a:xfrm>
        </p:spPr>
      </p:pic>
    </p:spTree>
    <p:extLst>
      <p:ext uri="{BB962C8B-B14F-4D97-AF65-F5344CB8AC3E}">
        <p14:creationId xmlns:p14="http://schemas.microsoft.com/office/powerpoint/2010/main" val="4509541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1199</TotalTime>
  <Words>6171</Words>
  <Application>Microsoft Office PowerPoint</Application>
  <PresentationFormat>On-screen Show (4:3)</PresentationFormat>
  <Paragraphs>327</Paragraphs>
  <Slides>80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Arial</vt:lpstr>
      <vt:lpstr>Century Schoolbook</vt:lpstr>
      <vt:lpstr>Wingdings</vt:lpstr>
      <vt:lpstr>Wingdings 2</vt:lpstr>
      <vt:lpstr>Oriel</vt:lpstr>
      <vt:lpstr>cloud computing</vt:lpstr>
      <vt:lpstr>What is Cloud?</vt:lpstr>
      <vt:lpstr>Why Cloud</vt:lpstr>
      <vt:lpstr>What is Cloud Computing ?</vt:lpstr>
      <vt:lpstr> Continue..</vt:lpstr>
      <vt:lpstr>Cloud Computing - Overview</vt:lpstr>
      <vt:lpstr>Definition</vt:lpstr>
      <vt:lpstr>Elementary Definition</vt:lpstr>
      <vt:lpstr>Technical Perspective</vt:lpstr>
      <vt:lpstr>In Researchers’ Point of View</vt:lpstr>
      <vt:lpstr>Virtualization</vt:lpstr>
      <vt:lpstr>History of Cloud Computing</vt:lpstr>
      <vt:lpstr>Continue..</vt:lpstr>
      <vt:lpstr>PowerPoint Presentation</vt:lpstr>
      <vt:lpstr>Continue</vt:lpstr>
      <vt:lpstr>Continue..</vt:lpstr>
      <vt:lpstr>Continue..</vt:lpstr>
      <vt:lpstr>Continue..</vt:lpstr>
      <vt:lpstr>Continue..</vt:lpstr>
      <vt:lpstr>Cloud Computing Architecture</vt:lpstr>
      <vt:lpstr>Need and Benefits of Cloud Computing</vt:lpstr>
      <vt:lpstr>Continue..</vt:lpstr>
      <vt:lpstr>Flexibility </vt:lpstr>
      <vt:lpstr>Efficiency</vt:lpstr>
      <vt:lpstr>Strategic Value</vt:lpstr>
      <vt:lpstr>Components Of Cloud Computing Architecture</vt:lpstr>
      <vt:lpstr>Why Cloud Computing?</vt:lpstr>
      <vt:lpstr>PowerPoint Presentation</vt:lpstr>
      <vt:lpstr>The Components </vt:lpstr>
      <vt:lpstr>Continue..</vt:lpstr>
      <vt:lpstr>Continue..</vt:lpstr>
      <vt:lpstr>Continue..</vt:lpstr>
      <vt:lpstr>Continue..</vt:lpstr>
      <vt:lpstr>Continue..</vt:lpstr>
      <vt:lpstr>Continue..</vt:lpstr>
      <vt:lpstr>Characteristics of Cloud Computing</vt:lpstr>
      <vt:lpstr>Continue..</vt:lpstr>
      <vt:lpstr>Continue..</vt:lpstr>
      <vt:lpstr>Continue..</vt:lpstr>
      <vt:lpstr>Continue..</vt:lpstr>
      <vt:lpstr>Continue..</vt:lpstr>
      <vt:lpstr>Disadvantages of Cloud Computing</vt:lpstr>
      <vt:lpstr>Continue..</vt:lpstr>
      <vt:lpstr>Continue..</vt:lpstr>
      <vt:lpstr>Continue..</vt:lpstr>
      <vt:lpstr>Continue..</vt:lpstr>
      <vt:lpstr>Continue..</vt:lpstr>
      <vt:lpstr>Cloud Computing Applications</vt:lpstr>
      <vt:lpstr>Continue..</vt:lpstr>
      <vt:lpstr>1. Art Applications</vt:lpstr>
      <vt:lpstr>2. Business Applications</vt:lpstr>
      <vt:lpstr>Continue..</vt:lpstr>
      <vt:lpstr>Continue..</vt:lpstr>
      <vt:lpstr>3. Data Storage and Backup Applications</vt:lpstr>
      <vt:lpstr>PowerPoint Presentation</vt:lpstr>
      <vt:lpstr>PowerPoint Presentation</vt:lpstr>
      <vt:lpstr>4. Education Applications</vt:lpstr>
      <vt:lpstr>Continue..</vt:lpstr>
      <vt:lpstr>5. Entertainment Applications</vt:lpstr>
      <vt:lpstr>PowerPoint Presentation</vt:lpstr>
      <vt:lpstr>6. Management Applications</vt:lpstr>
      <vt:lpstr>PowerPoint Presentation</vt:lpstr>
      <vt:lpstr>7. Social Applications</vt:lpstr>
      <vt:lpstr>Continue..</vt:lpstr>
      <vt:lpstr>Cloud Deployment Model</vt:lpstr>
      <vt:lpstr>Public Cloud</vt:lpstr>
      <vt:lpstr>PowerPoint Presentation</vt:lpstr>
      <vt:lpstr>The Advantages of a Public Cloud</vt:lpstr>
      <vt:lpstr>The Disadvantages of a Public Cloud</vt:lpstr>
      <vt:lpstr>Private Cloud</vt:lpstr>
      <vt:lpstr>PowerPoint Presentation</vt:lpstr>
      <vt:lpstr>The Benefits of a Private Cloud</vt:lpstr>
      <vt:lpstr>The Drawbacks of a Private Cloud</vt:lpstr>
      <vt:lpstr>Community Cloud</vt:lpstr>
      <vt:lpstr>PowerPoint Presentation</vt:lpstr>
      <vt:lpstr>Advantages and Disadvantages</vt:lpstr>
      <vt:lpstr>Hybrid Cloud</vt:lpstr>
      <vt:lpstr>PowerPoint Presentation</vt:lpstr>
      <vt:lpstr>The Benefits of a Hybrid Cloud</vt:lpstr>
      <vt:lpstr>The Comparison of Top Cloud Deployment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vikassingh</dc:creator>
  <cp:lastModifiedBy>sophiya sheikh</cp:lastModifiedBy>
  <cp:revision>98</cp:revision>
  <dcterms:created xsi:type="dcterms:W3CDTF">2014-08-19T17:16:14Z</dcterms:created>
  <dcterms:modified xsi:type="dcterms:W3CDTF">2022-01-15T08:50:50Z</dcterms:modified>
</cp:coreProperties>
</file>