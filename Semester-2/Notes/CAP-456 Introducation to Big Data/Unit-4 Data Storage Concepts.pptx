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handoutMasterIdLst>
    <p:handoutMasterId r:id="rId55"/>
  </p:handoutMasterIdLst>
  <p:sldIdLst>
    <p:sldId id="256" r:id="rId2"/>
    <p:sldId id="348" r:id="rId3"/>
    <p:sldId id="302" r:id="rId4"/>
    <p:sldId id="303" r:id="rId5"/>
    <p:sldId id="304" r:id="rId6"/>
    <p:sldId id="349" r:id="rId7"/>
    <p:sldId id="305" r:id="rId8"/>
    <p:sldId id="306" r:id="rId9"/>
    <p:sldId id="307" r:id="rId10"/>
    <p:sldId id="350" r:id="rId11"/>
    <p:sldId id="308" r:id="rId12"/>
    <p:sldId id="309" r:id="rId13"/>
    <p:sldId id="310" r:id="rId14"/>
    <p:sldId id="311" r:id="rId15"/>
    <p:sldId id="312" r:id="rId16"/>
    <p:sldId id="351" r:id="rId17"/>
    <p:sldId id="313" r:id="rId18"/>
    <p:sldId id="314"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53" r:id="rId33"/>
    <p:sldId id="328" r:id="rId34"/>
    <p:sldId id="329" r:id="rId35"/>
    <p:sldId id="330" r:id="rId36"/>
    <p:sldId id="332" r:id="rId37"/>
    <p:sldId id="333" r:id="rId38"/>
    <p:sldId id="336" r:id="rId39"/>
    <p:sldId id="354" r:id="rId40"/>
    <p:sldId id="337" r:id="rId41"/>
    <p:sldId id="338" r:id="rId42"/>
    <p:sldId id="334" r:id="rId43"/>
    <p:sldId id="335" r:id="rId44"/>
    <p:sldId id="339" r:id="rId45"/>
    <p:sldId id="341" r:id="rId46"/>
    <p:sldId id="346" r:id="rId47"/>
    <p:sldId id="342" r:id="rId48"/>
    <p:sldId id="344" r:id="rId49"/>
    <p:sldId id="343" r:id="rId50"/>
    <p:sldId id="345" r:id="rId51"/>
    <p:sldId id="347" r:id="rId52"/>
    <p:sldId id="301" r:id="rId5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P" initials="H"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68" d="100"/>
          <a:sy n="68" d="100"/>
        </p:scale>
        <p:origin x="-80" y="-84"/>
      </p:cViewPr>
      <p:guideLst>
        <p:guide orient="horz" pos="2160"/>
        <p:guide pos="3840"/>
      </p:guideLst>
    </p:cSldViewPr>
  </p:slideViewPr>
  <p:notesTextViewPr>
    <p:cViewPr>
      <p:scale>
        <a:sx n="1" d="1"/>
        <a:sy n="1" d="1"/>
      </p:scale>
      <p:origin x="0" y="0"/>
    </p:cViewPr>
  </p:notesTextViewPr>
  <p:sorterViewPr>
    <p:cViewPr>
      <p:scale>
        <a:sx n="66" d="100"/>
        <a:sy n="66" d="100"/>
      </p:scale>
      <p:origin x="0" y="8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A63D696E-F04E-44BF-A836-EFC73F2EB300}" type="datetimeFigureOut">
              <a:rPr lang="en-US" smtClean="0"/>
              <a:pPr/>
              <a:t>2/2/2022</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61B87ACA-2888-4332-800E-E28A079B3D51}"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879A749F-95DB-49A4-819E-F03723C52EE7}" type="datetimeFigureOut">
              <a:rPr lang="en-US" smtClean="0"/>
              <a:pPr/>
              <a:t>2/2/2022</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B1D0C09B-96E5-40E8-93E0-7212E6357BB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1D0C09B-96E5-40E8-93E0-7212E6357BB7}"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C341E9-019F-4E11-94D7-460FE8DA0B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24C2251-10A9-41E3-A73D-65222EF38D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FFA065FD-1A3F-49B5-B691-7DCE6FFA645A}"/>
              </a:ext>
            </a:extLst>
          </p:cNvPr>
          <p:cNvSpPr>
            <a:spLocks noGrp="1"/>
          </p:cNvSpPr>
          <p:nvPr>
            <p:ph type="dt" sz="half" idx="10"/>
          </p:nvPr>
        </p:nvSpPr>
        <p:spPr/>
        <p:txBody>
          <a:bodyPr/>
          <a:lstStyle/>
          <a:p>
            <a:fld id="{F2ED3365-E770-4EFE-B9C5-D0B674725EE8}" type="datetime1">
              <a:rPr lang="en-IN" smtClean="0"/>
              <a:pPr/>
              <a:t>02-02-2022</a:t>
            </a:fld>
            <a:endParaRPr lang="en-IN"/>
          </a:p>
        </p:txBody>
      </p:sp>
      <p:sp>
        <p:nvSpPr>
          <p:cNvPr id="5" name="Footer Placeholder 4">
            <a:extLst>
              <a:ext uri="{FF2B5EF4-FFF2-40B4-BE49-F238E27FC236}">
                <a16:creationId xmlns:a16="http://schemas.microsoft.com/office/drawing/2014/main" xmlns="" id="{52ED5FDE-58E9-414A-BA88-CB5E2B8BEEA5}"/>
              </a:ext>
            </a:extLst>
          </p:cNvPr>
          <p:cNvSpPr>
            <a:spLocks noGrp="1"/>
          </p:cNvSpPr>
          <p:nvPr>
            <p:ph type="ftr" sz="quarter" idx="11"/>
          </p:nvPr>
        </p:nvSpPr>
        <p:spPr/>
        <p:txBody>
          <a:bodyPr/>
          <a:lstStyle/>
          <a:p>
            <a:r>
              <a:rPr lang="en-IN" dirty="0" smtClean="0"/>
              <a:t>Dr. Apash Roy</a:t>
            </a:r>
            <a:endParaRPr lang="en-IN" dirty="0"/>
          </a:p>
        </p:txBody>
      </p:sp>
      <p:sp>
        <p:nvSpPr>
          <p:cNvPr id="6" name="Slide Number Placeholder 5">
            <a:extLst>
              <a:ext uri="{FF2B5EF4-FFF2-40B4-BE49-F238E27FC236}">
                <a16:creationId xmlns:a16="http://schemas.microsoft.com/office/drawing/2014/main" xmlns="" id="{03B76E4D-DF49-4060-B362-12CBC07BFFB5}"/>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2750549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BF7C05-D79F-4775-A3DC-BC3D308CBF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F2272AF-047A-4CEB-8703-70F7C4BB01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6AF1AA9-D331-41DB-8EE0-1FECFC05C934}"/>
              </a:ext>
            </a:extLst>
          </p:cNvPr>
          <p:cNvSpPr>
            <a:spLocks noGrp="1"/>
          </p:cNvSpPr>
          <p:nvPr>
            <p:ph type="dt" sz="half" idx="10"/>
          </p:nvPr>
        </p:nvSpPr>
        <p:spPr/>
        <p:txBody>
          <a:bodyPr/>
          <a:lstStyle/>
          <a:p>
            <a:fld id="{B8D534A0-CAAD-4F3D-81D6-A7F255801EE7}" type="datetime1">
              <a:rPr lang="en-IN" smtClean="0"/>
              <a:pPr/>
              <a:t>02-02-2022</a:t>
            </a:fld>
            <a:endParaRPr lang="en-IN"/>
          </a:p>
        </p:txBody>
      </p:sp>
      <p:sp>
        <p:nvSpPr>
          <p:cNvPr id="5" name="Footer Placeholder 4">
            <a:extLst>
              <a:ext uri="{FF2B5EF4-FFF2-40B4-BE49-F238E27FC236}">
                <a16:creationId xmlns:a16="http://schemas.microsoft.com/office/drawing/2014/main" xmlns="" id="{0023837B-ABED-4BB1-B623-982114977246}"/>
              </a:ext>
            </a:extLst>
          </p:cNvPr>
          <p:cNvSpPr>
            <a:spLocks noGrp="1"/>
          </p:cNvSpPr>
          <p:nvPr>
            <p:ph type="ftr" sz="quarter" idx="11"/>
          </p:nvPr>
        </p:nvSpPr>
        <p:spPr/>
        <p:txBody>
          <a:bodyPr/>
          <a:lstStyle/>
          <a:p>
            <a:r>
              <a:rPr lang="en-IN" dirty="0" smtClean="0"/>
              <a:t>Dr. Apash Roy</a:t>
            </a:r>
            <a:endParaRPr lang="en-IN" dirty="0"/>
          </a:p>
        </p:txBody>
      </p:sp>
      <p:sp>
        <p:nvSpPr>
          <p:cNvPr id="6" name="Slide Number Placeholder 5">
            <a:extLst>
              <a:ext uri="{FF2B5EF4-FFF2-40B4-BE49-F238E27FC236}">
                <a16:creationId xmlns:a16="http://schemas.microsoft.com/office/drawing/2014/main" xmlns="" id="{432A345B-F3E4-4604-8095-7200CB0EC151}"/>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3240537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9B8F87-77B3-4C26-850C-F1694639FA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57DA3D2-8A8C-48DB-9581-116A9FE6BA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50CCF14-4439-4149-98DB-448336600206}"/>
              </a:ext>
            </a:extLst>
          </p:cNvPr>
          <p:cNvSpPr>
            <a:spLocks noGrp="1"/>
          </p:cNvSpPr>
          <p:nvPr>
            <p:ph type="dt" sz="half" idx="10"/>
          </p:nvPr>
        </p:nvSpPr>
        <p:spPr/>
        <p:txBody>
          <a:bodyPr/>
          <a:lstStyle/>
          <a:p>
            <a:fld id="{E4D5DF3F-6576-4132-BB57-CD9FD49BE95B}" type="datetime1">
              <a:rPr lang="en-IN" smtClean="0"/>
              <a:pPr/>
              <a:t>02-02-2022</a:t>
            </a:fld>
            <a:endParaRPr lang="en-IN"/>
          </a:p>
        </p:txBody>
      </p:sp>
      <p:sp>
        <p:nvSpPr>
          <p:cNvPr id="5" name="Footer Placeholder 4">
            <a:extLst>
              <a:ext uri="{FF2B5EF4-FFF2-40B4-BE49-F238E27FC236}">
                <a16:creationId xmlns:a16="http://schemas.microsoft.com/office/drawing/2014/main" xmlns="" id="{D7F02430-A25B-4744-8834-0D3286D59F1C}"/>
              </a:ext>
            </a:extLst>
          </p:cNvPr>
          <p:cNvSpPr>
            <a:spLocks noGrp="1"/>
          </p:cNvSpPr>
          <p:nvPr>
            <p:ph type="ftr" sz="quarter" idx="11"/>
          </p:nvPr>
        </p:nvSpPr>
        <p:spPr/>
        <p:txBody>
          <a:bodyPr/>
          <a:lstStyle/>
          <a:p>
            <a:r>
              <a:rPr lang="en-IN" dirty="0" smtClean="0"/>
              <a:t>Dr. Apash Roy</a:t>
            </a:r>
            <a:endParaRPr lang="en-IN" dirty="0"/>
          </a:p>
        </p:txBody>
      </p:sp>
      <p:sp>
        <p:nvSpPr>
          <p:cNvPr id="6" name="Slide Number Placeholder 5">
            <a:extLst>
              <a:ext uri="{FF2B5EF4-FFF2-40B4-BE49-F238E27FC236}">
                <a16:creationId xmlns:a16="http://schemas.microsoft.com/office/drawing/2014/main" xmlns="" id="{86BAD3E1-BC67-4971-B995-0C13803AB04A}"/>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101539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280894-D1C6-4C64-B023-52F178E81D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3B7E021-8A93-41F3-8D14-528D003A30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310EA55C-DE9A-40A1-832A-C1C3B767A2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54AE91F8-5619-4FF2-B109-557B39986E48}"/>
              </a:ext>
            </a:extLst>
          </p:cNvPr>
          <p:cNvSpPr>
            <a:spLocks noGrp="1"/>
          </p:cNvSpPr>
          <p:nvPr>
            <p:ph type="dt" sz="half" idx="10"/>
          </p:nvPr>
        </p:nvSpPr>
        <p:spPr/>
        <p:txBody>
          <a:bodyPr/>
          <a:lstStyle/>
          <a:p>
            <a:fld id="{3EC6ADF0-EAA0-4946-97EB-C3B55877FEE5}" type="datetime1">
              <a:rPr lang="en-IN" smtClean="0"/>
              <a:pPr/>
              <a:t>02-02-2022</a:t>
            </a:fld>
            <a:endParaRPr lang="en-IN"/>
          </a:p>
        </p:txBody>
      </p:sp>
      <p:sp>
        <p:nvSpPr>
          <p:cNvPr id="6" name="Footer Placeholder 5">
            <a:extLst>
              <a:ext uri="{FF2B5EF4-FFF2-40B4-BE49-F238E27FC236}">
                <a16:creationId xmlns:a16="http://schemas.microsoft.com/office/drawing/2014/main" xmlns="" id="{EB9B2649-C75E-468E-BD46-2D3E7FD52AE1}"/>
              </a:ext>
            </a:extLst>
          </p:cNvPr>
          <p:cNvSpPr>
            <a:spLocks noGrp="1"/>
          </p:cNvSpPr>
          <p:nvPr>
            <p:ph type="ftr" sz="quarter" idx="11"/>
          </p:nvPr>
        </p:nvSpPr>
        <p:spPr/>
        <p:txBody>
          <a:bodyPr/>
          <a:lstStyle/>
          <a:p>
            <a:r>
              <a:rPr lang="en-IN" dirty="0" smtClean="0"/>
              <a:t>Dr. Apash Roy</a:t>
            </a:r>
            <a:endParaRPr lang="en-IN" dirty="0"/>
          </a:p>
        </p:txBody>
      </p:sp>
      <p:sp>
        <p:nvSpPr>
          <p:cNvPr id="7" name="Slide Number Placeholder 6">
            <a:extLst>
              <a:ext uri="{FF2B5EF4-FFF2-40B4-BE49-F238E27FC236}">
                <a16:creationId xmlns:a16="http://schemas.microsoft.com/office/drawing/2014/main" xmlns="" id="{520C86B1-E2C9-4E10-860A-5240E179559F}"/>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62531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551C0B-4906-412B-AE09-AE286A03F7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D814C5C-3F73-4D7D-B917-EACCC6CFA3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C53AD8F-2F07-46F9-818E-11ED7F29E9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43561AE-ACE7-45CD-B5B1-79410FFC56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2C378DA-BF44-4E3C-9FAD-91AB9EBF1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57AA2D38-A2E3-43FE-8F76-ADD1C73D5FCE}"/>
              </a:ext>
            </a:extLst>
          </p:cNvPr>
          <p:cNvSpPr>
            <a:spLocks noGrp="1"/>
          </p:cNvSpPr>
          <p:nvPr>
            <p:ph type="dt" sz="half" idx="10"/>
          </p:nvPr>
        </p:nvSpPr>
        <p:spPr/>
        <p:txBody>
          <a:bodyPr/>
          <a:lstStyle/>
          <a:p>
            <a:fld id="{8743FA46-627C-4CD4-9799-30866ED2CB22}" type="datetime1">
              <a:rPr lang="en-IN" smtClean="0"/>
              <a:pPr/>
              <a:t>02-02-2022</a:t>
            </a:fld>
            <a:endParaRPr lang="en-IN"/>
          </a:p>
        </p:txBody>
      </p:sp>
      <p:sp>
        <p:nvSpPr>
          <p:cNvPr id="8" name="Footer Placeholder 7">
            <a:extLst>
              <a:ext uri="{FF2B5EF4-FFF2-40B4-BE49-F238E27FC236}">
                <a16:creationId xmlns:a16="http://schemas.microsoft.com/office/drawing/2014/main" xmlns="" id="{F906F370-7BA3-4CF1-9FAC-A665F4DCD97B}"/>
              </a:ext>
            </a:extLst>
          </p:cNvPr>
          <p:cNvSpPr>
            <a:spLocks noGrp="1"/>
          </p:cNvSpPr>
          <p:nvPr>
            <p:ph type="ftr" sz="quarter" idx="11"/>
          </p:nvPr>
        </p:nvSpPr>
        <p:spPr/>
        <p:txBody>
          <a:bodyPr/>
          <a:lstStyle/>
          <a:p>
            <a:r>
              <a:rPr lang="en-IN" dirty="0" smtClean="0"/>
              <a:t>Dr. Apash Roy</a:t>
            </a:r>
            <a:endParaRPr lang="en-IN" dirty="0"/>
          </a:p>
        </p:txBody>
      </p:sp>
      <p:sp>
        <p:nvSpPr>
          <p:cNvPr id="9" name="Slide Number Placeholder 8">
            <a:extLst>
              <a:ext uri="{FF2B5EF4-FFF2-40B4-BE49-F238E27FC236}">
                <a16:creationId xmlns:a16="http://schemas.microsoft.com/office/drawing/2014/main" xmlns="" id="{2E62DE6E-4613-4232-A44D-6744CAC41315}"/>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596991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97E08F-6C41-4DC2-AFB9-408E59F34A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D6A8EA1F-3933-4DEF-ABDA-EBE549B7914C}"/>
              </a:ext>
            </a:extLst>
          </p:cNvPr>
          <p:cNvSpPr>
            <a:spLocks noGrp="1"/>
          </p:cNvSpPr>
          <p:nvPr>
            <p:ph type="dt" sz="half" idx="10"/>
          </p:nvPr>
        </p:nvSpPr>
        <p:spPr/>
        <p:txBody>
          <a:bodyPr/>
          <a:lstStyle/>
          <a:p>
            <a:fld id="{256E7E09-3004-4EA8-A969-1841DA30C02F}" type="datetime1">
              <a:rPr lang="en-IN" smtClean="0"/>
              <a:pPr/>
              <a:t>02-02-2022</a:t>
            </a:fld>
            <a:endParaRPr lang="en-IN"/>
          </a:p>
        </p:txBody>
      </p:sp>
      <p:sp>
        <p:nvSpPr>
          <p:cNvPr id="4" name="Footer Placeholder 3">
            <a:extLst>
              <a:ext uri="{FF2B5EF4-FFF2-40B4-BE49-F238E27FC236}">
                <a16:creationId xmlns:a16="http://schemas.microsoft.com/office/drawing/2014/main" xmlns="" id="{BEADDDC5-AB9C-44BB-BD73-536C05F86F8C}"/>
              </a:ext>
            </a:extLst>
          </p:cNvPr>
          <p:cNvSpPr>
            <a:spLocks noGrp="1"/>
          </p:cNvSpPr>
          <p:nvPr>
            <p:ph type="ftr" sz="quarter" idx="11"/>
          </p:nvPr>
        </p:nvSpPr>
        <p:spPr/>
        <p:txBody>
          <a:bodyPr/>
          <a:lstStyle/>
          <a:p>
            <a:r>
              <a:rPr lang="en-IN" dirty="0" smtClean="0"/>
              <a:t>Dr. Apash Roy</a:t>
            </a:r>
            <a:endParaRPr lang="en-IN" dirty="0"/>
          </a:p>
        </p:txBody>
      </p:sp>
      <p:sp>
        <p:nvSpPr>
          <p:cNvPr id="5" name="Slide Number Placeholder 4">
            <a:extLst>
              <a:ext uri="{FF2B5EF4-FFF2-40B4-BE49-F238E27FC236}">
                <a16:creationId xmlns:a16="http://schemas.microsoft.com/office/drawing/2014/main" xmlns="" id="{145A7FB7-C165-4E51-9FA4-E2B3B25AE1A1}"/>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1168464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75FE465-A6DB-4ED2-9C49-B1D46931A191}"/>
              </a:ext>
            </a:extLst>
          </p:cNvPr>
          <p:cNvSpPr>
            <a:spLocks noGrp="1"/>
          </p:cNvSpPr>
          <p:nvPr>
            <p:ph type="dt" sz="half" idx="10"/>
          </p:nvPr>
        </p:nvSpPr>
        <p:spPr/>
        <p:txBody>
          <a:bodyPr/>
          <a:lstStyle/>
          <a:p>
            <a:fld id="{D3E39560-5AFC-484A-83D5-BD0F6EA7EB89}" type="datetime1">
              <a:rPr lang="en-IN" smtClean="0"/>
              <a:pPr/>
              <a:t>02-02-2022</a:t>
            </a:fld>
            <a:endParaRPr lang="en-IN"/>
          </a:p>
        </p:txBody>
      </p:sp>
      <p:sp>
        <p:nvSpPr>
          <p:cNvPr id="3" name="Footer Placeholder 2">
            <a:extLst>
              <a:ext uri="{FF2B5EF4-FFF2-40B4-BE49-F238E27FC236}">
                <a16:creationId xmlns:a16="http://schemas.microsoft.com/office/drawing/2014/main" xmlns="" id="{696B5E9F-F728-41C1-A496-BF094024AC62}"/>
              </a:ext>
            </a:extLst>
          </p:cNvPr>
          <p:cNvSpPr>
            <a:spLocks noGrp="1"/>
          </p:cNvSpPr>
          <p:nvPr>
            <p:ph type="ftr" sz="quarter" idx="11"/>
          </p:nvPr>
        </p:nvSpPr>
        <p:spPr/>
        <p:txBody>
          <a:bodyPr/>
          <a:lstStyle/>
          <a:p>
            <a:r>
              <a:rPr lang="en-IN" dirty="0" smtClean="0"/>
              <a:t>Dr. Apash Roy</a:t>
            </a:r>
            <a:endParaRPr lang="en-IN" dirty="0"/>
          </a:p>
        </p:txBody>
      </p:sp>
      <p:sp>
        <p:nvSpPr>
          <p:cNvPr id="4" name="Slide Number Placeholder 3">
            <a:extLst>
              <a:ext uri="{FF2B5EF4-FFF2-40B4-BE49-F238E27FC236}">
                <a16:creationId xmlns:a16="http://schemas.microsoft.com/office/drawing/2014/main" xmlns="" id="{BE6D0709-CFB2-453E-8767-18E34533EE02}"/>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4039495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B3D773-C8BB-4B17-85A1-DD00D16FD9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D637CA9-0FED-4BC2-ACE7-FB7407EB40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B49B99A-AD3F-46A9-821B-58EF9A49A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C231B48-DCE5-498E-A723-6AAFBB917CAA}"/>
              </a:ext>
            </a:extLst>
          </p:cNvPr>
          <p:cNvSpPr>
            <a:spLocks noGrp="1"/>
          </p:cNvSpPr>
          <p:nvPr>
            <p:ph type="dt" sz="half" idx="10"/>
          </p:nvPr>
        </p:nvSpPr>
        <p:spPr/>
        <p:txBody>
          <a:bodyPr/>
          <a:lstStyle/>
          <a:p>
            <a:fld id="{BBD29F99-590F-4658-9057-06EFC7C3AC03}" type="datetime1">
              <a:rPr lang="en-IN" smtClean="0"/>
              <a:pPr/>
              <a:t>02-02-2022</a:t>
            </a:fld>
            <a:endParaRPr lang="en-IN"/>
          </a:p>
        </p:txBody>
      </p:sp>
      <p:sp>
        <p:nvSpPr>
          <p:cNvPr id="6" name="Footer Placeholder 5">
            <a:extLst>
              <a:ext uri="{FF2B5EF4-FFF2-40B4-BE49-F238E27FC236}">
                <a16:creationId xmlns:a16="http://schemas.microsoft.com/office/drawing/2014/main" xmlns="" id="{3B4C7704-2DEE-44AA-A87A-1535CB7FAE11}"/>
              </a:ext>
            </a:extLst>
          </p:cNvPr>
          <p:cNvSpPr>
            <a:spLocks noGrp="1"/>
          </p:cNvSpPr>
          <p:nvPr>
            <p:ph type="ftr" sz="quarter" idx="11"/>
          </p:nvPr>
        </p:nvSpPr>
        <p:spPr/>
        <p:txBody>
          <a:bodyPr/>
          <a:lstStyle/>
          <a:p>
            <a:r>
              <a:rPr lang="en-IN" dirty="0" smtClean="0"/>
              <a:t>Dr. Apash Roy</a:t>
            </a:r>
            <a:endParaRPr lang="en-IN" dirty="0"/>
          </a:p>
        </p:txBody>
      </p:sp>
      <p:sp>
        <p:nvSpPr>
          <p:cNvPr id="7" name="Slide Number Placeholder 6">
            <a:extLst>
              <a:ext uri="{FF2B5EF4-FFF2-40B4-BE49-F238E27FC236}">
                <a16:creationId xmlns:a16="http://schemas.microsoft.com/office/drawing/2014/main" xmlns="" id="{ACBB346C-4DC8-4CF4-A354-86A45EBD542A}"/>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4139342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EBC82A-9E1A-4DC6-8328-873D042A60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5B0F5FF-67B7-4118-86F0-0ECB2FC2B0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272AAF1A-ADDD-4073-B3D2-81A0A932D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8BA84FA-CF11-42BB-B287-5A2D657913E9}"/>
              </a:ext>
            </a:extLst>
          </p:cNvPr>
          <p:cNvSpPr>
            <a:spLocks noGrp="1"/>
          </p:cNvSpPr>
          <p:nvPr>
            <p:ph type="dt" sz="half" idx="10"/>
          </p:nvPr>
        </p:nvSpPr>
        <p:spPr/>
        <p:txBody>
          <a:bodyPr/>
          <a:lstStyle/>
          <a:p>
            <a:fld id="{95F9DC3F-8C56-42C6-86ED-FCF6F27261FE}" type="datetime1">
              <a:rPr lang="en-IN" smtClean="0"/>
              <a:pPr/>
              <a:t>02-02-2022</a:t>
            </a:fld>
            <a:endParaRPr lang="en-IN"/>
          </a:p>
        </p:txBody>
      </p:sp>
      <p:sp>
        <p:nvSpPr>
          <p:cNvPr id="6" name="Footer Placeholder 5">
            <a:extLst>
              <a:ext uri="{FF2B5EF4-FFF2-40B4-BE49-F238E27FC236}">
                <a16:creationId xmlns:a16="http://schemas.microsoft.com/office/drawing/2014/main" xmlns="" id="{4EFFE128-DD2E-4300-9B2A-9F4ED0F37987}"/>
              </a:ext>
            </a:extLst>
          </p:cNvPr>
          <p:cNvSpPr>
            <a:spLocks noGrp="1"/>
          </p:cNvSpPr>
          <p:nvPr>
            <p:ph type="ftr" sz="quarter" idx="11"/>
          </p:nvPr>
        </p:nvSpPr>
        <p:spPr/>
        <p:txBody>
          <a:bodyPr/>
          <a:lstStyle/>
          <a:p>
            <a:r>
              <a:rPr lang="en-IN" dirty="0" smtClean="0"/>
              <a:t>Dr. Apash Roy</a:t>
            </a:r>
            <a:endParaRPr lang="en-IN" dirty="0"/>
          </a:p>
        </p:txBody>
      </p:sp>
      <p:sp>
        <p:nvSpPr>
          <p:cNvPr id="7" name="Slide Number Placeholder 6">
            <a:extLst>
              <a:ext uri="{FF2B5EF4-FFF2-40B4-BE49-F238E27FC236}">
                <a16:creationId xmlns:a16="http://schemas.microsoft.com/office/drawing/2014/main" xmlns="" id="{DD543ABA-D06E-438B-AFE5-95DC346AD269}"/>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3279607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687FE1-B63F-4B1C-8543-5FE4150746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0AE1A29-EB06-456E-9790-2B6D5902FD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38C1CB0-2C6C-4FAD-88C6-7CE2AE330894}"/>
              </a:ext>
            </a:extLst>
          </p:cNvPr>
          <p:cNvSpPr>
            <a:spLocks noGrp="1"/>
          </p:cNvSpPr>
          <p:nvPr>
            <p:ph type="dt" sz="half" idx="10"/>
          </p:nvPr>
        </p:nvSpPr>
        <p:spPr/>
        <p:txBody>
          <a:bodyPr/>
          <a:lstStyle/>
          <a:p>
            <a:fld id="{224E8A40-3EA2-47FA-BCEB-E85C9A0FC4E7}" type="datetime1">
              <a:rPr lang="en-IN" smtClean="0"/>
              <a:pPr/>
              <a:t>02-02-2022</a:t>
            </a:fld>
            <a:endParaRPr lang="en-IN"/>
          </a:p>
        </p:txBody>
      </p:sp>
      <p:sp>
        <p:nvSpPr>
          <p:cNvPr id="5" name="Footer Placeholder 4">
            <a:extLst>
              <a:ext uri="{FF2B5EF4-FFF2-40B4-BE49-F238E27FC236}">
                <a16:creationId xmlns:a16="http://schemas.microsoft.com/office/drawing/2014/main" xmlns="" id="{573B2592-D9E2-4D2B-8C41-BEFDC2A97A32}"/>
              </a:ext>
            </a:extLst>
          </p:cNvPr>
          <p:cNvSpPr>
            <a:spLocks noGrp="1"/>
          </p:cNvSpPr>
          <p:nvPr>
            <p:ph type="ftr" sz="quarter" idx="11"/>
          </p:nvPr>
        </p:nvSpPr>
        <p:spPr/>
        <p:txBody>
          <a:bodyPr/>
          <a:lstStyle/>
          <a:p>
            <a:r>
              <a:rPr lang="en-IN" dirty="0" smtClean="0"/>
              <a:t>Dr. Apash Roy</a:t>
            </a:r>
            <a:endParaRPr lang="en-IN" dirty="0"/>
          </a:p>
        </p:txBody>
      </p:sp>
      <p:sp>
        <p:nvSpPr>
          <p:cNvPr id="6" name="Slide Number Placeholder 5">
            <a:extLst>
              <a:ext uri="{FF2B5EF4-FFF2-40B4-BE49-F238E27FC236}">
                <a16:creationId xmlns:a16="http://schemas.microsoft.com/office/drawing/2014/main" xmlns="" id="{95C5C08F-AFC6-4327-8729-D796F5080F9F}"/>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71816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C288B17-C1D7-460D-ACFE-D530D4E78A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F7DB9C4-EF42-4058-8E19-9B89AF6A99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80F4DFD-C7A4-4CF5-A89D-62A57487522A}"/>
              </a:ext>
            </a:extLst>
          </p:cNvPr>
          <p:cNvSpPr>
            <a:spLocks noGrp="1"/>
          </p:cNvSpPr>
          <p:nvPr>
            <p:ph type="dt" sz="half" idx="10"/>
          </p:nvPr>
        </p:nvSpPr>
        <p:spPr/>
        <p:txBody>
          <a:bodyPr/>
          <a:lstStyle/>
          <a:p>
            <a:fld id="{93E25FBB-0DF4-4161-B73C-D005CCC3670A}" type="datetime1">
              <a:rPr lang="en-IN" smtClean="0"/>
              <a:pPr/>
              <a:t>02-02-2022</a:t>
            </a:fld>
            <a:endParaRPr lang="en-IN"/>
          </a:p>
        </p:txBody>
      </p:sp>
      <p:sp>
        <p:nvSpPr>
          <p:cNvPr id="5" name="Footer Placeholder 4">
            <a:extLst>
              <a:ext uri="{FF2B5EF4-FFF2-40B4-BE49-F238E27FC236}">
                <a16:creationId xmlns:a16="http://schemas.microsoft.com/office/drawing/2014/main" xmlns="" id="{15ED7A81-3F91-4C5B-A767-0159C4A3EBC1}"/>
              </a:ext>
            </a:extLst>
          </p:cNvPr>
          <p:cNvSpPr>
            <a:spLocks noGrp="1"/>
          </p:cNvSpPr>
          <p:nvPr>
            <p:ph type="ftr" sz="quarter" idx="11"/>
          </p:nvPr>
        </p:nvSpPr>
        <p:spPr/>
        <p:txBody>
          <a:bodyPr/>
          <a:lstStyle/>
          <a:p>
            <a:r>
              <a:rPr lang="en-IN" dirty="0" smtClean="0"/>
              <a:t>Dr. Apash Roy</a:t>
            </a:r>
            <a:endParaRPr lang="en-IN" dirty="0"/>
          </a:p>
        </p:txBody>
      </p:sp>
      <p:sp>
        <p:nvSpPr>
          <p:cNvPr id="6" name="Slide Number Placeholder 5">
            <a:extLst>
              <a:ext uri="{FF2B5EF4-FFF2-40B4-BE49-F238E27FC236}">
                <a16:creationId xmlns:a16="http://schemas.microsoft.com/office/drawing/2014/main" xmlns="" id="{7BDB308E-92C6-42D8-B8E6-8F2AD9952104}"/>
              </a:ext>
            </a:extLst>
          </p:cNvPr>
          <p:cNvSpPr>
            <a:spLocks noGrp="1"/>
          </p:cNvSpPr>
          <p:nvPr>
            <p:ph type="sldNum" sz="quarter" idx="12"/>
          </p:nvPr>
        </p:nvSpPr>
        <p:spPr/>
        <p:txBody>
          <a:body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18635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9484EB9E-9C8E-4960-A5C3-97B9FFA1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014B24D-B5BF-45BB-9FA8-F7FAC36862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191FD94-DE72-4A07-9B56-1EE83099E7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5F45B9-FA20-43CB-92CE-2DF7E86956E3}" type="datetime1">
              <a:rPr lang="en-IN" smtClean="0"/>
              <a:pPr/>
              <a:t>02-02-2022</a:t>
            </a:fld>
            <a:endParaRPr lang="en-IN"/>
          </a:p>
        </p:txBody>
      </p:sp>
      <p:sp>
        <p:nvSpPr>
          <p:cNvPr id="5" name="Footer Placeholder 4">
            <a:extLst>
              <a:ext uri="{FF2B5EF4-FFF2-40B4-BE49-F238E27FC236}">
                <a16:creationId xmlns:a16="http://schemas.microsoft.com/office/drawing/2014/main" xmlns="" id="{706E6EE9-664F-4386-8409-E335C11DE2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smtClean="0"/>
              <a:t>Dr. Apash Roy</a:t>
            </a:r>
            <a:endParaRPr lang="en-IN" dirty="0"/>
          </a:p>
        </p:txBody>
      </p:sp>
      <p:sp>
        <p:nvSpPr>
          <p:cNvPr id="6" name="Slide Number Placeholder 5">
            <a:extLst>
              <a:ext uri="{FF2B5EF4-FFF2-40B4-BE49-F238E27FC236}">
                <a16:creationId xmlns:a16="http://schemas.microsoft.com/office/drawing/2014/main" xmlns="" id="{000BFCB3-2001-4745-AD53-E4CD5CBF9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CF2A1F-BD3F-4D6B-AE2B-6885BE92B141}" type="slidenum">
              <a:rPr lang="en-IN" smtClean="0"/>
              <a:pPr/>
              <a:t>‹#›</a:t>
            </a:fld>
            <a:endParaRPr lang="en-IN"/>
          </a:p>
        </p:txBody>
      </p:sp>
    </p:spTree>
    <p:extLst>
      <p:ext uri="{BB962C8B-B14F-4D97-AF65-F5344CB8AC3E}">
        <p14:creationId xmlns:p14="http://schemas.microsoft.com/office/powerpoint/2010/main" xmlns="" val="2458924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srcRect/>
          <a:stretch>
            <a:fillRect/>
          </a:stretch>
        </p:blipFill>
        <p:spPr bwMode="auto">
          <a:xfrm>
            <a:off x="1350387" y="0"/>
            <a:ext cx="8717251" cy="4533566"/>
          </a:xfrm>
          <a:prstGeom prst="rect">
            <a:avLst/>
          </a:prstGeom>
          <a:noFill/>
          <a:ln w="9525">
            <a:noFill/>
            <a:miter lim="800000"/>
            <a:headEnd/>
            <a:tailEnd/>
          </a:ln>
          <a:effectLst/>
        </p:spPr>
      </p:pic>
      <p:sp>
        <p:nvSpPr>
          <p:cNvPr id="2" name="Title 1">
            <a:extLst>
              <a:ext uri="{FF2B5EF4-FFF2-40B4-BE49-F238E27FC236}">
                <a16:creationId xmlns:a16="http://schemas.microsoft.com/office/drawing/2014/main" xmlns="" id="{F9A4D3CD-814D-4F06-B945-C594B9D7C07E}"/>
              </a:ext>
            </a:extLst>
          </p:cNvPr>
          <p:cNvSpPr>
            <a:spLocks noGrp="1"/>
          </p:cNvSpPr>
          <p:nvPr>
            <p:ph type="ctrTitle"/>
          </p:nvPr>
        </p:nvSpPr>
        <p:spPr>
          <a:xfrm>
            <a:off x="1514764" y="4193309"/>
            <a:ext cx="9144000" cy="1145454"/>
          </a:xfrm>
        </p:spPr>
        <p:txBody>
          <a:bodyPr/>
          <a:lstStyle/>
          <a:p>
            <a:r>
              <a:rPr lang="en-IN" b="1" dirty="0">
                <a:solidFill>
                  <a:srgbClr val="00B0F0"/>
                </a:solidFill>
                <a:latin typeface="Times New Roman" panose="02020603050405020304" pitchFamily="18" charset="0"/>
                <a:cs typeface="Times New Roman" panose="02020603050405020304" pitchFamily="18" charset="0"/>
              </a:rPr>
              <a:t>Big-Data </a:t>
            </a:r>
            <a:r>
              <a:rPr lang="en-IN" b="1" dirty="0" smtClean="0">
                <a:solidFill>
                  <a:srgbClr val="00B0F0"/>
                </a:solidFill>
                <a:latin typeface="Times New Roman" panose="02020603050405020304" pitchFamily="18" charset="0"/>
                <a:cs typeface="Times New Roman" panose="02020603050405020304" pitchFamily="18" charset="0"/>
              </a:rPr>
              <a:t>Storage Concepts</a:t>
            </a:r>
            <a:endParaRPr lang="en-IN" b="1" dirty="0">
              <a:solidFill>
                <a:srgbClr val="00B0F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D1F81489-C512-4229-A342-1FF3631F6128}"/>
              </a:ext>
            </a:extLst>
          </p:cNvPr>
          <p:cNvSpPr>
            <a:spLocks noGrp="1"/>
          </p:cNvSpPr>
          <p:nvPr>
            <p:ph type="subTitle" idx="1"/>
          </p:nvPr>
        </p:nvSpPr>
        <p:spPr>
          <a:xfrm>
            <a:off x="1708727" y="5412509"/>
            <a:ext cx="9144000" cy="925944"/>
          </a:xfrm>
        </p:spPr>
        <p:txBody>
          <a:bodyPr>
            <a:normAutofit fontScale="92500" lnSpcReduction="20000"/>
          </a:bodyPr>
          <a:lstStyle/>
          <a:p>
            <a:r>
              <a:rPr lang="en-IN" sz="4400" dirty="0" smtClean="0">
                <a:solidFill>
                  <a:srgbClr val="00B0F0"/>
                </a:solidFill>
                <a:latin typeface="Times New Roman" panose="02020603050405020304" pitchFamily="18" charset="0"/>
                <a:cs typeface="Times New Roman" panose="02020603050405020304" pitchFamily="18" charset="0"/>
              </a:rPr>
              <a:t>Lecture4: Fundamentals of Big Data</a:t>
            </a:r>
          </a:p>
          <a:p>
            <a:r>
              <a:rPr lang="en-IN" sz="2300" dirty="0" smtClean="0">
                <a:solidFill>
                  <a:srgbClr val="00B0F0"/>
                </a:solidFill>
                <a:latin typeface="Times New Roman" panose="02020603050405020304" pitchFamily="18" charset="0"/>
                <a:cs typeface="Times New Roman" panose="02020603050405020304" pitchFamily="18" charset="0"/>
              </a:rPr>
              <a:t>Dr. Apash Roy</a:t>
            </a:r>
          </a:p>
          <a:p>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51402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a:srcRect/>
          <a:stretch>
            <a:fillRect/>
          </a:stretch>
        </p:blipFill>
        <p:spPr bwMode="auto">
          <a:xfrm>
            <a:off x="0" y="9331"/>
            <a:ext cx="12088430" cy="691726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which one is the most complex type of </a:t>
            </a:r>
            <a:r>
              <a:rPr lang="en-US" dirty="0" smtClean="0"/>
              <a:t>analysis??</a:t>
            </a:r>
          </a:p>
          <a:p>
            <a:pPr marL="514350" indent="-514350">
              <a:buAutoNum type="alphaUcPeriod"/>
            </a:pPr>
            <a:r>
              <a:rPr lang="en-US" dirty="0" smtClean="0"/>
              <a:t>Descriptive </a:t>
            </a:r>
            <a:r>
              <a:rPr lang="en-US" dirty="0" smtClean="0"/>
              <a:t>analytics  </a:t>
            </a:r>
            <a:endParaRPr lang="en-US" dirty="0" smtClean="0"/>
          </a:p>
          <a:p>
            <a:pPr marL="514350" indent="-514350">
              <a:buNone/>
            </a:pPr>
            <a:r>
              <a:rPr lang="en-US" dirty="0" smtClean="0"/>
              <a:t>B. Diagnostic </a:t>
            </a:r>
            <a:r>
              <a:rPr lang="en-US" dirty="0" smtClean="0"/>
              <a:t>analytics   </a:t>
            </a:r>
            <a:endParaRPr lang="en-US" dirty="0" smtClean="0"/>
          </a:p>
          <a:p>
            <a:pPr marL="514350" indent="-514350">
              <a:buNone/>
            </a:pPr>
            <a:r>
              <a:rPr lang="en-US" dirty="0" smtClean="0"/>
              <a:t>C. Predictive </a:t>
            </a:r>
            <a:r>
              <a:rPr lang="en-US" dirty="0" smtClean="0"/>
              <a:t>analytics  </a:t>
            </a:r>
            <a:endParaRPr lang="en-US" dirty="0" smtClean="0"/>
          </a:p>
          <a:p>
            <a:pPr marL="514350" indent="-514350">
              <a:buNone/>
            </a:pPr>
            <a:r>
              <a:rPr lang="en-US" dirty="0" smtClean="0"/>
              <a:t>D. all </a:t>
            </a:r>
            <a:r>
              <a:rPr lang="en-US" dirty="0" smtClean="0"/>
              <a:t>of them </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8982"/>
            <a:ext cx="10515600" cy="5317981"/>
          </a:xfrm>
        </p:spPr>
        <p:txBody>
          <a:bodyPr>
            <a:normAutofit/>
          </a:bodyPr>
          <a:lstStyle/>
          <a:p>
            <a:pPr>
              <a:buNone/>
            </a:pPr>
            <a:r>
              <a:rPr lang="en-US" dirty="0" smtClean="0"/>
              <a:t>Data acquired from external sources is often not in a format or structure that can be directly processed. To overcome these incompatibilities and prepare data for storage and processing, </a:t>
            </a:r>
            <a:r>
              <a:rPr lang="en-US" b="1" dirty="0" smtClean="0"/>
              <a:t>data wrangling </a:t>
            </a:r>
            <a:r>
              <a:rPr lang="en-US" dirty="0" smtClean="0"/>
              <a:t>is necessary.</a:t>
            </a:r>
          </a:p>
          <a:p>
            <a:pPr>
              <a:buNone/>
            </a:pPr>
            <a:endParaRPr lang="en-US" dirty="0" smtClean="0"/>
          </a:p>
          <a:p>
            <a:pPr>
              <a:buNone/>
            </a:pPr>
            <a:r>
              <a:rPr lang="en-US" dirty="0" smtClean="0"/>
              <a:t>Typically, storage is required whenever the following occurs:</a:t>
            </a:r>
          </a:p>
          <a:p>
            <a:pPr>
              <a:buNone/>
            </a:pPr>
            <a:r>
              <a:rPr lang="en-US" dirty="0" smtClean="0"/>
              <a:t>• external datasets are acquired, or internal data will be used in a Big Data environment</a:t>
            </a:r>
          </a:p>
          <a:p>
            <a:pPr>
              <a:buNone/>
            </a:pPr>
            <a:r>
              <a:rPr lang="en-US" dirty="0" smtClean="0"/>
              <a:t>• data is manipulated to be made amenable for data analysis</a:t>
            </a:r>
          </a:p>
          <a:p>
            <a:pPr>
              <a:buNone/>
            </a:pPr>
            <a:r>
              <a:rPr lang="en-US" dirty="0" smtClean="0"/>
              <a:t>• data is processed via an ETL activity, or output is generated as a result of an analytical operation</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6473"/>
            <a:ext cx="10515600" cy="5650490"/>
          </a:xfrm>
        </p:spPr>
        <p:txBody>
          <a:bodyPr>
            <a:normAutofit fontScale="92500" lnSpcReduction="10000"/>
          </a:bodyPr>
          <a:lstStyle/>
          <a:p>
            <a:pPr>
              <a:buNone/>
            </a:pPr>
            <a:r>
              <a:rPr lang="en-US" dirty="0" smtClean="0"/>
              <a:t>Due to the need to store Big Data datasets, often in multiple copies, innovative storage strategies and technologies have been created to achieve cost-effective and highly scalable storage solutions. </a:t>
            </a:r>
          </a:p>
          <a:p>
            <a:pPr>
              <a:buNone/>
            </a:pPr>
            <a:r>
              <a:rPr lang="en-US" dirty="0" smtClean="0"/>
              <a:t>In order to understand the underlying mechanisms behind </a:t>
            </a:r>
            <a:r>
              <a:rPr lang="en-US" b="1" dirty="0" smtClean="0"/>
              <a:t>Big Data storage technology</a:t>
            </a:r>
            <a:r>
              <a:rPr lang="en-US" dirty="0" smtClean="0"/>
              <a:t>, the following topics are introduced in this chapter:</a:t>
            </a:r>
          </a:p>
          <a:p>
            <a:pPr>
              <a:buNone/>
            </a:pPr>
            <a:r>
              <a:rPr lang="en-US" dirty="0" smtClean="0"/>
              <a:t>• clusters</a:t>
            </a:r>
          </a:p>
          <a:p>
            <a:pPr>
              <a:buNone/>
            </a:pPr>
            <a:r>
              <a:rPr lang="en-US" dirty="0" smtClean="0"/>
              <a:t>• file systems and distributed files systems</a:t>
            </a:r>
          </a:p>
          <a:p>
            <a:pPr>
              <a:buNone/>
            </a:pPr>
            <a:r>
              <a:rPr lang="en-US" dirty="0" smtClean="0"/>
              <a:t>• </a:t>
            </a:r>
            <a:r>
              <a:rPr lang="en-US" dirty="0" err="1" smtClean="0"/>
              <a:t>NoSQL</a:t>
            </a:r>
            <a:endParaRPr lang="en-US" dirty="0" smtClean="0"/>
          </a:p>
          <a:p>
            <a:pPr>
              <a:buNone/>
            </a:pPr>
            <a:r>
              <a:rPr lang="en-US" dirty="0" smtClean="0"/>
              <a:t>• </a:t>
            </a:r>
            <a:r>
              <a:rPr lang="en-US" dirty="0" err="1" smtClean="0"/>
              <a:t>sharding</a:t>
            </a:r>
            <a:endParaRPr lang="en-US" dirty="0" smtClean="0"/>
          </a:p>
          <a:p>
            <a:pPr>
              <a:buNone/>
            </a:pPr>
            <a:r>
              <a:rPr lang="en-US" dirty="0" smtClean="0"/>
              <a:t>• replication</a:t>
            </a:r>
          </a:p>
          <a:p>
            <a:pPr>
              <a:buNone/>
            </a:pPr>
            <a:r>
              <a:rPr lang="en-US" dirty="0" smtClean="0"/>
              <a:t>• CAP theorem</a:t>
            </a:r>
          </a:p>
          <a:p>
            <a:pPr>
              <a:buNone/>
            </a:pPr>
            <a:r>
              <a:rPr lang="en-US" dirty="0" smtClean="0"/>
              <a:t>• ACID</a:t>
            </a:r>
          </a:p>
          <a:p>
            <a:pPr>
              <a:buNone/>
            </a:pPr>
            <a:r>
              <a:rPr lang="en-US" dirty="0" smtClean="0"/>
              <a:t>• BASE</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966211" y="1431636"/>
            <a:ext cx="5225789" cy="374043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b="1" dirty="0" smtClean="0"/>
              <a:t>Clusters</a:t>
            </a:r>
            <a:endParaRPr lang="en-US" dirty="0"/>
          </a:p>
        </p:txBody>
      </p:sp>
      <p:sp>
        <p:nvSpPr>
          <p:cNvPr id="3" name="Content Placeholder 2"/>
          <p:cNvSpPr>
            <a:spLocks noGrp="1"/>
          </p:cNvSpPr>
          <p:nvPr>
            <p:ph idx="1"/>
          </p:nvPr>
        </p:nvSpPr>
        <p:spPr>
          <a:xfrm>
            <a:off x="524164" y="1354570"/>
            <a:ext cx="6597073" cy="4351338"/>
          </a:xfrm>
        </p:spPr>
        <p:txBody>
          <a:bodyPr>
            <a:normAutofit fontScale="92500" lnSpcReduction="10000"/>
          </a:bodyPr>
          <a:lstStyle/>
          <a:p>
            <a:pPr>
              <a:buNone/>
            </a:pPr>
            <a:r>
              <a:rPr lang="en-US" dirty="0" smtClean="0"/>
              <a:t>In computing, a cluster is a tightly coupled collection of servers, or nodes. These servers usually have the same hardware specifications and are connected together via a network to work as a single unit (as shown in Figure). </a:t>
            </a:r>
          </a:p>
          <a:p>
            <a:pPr>
              <a:buNone/>
            </a:pPr>
            <a:r>
              <a:rPr lang="en-US" dirty="0" smtClean="0"/>
              <a:t>Each node in the cluster has its own dedicated resources, such as memory, a processor, and a hard drive. A cluster can execute a task by splitting it into small pieces and distributing their execution onto different computers that belong to the cluster.</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a:srcRect/>
          <a:stretch>
            <a:fillRect/>
          </a:stretch>
        </p:blipFill>
        <p:spPr bwMode="auto">
          <a:xfrm>
            <a:off x="0" y="0"/>
            <a:ext cx="12088430" cy="691726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Typically, storage is required whenever the </a:t>
            </a:r>
            <a:r>
              <a:rPr lang="en-US" dirty="0" smtClean="0"/>
              <a:t>which of the following occurs?</a:t>
            </a:r>
          </a:p>
          <a:p>
            <a:pPr>
              <a:buNone/>
            </a:pPr>
            <a:r>
              <a:rPr lang="en-US" dirty="0" smtClean="0"/>
              <a:t>A. external </a:t>
            </a:r>
            <a:r>
              <a:rPr lang="en-US" dirty="0" smtClean="0"/>
              <a:t>datasets are acquired, or internal data will be used in a Big Data environment</a:t>
            </a:r>
          </a:p>
          <a:p>
            <a:pPr>
              <a:buNone/>
            </a:pPr>
            <a:r>
              <a:rPr lang="en-US" dirty="0" smtClean="0"/>
              <a:t>B. data </a:t>
            </a:r>
            <a:r>
              <a:rPr lang="en-US" dirty="0" smtClean="0"/>
              <a:t>is manipulated to be made amenable for data </a:t>
            </a:r>
            <a:r>
              <a:rPr lang="en-US" dirty="0" smtClean="0"/>
              <a:t>analysis</a:t>
            </a:r>
          </a:p>
          <a:p>
            <a:pPr>
              <a:buNone/>
            </a:pPr>
            <a:r>
              <a:rPr lang="en-US" dirty="0" smtClean="0"/>
              <a:t>C. Both of them</a:t>
            </a:r>
          </a:p>
          <a:p>
            <a:pPr>
              <a:buNone/>
            </a:pPr>
            <a:r>
              <a:rPr lang="en-US" dirty="0" smtClean="0"/>
              <a:t>D. None of them</a:t>
            </a:r>
            <a:endParaRPr lang="en-US" dirty="0" smtClean="0"/>
          </a:p>
          <a:p>
            <a:pPr>
              <a:buNone/>
            </a:pPr>
            <a:endParaRPr lang="en-US" dirty="0" smtClean="0"/>
          </a:p>
          <a:p>
            <a:pPr>
              <a:buNone/>
            </a:pPr>
            <a:endParaRPr lang="en-US" dirty="0" smtClean="0"/>
          </a:p>
          <a:p>
            <a:pPr>
              <a:buNone/>
            </a:pP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8425007" y="2156403"/>
            <a:ext cx="3562350" cy="291465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b="1" dirty="0" smtClean="0"/>
              <a:t>File Systems and Distributed File Systems</a:t>
            </a:r>
            <a:endParaRPr lang="en-US" dirty="0"/>
          </a:p>
        </p:txBody>
      </p:sp>
      <p:sp>
        <p:nvSpPr>
          <p:cNvPr id="3" name="Content Placeholder 2"/>
          <p:cNvSpPr>
            <a:spLocks noGrp="1"/>
          </p:cNvSpPr>
          <p:nvPr>
            <p:ph idx="1"/>
          </p:nvPr>
        </p:nvSpPr>
        <p:spPr>
          <a:xfrm>
            <a:off x="413327" y="1603953"/>
            <a:ext cx="8148782" cy="4861502"/>
          </a:xfrm>
        </p:spPr>
        <p:txBody>
          <a:bodyPr>
            <a:normAutofit lnSpcReduction="10000"/>
          </a:bodyPr>
          <a:lstStyle/>
          <a:p>
            <a:pPr algn="just"/>
            <a:r>
              <a:rPr lang="en-US" dirty="0" smtClean="0"/>
              <a:t>A file system is the method of storing and organizing data on a storage device, such as- flash drives, DVDs and hard drives. </a:t>
            </a:r>
          </a:p>
          <a:p>
            <a:pPr algn="just"/>
            <a:r>
              <a:rPr lang="en-US" dirty="0" smtClean="0"/>
              <a:t>A file is an atomic unit of storage used by the file system to store data. A file system provides a logical view of the data stored on the storage device and presents it as a tree structure of directories and files (as in Figure).</a:t>
            </a:r>
          </a:p>
          <a:p>
            <a:pPr algn="just"/>
            <a:r>
              <a:rPr lang="en-US" dirty="0" smtClean="0"/>
              <a:t>Operating systems employ file systems to store and retrieve data on behalf of applications. Each operating system provides support for one or more file systems, for example NTFS on Microsoft Windows and ext on Linux.</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8963" y="514061"/>
            <a:ext cx="10515600" cy="4351338"/>
          </a:xfrm>
        </p:spPr>
        <p:txBody>
          <a:bodyPr>
            <a:normAutofit/>
          </a:bodyPr>
          <a:lstStyle/>
          <a:p>
            <a:pPr>
              <a:buNone/>
            </a:pPr>
            <a:r>
              <a:rPr lang="en-US" b="1" dirty="0" smtClean="0"/>
              <a:t>A distributed file system </a:t>
            </a:r>
            <a:r>
              <a:rPr lang="en-US" dirty="0" smtClean="0"/>
              <a:t>is a file system that can store large files spread across the nodes of a cluster.</a:t>
            </a:r>
          </a:p>
          <a:p>
            <a:pPr>
              <a:buNone/>
            </a:pPr>
            <a:r>
              <a:rPr lang="en-US" dirty="0" smtClean="0"/>
              <a:t>Examples include the Google File System (GFS) and </a:t>
            </a:r>
            <a:r>
              <a:rPr lang="en-US" dirty="0" err="1" smtClean="0"/>
              <a:t>Hadoop</a:t>
            </a:r>
            <a:r>
              <a:rPr lang="en-US" dirty="0" smtClean="0"/>
              <a:t> Distributed File System (HDFS).</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pic>
        <p:nvPicPr>
          <p:cNvPr id="3074" name="Picture 2"/>
          <p:cNvPicPr>
            <a:picLocks noChangeAspect="1" noChangeArrowheads="1"/>
          </p:cNvPicPr>
          <p:nvPr/>
        </p:nvPicPr>
        <p:blipFill>
          <a:blip r:embed="rId2"/>
          <a:srcRect/>
          <a:stretch>
            <a:fillRect/>
          </a:stretch>
        </p:blipFill>
        <p:spPr bwMode="auto">
          <a:xfrm>
            <a:off x="3144981" y="2247918"/>
            <a:ext cx="5675745" cy="4078991"/>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6943582" y="1287896"/>
            <a:ext cx="5082164" cy="4172257"/>
          </a:xfrm>
          <a:prstGeom prst="rect">
            <a:avLst/>
          </a:prstGeom>
          <a:noFill/>
          <a:ln w="9525">
            <a:noFill/>
            <a:miter lim="800000"/>
            <a:headEnd/>
            <a:tailEnd/>
          </a:ln>
          <a:effectLst/>
        </p:spPr>
      </p:pic>
      <p:sp>
        <p:nvSpPr>
          <p:cNvPr id="2" name="Title 1"/>
          <p:cNvSpPr>
            <a:spLocks noGrp="1"/>
          </p:cNvSpPr>
          <p:nvPr>
            <p:ph type="title"/>
          </p:nvPr>
        </p:nvSpPr>
        <p:spPr>
          <a:xfrm>
            <a:off x="838200" y="365126"/>
            <a:ext cx="10515600" cy="632402"/>
          </a:xfrm>
        </p:spPr>
        <p:txBody>
          <a:bodyPr>
            <a:normAutofit fontScale="90000"/>
          </a:bodyPr>
          <a:lstStyle/>
          <a:p>
            <a:r>
              <a:rPr lang="en-US" b="1" dirty="0" err="1" smtClean="0"/>
              <a:t>NoSQL</a:t>
            </a:r>
            <a:endParaRPr lang="en-US" dirty="0"/>
          </a:p>
        </p:txBody>
      </p:sp>
      <p:sp>
        <p:nvSpPr>
          <p:cNvPr id="3" name="Content Placeholder 2"/>
          <p:cNvSpPr>
            <a:spLocks noGrp="1"/>
          </p:cNvSpPr>
          <p:nvPr>
            <p:ph idx="1"/>
          </p:nvPr>
        </p:nvSpPr>
        <p:spPr>
          <a:xfrm>
            <a:off x="413327" y="1049771"/>
            <a:ext cx="6754091" cy="5184774"/>
          </a:xfrm>
        </p:spPr>
        <p:txBody>
          <a:bodyPr>
            <a:normAutofit fontScale="85000" lnSpcReduction="20000"/>
          </a:bodyPr>
          <a:lstStyle/>
          <a:p>
            <a:r>
              <a:rPr lang="en-US" dirty="0" smtClean="0"/>
              <a:t>A Not-only SQL (</a:t>
            </a:r>
            <a:r>
              <a:rPr lang="en-US" dirty="0" err="1" smtClean="0"/>
              <a:t>NoSQL</a:t>
            </a:r>
            <a:r>
              <a:rPr lang="en-US" dirty="0" smtClean="0"/>
              <a:t>) database is a non-relational database that is highly scalable, fault-tolerant and specifically designed to house semi-structured and unstructured data.</a:t>
            </a:r>
          </a:p>
          <a:p>
            <a:r>
              <a:rPr lang="en-US" dirty="0" smtClean="0"/>
              <a:t>A </a:t>
            </a:r>
            <a:r>
              <a:rPr lang="en-US" dirty="0" err="1" smtClean="0"/>
              <a:t>NoSQL</a:t>
            </a:r>
            <a:r>
              <a:rPr lang="en-US" dirty="0" smtClean="0"/>
              <a:t> database often provides an API-based query interface that can be called from within an application. </a:t>
            </a:r>
          </a:p>
          <a:p>
            <a:r>
              <a:rPr lang="en-US" dirty="0" err="1" smtClean="0"/>
              <a:t>NoSQL</a:t>
            </a:r>
            <a:r>
              <a:rPr lang="en-US" dirty="0" smtClean="0"/>
              <a:t> databases also support query languages other than Structured Query Language (SQL) because SQL was designed to query structured data stored within a relational database. </a:t>
            </a:r>
          </a:p>
          <a:p>
            <a:r>
              <a:rPr lang="en-US" dirty="0" smtClean="0"/>
              <a:t>As an example, a </a:t>
            </a:r>
            <a:r>
              <a:rPr lang="en-US" dirty="0" err="1" smtClean="0"/>
              <a:t>NoSQL</a:t>
            </a:r>
            <a:r>
              <a:rPr lang="en-US" dirty="0" smtClean="0"/>
              <a:t> database that is optimized to store XML files will often use </a:t>
            </a:r>
            <a:r>
              <a:rPr lang="en-US" dirty="0" err="1" smtClean="0"/>
              <a:t>XQuery</a:t>
            </a:r>
            <a:r>
              <a:rPr lang="en-US" dirty="0" smtClean="0"/>
              <a:t> as the query language. Likewise, a </a:t>
            </a:r>
            <a:r>
              <a:rPr lang="en-US" dirty="0" err="1" smtClean="0"/>
              <a:t>NoSQL</a:t>
            </a:r>
            <a:r>
              <a:rPr lang="en-US" dirty="0" smtClean="0"/>
              <a:t> database designed to store RDF data will use SPARQL to query the relationships it contains. That being said, there are some </a:t>
            </a:r>
            <a:r>
              <a:rPr lang="en-US" dirty="0" err="1" smtClean="0"/>
              <a:t>NoSQL</a:t>
            </a:r>
            <a:r>
              <a:rPr lang="en-US" dirty="0" smtClean="0"/>
              <a:t> databases that also provide an SQL-like query interface.</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Due to the need to store Big Data datasets, often in multiple copies, innovative storage strategies and technologies have been created to achieve cost-effective and highly scalable storage solutions. </a:t>
            </a:r>
            <a:r>
              <a:rPr lang="en-US" dirty="0" smtClean="0"/>
              <a:t>Some of them are-</a:t>
            </a:r>
            <a:endParaRPr lang="en-US" dirty="0" smtClean="0"/>
          </a:p>
          <a:p>
            <a:pPr marL="514350" indent="-514350">
              <a:buNone/>
            </a:pPr>
            <a:r>
              <a:rPr lang="en-US" dirty="0" smtClean="0"/>
              <a:t>A. My SQL</a:t>
            </a:r>
          </a:p>
          <a:p>
            <a:pPr marL="514350" indent="-514350">
              <a:buNone/>
            </a:pPr>
            <a:r>
              <a:rPr lang="en-US" dirty="0" smtClean="0"/>
              <a:t>B. Cluster</a:t>
            </a:r>
          </a:p>
          <a:p>
            <a:pPr marL="514350" indent="-514350">
              <a:buNone/>
            </a:pPr>
            <a:r>
              <a:rPr lang="en-US" dirty="0" smtClean="0"/>
              <a:t>C. </a:t>
            </a:r>
            <a:r>
              <a:rPr lang="en-US" dirty="0" err="1" smtClean="0"/>
              <a:t>NoSQL</a:t>
            </a:r>
            <a:endParaRPr lang="en-US" dirty="0" smtClean="0"/>
          </a:p>
          <a:p>
            <a:pPr marL="514350" indent="-514350">
              <a:buNone/>
            </a:pPr>
            <a:r>
              <a:rPr lang="en-US" dirty="0" smtClean="0"/>
              <a:t>D. </a:t>
            </a:r>
            <a:r>
              <a:rPr lang="en-US" dirty="0" err="1" smtClean="0"/>
              <a:t>Sharding</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6651954" y="434109"/>
            <a:ext cx="5540046" cy="4633047"/>
          </a:xfrm>
          <a:prstGeom prst="rect">
            <a:avLst/>
          </a:prstGeom>
          <a:noFill/>
          <a:ln w="9525">
            <a:noFill/>
            <a:miter lim="800000"/>
            <a:headEnd/>
            <a:tailEnd/>
          </a:ln>
          <a:effectLst/>
        </p:spPr>
      </p:pic>
      <p:sp>
        <p:nvSpPr>
          <p:cNvPr id="2" name="Title 1"/>
          <p:cNvSpPr>
            <a:spLocks noGrp="1"/>
          </p:cNvSpPr>
          <p:nvPr>
            <p:ph type="title"/>
          </p:nvPr>
        </p:nvSpPr>
        <p:spPr>
          <a:xfrm>
            <a:off x="838200" y="365125"/>
            <a:ext cx="10515600" cy="909493"/>
          </a:xfrm>
        </p:spPr>
        <p:txBody>
          <a:bodyPr/>
          <a:lstStyle/>
          <a:p>
            <a:r>
              <a:rPr lang="en-US" b="1" dirty="0" err="1" smtClean="0"/>
              <a:t>Sharding</a:t>
            </a:r>
            <a:endParaRPr lang="en-US" dirty="0"/>
          </a:p>
        </p:txBody>
      </p:sp>
      <p:sp>
        <p:nvSpPr>
          <p:cNvPr id="3" name="Content Placeholder 2"/>
          <p:cNvSpPr>
            <a:spLocks noGrp="1"/>
          </p:cNvSpPr>
          <p:nvPr>
            <p:ph idx="1"/>
          </p:nvPr>
        </p:nvSpPr>
        <p:spPr>
          <a:xfrm>
            <a:off x="424873" y="1302328"/>
            <a:ext cx="6594763" cy="4883872"/>
          </a:xfrm>
        </p:spPr>
        <p:txBody>
          <a:bodyPr>
            <a:normAutofit/>
          </a:bodyPr>
          <a:lstStyle/>
          <a:p>
            <a:r>
              <a:rPr lang="en-US" dirty="0" err="1" smtClean="0"/>
              <a:t>Sharding</a:t>
            </a:r>
            <a:r>
              <a:rPr lang="en-US" dirty="0" smtClean="0"/>
              <a:t> is the process of horizontally partitioning a large dataset into a collection of smaller, more manageable datasets called </a:t>
            </a:r>
            <a:r>
              <a:rPr lang="en-US" i="1" dirty="0" smtClean="0"/>
              <a:t>shards. The shards are distributed across </a:t>
            </a:r>
            <a:r>
              <a:rPr lang="en-US" dirty="0" smtClean="0"/>
              <a:t>multiple nodes, where a node is a server or a machine </a:t>
            </a:r>
          </a:p>
          <a:p>
            <a:r>
              <a:rPr lang="en-US" dirty="0" smtClean="0"/>
              <a:t>Each shard is stored on a separate node and each node is responsible for only the data stored on it. Each shard shares the same schema, and all shards collectively represent the complete dataset.</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
        <p:nvSpPr>
          <p:cNvPr id="6" name="Rectangle 5"/>
          <p:cNvSpPr/>
          <p:nvPr/>
        </p:nvSpPr>
        <p:spPr>
          <a:xfrm>
            <a:off x="7056582" y="5267189"/>
            <a:ext cx="4913745" cy="923330"/>
          </a:xfrm>
          <a:prstGeom prst="rect">
            <a:avLst/>
          </a:prstGeom>
        </p:spPr>
        <p:txBody>
          <a:bodyPr wrap="square">
            <a:spAutoFit/>
          </a:bodyPr>
          <a:lstStyle/>
          <a:p>
            <a:r>
              <a:rPr lang="en-US" i="1" dirty="0" smtClean="0"/>
              <a:t>An example of </a:t>
            </a:r>
            <a:r>
              <a:rPr lang="en-US" i="1" dirty="0" err="1" smtClean="0"/>
              <a:t>sharding</a:t>
            </a:r>
            <a:r>
              <a:rPr lang="en-US" i="1" dirty="0" smtClean="0"/>
              <a:t> where a dataset is spread across Node A and </a:t>
            </a:r>
            <a:r>
              <a:rPr lang="en-US" i="1" dirty="0" smtClean="0"/>
              <a:t>Node B</a:t>
            </a:r>
            <a:r>
              <a:rPr lang="en-US" i="1" dirty="0" smtClean="0"/>
              <a:t>, </a:t>
            </a:r>
            <a:r>
              <a:rPr lang="en-US" i="1" dirty="0" smtClean="0"/>
              <a:t> resulting </a:t>
            </a:r>
            <a:r>
              <a:rPr lang="en-US" i="1" dirty="0" smtClean="0"/>
              <a:t>in Shard A and Shard B, respectively.</a:t>
            </a:r>
            <a:endParaRPr lang="en-US" i="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2824"/>
            <a:ext cx="10515600" cy="4351338"/>
          </a:xfrm>
        </p:spPr>
        <p:txBody>
          <a:bodyPr>
            <a:normAutofit/>
          </a:bodyPr>
          <a:lstStyle/>
          <a:p>
            <a:r>
              <a:rPr lang="en-US" dirty="0" err="1" smtClean="0"/>
              <a:t>Sharding</a:t>
            </a:r>
            <a:r>
              <a:rPr lang="en-US" dirty="0" smtClean="0"/>
              <a:t> is often transparent to the client, but this is not a requirement. </a:t>
            </a:r>
            <a:endParaRPr lang="en-US" dirty="0" smtClean="0"/>
          </a:p>
          <a:p>
            <a:r>
              <a:rPr lang="en-US" dirty="0" err="1" smtClean="0"/>
              <a:t>Sharding</a:t>
            </a:r>
            <a:r>
              <a:rPr lang="en-US" dirty="0" smtClean="0"/>
              <a:t> allows the </a:t>
            </a:r>
            <a:r>
              <a:rPr lang="en-US" dirty="0" smtClean="0"/>
              <a:t>distribution of processing loads across multiple nodes to achieve horizontal scalability.</a:t>
            </a:r>
          </a:p>
          <a:p>
            <a:r>
              <a:rPr lang="en-US" dirty="0" smtClean="0"/>
              <a:t>Horizontal scaling is a method for increasing a system’s capacity by adding similar </a:t>
            </a:r>
            <a:r>
              <a:rPr lang="en-US" dirty="0" smtClean="0"/>
              <a:t>or higher </a:t>
            </a:r>
            <a:r>
              <a:rPr lang="en-US" dirty="0" smtClean="0"/>
              <a:t>capacity resources alongside existing resources. </a:t>
            </a:r>
            <a:endParaRPr lang="en-US" dirty="0" smtClean="0"/>
          </a:p>
          <a:p>
            <a:r>
              <a:rPr lang="en-US" dirty="0" smtClean="0"/>
              <a:t>Since </a:t>
            </a:r>
            <a:r>
              <a:rPr lang="en-US" dirty="0" smtClean="0"/>
              <a:t>each node is responsible </a:t>
            </a:r>
            <a:r>
              <a:rPr lang="en-US" dirty="0" smtClean="0"/>
              <a:t>for only </a:t>
            </a:r>
            <a:r>
              <a:rPr lang="en-US" dirty="0" smtClean="0"/>
              <a:t>a part of the whole dataset, read/write times are greatly improved.</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sharding</a:t>
            </a:r>
            <a:r>
              <a:rPr lang="en-US" dirty="0" smtClean="0"/>
              <a:t> works in practice:</a:t>
            </a:r>
            <a:br>
              <a:rPr lang="en-US" dirty="0" smtClean="0"/>
            </a:br>
            <a:endParaRPr lang="en-US" dirty="0"/>
          </a:p>
        </p:txBody>
      </p:sp>
      <p:sp>
        <p:nvSpPr>
          <p:cNvPr id="3" name="Content Placeholder 2"/>
          <p:cNvSpPr>
            <a:spLocks noGrp="1"/>
          </p:cNvSpPr>
          <p:nvPr>
            <p:ph idx="1"/>
          </p:nvPr>
        </p:nvSpPr>
        <p:spPr>
          <a:xfrm>
            <a:off x="810490" y="1428461"/>
            <a:ext cx="5608783" cy="4351338"/>
          </a:xfrm>
        </p:spPr>
        <p:txBody>
          <a:bodyPr/>
          <a:lstStyle/>
          <a:p>
            <a:pPr marL="514350" indent="-514350" algn="just">
              <a:buAutoNum type="arabicPeriod"/>
            </a:pPr>
            <a:r>
              <a:rPr lang="en-US" dirty="0" smtClean="0"/>
              <a:t>Each </a:t>
            </a:r>
            <a:r>
              <a:rPr lang="en-US" dirty="0" smtClean="0"/>
              <a:t>shard can independently service reads and writes for the specific subset of </a:t>
            </a:r>
            <a:r>
              <a:rPr lang="en-US" dirty="0" smtClean="0"/>
              <a:t>data that </a:t>
            </a:r>
            <a:r>
              <a:rPr lang="en-US" dirty="0" smtClean="0"/>
              <a:t>it is responsible </a:t>
            </a:r>
            <a:r>
              <a:rPr lang="en-US" dirty="0" smtClean="0"/>
              <a:t>for.</a:t>
            </a:r>
          </a:p>
          <a:p>
            <a:pPr marL="514350" indent="-514350" algn="just">
              <a:buAutoNum type="arabicPeriod"/>
            </a:pPr>
            <a:r>
              <a:rPr lang="en-US" dirty="0" smtClean="0"/>
              <a:t>2</a:t>
            </a:r>
            <a:r>
              <a:rPr lang="en-US" dirty="0" smtClean="0"/>
              <a:t>. Depending on the query, data may need to be fetched from both shards.</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pic>
        <p:nvPicPr>
          <p:cNvPr id="1026" name="Picture 2"/>
          <p:cNvPicPr>
            <a:picLocks noChangeAspect="1" noChangeArrowheads="1"/>
          </p:cNvPicPr>
          <p:nvPr/>
        </p:nvPicPr>
        <p:blipFill>
          <a:blip r:embed="rId2"/>
          <a:srcRect/>
          <a:stretch>
            <a:fillRect/>
          </a:stretch>
        </p:blipFill>
        <p:spPr bwMode="auto">
          <a:xfrm>
            <a:off x="7080539" y="769793"/>
            <a:ext cx="3905250" cy="5022850"/>
          </a:xfrm>
          <a:prstGeom prst="rect">
            <a:avLst/>
          </a:prstGeom>
          <a:noFill/>
          <a:ln w="9525">
            <a:noFill/>
            <a:miter lim="800000"/>
            <a:headEnd/>
            <a:tailEnd/>
          </a:ln>
          <a:effectLst/>
        </p:spPr>
      </p:pic>
      <p:sp>
        <p:nvSpPr>
          <p:cNvPr id="6" name="Rectangle 5"/>
          <p:cNvSpPr/>
          <p:nvPr/>
        </p:nvSpPr>
        <p:spPr>
          <a:xfrm>
            <a:off x="997527" y="5063944"/>
            <a:ext cx="6096000" cy="646331"/>
          </a:xfrm>
          <a:prstGeom prst="rect">
            <a:avLst/>
          </a:prstGeom>
        </p:spPr>
        <p:txBody>
          <a:bodyPr>
            <a:spAutoFit/>
          </a:bodyPr>
          <a:lstStyle/>
          <a:p>
            <a:r>
              <a:rPr lang="en-US" b="1" dirty="0" smtClean="0"/>
              <a:t>Figure :</a:t>
            </a:r>
            <a:r>
              <a:rPr lang="en-US" b="1" dirty="0" smtClean="0"/>
              <a:t> </a:t>
            </a:r>
            <a:r>
              <a:rPr lang="en-US" b="1" i="1" dirty="0" smtClean="0"/>
              <a:t>A </a:t>
            </a:r>
            <a:r>
              <a:rPr lang="en-US" b="1" i="1" dirty="0" err="1" smtClean="0"/>
              <a:t>sharding</a:t>
            </a:r>
            <a:r>
              <a:rPr lang="en-US" b="1" i="1" dirty="0" smtClean="0"/>
              <a:t> example where data is fetched from both Node A and Node B.</a:t>
            </a:r>
            <a:endParaRPr lang="en-US"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9127" y="957407"/>
            <a:ext cx="10021456" cy="4351338"/>
          </a:xfrm>
        </p:spPr>
        <p:txBody>
          <a:bodyPr>
            <a:normAutofit/>
          </a:bodyPr>
          <a:lstStyle/>
          <a:p>
            <a:pPr algn="just"/>
            <a:r>
              <a:rPr lang="en-US" dirty="0" smtClean="0"/>
              <a:t>A benefit of </a:t>
            </a:r>
            <a:r>
              <a:rPr lang="en-US" dirty="0" err="1" smtClean="0"/>
              <a:t>sharding</a:t>
            </a:r>
            <a:r>
              <a:rPr lang="en-US" dirty="0" smtClean="0"/>
              <a:t> is that it provides </a:t>
            </a:r>
            <a:r>
              <a:rPr lang="en-US" b="1" dirty="0" smtClean="0"/>
              <a:t>partial tolerance </a:t>
            </a:r>
            <a:r>
              <a:rPr lang="en-US" dirty="0" smtClean="0"/>
              <a:t>toward failures. In case of a </a:t>
            </a:r>
            <a:r>
              <a:rPr lang="en-US" b="1" dirty="0" smtClean="0"/>
              <a:t>node failure</a:t>
            </a:r>
            <a:r>
              <a:rPr lang="en-US" dirty="0" smtClean="0"/>
              <a:t>, only data stored on that node is affected.</a:t>
            </a:r>
          </a:p>
          <a:p>
            <a:pPr algn="just"/>
            <a:r>
              <a:rPr lang="en-US" dirty="0" smtClean="0"/>
              <a:t>With regards to </a:t>
            </a:r>
            <a:r>
              <a:rPr lang="en-US" b="1" dirty="0" smtClean="0"/>
              <a:t>data partitioning</a:t>
            </a:r>
            <a:r>
              <a:rPr lang="en-US" dirty="0" smtClean="0"/>
              <a:t>, </a:t>
            </a:r>
            <a:r>
              <a:rPr lang="en-US" b="1" dirty="0" smtClean="0"/>
              <a:t>query patterns </a:t>
            </a:r>
            <a:r>
              <a:rPr lang="en-US" dirty="0" smtClean="0"/>
              <a:t>need to be taken into account so </a:t>
            </a:r>
            <a:r>
              <a:rPr lang="en-US" dirty="0" smtClean="0"/>
              <a:t>that shards </a:t>
            </a:r>
            <a:r>
              <a:rPr lang="en-US" dirty="0" smtClean="0"/>
              <a:t>themselves do not become performance bottlenecks. </a:t>
            </a:r>
            <a:endParaRPr lang="en-US" dirty="0" smtClean="0"/>
          </a:p>
          <a:p>
            <a:pPr algn="just"/>
            <a:r>
              <a:rPr lang="en-US" dirty="0" smtClean="0"/>
              <a:t>For </a:t>
            </a:r>
            <a:r>
              <a:rPr lang="en-US" dirty="0" smtClean="0"/>
              <a:t>example, queries </a:t>
            </a:r>
            <a:r>
              <a:rPr lang="en-US" dirty="0" smtClean="0"/>
              <a:t>requiring data </a:t>
            </a:r>
            <a:r>
              <a:rPr lang="en-US" dirty="0" smtClean="0"/>
              <a:t>from multiple shards will impose performance penalties. Data locality </a:t>
            </a:r>
            <a:r>
              <a:rPr lang="en-US" dirty="0" smtClean="0"/>
              <a:t>keeps commonly </a:t>
            </a:r>
            <a:r>
              <a:rPr lang="en-US" dirty="0" smtClean="0"/>
              <a:t>accessed data co-located on a single shard and helps counter such </a:t>
            </a:r>
            <a:r>
              <a:rPr lang="en-US" dirty="0" smtClean="0"/>
              <a:t>performance issues</a:t>
            </a:r>
            <a:r>
              <a:rPr lang="en-US" dirty="0" smtClean="0"/>
              <a:t>.</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7361381" y="400051"/>
            <a:ext cx="4693804" cy="5245100"/>
          </a:xfrm>
          <a:prstGeom prst="rect">
            <a:avLst/>
          </a:prstGeom>
          <a:noFill/>
          <a:ln w="9525">
            <a:noFill/>
            <a:miter lim="800000"/>
            <a:headEnd/>
            <a:tailEnd/>
          </a:ln>
          <a:effectLst/>
        </p:spPr>
      </p:pic>
      <p:sp>
        <p:nvSpPr>
          <p:cNvPr id="2" name="Title 1"/>
          <p:cNvSpPr>
            <a:spLocks noGrp="1"/>
          </p:cNvSpPr>
          <p:nvPr>
            <p:ph type="title"/>
          </p:nvPr>
        </p:nvSpPr>
        <p:spPr>
          <a:xfrm>
            <a:off x="838200" y="365126"/>
            <a:ext cx="10515600" cy="983384"/>
          </a:xfrm>
        </p:spPr>
        <p:txBody>
          <a:bodyPr/>
          <a:lstStyle/>
          <a:p>
            <a:r>
              <a:rPr lang="en-US" b="1" dirty="0" smtClean="0"/>
              <a:t>Replication</a:t>
            </a:r>
            <a:endParaRPr lang="en-US" b="1" dirty="0"/>
          </a:p>
        </p:txBody>
      </p:sp>
      <p:sp>
        <p:nvSpPr>
          <p:cNvPr id="3" name="Content Placeholder 2"/>
          <p:cNvSpPr>
            <a:spLocks noGrp="1"/>
          </p:cNvSpPr>
          <p:nvPr>
            <p:ph idx="1"/>
          </p:nvPr>
        </p:nvSpPr>
        <p:spPr>
          <a:xfrm>
            <a:off x="450275" y="1382279"/>
            <a:ext cx="6569362" cy="4787611"/>
          </a:xfrm>
        </p:spPr>
        <p:txBody>
          <a:bodyPr>
            <a:normAutofit fontScale="85000" lnSpcReduction="20000"/>
          </a:bodyPr>
          <a:lstStyle/>
          <a:p>
            <a:pPr algn="just">
              <a:buNone/>
            </a:pPr>
            <a:r>
              <a:rPr lang="en-US" dirty="0" smtClean="0"/>
              <a:t>Replication </a:t>
            </a:r>
            <a:r>
              <a:rPr lang="en-US" dirty="0" smtClean="0"/>
              <a:t>stores </a:t>
            </a:r>
            <a:r>
              <a:rPr lang="en-US" b="1" dirty="0" smtClean="0"/>
              <a:t>multiple copies </a:t>
            </a:r>
            <a:r>
              <a:rPr lang="en-US" dirty="0" smtClean="0"/>
              <a:t>of a dataset, known as </a:t>
            </a:r>
            <a:r>
              <a:rPr lang="en-US" b="1" i="1" dirty="0" smtClean="0"/>
              <a:t>replicas</a:t>
            </a:r>
            <a:r>
              <a:rPr lang="en-US" i="1" dirty="0" smtClean="0"/>
              <a:t>, on </a:t>
            </a:r>
            <a:r>
              <a:rPr lang="en-US" b="1" i="1" dirty="0" smtClean="0"/>
              <a:t>multiple </a:t>
            </a:r>
            <a:r>
              <a:rPr lang="en-US" b="1" i="1" dirty="0" smtClean="0"/>
              <a:t>nodes</a:t>
            </a:r>
            <a:r>
              <a:rPr lang="en-US" dirty="0" smtClean="0"/>
              <a:t>. </a:t>
            </a:r>
          </a:p>
          <a:p>
            <a:pPr algn="just">
              <a:buNone/>
            </a:pPr>
            <a:endParaRPr lang="en-US" dirty="0" smtClean="0"/>
          </a:p>
          <a:p>
            <a:pPr algn="just">
              <a:buNone/>
            </a:pPr>
            <a:r>
              <a:rPr lang="en-US" dirty="0" smtClean="0"/>
              <a:t>Replication </a:t>
            </a:r>
            <a:r>
              <a:rPr lang="en-US" dirty="0" smtClean="0"/>
              <a:t>provides </a:t>
            </a:r>
            <a:r>
              <a:rPr lang="en-US" b="1" dirty="0" smtClean="0"/>
              <a:t>scalability</a:t>
            </a:r>
            <a:r>
              <a:rPr lang="en-US" dirty="0" smtClean="0"/>
              <a:t> and </a:t>
            </a:r>
            <a:r>
              <a:rPr lang="en-US" b="1" dirty="0" smtClean="0"/>
              <a:t>availability</a:t>
            </a:r>
            <a:r>
              <a:rPr lang="en-US" dirty="0" smtClean="0"/>
              <a:t> due to the fact that the </a:t>
            </a:r>
            <a:r>
              <a:rPr lang="en-US" dirty="0" smtClean="0"/>
              <a:t>same data </a:t>
            </a:r>
            <a:r>
              <a:rPr lang="en-US" dirty="0" smtClean="0"/>
              <a:t>is replicated on various nodes. </a:t>
            </a:r>
            <a:endParaRPr lang="en-US" dirty="0" smtClean="0"/>
          </a:p>
          <a:p>
            <a:pPr algn="just">
              <a:buNone/>
            </a:pPr>
            <a:r>
              <a:rPr lang="en-US" b="1" dirty="0" smtClean="0"/>
              <a:t>Fault </a:t>
            </a:r>
            <a:r>
              <a:rPr lang="en-US" b="1" dirty="0" smtClean="0"/>
              <a:t>tolerance </a:t>
            </a:r>
            <a:r>
              <a:rPr lang="en-US" dirty="0" smtClean="0"/>
              <a:t>is also achieved since data </a:t>
            </a:r>
            <a:r>
              <a:rPr lang="en-US" dirty="0" smtClean="0"/>
              <a:t>redundancy ensures </a:t>
            </a:r>
            <a:r>
              <a:rPr lang="en-US" dirty="0" smtClean="0"/>
              <a:t>that data is not lost when an individual node fails. </a:t>
            </a:r>
            <a:endParaRPr lang="en-US" dirty="0" smtClean="0"/>
          </a:p>
          <a:p>
            <a:pPr algn="just">
              <a:buNone/>
            </a:pPr>
            <a:endParaRPr lang="en-US" dirty="0" smtClean="0"/>
          </a:p>
          <a:p>
            <a:pPr algn="just">
              <a:buNone/>
            </a:pPr>
            <a:r>
              <a:rPr lang="en-US" dirty="0" smtClean="0"/>
              <a:t>There </a:t>
            </a:r>
            <a:r>
              <a:rPr lang="en-US" dirty="0" smtClean="0"/>
              <a:t>are two different </a:t>
            </a:r>
            <a:r>
              <a:rPr lang="en-US" dirty="0" smtClean="0"/>
              <a:t>methods that </a:t>
            </a:r>
            <a:r>
              <a:rPr lang="en-US" dirty="0" smtClean="0"/>
              <a:t>are used to implement replication:</a:t>
            </a:r>
          </a:p>
          <a:p>
            <a:pPr algn="just">
              <a:buNone/>
            </a:pPr>
            <a:r>
              <a:rPr lang="en-US" dirty="0" smtClean="0"/>
              <a:t>• master-slave</a:t>
            </a:r>
          </a:p>
          <a:p>
            <a:pPr algn="just">
              <a:buNone/>
            </a:pPr>
            <a:r>
              <a:rPr lang="en-US" dirty="0" smtClean="0"/>
              <a:t>• </a:t>
            </a:r>
            <a:r>
              <a:rPr lang="en-US" dirty="0" smtClean="0"/>
              <a:t>peer-to-peer</a:t>
            </a:r>
            <a:endParaRPr lang="en-US" dirty="0" smtClean="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a:srcRect/>
          <a:stretch>
            <a:fillRect/>
          </a:stretch>
        </p:blipFill>
        <p:spPr bwMode="auto">
          <a:xfrm>
            <a:off x="0" y="0"/>
            <a:ext cx="12088430" cy="691726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The </a:t>
            </a:r>
            <a:r>
              <a:rPr lang="en-US" dirty="0" smtClean="0"/>
              <a:t>process of horizontally partitioning a large dataset into a collection of smaller, more manageable datasets </a:t>
            </a:r>
            <a:r>
              <a:rPr lang="en-US" dirty="0" smtClean="0"/>
              <a:t>called-</a:t>
            </a:r>
          </a:p>
          <a:p>
            <a:pPr marL="514350" indent="-514350">
              <a:buAutoNum type="alphaUcPeriod"/>
            </a:pPr>
            <a:r>
              <a:rPr lang="en-US" dirty="0" smtClean="0"/>
              <a:t>Clustering</a:t>
            </a:r>
          </a:p>
          <a:p>
            <a:pPr marL="514350" indent="-514350">
              <a:buAutoNum type="alphaUcPeriod"/>
            </a:pPr>
            <a:r>
              <a:rPr lang="en-US" dirty="0" smtClean="0"/>
              <a:t>Wrangling</a:t>
            </a:r>
          </a:p>
          <a:p>
            <a:pPr marL="514350" indent="-514350">
              <a:buAutoNum type="alphaUcPeriod"/>
            </a:pPr>
            <a:r>
              <a:rPr lang="en-US" dirty="0" err="1" smtClean="0"/>
              <a:t>Sharding</a:t>
            </a:r>
            <a:endParaRPr lang="en-US" dirty="0" smtClean="0"/>
          </a:p>
          <a:p>
            <a:pPr marL="514350" indent="-514350">
              <a:buAutoNum type="alphaUcPeriod"/>
            </a:pPr>
            <a:r>
              <a:rPr lang="en-US" dirty="0" smtClean="0"/>
              <a:t>Replication</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Master-Slave</a:t>
            </a:r>
            <a:br>
              <a:rPr lang="en-US" b="1" dirty="0" smtClean="0"/>
            </a:br>
            <a:endParaRPr lang="en-US" dirty="0"/>
          </a:p>
        </p:txBody>
      </p:sp>
      <p:sp>
        <p:nvSpPr>
          <p:cNvPr id="3" name="Content Placeholder 2"/>
          <p:cNvSpPr>
            <a:spLocks noGrp="1"/>
          </p:cNvSpPr>
          <p:nvPr>
            <p:ph idx="1"/>
          </p:nvPr>
        </p:nvSpPr>
        <p:spPr>
          <a:xfrm>
            <a:off x="357909" y="1077479"/>
            <a:ext cx="6393873" cy="5036993"/>
          </a:xfrm>
        </p:spPr>
        <p:txBody>
          <a:bodyPr>
            <a:normAutofit lnSpcReduction="10000"/>
          </a:bodyPr>
          <a:lstStyle/>
          <a:p>
            <a:pPr algn="just"/>
            <a:r>
              <a:rPr lang="en-US" dirty="0" smtClean="0"/>
              <a:t>During </a:t>
            </a:r>
            <a:r>
              <a:rPr lang="en-US" dirty="0" smtClean="0"/>
              <a:t>master-slave replication, nodes are arranged in a master-slave configuration, </a:t>
            </a:r>
            <a:r>
              <a:rPr lang="en-US" dirty="0" smtClean="0"/>
              <a:t>and all </a:t>
            </a:r>
            <a:r>
              <a:rPr lang="en-US" dirty="0" smtClean="0"/>
              <a:t>data is written to a master node. </a:t>
            </a:r>
            <a:endParaRPr lang="en-US" dirty="0" smtClean="0"/>
          </a:p>
          <a:p>
            <a:pPr algn="just"/>
            <a:r>
              <a:rPr lang="en-US" dirty="0" smtClean="0"/>
              <a:t>Once </a:t>
            </a:r>
            <a:r>
              <a:rPr lang="en-US" dirty="0" smtClean="0"/>
              <a:t>saved, the data is replicated over to </a:t>
            </a:r>
            <a:r>
              <a:rPr lang="en-US" dirty="0" smtClean="0"/>
              <a:t>multiple slave </a:t>
            </a:r>
            <a:r>
              <a:rPr lang="en-US" dirty="0" smtClean="0"/>
              <a:t>nodes. </a:t>
            </a:r>
            <a:endParaRPr lang="en-US" dirty="0" smtClean="0"/>
          </a:p>
          <a:p>
            <a:pPr algn="just"/>
            <a:r>
              <a:rPr lang="en-US" dirty="0" smtClean="0"/>
              <a:t>All </a:t>
            </a:r>
            <a:r>
              <a:rPr lang="en-US" b="1" dirty="0" smtClean="0"/>
              <a:t>external write requests</a:t>
            </a:r>
            <a:r>
              <a:rPr lang="en-US" dirty="0" smtClean="0"/>
              <a:t>, including insert, update and delete, occur on </a:t>
            </a:r>
            <a:r>
              <a:rPr lang="en-US" dirty="0" smtClean="0"/>
              <a:t>the </a:t>
            </a:r>
            <a:r>
              <a:rPr lang="en-US" b="1" dirty="0" smtClean="0"/>
              <a:t>master </a:t>
            </a:r>
            <a:r>
              <a:rPr lang="en-US" b="1" dirty="0" smtClean="0"/>
              <a:t>node</a:t>
            </a:r>
            <a:r>
              <a:rPr lang="en-US" dirty="0" smtClean="0"/>
              <a:t>, </a:t>
            </a:r>
            <a:endParaRPr lang="en-US" dirty="0" smtClean="0"/>
          </a:p>
          <a:p>
            <a:pPr algn="just"/>
            <a:r>
              <a:rPr lang="en-US" dirty="0" smtClean="0"/>
              <a:t>whereas </a:t>
            </a:r>
            <a:r>
              <a:rPr lang="en-US" b="1" dirty="0" smtClean="0"/>
              <a:t>read requests </a:t>
            </a:r>
            <a:r>
              <a:rPr lang="en-US" dirty="0" smtClean="0"/>
              <a:t>can be fulfilled by any </a:t>
            </a:r>
            <a:r>
              <a:rPr lang="en-US" b="1" dirty="0" smtClean="0"/>
              <a:t>slave node</a:t>
            </a:r>
            <a:r>
              <a:rPr lang="en-US" dirty="0" smtClean="0"/>
              <a:t>. </a:t>
            </a:r>
            <a:endParaRPr lang="en-US" dirty="0" smtClean="0"/>
          </a:p>
          <a:p>
            <a:pPr algn="just">
              <a:buNone/>
            </a:pPr>
            <a:r>
              <a:rPr lang="en-US" sz="1900" b="1" i="1" dirty="0" smtClean="0"/>
              <a:t>In </a:t>
            </a:r>
            <a:r>
              <a:rPr lang="en-US" sz="1900" b="1" i="1" dirty="0" smtClean="0"/>
              <a:t>Figure </a:t>
            </a:r>
            <a:r>
              <a:rPr lang="en-US" sz="1900" b="1" i="1" dirty="0" smtClean="0"/>
              <a:t>writes </a:t>
            </a:r>
            <a:r>
              <a:rPr lang="en-US" sz="1900" b="1" i="1" dirty="0" smtClean="0"/>
              <a:t>are managed by the master node and data can be read from either Slave A or </a:t>
            </a:r>
            <a:r>
              <a:rPr lang="en-US" sz="1900" b="1" i="1" dirty="0" smtClean="0"/>
              <a:t>Slave B</a:t>
            </a:r>
            <a:r>
              <a:rPr lang="en-US" sz="1900" b="1" i="1" dirty="0" smtClean="0"/>
              <a:t>.</a:t>
            </a:r>
            <a:endParaRPr lang="en-US" sz="1900" b="1" i="1" dirty="0"/>
          </a:p>
        </p:txBody>
      </p:sp>
      <p:sp>
        <p:nvSpPr>
          <p:cNvPr id="4" name="Footer Placeholder 3"/>
          <p:cNvSpPr>
            <a:spLocks noGrp="1"/>
          </p:cNvSpPr>
          <p:nvPr>
            <p:ph type="ftr" sz="quarter" idx="11"/>
          </p:nvPr>
        </p:nvSpPr>
        <p:spPr>
          <a:xfrm>
            <a:off x="4038600" y="6324600"/>
            <a:ext cx="4267200" cy="396875"/>
          </a:xfrm>
        </p:spPr>
        <p:txBody>
          <a:bodyPr/>
          <a:lstStyle/>
          <a:p>
            <a:r>
              <a:rPr lang="en-IN" smtClean="0"/>
              <a:t>Dr. Apash Roy</a:t>
            </a:r>
            <a:endParaRPr lang="en-IN" dirty="0"/>
          </a:p>
        </p:txBody>
      </p:sp>
      <p:pic>
        <p:nvPicPr>
          <p:cNvPr id="3074" name="Picture 2"/>
          <p:cNvPicPr>
            <a:picLocks noChangeAspect="1" noChangeArrowheads="1"/>
          </p:cNvPicPr>
          <p:nvPr/>
        </p:nvPicPr>
        <p:blipFill>
          <a:blip r:embed="rId2"/>
          <a:srcRect/>
          <a:stretch>
            <a:fillRect/>
          </a:stretch>
        </p:blipFill>
        <p:spPr bwMode="auto">
          <a:xfrm>
            <a:off x="6861799" y="572654"/>
            <a:ext cx="4907348" cy="5307157"/>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Master-slave replication is </a:t>
            </a:r>
            <a:r>
              <a:rPr lang="en-US" b="1" dirty="0" smtClean="0"/>
              <a:t>ideal for read intensive loads </a:t>
            </a:r>
            <a:r>
              <a:rPr lang="en-US" dirty="0" smtClean="0"/>
              <a:t>rather than write intensive </a:t>
            </a:r>
            <a:r>
              <a:rPr lang="en-US" dirty="0" smtClean="0"/>
              <a:t>loads since </a:t>
            </a:r>
            <a:r>
              <a:rPr lang="en-US" dirty="0" smtClean="0"/>
              <a:t>growing read demands can be managed by horizontal scaling to add more </a:t>
            </a:r>
            <a:r>
              <a:rPr lang="en-US" dirty="0" smtClean="0"/>
              <a:t>slave nodes</a:t>
            </a:r>
            <a:r>
              <a:rPr lang="en-US" dirty="0" smtClean="0"/>
              <a:t>. </a:t>
            </a:r>
            <a:endParaRPr lang="en-US" dirty="0" smtClean="0"/>
          </a:p>
          <a:p>
            <a:r>
              <a:rPr lang="en-US" dirty="0" smtClean="0"/>
              <a:t>Writes </a:t>
            </a:r>
            <a:r>
              <a:rPr lang="en-US" dirty="0" smtClean="0"/>
              <a:t>are consistent, as all writes are coordinated by the master node. </a:t>
            </a:r>
            <a:r>
              <a:rPr lang="en-US" dirty="0" smtClean="0"/>
              <a:t>The implication </a:t>
            </a:r>
            <a:r>
              <a:rPr lang="en-US" dirty="0" smtClean="0"/>
              <a:t>is that </a:t>
            </a:r>
            <a:r>
              <a:rPr lang="en-US" b="1" dirty="0" smtClean="0"/>
              <a:t>write performance will suffer as the amount of writes increases</a:t>
            </a:r>
            <a:r>
              <a:rPr lang="en-US" dirty="0" smtClean="0"/>
              <a:t>. </a:t>
            </a:r>
            <a:endParaRPr lang="en-US" dirty="0" smtClean="0"/>
          </a:p>
          <a:p>
            <a:r>
              <a:rPr lang="en-US" dirty="0" smtClean="0"/>
              <a:t>If the master </a:t>
            </a:r>
            <a:r>
              <a:rPr lang="en-US" dirty="0" smtClean="0"/>
              <a:t>node fails, reads are still possible via any of the slave nodes.</a:t>
            </a:r>
          </a:p>
          <a:p>
            <a:r>
              <a:rPr lang="en-US" dirty="0" smtClean="0"/>
              <a:t>A slave node can be configured as a </a:t>
            </a:r>
            <a:r>
              <a:rPr lang="en-US" b="1" dirty="0" smtClean="0"/>
              <a:t>backup</a:t>
            </a:r>
            <a:r>
              <a:rPr lang="en-US" dirty="0" smtClean="0"/>
              <a:t> node for the master node. </a:t>
            </a:r>
            <a:endParaRPr lang="en-US" dirty="0" smtClean="0"/>
          </a:p>
          <a:p>
            <a:r>
              <a:rPr lang="en-US" dirty="0" smtClean="0"/>
              <a:t>In the event that the master node fails, writes are not supported until a master node is </a:t>
            </a:r>
            <a:r>
              <a:rPr lang="en-US" b="1" dirty="0" smtClean="0"/>
              <a:t>reestablished</a:t>
            </a:r>
            <a:r>
              <a:rPr lang="en-US" dirty="0" smtClean="0"/>
              <a:t>. The master node </a:t>
            </a:r>
            <a:r>
              <a:rPr lang="en-US" dirty="0" smtClean="0"/>
              <a:t>is either resurrected from a backup of the master node, or a new master node </a:t>
            </a:r>
            <a:r>
              <a:rPr lang="en-US" dirty="0" smtClean="0"/>
              <a:t>is chosen </a:t>
            </a:r>
            <a:r>
              <a:rPr lang="en-US" dirty="0" smtClean="0"/>
              <a:t>from the slave nodes.</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181" y="1105187"/>
            <a:ext cx="10781146" cy="5027758"/>
          </a:xfrm>
        </p:spPr>
        <p:txBody>
          <a:bodyPr>
            <a:normAutofit/>
          </a:bodyPr>
          <a:lstStyle/>
          <a:p>
            <a:pPr algn="just"/>
            <a:r>
              <a:rPr lang="en-US" b="1" dirty="0" smtClean="0"/>
              <a:t>One concern </a:t>
            </a:r>
            <a:r>
              <a:rPr lang="en-US" dirty="0" smtClean="0"/>
              <a:t>with master-slave replication is </a:t>
            </a:r>
            <a:r>
              <a:rPr lang="en-US" b="1" dirty="0" smtClean="0"/>
              <a:t>read inconsistency</a:t>
            </a:r>
            <a:r>
              <a:rPr lang="en-US" dirty="0" smtClean="0"/>
              <a:t>, which can be an issue if </a:t>
            </a:r>
            <a:r>
              <a:rPr lang="en-US" dirty="0" smtClean="0"/>
              <a:t>a slave </a:t>
            </a:r>
            <a:r>
              <a:rPr lang="en-US" dirty="0" smtClean="0"/>
              <a:t>node is read prior to an update to the master being copied to it</a:t>
            </a:r>
            <a:r>
              <a:rPr lang="en-US" dirty="0" smtClean="0"/>
              <a:t>.</a:t>
            </a:r>
          </a:p>
          <a:p>
            <a:pPr algn="just"/>
            <a:r>
              <a:rPr lang="en-US" dirty="0" smtClean="0"/>
              <a:t> </a:t>
            </a:r>
            <a:r>
              <a:rPr lang="en-US" dirty="0" smtClean="0"/>
              <a:t>To ensure </a:t>
            </a:r>
            <a:r>
              <a:rPr lang="en-US" dirty="0" smtClean="0"/>
              <a:t>read consistency</a:t>
            </a:r>
            <a:r>
              <a:rPr lang="en-US" dirty="0" smtClean="0"/>
              <a:t>, a </a:t>
            </a:r>
            <a:r>
              <a:rPr lang="en-US" b="1" dirty="0" smtClean="0"/>
              <a:t>voting</a:t>
            </a:r>
            <a:r>
              <a:rPr lang="en-US" dirty="0" smtClean="0"/>
              <a:t> system can be implemented where a read is declared consistent if </a:t>
            </a:r>
            <a:r>
              <a:rPr lang="en-US" dirty="0" smtClean="0"/>
              <a:t>the </a:t>
            </a:r>
            <a:r>
              <a:rPr lang="en-US" b="1" dirty="0" smtClean="0"/>
              <a:t>majority</a:t>
            </a:r>
            <a:r>
              <a:rPr lang="en-US" dirty="0" smtClean="0"/>
              <a:t> </a:t>
            </a:r>
            <a:r>
              <a:rPr lang="en-US" dirty="0" smtClean="0"/>
              <a:t>of the slaves contain the same version of the record. </a:t>
            </a:r>
            <a:endParaRPr lang="en-US" dirty="0" smtClean="0"/>
          </a:p>
          <a:p>
            <a:pPr algn="just"/>
            <a:r>
              <a:rPr lang="en-US" dirty="0" smtClean="0"/>
              <a:t>Implementation </a:t>
            </a:r>
            <a:r>
              <a:rPr lang="en-US" dirty="0" smtClean="0"/>
              <a:t>of such </a:t>
            </a:r>
            <a:r>
              <a:rPr lang="en-US" dirty="0" smtClean="0"/>
              <a:t>a voting </a:t>
            </a:r>
            <a:r>
              <a:rPr lang="en-US" dirty="0" smtClean="0"/>
              <a:t>system requires a reliable and fast communication mechanism between the slaves</a:t>
            </a:r>
            <a:r>
              <a:rPr lang="en-US" dirty="0" smtClean="0"/>
              <a:t>. </a:t>
            </a:r>
          </a:p>
          <a:p>
            <a:pPr algn="just"/>
            <a:endParaRPr lang="en-US" dirty="0" smtClean="0"/>
          </a:p>
          <a:p>
            <a:pPr algn="just">
              <a:buNone/>
            </a:pPr>
            <a:r>
              <a:rPr lang="en-US" i="1" dirty="0" smtClean="0"/>
              <a:t>Let us check the inconsistency through a diagram in next slide.</a:t>
            </a:r>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490" y="1530061"/>
            <a:ext cx="4869873" cy="4351338"/>
          </a:xfrm>
        </p:spPr>
        <p:txBody>
          <a:bodyPr>
            <a:normAutofit fontScale="92500" lnSpcReduction="20000"/>
          </a:bodyPr>
          <a:lstStyle/>
          <a:p>
            <a:pPr algn="just">
              <a:buNone/>
            </a:pPr>
            <a:r>
              <a:rPr lang="en-US" b="1" dirty="0" smtClean="0"/>
              <a:t>Figure illustrates a scenario where read inconsistency occurs.</a:t>
            </a:r>
          </a:p>
          <a:p>
            <a:pPr algn="just">
              <a:buNone/>
            </a:pPr>
            <a:r>
              <a:rPr lang="pt-BR" dirty="0" smtClean="0"/>
              <a:t>1. User A updates data.</a:t>
            </a:r>
          </a:p>
          <a:p>
            <a:pPr algn="just">
              <a:buNone/>
            </a:pPr>
            <a:r>
              <a:rPr lang="en-US" dirty="0" smtClean="0"/>
              <a:t>2. The data is copied over to Slave A by the Master.</a:t>
            </a:r>
          </a:p>
          <a:p>
            <a:pPr algn="just">
              <a:buNone/>
            </a:pPr>
            <a:r>
              <a:rPr lang="en-US" dirty="0" smtClean="0"/>
              <a:t>3. Before the data is copied over to Slave B, User B tries to read the data from Slave B, which results in an inconsistent read.</a:t>
            </a:r>
          </a:p>
          <a:p>
            <a:pPr algn="just">
              <a:buNone/>
            </a:pPr>
            <a:r>
              <a:rPr lang="en-US" dirty="0" smtClean="0"/>
              <a:t>4. The data will eventually become consistent when Slave B is updated by the Master.</a:t>
            </a:r>
          </a:p>
          <a:p>
            <a:pPr>
              <a:buNone/>
            </a:pP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pic>
        <p:nvPicPr>
          <p:cNvPr id="5122" name="Picture 2"/>
          <p:cNvPicPr>
            <a:picLocks noChangeAspect="1" noChangeArrowheads="1"/>
          </p:cNvPicPr>
          <p:nvPr/>
        </p:nvPicPr>
        <p:blipFill>
          <a:blip r:embed="rId2"/>
          <a:srcRect/>
          <a:stretch>
            <a:fillRect/>
          </a:stretch>
        </p:blipFill>
        <p:spPr bwMode="auto">
          <a:xfrm>
            <a:off x="5292437" y="110836"/>
            <a:ext cx="6770254" cy="654858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1764145" y="2265509"/>
            <a:ext cx="8608291" cy="3599583"/>
          </a:xfrm>
          <a:prstGeom prst="rect">
            <a:avLst/>
          </a:prstGeom>
          <a:noFill/>
          <a:ln w="9525">
            <a:noFill/>
            <a:miter lim="800000"/>
            <a:headEnd/>
            <a:tailEnd/>
          </a:ln>
          <a:effectLst/>
        </p:spPr>
      </p:pic>
      <p:sp>
        <p:nvSpPr>
          <p:cNvPr id="2" name="Title 1"/>
          <p:cNvSpPr>
            <a:spLocks noGrp="1"/>
          </p:cNvSpPr>
          <p:nvPr>
            <p:ph type="title"/>
          </p:nvPr>
        </p:nvSpPr>
        <p:spPr>
          <a:xfrm>
            <a:off x="838200" y="365125"/>
            <a:ext cx="8388927" cy="697057"/>
          </a:xfrm>
        </p:spPr>
        <p:txBody>
          <a:bodyPr/>
          <a:lstStyle/>
          <a:p>
            <a:r>
              <a:rPr lang="en-US" dirty="0" smtClean="0"/>
              <a:t>peer-to-peer replication</a:t>
            </a:r>
            <a:endParaRPr lang="en-US" dirty="0"/>
          </a:p>
        </p:txBody>
      </p:sp>
      <p:sp>
        <p:nvSpPr>
          <p:cNvPr id="3" name="Content Placeholder 2"/>
          <p:cNvSpPr>
            <a:spLocks noGrp="1"/>
          </p:cNvSpPr>
          <p:nvPr>
            <p:ph idx="1"/>
          </p:nvPr>
        </p:nvSpPr>
        <p:spPr>
          <a:xfrm>
            <a:off x="884382" y="1105189"/>
            <a:ext cx="10476345" cy="2256847"/>
          </a:xfrm>
        </p:spPr>
        <p:txBody>
          <a:bodyPr>
            <a:normAutofit/>
          </a:bodyPr>
          <a:lstStyle/>
          <a:p>
            <a:r>
              <a:rPr lang="en-US" dirty="0" smtClean="0"/>
              <a:t>With peer-to-peer replication, all nodes operate at the </a:t>
            </a:r>
            <a:r>
              <a:rPr lang="en-US" b="1" dirty="0" smtClean="0"/>
              <a:t>same level</a:t>
            </a:r>
            <a:r>
              <a:rPr lang="en-US" dirty="0" smtClean="0"/>
              <a:t>. In other words, there </a:t>
            </a:r>
            <a:r>
              <a:rPr lang="en-US" dirty="0" smtClean="0"/>
              <a:t>is not </a:t>
            </a:r>
            <a:r>
              <a:rPr lang="en-US" dirty="0" smtClean="0"/>
              <a:t>a master-slave relationship between the nodes. Each node, known as a peer, is </a:t>
            </a:r>
            <a:r>
              <a:rPr lang="en-US" dirty="0" smtClean="0"/>
              <a:t>equally capable </a:t>
            </a:r>
            <a:r>
              <a:rPr lang="en-US" dirty="0" smtClean="0"/>
              <a:t>of handling reads and writes.</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
        <p:nvSpPr>
          <p:cNvPr id="6" name="Rectangle 5"/>
          <p:cNvSpPr/>
          <p:nvPr/>
        </p:nvSpPr>
        <p:spPr>
          <a:xfrm>
            <a:off x="1533237" y="5895263"/>
            <a:ext cx="8839200" cy="646331"/>
          </a:xfrm>
          <a:prstGeom prst="rect">
            <a:avLst/>
          </a:prstGeom>
        </p:spPr>
        <p:txBody>
          <a:bodyPr wrap="square">
            <a:spAutoFit/>
          </a:bodyPr>
          <a:lstStyle/>
          <a:p>
            <a:pPr algn="ctr"/>
            <a:r>
              <a:rPr lang="en-US" dirty="0" smtClean="0"/>
              <a:t>Figure: Writes </a:t>
            </a:r>
            <a:r>
              <a:rPr lang="en-US" dirty="0" smtClean="0"/>
              <a:t>are copied to Peers A, B and C simultaneously. Data is read </a:t>
            </a:r>
            <a:r>
              <a:rPr lang="en-US" dirty="0" smtClean="0"/>
              <a:t>from Peer </a:t>
            </a:r>
            <a:r>
              <a:rPr lang="en-US" dirty="0" smtClean="0"/>
              <a:t>A, but it can also be read from Peers B or C.</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8964" y="809624"/>
            <a:ext cx="10515600" cy="5295611"/>
          </a:xfrm>
        </p:spPr>
        <p:txBody>
          <a:bodyPr>
            <a:normAutofit lnSpcReduction="10000"/>
          </a:bodyPr>
          <a:lstStyle/>
          <a:p>
            <a:pPr algn="just">
              <a:buNone/>
            </a:pPr>
            <a:r>
              <a:rPr lang="en-US" dirty="0" smtClean="0"/>
              <a:t>Peer-to-peer replication is </a:t>
            </a:r>
            <a:r>
              <a:rPr lang="en-US" b="1" dirty="0" smtClean="0"/>
              <a:t>prone to write inconsistencies </a:t>
            </a:r>
            <a:r>
              <a:rPr lang="en-US" dirty="0" smtClean="0"/>
              <a:t>that occur as a result of </a:t>
            </a:r>
            <a:r>
              <a:rPr lang="en-US" dirty="0" smtClean="0"/>
              <a:t>a simultaneous </a:t>
            </a:r>
            <a:r>
              <a:rPr lang="en-US" dirty="0" smtClean="0"/>
              <a:t>update of the same data across multiple peers. </a:t>
            </a:r>
            <a:endParaRPr lang="en-US" dirty="0" smtClean="0"/>
          </a:p>
          <a:p>
            <a:pPr algn="just">
              <a:buNone/>
            </a:pPr>
            <a:r>
              <a:rPr lang="en-US" dirty="0" smtClean="0"/>
              <a:t>This </a:t>
            </a:r>
            <a:r>
              <a:rPr lang="en-US" dirty="0" smtClean="0"/>
              <a:t>can be addressed </a:t>
            </a:r>
            <a:r>
              <a:rPr lang="en-US" dirty="0" smtClean="0"/>
              <a:t>by implementing </a:t>
            </a:r>
            <a:r>
              <a:rPr lang="en-US" dirty="0" smtClean="0"/>
              <a:t>either a pessimistic or optimistic concurrency strategy</a:t>
            </a:r>
            <a:r>
              <a:rPr lang="en-US" dirty="0" smtClean="0"/>
              <a:t>.</a:t>
            </a:r>
          </a:p>
          <a:p>
            <a:pPr algn="just">
              <a:buNone/>
            </a:pPr>
            <a:r>
              <a:rPr lang="en-US" dirty="0" smtClean="0"/>
              <a:t>• </a:t>
            </a:r>
            <a:r>
              <a:rPr lang="en-US" b="1" dirty="0" smtClean="0"/>
              <a:t>Pessimistic concurrency </a:t>
            </a:r>
            <a:r>
              <a:rPr lang="en-US" dirty="0" smtClean="0"/>
              <a:t>is a proactive strategy that prevents inconsistency. It </a:t>
            </a:r>
            <a:r>
              <a:rPr lang="en-US" dirty="0" smtClean="0"/>
              <a:t>uses locking </a:t>
            </a:r>
            <a:r>
              <a:rPr lang="en-US" dirty="0" smtClean="0"/>
              <a:t>to ensure that only one update to a record can occur at a time. However, </a:t>
            </a:r>
            <a:r>
              <a:rPr lang="en-US" dirty="0" smtClean="0"/>
              <a:t>this is </a:t>
            </a:r>
            <a:r>
              <a:rPr lang="en-US" dirty="0" smtClean="0"/>
              <a:t>detrimental to availability since the database record being updated </a:t>
            </a:r>
            <a:r>
              <a:rPr lang="en-US" dirty="0" smtClean="0"/>
              <a:t>remains unavailable </a:t>
            </a:r>
            <a:r>
              <a:rPr lang="en-US" dirty="0" smtClean="0"/>
              <a:t>until all locks are released.</a:t>
            </a:r>
          </a:p>
          <a:p>
            <a:pPr algn="just">
              <a:buNone/>
            </a:pPr>
            <a:r>
              <a:rPr lang="en-US" dirty="0" smtClean="0"/>
              <a:t>• </a:t>
            </a:r>
            <a:r>
              <a:rPr lang="en-US" b="1" dirty="0" smtClean="0"/>
              <a:t>Optimistic concurrency </a:t>
            </a:r>
            <a:r>
              <a:rPr lang="en-US" dirty="0" smtClean="0"/>
              <a:t>is a reactive strategy that does not use </a:t>
            </a:r>
            <a:r>
              <a:rPr lang="en-US" dirty="0" smtClean="0"/>
              <a:t>locking. Instead</a:t>
            </a:r>
            <a:r>
              <a:rPr lang="en-US" dirty="0" smtClean="0"/>
              <a:t>, </a:t>
            </a:r>
            <a:r>
              <a:rPr lang="en-US" dirty="0" smtClean="0"/>
              <a:t>it allows </a:t>
            </a:r>
            <a:r>
              <a:rPr lang="en-US" dirty="0" smtClean="0"/>
              <a:t>inconsistency to occur with knowledge that </a:t>
            </a:r>
            <a:r>
              <a:rPr lang="en-US" dirty="0" smtClean="0"/>
              <a:t> eventually </a:t>
            </a:r>
            <a:r>
              <a:rPr lang="en-US" dirty="0" smtClean="0"/>
              <a:t>consistency will </a:t>
            </a:r>
            <a:r>
              <a:rPr lang="en-US" dirty="0" smtClean="0"/>
              <a:t>be achieved </a:t>
            </a:r>
            <a:r>
              <a:rPr lang="en-US" dirty="0" smtClean="0"/>
              <a:t>after all updates </a:t>
            </a:r>
            <a:r>
              <a:rPr lang="en-US" dirty="0" smtClean="0"/>
              <a:t>have propagated</a:t>
            </a:r>
            <a:r>
              <a:rPr lang="en-US" dirty="0" smtClean="0"/>
              <a:t>.</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r>
              <a:rPr lang="en-US" dirty="0" smtClean="0"/>
              <a:t>With optimistic concurrency, peers may remain </a:t>
            </a:r>
            <a:r>
              <a:rPr lang="en-US" b="1" dirty="0" smtClean="0"/>
              <a:t>inconsistent for some period of </a:t>
            </a:r>
            <a:r>
              <a:rPr lang="en-US" b="1" dirty="0" smtClean="0"/>
              <a:t>time </a:t>
            </a:r>
            <a:r>
              <a:rPr lang="en-US" dirty="0" smtClean="0"/>
              <a:t>before </a:t>
            </a:r>
            <a:r>
              <a:rPr lang="en-US" dirty="0" smtClean="0"/>
              <a:t>attaining consistency. However, the database remains available as no locking </a:t>
            </a:r>
            <a:r>
              <a:rPr lang="en-US" dirty="0" smtClean="0"/>
              <a:t>is involved</a:t>
            </a:r>
            <a:r>
              <a:rPr lang="en-US" dirty="0" smtClean="0"/>
              <a:t>. Like master-slave replication, reads can be inconsistent during the time </a:t>
            </a:r>
            <a:r>
              <a:rPr lang="en-US" dirty="0" smtClean="0"/>
              <a:t>period when </a:t>
            </a:r>
            <a:r>
              <a:rPr lang="en-US" dirty="0" smtClean="0"/>
              <a:t>some of the peers have completed their updates while others perform their </a:t>
            </a:r>
            <a:r>
              <a:rPr lang="en-US" dirty="0" smtClean="0"/>
              <a:t>updates. However</a:t>
            </a:r>
            <a:r>
              <a:rPr lang="en-US" dirty="0" smtClean="0"/>
              <a:t>, reads eventually become consistent when the updates have been executed on </a:t>
            </a:r>
            <a:r>
              <a:rPr lang="en-US" dirty="0" smtClean="0"/>
              <a:t>all peers</a:t>
            </a:r>
            <a:r>
              <a:rPr lang="en-US" dirty="0" smtClean="0"/>
              <a:t>.</a:t>
            </a:r>
          </a:p>
          <a:p>
            <a:pPr algn="just"/>
            <a:r>
              <a:rPr lang="en-US" dirty="0" smtClean="0"/>
              <a:t>To ensure read consistency, </a:t>
            </a:r>
            <a:r>
              <a:rPr lang="en-US" b="1" dirty="0" smtClean="0"/>
              <a:t>a voting </a:t>
            </a:r>
            <a:r>
              <a:rPr lang="en-US" dirty="0" smtClean="0"/>
              <a:t>system can be implemented where a read is </a:t>
            </a:r>
            <a:r>
              <a:rPr lang="en-US" dirty="0" smtClean="0"/>
              <a:t>declared consistent </a:t>
            </a:r>
            <a:r>
              <a:rPr lang="en-US" dirty="0" smtClean="0"/>
              <a:t>if the majority of the peers contain the same version of the record. </a:t>
            </a:r>
            <a:r>
              <a:rPr lang="en-US" dirty="0" smtClean="0"/>
              <a:t>As previously </a:t>
            </a:r>
            <a:r>
              <a:rPr lang="en-US" dirty="0" smtClean="0"/>
              <a:t>indicated, implementation of such a voting system requires a reliable and </a:t>
            </a:r>
            <a:r>
              <a:rPr lang="en-US" dirty="0" smtClean="0"/>
              <a:t>fast communication </a:t>
            </a:r>
            <a:r>
              <a:rPr lang="en-US" dirty="0" smtClean="0"/>
              <a:t>mechanism between the peers.</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Dr. Apash Roy</a:t>
            </a:r>
            <a:endParaRPr lang="en-IN" dirty="0"/>
          </a:p>
        </p:txBody>
      </p:sp>
      <p:pic>
        <p:nvPicPr>
          <p:cNvPr id="7170" name="Picture 2"/>
          <p:cNvPicPr>
            <a:picLocks noChangeAspect="1" noChangeArrowheads="1"/>
          </p:cNvPicPr>
          <p:nvPr/>
        </p:nvPicPr>
        <p:blipFill>
          <a:blip r:embed="rId2"/>
          <a:srcRect/>
          <a:stretch>
            <a:fillRect/>
          </a:stretch>
        </p:blipFill>
        <p:spPr bwMode="auto">
          <a:xfrm>
            <a:off x="294698" y="757382"/>
            <a:ext cx="6955847" cy="5638800"/>
          </a:xfrm>
          <a:prstGeom prst="rect">
            <a:avLst/>
          </a:prstGeom>
          <a:noFill/>
          <a:ln w="9525">
            <a:noFill/>
            <a:miter lim="800000"/>
            <a:headEnd/>
            <a:tailEnd/>
          </a:ln>
          <a:effectLst/>
        </p:spPr>
      </p:pic>
      <p:sp>
        <p:nvSpPr>
          <p:cNvPr id="6" name="Rectangle 5"/>
          <p:cNvSpPr/>
          <p:nvPr/>
        </p:nvSpPr>
        <p:spPr>
          <a:xfrm>
            <a:off x="7333672" y="838129"/>
            <a:ext cx="4738255" cy="5262979"/>
          </a:xfrm>
          <a:prstGeom prst="rect">
            <a:avLst/>
          </a:prstGeom>
        </p:spPr>
        <p:txBody>
          <a:bodyPr wrap="square">
            <a:spAutoFit/>
          </a:bodyPr>
          <a:lstStyle/>
          <a:p>
            <a:r>
              <a:rPr lang="en-US" sz="2400" b="1" dirty="0" smtClean="0"/>
              <a:t>a scenario where an inconsistent read occurs</a:t>
            </a:r>
            <a:r>
              <a:rPr lang="en-US" sz="2400" b="1" dirty="0" smtClean="0"/>
              <a:t>.</a:t>
            </a:r>
          </a:p>
          <a:p>
            <a:endParaRPr lang="en-US" sz="2400" b="1" dirty="0" smtClean="0"/>
          </a:p>
          <a:p>
            <a:pPr marL="342900" indent="-342900">
              <a:buAutoNum type="arabicPeriod"/>
            </a:pPr>
            <a:r>
              <a:rPr lang="pt-BR" sz="2200" dirty="0" smtClean="0"/>
              <a:t>User </a:t>
            </a:r>
            <a:r>
              <a:rPr lang="pt-BR" sz="2200" dirty="0" smtClean="0"/>
              <a:t>A updates data</a:t>
            </a:r>
            <a:r>
              <a:rPr lang="pt-BR" sz="2200" dirty="0" smtClean="0"/>
              <a:t>.</a:t>
            </a:r>
          </a:p>
          <a:p>
            <a:r>
              <a:rPr lang="en-US" sz="2200" dirty="0" smtClean="0"/>
              <a:t>2</a:t>
            </a:r>
            <a:r>
              <a:rPr lang="en-US" sz="2200" dirty="0" smtClean="0"/>
              <a:t>. </a:t>
            </a:r>
            <a:endParaRPr lang="en-US" sz="2200" dirty="0" smtClean="0"/>
          </a:p>
          <a:p>
            <a:r>
              <a:rPr lang="en-US" sz="2200" dirty="0" smtClean="0"/>
              <a:t>   a</a:t>
            </a:r>
            <a:r>
              <a:rPr lang="en-US" sz="2200" dirty="0" smtClean="0"/>
              <a:t>. The data is copied over to Peer A.</a:t>
            </a:r>
          </a:p>
          <a:p>
            <a:r>
              <a:rPr lang="en-US" sz="2200" dirty="0" smtClean="0"/>
              <a:t>   b</a:t>
            </a:r>
            <a:r>
              <a:rPr lang="en-US" sz="2200" dirty="0" smtClean="0"/>
              <a:t>. The data is copied over to Peer B</a:t>
            </a:r>
            <a:r>
              <a:rPr lang="en-US" sz="2200" dirty="0" smtClean="0"/>
              <a:t>.</a:t>
            </a:r>
          </a:p>
          <a:p>
            <a:endParaRPr lang="en-US" sz="2200" dirty="0" smtClean="0"/>
          </a:p>
          <a:p>
            <a:r>
              <a:rPr lang="en-US" sz="2200" dirty="0" smtClean="0"/>
              <a:t>3. Before the data is copied over to Peer C, User B tries to read the data from Peer </a:t>
            </a:r>
            <a:r>
              <a:rPr lang="en-US" sz="2200" dirty="0" smtClean="0"/>
              <a:t>C, resulting </a:t>
            </a:r>
            <a:r>
              <a:rPr lang="en-US" sz="2200" dirty="0" smtClean="0"/>
              <a:t>in an inconsistent read</a:t>
            </a:r>
            <a:r>
              <a:rPr lang="en-US" sz="2200" dirty="0" smtClean="0"/>
              <a:t>.</a:t>
            </a:r>
          </a:p>
          <a:p>
            <a:endParaRPr lang="en-US" sz="2200" dirty="0" smtClean="0"/>
          </a:p>
          <a:p>
            <a:r>
              <a:rPr lang="en-US" sz="2200" dirty="0" smtClean="0"/>
              <a:t>4. The data will eventually be updated on Peer C, and the database will once </a:t>
            </a:r>
            <a:r>
              <a:rPr lang="en-US" sz="2200" dirty="0" smtClean="0"/>
              <a:t>again become </a:t>
            </a:r>
            <a:r>
              <a:rPr lang="en-US" sz="2200" dirty="0" smtClean="0"/>
              <a:t>consistent.</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4907973" y="157018"/>
            <a:ext cx="7117773" cy="6511637"/>
          </a:xfrm>
          <a:prstGeom prst="rect">
            <a:avLst/>
          </a:prstGeom>
          <a:noFill/>
          <a:ln w="9525">
            <a:noFill/>
            <a:miter lim="800000"/>
            <a:headEnd/>
            <a:tailEnd/>
          </a:ln>
          <a:effectLst/>
        </p:spPr>
      </p:pic>
      <p:sp>
        <p:nvSpPr>
          <p:cNvPr id="2" name="Title 1"/>
          <p:cNvSpPr>
            <a:spLocks noGrp="1"/>
          </p:cNvSpPr>
          <p:nvPr>
            <p:ph type="title"/>
          </p:nvPr>
        </p:nvSpPr>
        <p:spPr>
          <a:xfrm>
            <a:off x="838200" y="365126"/>
            <a:ext cx="10515600" cy="770948"/>
          </a:xfrm>
        </p:spPr>
        <p:txBody>
          <a:bodyPr>
            <a:normAutofit fontScale="90000"/>
          </a:bodyPr>
          <a:lstStyle/>
          <a:p>
            <a:r>
              <a:rPr lang="en-US" b="1" dirty="0" err="1" smtClean="0"/>
              <a:t>Sharding</a:t>
            </a:r>
            <a:r>
              <a:rPr lang="en-US" b="1" dirty="0" smtClean="0"/>
              <a:t> and Replication</a:t>
            </a:r>
            <a:br>
              <a:rPr lang="en-US" b="1" dirty="0" smtClean="0"/>
            </a:br>
            <a:endParaRPr lang="en-US" dirty="0"/>
          </a:p>
        </p:txBody>
      </p:sp>
      <p:sp>
        <p:nvSpPr>
          <p:cNvPr id="3" name="Content Placeholder 2"/>
          <p:cNvSpPr>
            <a:spLocks noGrp="1"/>
          </p:cNvSpPr>
          <p:nvPr>
            <p:ph idx="1"/>
          </p:nvPr>
        </p:nvSpPr>
        <p:spPr>
          <a:xfrm>
            <a:off x="304800" y="1071417"/>
            <a:ext cx="4655127" cy="4950691"/>
          </a:xfrm>
        </p:spPr>
        <p:txBody>
          <a:bodyPr>
            <a:normAutofit fontScale="92500" lnSpcReduction="10000"/>
          </a:bodyPr>
          <a:lstStyle/>
          <a:p>
            <a:pPr>
              <a:buNone/>
            </a:pPr>
            <a:r>
              <a:rPr lang="en-US" dirty="0" smtClean="0"/>
              <a:t>  To </a:t>
            </a:r>
            <a:r>
              <a:rPr lang="en-US" dirty="0" smtClean="0"/>
              <a:t>improve on the limited fault tolerance offered by </a:t>
            </a:r>
            <a:r>
              <a:rPr lang="en-US" dirty="0" err="1" smtClean="0"/>
              <a:t>sharding</a:t>
            </a:r>
            <a:r>
              <a:rPr lang="en-US" dirty="0" smtClean="0"/>
              <a:t>, while </a:t>
            </a:r>
            <a:r>
              <a:rPr lang="en-US" dirty="0" smtClean="0"/>
              <a:t>additionally benefiting </a:t>
            </a:r>
            <a:r>
              <a:rPr lang="en-US" dirty="0" smtClean="0"/>
              <a:t>from the increased availability and scalability of replication, both </a:t>
            </a:r>
            <a:r>
              <a:rPr lang="en-US" dirty="0" err="1" smtClean="0"/>
              <a:t>sharding</a:t>
            </a:r>
            <a:r>
              <a:rPr lang="en-US" dirty="0" smtClean="0"/>
              <a:t> </a:t>
            </a:r>
            <a:r>
              <a:rPr lang="en-US" dirty="0" smtClean="0"/>
              <a:t>and replication </a:t>
            </a:r>
            <a:r>
              <a:rPr lang="en-US" dirty="0" smtClean="0"/>
              <a:t>can be </a:t>
            </a:r>
            <a:r>
              <a:rPr lang="en-US" dirty="0" smtClean="0"/>
              <a:t>combined</a:t>
            </a:r>
          </a:p>
          <a:p>
            <a:pPr>
              <a:buNone/>
            </a:pPr>
            <a:r>
              <a:rPr lang="en-US" b="1" dirty="0" smtClean="0"/>
              <a:t>Let us see the </a:t>
            </a:r>
            <a:r>
              <a:rPr lang="en-US" b="1" dirty="0" smtClean="0"/>
              <a:t>following combinations:</a:t>
            </a:r>
          </a:p>
          <a:p>
            <a:pPr>
              <a:buNone/>
            </a:pPr>
            <a:r>
              <a:rPr lang="en-US" dirty="0" smtClean="0"/>
              <a:t>• </a:t>
            </a:r>
            <a:r>
              <a:rPr lang="en-US" dirty="0" err="1" smtClean="0"/>
              <a:t>sharding</a:t>
            </a:r>
            <a:r>
              <a:rPr lang="en-US" dirty="0" smtClean="0"/>
              <a:t> and master-slave replication</a:t>
            </a:r>
          </a:p>
          <a:p>
            <a:pPr>
              <a:buNone/>
            </a:pPr>
            <a:r>
              <a:rPr lang="en-US" dirty="0" smtClean="0"/>
              <a:t>• </a:t>
            </a:r>
            <a:r>
              <a:rPr lang="en-US" dirty="0" err="1" smtClean="0"/>
              <a:t>sharding</a:t>
            </a:r>
            <a:r>
              <a:rPr lang="en-US" dirty="0" smtClean="0"/>
              <a:t> and peer-to-peer replication</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Combining </a:t>
            </a:r>
            <a:r>
              <a:rPr lang="en-US" b="1" dirty="0" err="1" smtClean="0"/>
              <a:t>Sharding</a:t>
            </a:r>
            <a:r>
              <a:rPr lang="en-US" b="1" dirty="0" smtClean="0"/>
              <a:t> and Master-Slave Replication</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When </a:t>
            </a:r>
            <a:r>
              <a:rPr lang="en-US" dirty="0" err="1" smtClean="0"/>
              <a:t>sharding</a:t>
            </a:r>
            <a:r>
              <a:rPr lang="en-US" dirty="0" smtClean="0"/>
              <a:t> is combined with master-slave replication, multiple shards become </a:t>
            </a:r>
            <a:r>
              <a:rPr lang="en-US" dirty="0" smtClean="0"/>
              <a:t>slaves of </a:t>
            </a:r>
            <a:r>
              <a:rPr lang="en-US" dirty="0" smtClean="0"/>
              <a:t>a single master, and the master itself is a shard. Although this results in </a:t>
            </a:r>
            <a:r>
              <a:rPr lang="en-US" dirty="0" smtClean="0"/>
              <a:t>multiple masters</a:t>
            </a:r>
            <a:r>
              <a:rPr lang="en-US" dirty="0" smtClean="0"/>
              <a:t>, a single slave-shard can only be managed by a single master-shard.</a:t>
            </a:r>
          </a:p>
          <a:p>
            <a:r>
              <a:rPr lang="en-US" dirty="0" smtClean="0"/>
              <a:t>Write consistency is maintained by the master-shard. However, if the </a:t>
            </a:r>
            <a:r>
              <a:rPr lang="en-US" dirty="0" smtClean="0"/>
              <a:t>master-shard becomes </a:t>
            </a:r>
            <a:r>
              <a:rPr lang="en-US" dirty="0" smtClean="0"/>
              <a:t>non-operational or a network outage occurs, fault tolerance with regards to </a:t>
            </a:r>
            <a:r>
              <a:rPr lang="en-US" dirty="0" smtClean="0"/>
              <a:t>write operations </a:t>
            </a:r>
            <a:r>
              <a:rPr lang="en-US" dirty="0" smtClean="0"/>
              <a:t>is impacted. Replicas of shards are kept on multiple slave nodes to </a:t>
            </a:r>
            <a:r>
              <a:rPr lang="en-US" dirty="0" smtClean="0"/>
              <a:t>provide scalability </a:t>
            </a:r>
            <a:r>
              <a:rPr lang="en-US" dirty="0" smtClean="0"/>
              <a:t>and fault tolerance for read operations.</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602943" y="609455"/>
            <a:ext cx="10984363" cy="6054581"/>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IN" smtClean="0"/>
              <a:t>Dr. Apash Roy</a:t>
            </a:r>
            <a:endParaRPr lang="en-IN" dirty="0"/>
          </a:p>
        </p:txBody>
      </p:sp>
      <p:sp>
        <p:nvSpPr>
          <p:cNvPr id="6" name="Rectangle 5"/>
          <p:cNvSpPr/>
          <p:nvPr/>
        </p:nvSpPr>
        <p:spPr>
          <a:xfrm>
            <a:off x="323273" y="120073"/>
            <a:ext cx="11323782" cy="369332"/>
          </a:xfrm>
          <a:prstGeom prst="rect">
            <a:avLst/>
          </a:prstGeom>
        </p:spPr>
        <p:txBody>
          <a:bodyPr wrap="square">
            <a:spAutoFit/>
          </a:bodyPr>
          <a:lstStyle/>
          <a:p>
            <a:r>
              <a:rPr lang="en-US" b="1" dirty="0" smtClean="0"/>
              <a:t>An example that shows the combination of </a:t>
            </a:r>
            <a:r>
              <a:rPr lang="en-US" b="1" dirty="0" err="1" smtClean="0"/>
              <a:t>sharding</a:t>
            </a:r>
            <a:r>
              <a:rPr lang="en-US" b="1" dirty="0" smtClean="0"/>
              <a:t> and </a:t>
            </a:r>
            <a:r>
              <a:rPr lang="en-US" b="1" dirty="0" smtClean="0"/>
              <a:t>master-slave replication</a:t>
            </a: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 of the figure</a:t>
            </a:r>
            <a:endParaRPr lang="en-US" dirty="0"/>
          </a:p>
        </p:txBody>
      </p:sp>
      <p:sp>
        <p:nvSpPr>
          <p:cNvPr id="3" name="Content Placeholder 2"/>
          <p:cNvSpPr>
            <a:spLocks noGrp="1"/>
          </p:cNvSpPr>
          <p:nvPr>
            <p:ph idx="1"/>
          </p:nvPr>
        </p:nvSpPr>
        <p:spPr/>
        <p:txBody>
          <a:bodyPr/>
          <a:lstStyle/>
          <a:p>
            <a:pPr>
              <a:buNone/>
            </a:pPr>
            <a:r>
              <a:rPr lang="en-US" dirty="0" smtClean="0"/>
              <a:t>• Each node acts both as a master and a slave for different shards.</a:t>
            </a:r>
          </a:p>
          <a:p>
            <a:pPr>
              <a:buNone/>
            </a:pPr>
            <a:r>
              <a:rPr lang="en-US" dirty="0" smtClean="0"/>
              <a:t>• Writes (id = 2) to Shard A are regulated by Node A, as it is the master for Shard A.</a:t>
            </a:r>
          </a:p>
          <a:p>
            <a:pPr>
              <a:buNone/>
            </a:pPr>
            <a:r>
              <a:rPr lang="en-US" dirty="0" smtClean="0"/>
              <a:t>• Node A replicates data (id = 2) to Node B, which is a slave for Shard A.</a:t>
            </a:r>
          </a:p>
          <a:p>
            <a:pPr>
              <a:buNone/>
            </a:pPr>
            <a:r>
              <a:rPr lang="en-US" dirty="0" smtClean="0"/>
              <a:t>• Reads (id = 4) can be served directly by either Node B or Node C as they </a:t>
            </a:r>
            <a:r>
              <a:rPr lang="en-US" dirty="0" smtClean="0"/>
              <a:t>each contain </a:t>
            </a:r>
            <a:r>
              <a:rPr lang="en-US" dirty="0" smtClean="0"/>
              <a:t>Shard B.</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Combining </a:t>
            </a:r>
            <a:r>
              <a:rPr lang="en-US" b="1" dirty="0" err="1" smtClean="0"/>
              <a:t>Sharding</a:t>
            </a:r>
            <a:r>
              <a:rPr lang="en-US" b="1" dirty="0" smtClean="0"/>
              <a:t> and Peer-to-Peer Replication</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When </a:t>
            </a:r>
            <a:r>
              <a:rPr lang="en-US" dirty="0" smtClean="0"/>
              <a:t>combining </a:t>
            </a:r>
            <a:r>
              <a:rPr lang="en-US" dirty="0" err="1" smtClean="0"/>
              <a:t>sharding</a:t>
            </a:r>
            <a:r>
              <a:rPr lang="en-US" dirty="0" smtClean="0"/>
              <a:t> with peer-to-peer replication, each shard is replicated </a:t>
            </a:r>
            <a:r>
              <a:rPr lang="en-US" dirty="0" smtClean="0"/>
              <a:t>to multiple </a:t>
            </a:r>
            <a:r>
              <a:rPr lang="en-US" dirty="0" smtClean="0"/>
              <a:t>peers, and each peer is only responsible for a subset of the overall dataset.</a:t>
            </a:r>
          </a:p>
          <a:p>
            <a:r>
              <a:rPr lang="en-US" dirty="0" smtClean="0"/>
              <a:t>Collectively, this helps achieve increased scalability and fault tolerance. As there is </a:t>
            </a:r>
            <a:r>
              <a:rPr lang="en-US" dirty="0" smtClean="0"/>
              <a:t>no master </a:t>
            </a:r>
            <a:r>
              <a:rPr lang="en-US" dirty="0" smtClean="0"/>
              <a:t>involved, there is no single point of failure and fault-tolerance for both read </a:t>
            </a:r>
            <a:r>
              <a:rPr lang="en-US" dirty="0" smtClean="0"/>
              <a:t>and write </a:t>
            </a:r>
            <a:r>
              <a:rPr lang="en-US" dirty="0" smtClean="0"/>
              <a:t>operations is supported.</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535709" y="708414"/>
            <a:ext cx="11369964" cy="601147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IN" smtClean="0"/>
              <a:t>Dr. Apash Roy</a:t>
            </a:r>
            <a:endParaRPr lang="en-IN" dirty="0"/>
          </a:p>
        </p:txBody>
      </p:sp>
      <p:sp>
        <p:nvSpPr>
          <p:cNvPr id="6" name="Rectangle 5"/>
          <p:cNvSpPr/>
          <p:nvPr/>
        </p:nvSpPr>
        <p:spPr>
          <a:xfrm>
            <a:off x="1015999" y="110837"/>
            <a:ext cx="8257309" cy="369332"/>
          </a:xfrm>
          <a:prstGeom prst="rect">
            <a:avLst/>
          </a:prstGeom>
        </p:spPr>
        <p:txBody>
          <a:bodyPr wrap="square">
            <a:spAutoFit/>
          </a:bodyPr>
          <a:lstStyle/>
          <a:p>
            <a:r>
              <a:rPr lang="en-US" b="1" dirty="0" smtClean="0"/>
              <a:t>An example of the combination of </a:t>
            </a:r>
            <a:r>
              <a:rPr lang="en-US" b="1" dirty="0" err="1" smtClean="0"/>
              <a:t>sharding</a:t>
            </a:r>
            <a:r>
              <a:rPr lang="en-US" b="1" dirty="0" smtClean="0"/>
              <a:t> and peer-to-peer replication.</a:t>
            </a:r>
            <a:endParaRPr lang="en-US"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 of the figure</a:t>
            </a:r>
            <a:endParaRPr lang="en-US" dirty="0"/>
          </a:p>
        </p:txBody>
      </p:sp>
      <p:sp>
        <p:nvSpPr>
          <p:cNvPr id="3" name="Content Placeholder 2"/>
          <p:cNvSpPr>
            <a:spLocks noGrp="1"/>
          </p:cNvSpPr>
          <p:nvPr>
            <p:ph idx="1"/>
          </p:nvPr>
        </p:nvSpPr>
        <p:spPr/>
        <p:txBody>
          <a:bodyPr/>
          <a:lstStyle/>
          <a:p>
            <a:pPr>
              <a:buNone/>
            </a:pPr>
            <a:r>
              <a:rPr lang="en-US" dirty="0" smtClean="0"/>
              <a:t>• Each node contains replicas of two different shards.</a:t>
            </a:r>
          </a:p>
          <a:p>
            <a:pPr>
              <a:buNone/>
            </a:pPr>
            <a:r>
              <a:rPr lang="en-US" dirty="0" smtClean="0"/>
              <a:t>• Writes (id = 3) are replicated to both Node A and Node C (Peers) as they </a:t>
            </a:r>
            <a:r>
              <a:rPr lang="en-US" dirty="0" smtClean="0"/>
              <a:t>are responsible </a:t>
            </a:r>
            <a:r>
              <a:rPr lang="en-US" dirty="0" smtClean="0"/>
              <a:t>for Shard C</a:t>
            </a:r>
            <a:r>
              <a:rPr lang="en-US" dirty="0" smtClean="0"/>
              <a:t>.</a:t>
            </a:r>
          </a:p>
          <a:p>
            <a:pPr>
              <a:buNone/>
            </a:pPr>
            <a:r>
              <a:rPr lang="en-US" dirty="0" smtClean="0"/>
              <a:t>• </a:t>
            </a:r>
            <a:r>
              <a:rPr lang="en-US" dirty="0" smtClean="0"/>
              <a:t>Reads (id = 6) can be served by either Node B or Node C as they each contain </a:t>
            </a:r>
            <a:r>
              <a:rPr lang="en-US" dirty="0" smtClean="0"/>
              <a:t>Shard B</a:t>
            </a:r>
            <a:r>
              <a:rPr lang="en-US" dirty="0" smtClean="0"/>
              <a:t>.</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noChangeArrowheads="1"/>
          </p:cNvPicPr>
          <p:nvPr/>
        </p:nvPicPr>
        <p:blipFill>
          <a:blip r:embed="rId2"/>
          <a:srcRect/>
          <a:stretch>
            <a:fillRect/>
          </a:stretch>
        </p:blipFill>
        <p:spPr bwMode="auto">
          <a:xfrm>
            <a:off x="0" y="0"/>
            <a:ext cx="12088430" cy="691726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Horizontal scaling is a method for </a:t>
            </a:r>
            <a:endParaRPr lang="en-US" dirty="0" smtClean="0"/>
          </a:p>
          <a:p>
            <a:pPr>
              <a:buNone/>
            </a:pPr>
            <a:r>
              <a:rPr lang="en-US" dirty="0" smtClean="0"/>
              <a:t>A. </a:t>
            </a:r>
            <a:r>
              <a:rPr lang="en-US" dirty="0" smtClean="0"/>
              <a:t>S</a:t>
            </a:r>
            <a:r>
              <a:rPr lang="en-US" dirty="0" smtClean="0"/>
              <a:t>hrinking </a:t>
            </a:r>
            <a:r>
              <a:rPr lang="en-US" dirty="0" smtClean="0"/>
              <a:t>a system’s capacity by adding similar or higher capacity resources alongside existing resources. </a:t>
            </a:r>
            <a:endParaRPr lang="en-US" dirty="0" smtClean="0"/>
          </a:p>
          <a:p>
            <a:pPr>
              <a:buNone/>
            </a:pPr>
            <a:r>
              <a:rPr lang="en-US" dirty="0" smtClean="0"/>
              <a:t>B. Increasing </a:t>
            </a:r>
            <a:r>
              <a:rPr lang="en-US" dirty="0" smtClean="0"/>
              <a:t>a system’s capacity by adding similar or higher capacity resources alongside existing resources. </a:t>
            </a:r>
            <a:endParaRPr lang="en-US" dirty="0" smtClean="0"/>
          </a:p>
          <a:p>
            <a:pPr>
              <a:buNone/>
            </a:pPr>
            <a:r>
              <a:rPr lang="en-US" dirty="0" smtClean="0"/>
              <a:t>C. </a:t>
            </a:r>
            <a:r>
              <a:rPr lang="en-US" dirty="0" smtClean="0"/>
              <a:t>Shrinking a system’s capacity by </a:t>
            </a:r>
            <a:r>
              <a:rPr lang="en-US" dirty="0" smtClean="0"/>
              <a:t>removing </a:t>
            </a:r>
            <a:r>
              <a:rPr lang="en-US" dirty="0" smtClean="0"/>
              <a:t>similar or higher capacity resources alongside existing resources. </a:t>
            </a:r>
          </a:p>
          <a:p>
            <a:pPr>
              <a:buNone/>
            </a:pPr>
            <a:r>
              <a:rPr lang="en-US" dirty="0" smtClean="0"/>
              <a:t>D. </a:t>
            </a:r>
            <a:r>
              <a:rPr lang="en-US" dirty="0" smtClean="0"/>
              <a:t>Increasing a system’s capacity by </a:t>
            </a:r>
            <a:r>
              <a:rPr lang="en-US" dirty="0" smtClean="0"/>
              <a:t>removing </a:t>
            </a:r>
            <a:r>
              <a:rPr lang="en-US" dirty="0" smtClean="0"/>
              <a:t>similar or higher capacity resources alongside existing resources.</a:t>
            </a:r>
          </a:p>
          <a:p>
            <a:pPr>
              <a:buNone/>
            </a:pPr>
            <a:endParaRPr lang="en-US" dirty="0" smtClean="0"/>
          </a:p>
          <a:p>
            <a:pPr>
              <a:buNone/>
            </a:pP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CAP Theorem</a:t>
            </a:r>
            <a:br>
              <a:rPr lang="en-US" b="1" dirty="0" smtClean="0"/>
            </a:br>
            <a:endParaRPr lang="en-US" dirty="0"/>
          </a:p>
        </p:txBody>
      </p:sp>
      <p:sp>
        <p:nvSpPr>
          <p:cNvPr id="3" name="Content Placeholder 2"/>
          <p:cNvSpPr>
            <a:spLocks noGrp="1"/>
          </p:cNvSpPr>
          <p:nvPr>
            <p:ph idx="1"/>
          </p:nvPr>
        </p:nvSpPr>
        <p:spPr>
          <a:xfrm>
            <a:off x="838200" y="1825624"/>
            <a:ext cx="10515600" cy="4509861"/>
          </a:xfrm>
        </p:spPr>
        <p:txBody>
          <a:bodyPr>
            <a:normAutofit fontScale="92500" lnSpcReduction="10000"/>
          </a:bodyPr>
          <a:lstStyle/>
          <a:p>
            <a:r>
              <a:rPr lang="en-US" dirty="0" smtClean="0"/>
              <a:t>The </a:t>
            </a:r>
            <a:r>
              <a:rPr lang="en-US" dirty="0" smtClean="0"/>
              <a:t>Consistency, Availability, and Partition tolerance (CAP) theorem, also known </a:t>
            </a:r>
            <a:r>
              <a:rPr lang="en-US" dirty="0" smtClean="0"/>
              <a:t>as </a:t>
            </a:r>
            <a:r>
              <a:rPr lang="en-US" b="1" dirty="0" smtClean="0"/>
              <a:t>Brewer’s </a:t>
            </a:r>
            <a:r>
              <a:rPr lang="en-US" b="1" dirty="0" smtClean="0"/>
              <a:t>theorem</a:t>
            </a:r>
            <a:r>
              <a:rPr lang="en-US" dirty="0" smtClean="0"/>
              <a:t>, expresses a triple constraint related to distributed database systems. </a:t>
            </a:r>
            <a:endParaRPr lang="en-US" dirty="0" smtClean="0"/>
          </a:p>
          <a:p>
            <a:r>
              <a:rPr lang="en-US" dirty="0" smtClean="0"/>
              <a:t>It states </a:t>
            </a:r>
            <a:r>
              <a:rPr lang="en-US" dirty="0" smtClean="0"/>
              <a:t>that a distributed database system, running on a cluster, can </a:t>
            </a:r>
            <a:r>
              <a:rPr lang="en-US" b="1" dirty="0" smtClean="0"/>
              <a:t>only</a:t>
            </a:r>
            <a:r>
              <a:rPr lang="en-US" dirty="0" smtClean="0"/>
              <a:t> provide </a:t>
            </a:r>
            <a:r>
              <a:rPr lang="en-US" b="1" dirty="0" smtClean="0"/>
              <a:t>two</a:t>
            </a:r>
            <a:r>
              <a:rPr lang="en-US" dirty="0" smtClean="0"/>
              <a:t> of </a:t>
            </a:r>
            <a:r>
              <a:rPr lang="en-US" dirty="0" smtClean="0"/>
              <a:t>those three </a:t>
            </a:r>
            <a:r>
              <a:rPr lang="en-US" dirty="0" smtClean="0"/>
              <a:t>properties</a:t>
            </a:r>
            <a:r>
              <a:rPr lang="en-US" dirty="0" smtClean="0"/>
              <a:t>:</a:t>
            </a:r>
          </a:p>
          <a:p>
            <a:pPr>
              <a:buNone/>
            </a:pPr>
            <a:r>
              <a:rPr lang="en-US" i="1" dirty="0" smtClean="0"/>
              <a:t>1. </a:t>
            </a:r>
            <a:r>
              <a:rPr lang="en-US" b="1" i="1" dirty="0" smtClean="0"/>
              <a:t>Consistency: </a:t>
            </a:r>
            <a:r>
              <a:rPr lang="en-US" i="1" dirty="0" smtClean="0"/>
              <a:t>A read from any node results in the same data across multiple nodes</a:t>
            </a:r>
            <a:endParaRPr lang="en-US" i="1" dirty="0" smtClean="0"/>
          </a:p>
          <a:p>
            <a:pPr>
              <a:buNone/>
            </a:pPr>
            <a:r>
              <a:rPr lang="en-US" i="1" dirty="0" smtClean="0"/>
              <a:t>2. </a:t>
            </a:r>
            <a:r>
              <a:rPr lang="en-US" b="1" i="1" dirty="0" smtClean="0"/>
              <a:t>Availability: </a:t>
            </a:r>
            <a:r>
              <a:rPr lang="en-US" i="1" dirty="0" smtClean="0"/>
              <a:t>A read/write request will always be acknowledged in the form of </a:t>
            </a:r>
            <a:r>
              <a:rPr lang="en-US" i="1" dirty="0" smtClean="0"/>
              <a:t>a success </a:t>
            </a:r>
            <a:r>
              <a:rPr lang="en-US" i="1" dirty="0" smtClean="0"/>
              <a:t>or a failure</a:t>
            </a:r>
            <a:endParaRPr lang="en-US" i="1" dirty="0" smtClean="0"/>
          </a:p>
          <a:p>
            <a:pPr>
              <a:buNone/>
            </a:pPr>
            <a:r>
              <a:rPr lang="en-US" i="1" dirty="0" smtClean="0"/>
              <a:t>3. </a:t>
            </a:r>
            <a:r>
              <a:rPr lang="en-US" b="1" i="1" dirty="0" smtClean="0"/>
              <a:t>Partition </a:t>
            </a:r>
            <a:r>
              <a:rPr lang="en-US" b="1" i="1" dirty="0" smtClean="0"/>
              <a:t>tolerance </a:t>
            </a:r>
            <a:r>
              <a:rPr lang="en-US" i="1" dirty="0" smtClean="0"/>
              <a:t>– The database system can tolerate communication outages </a:t>
            </a:r>
            <a:r>
              <a:rPr lang="en-US" i="1" dirty="0" smtClean="0"/>
              <a:t>that split </a:t>
            </a:r>
            <a:r>
              <a:rPr lang="en-US" i="1" dirty="0" smtClean="0"/>
              <a:t>the cluster into multiple silos and can still service read/write requests</a:t>
            </a:r>
            <a:endParaRPr lang="en-US" i="1" dirty="0" smtClean="0"/>
          </a:p>
          <a:p>
            <a:pPr>
              <a:buNone/>
            </a:pPr>
            <a:endParaRPr lang="en-US" dirty="0" smtClean="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000" y="929697"/>
            <a:ext cx="4971473" cy="5286375"/>
          </a:xfrm>
        </p:spPr>
        <p:txBody>
          <a:bodyPr/>
          <a:lstStyle/>
          <a:p>
            <a:endParaRPr lang="en-US" dirty="0" smtClean="0"/>
          </a:p>
          <a:p>
            <a:endParaRPr lang="en-US" dirty="0" smtClean="0"/>
          </a:p>
          <a:p>
            <a:r>
              <a:rPr lang="en-US" dirty="0" smtClean="0"/>
              <a:t>Consistency</a:t>
            </a:r>
            <a:r>
              <a:rPr lang="en-US" dirty="0" smtClean="0"/>
              <a:t>: all three users get the same value for the amount column </a:t>
            </a:r>
            <a:r>
              <a:rPr lang="en-US" dirty="0" smtClean="0"/>
              <a:t>even though </a:t>
            </a:r>
            <a:r>
              <a:rPr lang="en-US" dirty="0" smtClean="0"/>
              <a:t>three different nodes are serving the record.</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pic>
        <p:nvPicPr>
          <p:cNvPr id="11266" name="Picture 2"/>
          <p:cNvPicPr>
            <a:picLocks noChangeAspect="1" noChangeArrowheads="1"/>
          </p:cNvPicPr>
          <p:nvPr/>
        </p:nvPicPr>
        <p:blipFill>
          <a:blip r:embed="rId2"/>
          <a:srcRect/>
          <a:stretch>
            <a:fillRect/>
          </a:stretch>
        </p:blipFill>
        <p:spPr bwMode="auto">
          <a:xfrm>
            <a:off x="5261841" y="622588"/>
            <a:ext cx="6773141" cy="498475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smtClean="0"/>
              <a:t>Dr. Apash Roy</a:t>
            </a:r>
            <a:endParaRPr lang="en-IN" dirty="0"/>
          </a:p>
        </p:txBody>
      </p:sp>
      <p:pic>
        <p:nvPicPr>
          <p:cNvPr id="12291" name="Picture 3"/>
          <p:cNvPicPr>
            <a:picLocks noChangeAspect="1" noChangeArrowheads="1"/>
          </p:cNvPicPr>
          <p:nvPr/>
        </p:nvPicPr>
        <p:blipFill>
          <a:blip r:embed="rId2"/>
          <a:srcRect/>
          <a:stretch>
            <a:fillRect/>
          </a:stretch>
        </p:blipFill>
        <p:spPr bwMode="auto">
          <a:xfrm>
            <a:off x="1733550" y="166201"/>
            <a:ext cx="8724900" cy="5200650"/>
          </a:xfrm>
          <a:prstGeom prst="rect">
            <a:avLst/>
          </a:prstGeom>
          <a:noFill/>
          <a:ln w="9525">
            <a:noFill/>
            <a:miter lim="800000"/>
            <a:headEnd/>
            <a:tailEnd/>
          </a:ln>
          <a:effectLst/>
        </p:spPr>
      </p:pic>
      <p:sp>
        <p:nvSpPr>
          <p:cNvPr id="7" name="Rectangle 6"/>
          <p:cNvSpPr/>
          <p:nvPr/>
        </p:nvSpPr>
        <p:spPr>
          <a:xfrm>
            <a:off x="618932" y="5408466"/>
            <a:ext cx="11128310" cy="923330"/>
          </a:xfrm>
          <a:prstGeom prst="rect">
            <a:avLst/>
          </a:prstGeom>
        </p:spPr>
        <p:txBody>
          <a:bodyPr wrap="square">
            <a:spAutoFit/>
          </a:bodyPr>
          <a:lstStyle/>
          <a:p>
            <a:pPr algn="just"/>
            <a:r>
              <a:rPr lang="en-US" dirty="0" smtClean="0"/>
              <a:t>Availability and partition tolerance: in the event of a </a:t>
            </a:r>
            <a:r>
              <a:rPr lang="en-US" dirty="0" smtClean="0"/>
              <a:t>communication failure</a:t>
            </a:r>
            <a:r>
              <a:rPr lang="en-US" dirty="0" smtClean="0"/>
              <a:t>, requests from both users are still serviced (1, </a:t>
            </a:r>
            <a:r>
              <a:rPr lang="en-US" dirty="0" smtClean="0"/>
              <a:t>2 ). </a:t>
            </a:r>
            <a:r>
              <a:rPr lang="en-US" dirty="0" smtClean="0"/>
              <a:t>However, with User B, </a:t>
            </a:r>
            <a:r>
              <a:rPr lang="en-US" dirty="0" smtClean="0"/>
              <a:t>the update </a:t>
            </a:r>
            <a:r>
              <a:rPr lang="en-US" dirty="0" smtClean="0"/>
              <a:t>fails as the record with id = 3 has not been copied over to Peer C. The user </a:t>
            </a:r>
            <a:r>
              <a:rPr lang="en-US" dirty="0" smtClean="0"/>
              <a:t>is duly  notified </a:t>
            </a:r>
            <a:r>
              <a:rPr lang="en-US" dirty="0" smtClean="0"/>
              <a:t>(3) that the update has failed.</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208" y="354562"/>
            <a:ext cx="6719596" cy="569169"/>
          </a:xfrm>
        </p:spPr>
        <p:txBody>
          <a:bodyPr>
            <a:normAutofit fontScale="90000"/>
          </a:bodyPr>
          <a:lstStyle/>
          <a:p>
            <a:r>
              <a:rPr lang="en-US" dirty="0" smtClean="0"/>
              <a:t>A Venn diagram summarizing the CAP theorem</a:t>
            </a:r>
            <a:endParaRPr lang="en-US" dirty="0"/>
          </a:p>
        </p:txBody>
      </p:sp>
      <p:sp>
        <p:nvSpPr>
          <p:cNvPr id="3" name="Content Placeholder 2"/>
          <p:cNvSpPr>
            <a:spLocks noGrp="1"/>
          </p:cNvSpPr>
          <p:nvPr>
            <p:ph idx="1"/>
          </p:nvPr>
        </p:nvSpPr>
        <p:spPr>
          <a:xfrm>
            <a:off x="586273" y="3349690"/>
            <a:ext cx="11375572" cy="3247052"/>
          </a:xfrm>
        </p:spPr>
        <p:txBody>
          <a:bodyPr>
            <a:noAutofit/>
          </a:bodyPr>
          <a:lstStyle/>
          <a:p>
            <a:pPr algn="just"/>
            <a:r>
              <a:rPr lang="en-US" sz="2000" dirty="0" smtClean="0"/>
              <a:t>If </a:t>
            </a:r>
            <a:r>
              <a:rPr lang="en-US" sz="2000" dirty="0" smtClean="0"/>
              <a:t>availability (A) and partition tolerance (P) are required, then consistency (C) is </a:t>
            </a:r>
            <a:r>
              <a:rPr lang="en-US" sz="2000" dirty="0" smtClean="0"/>
              <a:t>not possible </a:t>
            </a:r>
            <a:r>
              <a:rPr lang="en-US" sz="2000" dirty="0" smtClean="0"/>
              <a:t>because of the data communication requirement between the nodes. So, </a:t>
            </a:r>
            <a:r>
              <a:rPr lang="en-US" sz="2000" dirty="0" smtClean="0"/>
              <a:t>the database </a:t>
            </a:r>
            <a:r>
              <a:rPr lang="en-US" sz="2000" dirty="0" smtClean="0"/>
              <a:t>can remain available (A) but with inconsistent results.</a:t>
            </a:r>
          </a:p>
          <a:p>
            <a:pPr algn="just"/>
            <a:r>
              <a:rPr lang="en-US" sz="2000" dirty="0" smtClean="0"/>
              <a:t>In a distributed database, scalability and fault tolerance can be improved </a:t>
            </a:r>
            <a:r>
              <a:rPr lang="en-US" sz="2000" dirty="0" smtClean="0"/>
              <a:t>through additional </a:t>
            </a:r>
            <a:r>
              <a:rPr lang="en-US" sz="2000" dirty="0" smtClean="0"/>
              <a:t>nodes, although this challenges consistency (C). The addition of nodes can </a:t>
            </a:r>
            <a:r>
              <a:rPr lang="en-US" sz="2000" dirty="0" smtClean="0"/>
              <a:t>also cause </a:t>
            </a:r>
            <a:r>
              <a:rPr lang="en-US" sz="2000" dirty="0" smtClean="0"/>
              <a:t>availability (A) to suffer due to the latency caused by increased </a:t>
            </a:r>
            <a:r>
              <a:rPr lang="en-US" sz="2000" dirty="0" smtClean="0"/>
              <a:t>communication between </a:t>
            </a:r>
            <a:r>
              <a:rPr lang="en-US" sz="2000" dirty="0" smtClean="0"/>
              <a:t>nodes.</a:t>
            </a:r>
          </a:p>
          <a:p>
            <a:pPr algn="just"/>
            <a:r>
              <a:rPr lang="en-US" sz="2000" dirty="0" smtClean="0"/>
              <a:t>Distributed database systems cannot be 100% partition tolerant (P). </a:t>
            </a:r>
            <a:r>
              <a:rPr lang="en-US" sz="2000" dirty="0" smtClean="0"/>
              <a:t>Although communication </a:t>
            </a:r>
            <a:r>
              <a:rPr lang="en-US" sz="2000" dirty="0" smtClean="0"/>
              <a:t>outages are rare and temporary, partition tolerance (P) must always </a:t>
            </a:r>
            <a:r>
              <a:rPr lang="en-US" sz="2000" dirty="0" smtClean="0"/>
              <a:t>be supported </a:t>
            </a:r>
            <a:r>
              <a:rPr lang="en-US" sz="2000" dirty="0" smtClean="0"/>
              <a:t>by a distributed database; therefore, CAP is generally a choice </a:t>
            </a:r>
            <a:r>
              <a:rPr lang="en-US" sz="2000" dirty="0" smtClean="0"/>
              <a:t>between choosing </a:t>
            </a:r>
            <a:r>
              <a:rPr lang="en-US" sz="2000" dirty="0" smtClean="0"/>
              <a:t>either C+P or A+P. The requirements of the system will dictate which is chosen.</a:t>
            </a:r>
            <a:endParaRPr lang="en-US" sz="2000" dirty="0"/>
          </a:p>
        </p:txBody>
      </p:sp>
      <p:sp>
        <p:nvSpPr>
          <p:cNvPr id="4" name="Footer Placeholder 3"/>
          <p:cNvSpPr>
            <a:spLocks noGrp="1"/>
          </p:cNvSpPr>
          <p:nvPr>
            <p:ph type="ftr" sz="quarter" idx="11"/>
          </p:nvPr>
        </p:nvSpPr>
        <p:spPr/>
        <p:txBody>
          <a:bodyPr/>
          <a:lstStyle/>
          <a:p>
            <a:r>
              <a:rPr lang="en-IN" smtClean="0"/>
              <a:t>Dr. Apash Roy</a:t>
            </a:r>
            <a:endParaRPr lang="en-IN" dirty="0"/>
          </a:p>
        </p:txBody>
      </p:sp>
      <p:pic>
        <p:nvPicPr>
          <p:cNvPr id="5" name="Picture 2"/>
          <p:cNvPicPr>
            <a:picLocks noChangeAspect="1" noChangeArrowheads="1"/>
          </p:cNvPicPr>
          <p:nvPr/>
        </p:nvPicPr>
        <p:blipFill>
          <a:blip r:embed="rId2"/>
          <a:srcRect/>
          <a:stretch>
            <a:fillRect/>
          </a:stretch>
        </p:blipFill>
        <p:spPr bwMode="auto">
          <a:xfrm>
            <a:off x="7175241" y="195943"/>
            <a:ext cx="3778898" cy="3163077"/>
          </a:xfrm>
          <a:prstGeom prst="rect">
            <a:avLst/>
          </a:prstGeom>
          <a:noFill/>
          <a:ln w="9525">
            <a:noFill/>
            <a:miter lim="800000"/>
            <a:headEnd/>
            <a:tailEnd/>
          </a:ln>
          <a:effectLst/>
        </p:spPr>
      </p:pic>
      <p:sp>
        <p:nvSpPr>
          <p:cNvPr id="6" name="Rectangle 5"/>
          <p:cNvSpPr/>
          <p:nvPr/>
        </p:nvSpPr>
        <p:spPr>
          <a:xfrm>
            <a:off x="836645" y="1208229"/>
            <a:ext cx="6096000" cy="2031325"/>
          </a:xfrm>
          <a:prstGeom prst="rect">
            <a:avLst/>
          </a:prstGeom>
        </p:spPr>
        <p:txBody>
          <a:bodyPr wrap="square">
            <a:spAutoFit/>
          </a:bodyPr>
          <a:lstStyle/>
          <a:p>
            <a:pPr algn="just">
              <a:buFont typeface="Arial" pitchFamily="34" charset="0"/>
              <a:buChar char="•"/>
            </a:pPr>
            <a:r>
              <a:rPr lang="en-US" dirty="0" smtClean="0"/>
              <a:t>If consistency (C) and availability (A) are required, available nodes need to communicate to ensure consistency (C). Therefore,  partition tolerance (P) is not possible. </a:t>
            </a:r>
          </a:p>
          <a:p>
            <a:pPr algn="just"/>
            <a:endParaRPr lang="en-US" dirty="0" smtClean="0"/>
          </a:p>
          <a:p>
            <a:pPr algn="just">
              <a:buFont typeface="Arial" pitchFamily="34" charset="0"/>
              <a:buChar char="•"/>
            </a:pPr>
            <a:r>
              <a:rPr lang="en-US" dirty="0" smtClean="0"/>
              <a:t>If </a:t>
            </a:r>
            <a:r>
              <a:rPr lang="en-US" dirty="0" smtClean="0"/>
              <a:t>consistency (C) and partition tolerance (P) are required, nodes cannot remain available (A) as the nodes will become unavailable while achieving a state of consistency (C).</a:t>
            </a:r>
            <a:endParaRPr lang="en-US"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ACID</a:t>
            </a:r>
            <a:endParaRPr lang="en-US" dirty="0"/>
          </a:p>
        </p:txBody>
      </p:sp>
      <p:sp>
        <p:nvSpPr>
          <p:cNvPr id="3" name="Content Placeholder 2"/>
          <p:cNvSpPr>
            <a:spLocks noGrp="1"/>
          </p:cNvSpPr>
          <p:nvPr>
            <p:ph idx="1"/>
          </p:nvPr>
        </p:nvSpPr>
        <p:spPr/>
        <p:txBody>
          <a:bodyPr>
            <a:normAutofit fontScale="92500" lnSpcReduction="20000"/>
          </a:bodyPr>
          <a:lstStyle/>
          <a:p>
            <a:pPr algn="just">
              <a:buNone/>
            </a:pPr>
            <a:r>
              <a:rPr lang="en-US" dirty="0" smtClean="0"/>
              <a:t>It’s a traditional </a:t>
            </a:r>
            <a:r>
              <a:rPr lang="en-US" b="1" dirty="0" smtClean="0"/>
              <a:t>Transaction management </a:t>
            </a:r>
            <a:r>
              <a:rPr lang="en-US" dirty="0" smtClean="0"/>
              <a:t>system for </a:t>
            </a:r>
            <a:r>
              <a:rPr lang="en-US" b="1" dirty="0" smtClean="0"/>
              <a:t>RDBMS</a:t>
            </a:r>
            <a:r>
              <a:rPr lang="en-US" dirty="0" smtClean="0"/>
              <a:t>.</a:t>
            </a:r>
          </a:p>
          <a:p>
            <a:pPr algn="just">
              <a:buNone/>
            </a:pPr>
            <a:r>
              <a:rPr lang="en-US" dirty="0" smtClean="0"/>
              <a:t>For a transaction to be Good, it should follow </a:t>
            </a:r>
            <a:r>
              <a:rPr lang="en-US" dirty="0" err="1" smtClean="0"/>
              <a:t>theb</a:t>
            </a:r>
            <a:r>
              <a:rPr lang="en-US" dirty="0" smtClean="0"/>
              <a:t> </a:t>
            </a:r>
            <a:r>
              <a:rPr lang="en-US" b="1" dirty="0" smtClean="0"/>
              <a:t>ACID</a:t>
            </a:r>
            <a:r>
              <a:rPr lang="en-US" dirty="0" smtClean="0"/>
              <a:t> property.</a:t>
            </a:r>
          </a:p>
          <a:p>
            <a:pPr algn="just">
              <a:buNone/>
            </a:pPr>
            <a:r>
              <a:rPr lang="en-US" b="1" dirty="0" smtClean="0"/>
              <a:t>ACID</a:t>
            </a:r>
            <a:r>
              <a:rPr lang="en-US" dirty="0" smtClean="0"/>
              <a:t> is acronym for the following Concepts:</a:t>
            </a:r>
          </a:p>
          <a:p>
            <a:pPr marL="514350" indent="-514350" algn="just">
              <a:buAutoNum type="arabicPeriod"/>
            </a:pPr>
            <a:r>
              <a:rPr lang="en-US" b="1" i="1" dirty="0" err="1" smtClean="0"/>
              <a:t>A</a:t>
            </a:r>
            <a:r>
              <a:rPr lang="en-US" i="1" dirty="0" err="1" smtClean="0"/>
              <a:t>utomacity</a:t>
            </a:r>
            <a:r>
              <a:rPr lang="en-US" i="1" dirty="0" smtClean="0"/>
              <a:t>: ensures </a:t>
            </a:r>
            <a:r>
              <a:rPr lang="en-US" i="1" dirty="0" smtClean="0"/>
              <a:t>that all operations will always succeed or fail completely. In </a:t>
            </a:r>
            <a:r>
              <a:rPr lang="en-US" i="1" dirty="0" smtClean="0"/>
              <a:t>other words</a:t>
            </a:r>
            <a:r>
              <a:rPr lang="en-US" i="1" dirty="0" smtClean="0"/>
              <a:t>, there are no partial </a:t>
            </a:r>
            <a:r>
              <a:rPr lang="en-US" i="1" dirty="0" smtClean="0"/>
              <a:t>transactions.</a:t>
            </a:r>
            <a:endParaRPr lang="en-US" i="1" dirty="0" smtClean="0"/>
          </a:p>
          <a:p>
            <a:pPr marL="514350" indent="-514350" algn="just">
              <a:buAutoNum type="arabicPeriod"/>
            </a:pPr>
            <a:r>
              <a:rPr lang="en-US" b="1" i="1" dirty="0" err="1" smtClean="0"/>
              <a:t>C</a:t>
            </a:r>
            <a:r>
              <a:rPr lang="en-US" i="1" dirty="0" err="1" smtClean="0"/>
              <a:t>onsistancy:ensures</a:t>
            </a:r>
            <a:r>
              <a:rPr lang="en-US" i="1" dirty="0" smtClean="0"/>
              <a:t> </a:t>
            </a:r>
            <a:r>
              <a:rPr lang="en-US" i="1" dirty="0" smtClean="0"/>
              <a:t>that the database will always remain in a consistent </a:t>
            </a:r>
            <a:r>
              <a:rPr lang="en-US" i="1" dirty="0" smtClean="0"/>
              <a:t>state. </a:t>
            </a:r>
            <a:r>
              <a:rPr lang="en-US" i="1" dirty="0" smtClean="0"/>
              <a:t>ensures that the database will always remain in a consistent </a:t>
            </a:r>
            <a:r>
              <a:rPr lang="en-US" i="1" dirty="0" smtClean="0"/>
              <a:t>state</a:t>
            </a:r>
            <a:endParaRPr lang="en-US" i="1" dirty="0" smtClean="0"/>
          </a:p>
          <a:p>
            <a:pPr marL="514350" indent="-514350" algn="just">
              <a:buAutoNum type="arabicPeriod"/>
            </a:pPr>
            <a:r>
              <a:rPr lang="en-US" b="1" i="1" dirty="0" smtClean="0"/>
              <a:t>I</a:t>
            </a:r>
            <a:r>
              <a:rPr lang="en-US" i="1" dirty="0" smtClean="0"/>
              <a:t>solation: </a:t>
            </a:r>
            <a:r>
              <a:rPr lang="en-US" i="1" dirty="0" smtClean="0"/>
              <a:t>ensures that the results of a transaction are not visible to other operations until </a:t>
            </a:r>
            <a:r>
              <a:rPr lang="en-US" i="1" dirty="0" smtClean="0"/>
              <a:t>it is complete.</a:t>
            </a:r>
            <a:endParaRPr lang="en-US" i="1" dirty="0" smtClean="0"/>
          </a:p>
          <a:p>
            <a:pPr marL="514350" indent="-514350" algn="just">
              <a:buAutoNum type="arabicPeriod"/>
            </a:pPr>
            <a:r>
              <a:rPr lang="en-US" b="1" i="1" dirty="0" smtClean="0"/>
              <a:t>D</a:t>
            </a:r>
            <a:r>
              <a:rPr lang="en-US" i="1" dirty="0" smtClean="0"/>
              <a:t>urability: </a:t>
            </a:r>
            <a:r>
              <a:rPr lang="en-US" i="1" dirty="0" smtClean="0"/>
              <a:t>ensures that the results of an operation are permanent. In other words, once </a:t>
            </a:r>
            <a:r>
              <a:rPr lang="en-US" i="1" dirty="0" smtClean="0"/>
              <a:t>a transaction </a:t>
            </a:r>
            <a:r>
              <a:rPr lang="en-US" i="1" dirty="0" smtClean="0"/>
              <a:t>has been committed, it cannot be rolled back. This is irrespective of </a:t>
            </a:r>
            <a:r>
              <a:rPr lang="en-US" i="1" dirty="0" smtClean="0"/>
              <a:t>any system </a:t>
            </a:r>
            <a:r>
              <a:rPr lang="en-US" i="1" dirty="0" smtClean="0"/>
              <a:t>failure.</a:t>
            </a:r>
            <a:endParaRPr lang="en-US" i="1"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Automacity</a:t>
            </a:r>
            <a:endParaRPr lang="en-US" dirty="0"/>
          </a:p>
        </p:txBody>
      </p:sp>
      <p:sp>
        <p:nvSpPr>
          <p:cNvPr id="3" name="Content Placeholder 2"/>
          <p:cNvSpPr>
            <a:spLocks noGrp="1"/>
          </p:cNvSpPr>
          <p:nvPr>
            <p:ph sz="half" idx="1"/>
          </p:nvPr>
        </p:nvSpPr>
        <p:spPr/>
        <p:txBody>
          <a:bodyPr/>
          <a:lstStyle/>
          <a:p>
            <a:r>
              <a:rPr lang="en-US" dirty="0" smtClean="0"/>
              <a:t>1. A user attempts to update three records as a part of a transaction.</a:t>
            </a:r>
          </a:p>
          <a:p>
            <a:r>
              <a:rPr lang="en-US" dirty="0" smtClean="0"/>
              <a:t>2. Two records are successfully updated before the occurrence of an error.</a:t>
            </a:r>
          </a:p>
          <a:p>
            <a:r>
              <a:rPr lang="en-US" dirty="0" smtClean="0"/>
              <a:t>3. As a result, the database roll backs any partial effects of the transaction and puts </a:t>
            </a:r>
            <a:r>
              <a:rPr lang="en-US" dirty="0" err="1" smtClean="0"/>
              <a:t>thesystem</a:t>
            </a:r>
            <a:r>
              <a:rPr lang="en-US" dirty="0" smtClean="0"/>
              <a:t> </a:t>
            </a:r>
            <a:r>
              <a:rPr lang="en-US" dirty="0" smtClean="0"/>
              <a:t>back to its prior state.</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16386" name="Picture 2"/>
          <p:cNvPicPr>
            <a:picLocks noGrp="1" noChangeAspect="1" noChangeArrowheads="1"/>
          </p:cNvPicPr>
          <p:nvPr>
            <p:ph sz="half" idx="2"/>
          </p:nvPr>
        </p:nvPicPr>
        <p:blipFill>
          <a:blip r:embed="rId2"/>
          <a:srcRect/>
          <a:stretch>
            <a:fillRect/>
          </a:stretch>
        </p:blipFill>
        <p:spPr bwMode="auto">
          <a:xfrm>
            <a:off x="6172200" y="2231728"/>
            <a:ext cx="5181600" cy="3539131"/>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noChangeArrowheads="1"/>
          </p:cNvPicPr>
          <p:nvPr/>
        </p:nvPicPr>
        <p:blipFill>
          <a:blip r:embed="rId2"/>
          <a:srcRect/>
          <a:stretch>
            <a:fillRect/>
          </a:stretch>
        </p:blipFill>
        <p:spPr bwMode="auto">
          <a:xfrm>
            <a:off x="0" y="0"/>
            <a:ext cx="12192000" cy="691726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sz="half" idx="1"/>
          </p:nvPr>
        </p:nvSpPr>
        <p:spPr>
          <a:xfrm>
            <a:off x="838199" y="1825625"/>
            <a:ext cx="10237237" cy="4351338"/>
          </a:xfrm>
        </p:spPr>
        <p:txBody>
          <a:bodyPr/>
          <a:lstStyle/>
          <a:p>
            <a:pPr>
              <a:buNone/>
            </a:pPr>
            <a:r>
              <a:rPr lang="en-US" dirty="0" smtClean="0"/>
              <a:t>One major issue with Peer-to-peer </a:t>
            </a:r>
            <a:r>
              <a:rPr lang="en-US" dirty="0" smtClean="0"/>
              <a:t>replication </a:t>
            </a:r>
            <a:r>
              <a:rPr lang="en-US" dirty="0" smtClean="0"/>
              <a:t>is, it is </a:t>
            </a:r>
            <a:r>
              <a:rPr lang="en-US" dirty="0" smtClean="0"/>
              <a:t>prone to </a:t>
            </a:r>
            <a:endParaRPr lang="en-US" dirty="0" smtClean="0"/>
          </a:p>
          <a:p>
            <a:pPr marL="514350" indent="-514350">
              <a:buAutoNum type="alphaUcPeriod"/>
            </a:pPr>
            <a:r>
              <a:rPr lang="en-US" dirty="0" smtClean="0"/>
              <a:t>write </a:t>
            </a:r>
            <a:r>
              <a:rPr lang="en-US" dirty="0" smtClean="0"/>
              <a:t>inconsistencies </a:t>
            </a:r>
            <a:endParaRPr lang="en-US" dirty="0" smtClean="0"/>
          </a:p>
          <a:p>
            <a:pPr marL="514350" indent="-514350">
              <a:buAutoNum type="alphaUcPeriod"/>
            </a:pPr>
            <a:r>
              <a:rPr lang="en-US" dirty="0" smtClean="0"/>
              <a:t>Read Inconsistency</a:t>
            </a:r>
          </a:p>
          <a:p>
            <a:pPr marL="514350" indent="-514350">
              <a:buAutoNum type="alphaUcPeriod"/>
            </a:pPr>
            <a:r>
              <a:rPr lang="en-US" dirty="0" smtClean="0"/>
              <a:t>Voting</a:t>
            </a:r>
          </a:p>
          <a:p>
            <a:pPr marL="514350" indent="-514350">
              <a:buAutoNum type="alphaUcPeriod"/>
            </a:pPr>
            <a:r>
              <a:rPr lang="en-US" dirty="0" smtClean="0"/>
              <a:t>All of them</a:t>
            </a:r>
          </a:p>
          <a:p>
            <a:pPr marL="514350" indent="-514350">
              <a:buAutoNum type="alphaUcPeriod"/>
            </a:pPr>
            <a:endParaRPr lang="en-US" dirty="0" smtClean="0"/>
          </a:p>
          <a:p>
            <a:pPr marL="514350" indent="-514350">
              <a:buAutoNum type="alphaUcPeriod"/>
            </a:pPr>
            <a:endParaRPr lang="en-US" dirty="0" smtClean="0"/>
          </a:p>
        </p:txBody>
      </p:sp>
      <p:sp>
        <p:nvSpPr>
          <p:cNvPr id="5" name="Footer Placeholder 4"/>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Consistancy</a:t>
            </a:r>
            <a:endParaRPr lang="en-US" dirty="0"/>
          </a:p>
        </p:txBody>
      </p:sp>
      <p:sp>
        <p:nvSpPr>
          <p:cNvPr id="3" name="Content Placeholder 2"/>
          <p:cNvSpPr>
            <a:spLocks noGrp="1"/>
          </p:cNvSpPr>
          <p:nvPr>
            <p:ph sz="half" idx="1"/>
          </p:nvPr>
        </p:nvSpPr>
        <p:spPr/>
        <p:txBody>
          <a:bodyPr/>
          <a:lstStyle/>
          <a:p>
            <a:r>
              <a:rPr lang="en-US" dirty="0" smtClean="0"/>
              <a:t>1. A user attempts to update the amount column of the table that is of type float with </a:t>
            </a:r>
            <a:r>
              <a:rPr lang="en-US" dirty="0" smtClean="0"/>
              <a:t>a </a:t>
            </a:r>
            <a:r>
              <a:rPr lang="en-US" dirty="0" err="1" smtClean="0"/>
              <a:t>varchar</a:t>
            </a:r>
            <a:r>
              <a:rPr lang="en-US" dirty="0" smtClean="0"/>
              <a:t> </a:t>
            </a:r>
            <a:r>
              <a:rPr lang="en-US" dirty="0" smtClean="0"/>
              <a:t>value.</a:t>
            </a:r>
          </a:p>
          <a:p>
            <a:r>
              <a:rPr lang="en-US" dirty="0" smtClean="0"/>
              <a:t>2. The database applies its validation check and rejects this update because the </a:t>
            </a:r>
            <a:r>
              <a:rPr lang="en-US" dirty="0" smtClean="0"/>
              <a:t>value violates </a:t>
            </a:r>
            <a:r>
              <a:rPr lang="en-US" dirty="0" smtClean="0"/>
              <a:t>the constraint checks for the amount column.</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17410" name="Picture 2"/>
          <p:cNvPicPr>
            <a:picLocks noGrp="1" noChangeAspect="1" noChangeArrowheads="1"/>
          </p:cNvPicPr>
          <p:nvPr>
            <p:ph sz="half" idx="2"/>
          </p:nvPr>
        </p:nvPicPr>
        <p:blipFill>
          <a:blip r:embed="rId2"/>
          <a:srcRect/>
          <a:stretch>
            <a:fillRect/>
          </a:stretch>
        </p:blipFill>
        <p:spPr bwMode="auto">
          <a:xfrm>
            <a:off x="6172200" y="2220686"/>
            <a:ext cx="5181600" cy="2778019"/>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Isolation</a:t>
            </a:r>
            <a:endParaRPr lang="en-US" dirty="0"/>
          </a:p>
        </p:txBody>
      </p:sp>
      <p:sp>
        <p:nvSpPr>
          <p:cNvPr id="3" name="Content Placeholder 2"/>
          <p:cNvSpPr>
            <a:spLocks noGrp="1"/>
          </p:cNvSpPr>
          <p:nvPr>
            <p:ph sz="half" idx="1"/>
          </p:nvPr>
        </p:nvSpPr>
        <p:spPr/>
        <p:txBody>
          <a:bodyPr>
            <a:normAutofit fontScale="92500" lnSpcReduction="20000"/>
          </a:bodyPr>
          <a:lstStyle/>
          <a:p>
            <a:r>
              <a:rPr lang="en-US" dirty="0" smtClean="0"/>
              <a:t>1. User A attempts to update two records as part of a transaction.</a:t>
            </a:r>
          </a:p>
          <a:p>
            <a:r>
              <a:rPr lang="en-US" dirty="0" smtClean="0"/>
              <a:t>2. The database successfully updates the first record.</a:t>
            </a:r>
          </a:p>
          <a:p>
            <a:r>
              <a:rPr lang="en-US" dirty="0" smtClean="0"/>
              <a:t>3. However, before it can update the second record, User B attempts to update </a:t>
            </a:r>
            <a:r>
              <a:rPr lang="en-US" dirty="0" smtClean="0"/>
              <a:t>the same </a:t>
            </a:r>
            <a:r>
              <a:rPr lang="en-US" dirty="0" smtClean="0"/>
              <a:t>record. The database does not permit User B’s update until User A’s </a:t>
            </a:r>
            <a:r>
              <a:rPr lang="en-US" dirty="0" smtClean="0"/>
              <a:t>update succeeds </a:t>
            </a:r>
            <a:r>
              <a:rPr lang="en-US" dirty="0" smtClean="0"/>
              <a:t>or fails in full. This occurs because the record with id3 is locked by </a:t>
            </a:r>
            <a:r>
              <a:rPr lang="en-US" dirty="0" smtClean="0"/>
              <a:t>the database </a:t>
            </a:r>
            <a:r>
              <a:rPr lang="en-US" dirty="0" smtClean="0"/>
              <a:t>until the transaction is complete.</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18434" name="Picture 2"/>
          <p:cNvPicPr>
            <a:picLocks noGrp="1" noChangeAspect="1" noChangeArrowheads="1"/>
          </p:cNvPicPr>
          <p:nvPr>
            <p:ph sz="half" idx="2"/>
          </p:nvPr>
        </p:nvPicPr>
        <p:blipFill>
          <a:blip r:embed="rId2"/>
          <a:srcRect/>
          <a:stretch>
            <a:fillRect/>
          </a:stretch>
        </p:blipFill>
        <p:spPr bwMode="auto">
          <a:xfrm>
            <a:off x="6172200" y="1763486"/>
            <a:ext cx="5181600" cy="4338734"/>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Durability</a:t>
            </a:r>
            <a:endParaRPr lang="en-US" dirty="0"/>
          </a:p>
        </p:txBody>
      </p:sp>
      <p:sp>
        <p:nvSpPr>
          <p:cNvPr id="3" name="Content Placeholder 2"/>
          <p:cNvSpPr>
            <a:spLocks noGrp="1"/>
          </p:cNvSpPr>
          <p:nvPr>
            <p:ph idx="1"/>
          </p:nvPr>
        </p:nvSpPr>
        <p:spPr>
          <a:xfrm>
            <a:off x="548951" y="1872278"/>
            <a:ext cx="5338665" cy="4351338"/>
          </a:xfrm>
        </p:spPr>
        <p:txBody>
          <a:bodyPr>
            <a:normAutofit fontScale="92500" lnSpcReduction="20000"/>
          </a:bodyPr>
          <a:lstStyle/>
          <a:p>
            <a:pPr>
              <a:buNone/>
            </a:pPr>
            <a:r>
              <a:rPr lang="en-US" dirty="0" smtClean="0"/>
              <a:t>1. A user updates a record as part of a transaction.</a:t>
            </a:r>
          </a:p>
          <a:p>
            <a:pPr>
              <a:buNone/>
            </a:pPr>
            <a:r>
              <a:rPr lang="en-US" dirty="0" smtClean="0"/>
              <a:t>2. The database successfully updates the record.</a:t>
            </a:r>
          </a:p>
          <a:p>
            <a:pPr>
              <a:buNone/>
            </a:pPr>
            <a:r>
              <a:rPr lang="en-US" dirty="0" smtClean="0"/>
              <a:t>3. Right after this update, a power failure occurs. The database maintains its </a:t>
            </a:r>
            <a:r>
              <a:rPr lang="en-US" dirty="0" smtClean="0"/>
              <a:t>state while </a:t>
            </a:r>
            <a:r>
              <a:rPr lang="en-US" dirty="0" smtClean="0"/>
              <a:t>there is no power.</a:t>
            </a:r>
          </a:p>
          <a:p>
            <a:pPr>
              <a:buNone/>
            </a:pPr>
            <a:r>
              <a:rPr lang="en-US" dirty="0" smtClean="0"/>
              <a:t>4. The power is resumed.</a:t>
            </a:r>
          </a:p>
          <a:p>
            <a:pPr>
              <a:buNone/>
            </a:pPr>
            <a:r>
              <a:rPr lang="en-US" dirty="0" smtClean="0"/>
              <a:t>5. The database serves the record as per last update when requested by the user.</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pic>
        <p:nvPicPr>
          <p:cNvPr id="14338" name="Picture 2"/>
          <p:cNvPicPr>
            <a:picLocks noChangeAspect="1" noChangeArrowheads="1"/>
          </p:cNvPicPr>
          <p:nvPr/>
        </p:nvPicPr>
        <p:blipFill>
          <a:blip r:embed="rId2"/>
          <a:srcRect/>
          <a:stretch>
            <a:fillRect/>
          </a:stretch>
        </p:blipFill>
        <p:spPr bwMode="auto">
          <a:xfrm>
            <a:off x="5921876" y="1800809"/>
            <a:ext cx="6270124" cy="4687758"/>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ACID principle results in consistent database behavior</a:t>
            </a:r>
            <a:endParaRPr lang="en-US" dirty="0"/>
          </a:p>
        </p:txBody>
      </p:sp>
      <p:sp>
        <p:nvSpPr>
          <p:cNvPr id="3" name="Content Placeholder 2"/>
          <p:cNvSpPr>
            <a:spLocks noGrp="1"/>
          </p:cNvSpPr>
          <p:nvPr>
            <p:ph sz="half" idx="1"/>
          </p:nvPr>
        </p:nvSpPr>
        <p:spPr/>
        <p:txBody>
          <a:bodyPr>
            <a:normAutofit lnSpcReduction="10000"/>
          </a:bodyPr>
          <a:lstStyle/>
          <a:p>
            <a:r>
              <a:rPr lang="en-US" dirty="0" smtClean="0"/>
              <a:t>1. User A attempts to update a record as part of a transaction.</a:t>
            </a:r>
          </a:p>
          <a:p>
            <a:r>
              <a:rPr lang="en-US" dirty="0" smtClean="0"/>
              <a:t>2. The database validates the value and the update is successfully applied.</a:t>
            </a:r>
          </a:p>
          <a:p>
            <a:r>
              <a:rPr lang="en-US" dirty="0" smtClean="0"/>
              <a:t>3. After the successful completion of the transaction, when Users B and C request </a:t>
            </a:r>
            <a:r>
              <a:rPr lang="en-US" dirty="0" err="1" smtClean="0"/>
              <a:t>thesame</a:t>
            </a:r>
            <a:r>
              <a:rPr lang="en-US" dirty="0" smtClean="0"/>
              <a:t> </a:t>
            </a:r>
            <a:r>
              <a:rPr lang="en-US" dirty="0" smtClean="0"/>
              <a:t>record, the database provides the updated value to both the users.</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15362" name="Picture 2"/>
          <p:cNvPicPr>
            <a:picLocks noChangeAspect="1" noChangeArrowheads="1"/>
          </p:cNvPicPr>
          <p:nvPr/>
        </p:nvPicPr>
        <p:blipFill>
          <a:blip r:embed="rId2"/>
          <a:srcRect/>
          <a:stretch>
            <a:fillRect/>
          </a:stretch>
        </p:blipFill>
        <p:spPr bwMode="auto">
          <a:xfrm>
            <a:off x="7128259" y="1082352"/>
            <a:ext cx="4352475" cy="5162065"/>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BASE is a database design principle based on the CAP theorem and leveraged by </a:t>
            </a:r>
            <a:r>
              <a:rPr lang="en-US" dirty="0" smtClean="0"/>
              <a:t>database systems </a:t>
            </a:r>
            <a:r>
              <a:rPr lang="en-US" dirty="0" smtClean="0"/>
              <a:t>that use distributed technology. </a:t>
            </a:r>
            <a:endParaRPr lang="en-US" dirty="0" smtClean="0"/>
          </a:p>
          <a:p>
            <a:pPr algn="just"/>
            <a:r>
              <a:rPr lang="en-US" dirty="0" smtClean="0"/>
              <a:t>BASE </a:t>
            </a:r>
            <a:r>
              <a:rPr lang="en-US" dirty="0" smtClean="0"/>
              <a:t>stands for:</a:t>
            </a:r>
          </a:p>
          <a:p>
            <a:pPr algn="just">
              <a:buNone/>
            </a:pPr>
            <a:r>
              <a:rPr lang="en-US" dirty="0" smtClean="0"/>
              <a:t>	• </a:t>
            </a:r>
            <a:r>
              <a:rPr lang="en-US" b="1" dirty="0" smtClean="0"/>
              <a:t>ba</a:t>
            </a:r>
            <a:r>
              <a:rPr lang="en-US" dirty="0" smtClean="0"/>
              <a:t>sically available</a:t>
            </a:r>
          </a:p>
          <a:p>
            <a:pPr algn="just">
              <a:buNone/>
            </a:pPr>
            <a:r>
              <a:rPr lang="en-US" dirty="0" smtClean="0"/>
              <a:t>	• </a:t>
            </a:r>
            <a:r>
              <a:rPr lang="en-US" b="1" dirty="0" smtClean="0"/>
              <a:t>s</a:t>
            </a:r>
            <a:r>
              <a:rPr lang="en-US" dirty="0" smtClean="0"/>
              <a:t>oft state</a:t>
            </a:r>
          </a:p>
          <a:p>
            <a:pPr algn="just">
              <a:buNone/>
            </a:pPr>
            <a:r>
              <a:rPr lang="en-US" dirty="0" smtClean="0"/>
              <a:t>	• </a:t>
            </a:r>
            <a:r>
              <a:rPr lang="en-US" b="1" dirty="0" smtClean="0"/>
              <a:t>e</a:t>
            </a:r>
            <a:r>
              <a:rPr lang="en-US" dirty="0" smtClean="0"/>
              <a:t>ventual </a:t>
            </a:r>
            <a:r>
              <a:rPr lang="en-US" dirty="0" smtClean="0"/>
              <a:t>consistency</a:t>
            </a:r>
          </a:p>
          <a:p>
            <a:pPr algn="just">
              <a:buNone/>
            </a:pPr>
            <a:endParaRPr lang="en-US" dirty="0" smtClean="0"/>
          </a:p>
          <a:p>
            <a:pPr algn="just"/>
            <a:r>
              <a:rPr lang="en-US" dirty="0" smtClean="0"/>
              <a:t>When a database supports BASE, it favors availability over consistency. In other </a:t>
            </a:r>
            <a:r>
              <a:rPr lang="en-US" dirty="0" smtClean="0"/>
              <a:t>words, the </a:t>
            </a:r>
            <a:r>
              <a:rPr lang="en-US" dirty="0" smtClean="0"/>
              <a:t>database is A+P from a CAP perspective. In essence, BASE leverages </a:t>
            </a:r>
            <a:r>
              <a:rPr lang="en-US" dirty="0" smtClean="0"/>
              <a:t>optimistic concurrency </a:t>
            </a:r>
            <a:r>
              <a:rPr lang="en-US" dirty="0" smtClean="0"/>
              <a:t>by relaxing the strong consistency constraints mandated by the </a:t>
            </a:r>
            <a:r>
              <a:rPr lang="en-US" dirty="0" smtClean="0"/>
              <a:t>ACID properties</a:t>
            </a:r>
            <a:r>
              <a:rPr lang="en-US" dirty="0" smtClean="0"/>
              <a:t>.</a:t>
            </a:r>
          </a:p>
          <a:p>
            <a:pPr algn="just"/>
            <a:r>
              <a:rPr lang="en-US" dirty="0" smtClean="0"/>
              <a:t>If a database is “basically available,” that database will always acknowledge a </a:t>
            </a:r>
            <a:r>
              <a:rPr lang="en-US" dirty="0" smtClean="0"/>
              <a:t>client’s request</a:t>
            </a:r>
            <a:r>
              <a:rPr lang="en-US" dirty="0" smtClean="0"/>
              <a:t>, either in the form of the requested data or a success/failure notification.</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User A and User B receive data despite the database </a:t>
            </a:r>
            <a:r>
              <a:rPr lang="en-US" sz="3200" dirty="0" smtClean="0"/>
              <a:t>being partitioned </a:t>
            </a:r>
            <a:r>
              <a:rPr lang="en-US" sz="3200" dirty="0" smtClean="0"/>
              <a:t>by </a:t>
            </a:r>
            <a:r>
              <a:rPr lang="en-US" sz="3200" dirty="0" smtClean="0"/>
              <a:t>a network </a:t>
            </a:r>
            <a:r>
              <a:rPr lang="en-US" sz="3200" dirty="0" smtClean="0"/>
              <a:t>failure.</a:t>
            </a:r>
            <a:endParaRPr lang="en-US" sz="3200"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19458" name="Picture 2"/>
          <p:cNvPicPr>
            <a:picLocks noGrp="1" noChangeAspect="1" noChangeArrowheads="1"/>
          </p:cNvPicPr>
          <p:nvPr>
            <p:ph sz="half" idx="2"/>
          </p:nvPr>
        </p:nvPicPr>
        <p:blipFill>
          <a:blip r:embed="rId2"/>
          <a:srcRect/>
          <a:stretch>
            <a:fillRect/>
          </a:stretch>
        </p:blipFill>
        <p:spPr bwMode="auto">
          <a:xfrm>
            <a:off x="2481943" y="1623526"/>
            <a:ext cx="6932645" cy="4711959"/>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2127380" y="1825625"/>
            <a:ext cx="9226420" cy="4351338"/>
          </a:xfrm>
        </p:spPr>
        <p:txBody>
          <a:bodyPr/>
          <a:lstStyle/>
          <a:p>
            <a:pPr>
              <a:buNone/>
            </a:pPr>
            <a:r>
              <a:rPr lang="en-US" b="1" dirty="0" smtClean="0"/>
              <a:t>Soft state </a:t>
            </a:r>
            <a:r>
              <a:rPr lang="en-US" dirty="0" smtClean="0"/>
              <a:t>means that a database may be in an inconsistent state when data is read; thus, the results may change if the same data is requested again. </a:t>
            </a:r>
            <a:endParaRPr lang="en-US" dirty="0" smtClean="0"/>
          </a:p>
          <a:p>
            <a:pPr>
              <a:buNone/>
            </a:pPr>
            <a:r>
              <a:rPr lang="en-US" dirty="0" smtClean="0"/>
              <a:t>This </a:t>
            </a:r>
            <a:r>
              <a:rPr lang="en-US" dirty="0" smtClean="0"/>
              <a:t>is because the data could be updated for consistency, even though no user has written to the database between the two reads</a:t>
            </a:r>
            <a:r>
              <a:rPr lang="en-US" dirty="0" smtClean="0"/>
              <a:t>.</a:t>
            </a:r>
          </a:p>
          <a:p>
            <a:pPr>
              <a:buNone/>
            </a:pPr>
            <a:r>
              <a:rPr lang="en-US" dirty="0" smtClean="0"/>
              <a:t> </a:t>
            </a:r>
            <a:r>
              <a:rPr lang="en-US" dirty="0" smtClean="0"/>
              <a:t>This property is closely related to eventual consistency.</a:t>
            </a:r>
          </a:p>
          <a:p>
            <a:pPr>
              <a:buNone/>
            </a:pP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example of the </a:t>
            </a:r>
            <a:r>
              <a:rPr lang="en-US" b="1" dirty="0" smtClean="0"/>
              <a:t>soft state </a:t>
            </a:r>
            <a:r>
              <a:rPr lang="en-US" dirty="0" smtClean="0"/>
              <a:t>property of BASE is shown here.</a:t>
            </a:r>
            <a:endParaRPr lang="en-US" dirty="0"/>
          </a:p>
        </p:txBody>
      </p:sp>
      <p:sp>
        <p:nvSpPr>
          <p:cNvPr id="3" name="Content Placeholder 2"/>
          <p:cNvSpPr>
            <a:spLocks noGrp="1"/>
          </p:cNvSpPr>
          <p:nvPr>
            <p:ph sz="half" idx="1"/>
          </p:nvPr>
        </p:nvSpPr>
        <p:spPr/>
        <p:txBody>
          <a:bodyPr/>
          <a:lstStyle/>
          <a:p>
            <a:pPr>
              <a:buNone/>
            </a:pPr>
            <a:r>
              <a:rPr lang="en-US" dirty="0" smtClean="0"/>
              <a:t>1. User A updates a record on Peer A.</a:t>
            </a:r>
          </a:p>
          <a:p>
            <a:pPr>
              <a:buNone/>
            </a:pPr>
            <a:r>
              <a:rPr lang="en-US" dirty="0" smtClean="0"/>
              <a:t>2. Before the other peers are updated, User B requests the same record from Peer C.</a:t>
            </a:r>
          </a:p>
          <a:p>
            <a:pPr>
              <a:buNone/>
            </a:pPr>
            <a:r>
              <a:rPr lang="en-US" dirty="0" smtClean="0"/>
              <a:t>3. The database is now in a soft state, and stale data is returned to User B.</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20482" name="Picture 2"/>
          <p:cNvPicPr>
            <a:picLocks noGrp="1" noChangeAspect="1" noChangeArrowheads="1"/>
          </p:cNvPicPr>
          <p:nvPr>
            <p:ph sz="half" idx="2"/>
          </p:nvPr>
        </p:nvPicPr>
        <p:blipFill>
          <a:blip r:embed="rId2"/>
          <a:srcRect/>
          <a:stretch>
            <a:fillRect/>
          </a:stretch>
        </p:blipFill>
        <p:spPr bwMode="auto">
          <a:xfrm>
            <a:off x="6172200" y="1791478"/>
            <a:ext cx="5649686" cy="4525346"/>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a:xfrm>
            <a:off x="838199" y="1825625"/>
            <a:ext cx="10545147" cy="4351338"/>
          </a:xfrm>
        </p:spPr>
        <p:txBody>
          <a:bodyPr/>
          <a:lstStyle/>
          <a:p>
            <a:r>
              <a:rPr lang="en-US" b="1" dirty="0" smtClean="0"/>
              <a:t>Eventual consistency </a:t>
            </a:r>
            <a:r>
              <a:rPr lang="en-US" dirty="0" smtClean="0"/>
              <a:t>is the state in which reads by different clients, </a:t>
            </a:r>
            <a:r>
              <a:rPr lang="en-US" dirty="0" smtClean="0"/>
              <a:t>immediately following </a:t>
            </a:r>
            <a:r>
              <a:rPr lang="en-US" dirty="0" smtClean="0"/>
              <a:t>a write to the database, may not return consistent results. </a:t>
            </a:r>
            <a:endParaRPr lang="en-US" dirty="0" smtClean="0"/>
          </a:p>
          <a:p>
            <a:r>
              <a:rPr lang="en-US" dirty="0" smtClean="0"/>
              <a:t>The </a:t>
            </a:r>
            <a:r>
              <a:rPr lang="en-US" dirty="0" smtClean="0"/>
              <a:t>database </a:t>
            </a:r>
            <a:r>
              <a:rPr lang="en-US" dirty="0" smtClean="0"/>
              <a:t>only attains </a:t>
            </a:r>
            <a:r>
              <a:rPr lang="en-US" dirty="0" smtClean="0"/>
              <a:t>consistency once the changes have been propagated to all nodes. </a:t>
            </a:r>
            <a:endParaRPr lang="en-US" dirty="0" smtClean="0"/>
          </a:p>
          <a:p>
            <a:r>
              <a:rPr lang="en-US" dirty="0" smtClean="0"/>
              <a:t>While the database </a:t>
            </a:r>
            <a:r>
              <a:rPr lang="en-US" dirty="0" smtClean="0"/>
              <a:t>is in the process of attaining the state of eventual consistency, it will be in a </a:t>
            </a:r>
            <a:r>
              <a:rPr lang="en-US" dirty="0" smtClean="0"/>
              <a:t>soft state</a:t>
            </a:r>
            <a:r>
              <a:rPr lang="en-US" dirty="0" smtClean="0"/>
              <a:t>.</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example of the eventual consistency property of BASE.</a:t>
            </a:r>
            <a:endParaRPr lang="en-US" dirty="0"/>
          </a:p>
        </p:txBody>
      </p:sp>
      <p:sp>
        <p:nvSpPr>
          <p:cNvPr id="3" name="Content Placeholder 2"/>
          <p:cNvSpPr>
            <a:spLocks noGrp="1"/>
          </p:cNvSpPr>
          <p:nvPr>
            <p:ph sz="half" idx="1"/>
          </p:nvPr>
        </p:nvSpPr>
        <p:spPr/>
        <p:txBody>
          <a:bodyPr>
            <a:normAutofit lnSpcReduction="10000"/>
          </a:bodyPr>
          <a:lstStyle/>
          <a:p>
            <a:r>
              <a:rPr lang="pt-BR" dirty="0" smtClean="0"/>
              <a:t>1. User A updates a record.</a:t>
            </a:r>
          </a:p>
          <a:p>
            <a:r>
              <a:rPr lang="en-US" dirty="0" smtClean="0"/>
              <a:t>2. The record only gets updated at Peer A, but before the other peers can be </a:t>
            </a:r>
            <a:r>
              <a:rPr lang="en-US" dirty="0" smtClean="0"/>
              <a:t>updated, User </a:t>
            </a:r>
            <a:r>
              <a:rPr lang="en-US" dirty="0" smtClean="0"/>
              <a:t>B requests the same record.</a:t>
            </a:r>
          </a:p>
          <a:p>
            <a:r>
              <a:rPr lang="en-US" dirty="0" smtClean="0"/>
              <a:t>3. The database is now in a soft state. Stale data is returned to User B from Peer C.</a:t>
            </a:r>
          </a:p>
          <a:p>
            <a:r>
              <a:rPr lang="en-US" dirty="0" smtClean="0"/>
              <a:t>4. However, the consistency is eventually attained, and User C gets the correct value.</a:t>
            </a:r>
            <a:endParaRPr lang="en-US" dirty="0"/>
          </a:p>
        </p:txBody>
      </p:sp>
      <p:sp>
        <p:nvSpPr>
          <p:cNvPr id="5" name="Footer Placeholder 4"/>
          <p:cNvSpPr>
            <a:spLocks noGrp="1"/>
          </p:cNvSpPr>
          <p:nvPr>
            <p:ph type="ftr" sz="quarter" idx="11"/>
          </p:nvPr>
        </p:nvSpPr>
        <p:spPr/>
        <p:txBody>
          <a:bodyPr/>
          <a:lstStyle/>
          <a:p>
            <a:r>
              <a:rPr lang="en-IN" smtClean="0"/>
              <a:t>Dr. Apash Roy</a:t>
            </a:r>
            <a:endParaRPr lang="en-IN" dirty="0"/>
          </a:p>
        </p:txBody>
      </p:sp>
      <p:pic>
        <p:nvPicPr>
          <p:cNvPr id="21506" name="Picture 2"/>
          <p:cNvPicPr>
            <a:picLocks noGrp="1" noChangeAspect="1" noChangeArrowheads="1"/>
          </p:cNvPicPr>
          <p:nvPr>
            <p:ph sz="half" idx="2"/>
          </p:nvPr>
        </p:nvPicPr>
        <p:blipFill>
          <a:blip r:embed="rId2"/>
          <a:srcRect/>
          <a:stretch>
            <a:fillRect/>
          </a:stretch>
        </p:blipFill>
        <p:spPr bwMode="auto">
          <a:xfrm>
            <a:off x="5924939" y="1791477"/>
            <a:ext cx="5868955" cy="4320073"/>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t>BASE emphasizes availability over immediate consistency, in contrast to ACID, </a:t>
            </a:r>
            <a:r>
              <a:rPr lang="en-US" dirty="0" smtClean="0"/>
              <a:t>which ensures </a:t>
            </a:r>
            <a:r>
              <a:rPr lang="en-US" dirty="0" smtClean="0"/>
              <a:t>immediate consistency at the expense of availability due to record locking. </a:t>
            </a:r>
            <a:endParaRPr lang="en-US" dirty="0" smtClean="0"/>
          </a:p>
          <a:p>
            <a:pPr>
              <a:buNone/>
            </a:pPr>
            <a:r>
              <a:rPr lang="en-US" dirty="0" smtClean="0"/>
              <a:t>This </a:t>
            </a:r>
            <a:r>
              <a:rPr lang="en-US" b="1" dirty="0" smtClean="0"/>
              <a:t>soft </a:t>
            </a:r>
            <a:r>
              <a:rPr lang="en-US" b="1" dirty="0" smtClean="0"/>
              <a:t>approach </a:t>
            </a:r>
            <a:r>
              <a:rPr lang="en-US" dirty="0" smtClean="0"/>
              <a:t>toward consistency allows BASE compliant databases to serve </a:t>
            </a:r>
            <a:r>
              <a:rPr lang="en-US" dirty="0" smtClean="0"/>
              <a:t>multiple clients </a:t>
            </a:r>
            <a:r>
              <a:rPr lang="en-US" dirty="0" smtClean="0"/>
              <a:t>without any latency albeit serving inconsistent results. </a:t>
            </a:r>
            <a:endParaRPr lang="en-US" dirty="0" smtClean="0"/>
          </a:p>
          <a:p>
            <a:pPr>
              <a:buNone/>
            </a:pPr>
            <a:r>
              <a:rPr lang="en-US" dirty="0" smtClean="0"/>
              <a:t>However</a:t>
            </a:r>
            <a:r>
              <a:rPr lang="en-US" dirty="0" smtClean="0"/>
              <a:t>, </a:t>
            </a:r>
            <a:r>
              <a:rPr lang="en-US" dirty="0" smtClean="0"/>
              <a:t>BASE-compliant databases </a:t>
            </a:r>
            <a:r>
              <a:rPr lang="en-US" dirty="0" smtClean="0"/>
              <a:t>are not useful for transactional systems where lack of consistency is a concern.</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5"/>
          <p:cNvPicPr>
            <a:picLocks noChangeAspect="1" noChangeArrowheads="1"/>
          </p:cNvPicPr>
          <p:nvPr/>
        </p:nvPicPr>
        <p:blipFill>
          <a:blip r:embed="rId2"/>
          <a:srcRect/>
          <a:stretch>
            <a:fillRect/>
          </a:stretch>
        </p:blipFill>
        <p:spPr bwMode="auto">
          <a:xfrm>
            <a:off x="0" y="-27993"/>
            <a:ext cx="12088430" cy="691726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idx="1"/>
          </p:nvPr>
        </p:nvSpPr>
        <p:spPr/>
        <p:txBody>
          <a:bodyPr/>
          <a:lstStyle/>
          <a:p>
            <a:pPr>
              <a:buNone/>
            </a:pPr>
            <a:r>
              <a:rPr lang="en-US" dirty="0" smtClean="0"/>
              <a:t>BASE is a database design </a:t>
            </a:r>
            <a:r>
              <a:rPr lang="en-US" dirty="0" smtClean="0"/>
              <a:t>principle, in the soft state the database is allowed to be in inconsistence state</a:t>
            </a:r>
          </a:p>
          <a:p>
            <a:pPr marL="514350" indent="-514350">
              <a:buAutoNum type="alphaUcPeriod"/>
            </a:pPr>
            <a:r>
              <a:rPr lang="en-US" dirty="0" smtClean="0"/>
              <a:t>True</a:t>
            </a:r>
          </a:p>
          <a:p>
            <a:pPr marL="514350" indent="-514350">
              <a:buAutoNum type="alphaUcPeriod"/>
            </a:pPr>
            <a:r>
              <a:rPr lang="en-US" dirty="0" smtClean="0"/>
              <a:t>B. False </a:t>
            </a:r>
            <a:endParaRPr lang="en-US" dirty="0"/>
          </a:p>
        </p:txBody>
      </p:sp>
      <p:sp>
        <p:nvSpPr>
          <p:cNvPr id="4" name="Footer Placeholder 3"/>
          <p:cNvSpPr>
            <a:spLocks noGrp="1"/>
          </p:cNvSpPr>
          <p:nvPr>
            <p:ph type="ftr" sz="quarter" idx="11"/>
          </p:nvPr>
        </p:nvSpPr>
        <p:spPr/>
        <p:txBody>
          <a:bodyPr/>
          <a:lstStyle/>
          <a:p>
            <a:r>
              <a:rPr lang="en-IN" smtClean="0"/>
              <a:t>Dr. Apash Roy</a:t>
            </a:r>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srcRect/>
          <a:stretch>
            <a:fillRect/>
          </a:stretch>
        </p:blipFill>
        <p:spPr bwMode="auto">
          <a:xfrm>
            <a:off x="0" y="0"/>
            <a:ext cx="12192000" cy="685800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IN" dirty="0" smtClean="0"/>
              <a:t>Dr. Apash Roy</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16211</TotalTime>
  <Words>3916</Words>
  <Application>Microsoft Office PowerPoint</Application>
  <PresentationFormat>Custom</PresentationFormat>
  <Paragraphs>286</Paragraphs>
  <Slides>52</Slides>
  <Notes>1</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Big-Data Storage Concepts</vt:lpstr>
      <vt:lpstr>Quiz</vt:lpstr>
      <vt:lpstr>Slide 3</vt:lpstr>
      <vt:lpstr>Slide 4</vt:lpstr>
      <vt:lpstr>Clusters</vt:lpstr>
      <vt:lpstr>Quiz</vt:lpstr>
      <vt:lpstr>File Systems and Distributed File Systems</vt:lpstr>
      <vt:lpstr>Slide 8</vt:lpstr>
      <vt:lpstr>NoSQL</vt:lpstr>
      <vt:lpstr>Quiz</vt:lpstr>
      <vt:lpstr>Sharding</vt:lpstr>
      <vt:lpstr>Slide 12</vt:lpstr>
      <vt:lpstr>sharding works in practice: </vt:lpstr>
      <vt:lpstr>Slide 14</vt:lpstr>
      <vt:lpstr>Replication</vt:lpstr>
      <vt:lpstr>Quiz</vt:lpstr>
      <vt:lpstr>Master-Slave </vt:lpstr>
      <vt:lpstr>Slide 18</vt:lpstr>
      <vt:lpstr>Slide 19</vt:lpstr>
      <vt:lpstr>Slide 20</vt:lpstr>
      <vt:lpstr>peer-to-peer replication</vt:lpstr>
      <vt:lpstr>Slide 22</vt:lpstr>
      <vt:lpstr>Slide 23</vt:lpstr>
      <vt:lpstr>Slide 24</vt:lpstr>
      <vt:lpstr>Sharding and Replication </vt:lpstr>
      <vt:lpstr>Combining Sharding and Master-Slave Replication </vt:lpstr>
      <vt:lpstr>Slide 27</vt:lpstr>
      <vt:lpstr>Explanation of the figure</vt:lpstr>
      <vt:lpstr>Combining Sharding and Peer-to-Peer Replication </vt:lpstr>
      <vt:lpstr>Slide 30</vt:lpstr>
      <vt:lpstr>Explanation of the figure</vt:lpstr>
      <vt:lpstr>Quiz</vt:lpstr>
      <vt:lpstr>CAP Theorem </vt:lpstr>
      <vt:lpstr>Slide 34</vt:lpstr>
      <vt:lpstr>Slide 35</vt:lpstr>
      <vt:lpstr>A Venn diagram summarizing the CAP theorem</vt:lpstr>
      <vt:lpstr>ACID</vt:lpstr>
      <vt:lpstr>Automacity</vt:lpstr>
      <vt:lpstr>Quiz</vt:lpstr>
      <vt:lpstr>Consistancy</vt:lpstr>
      <vt:lpstr>Isolation</vt:lpstr>
      <vt:lpstr>Durability</vt:lpstr>
      <vt:lpstr>The ACID principle results in consistent database behavior</vt:lpstr>
      <vt:lpstr>BASE</vt:lpstr>
      <vt:lpstr>User A and User B receive data despite the database being partitioned by a network failure.</vt:lpstr>
      <vt:lpstr>Slide 46</vt:lpstr>
      <vt:lpstr>An example of the soft state property of BASE is shown here.</vt:lpstr>
      <vt:lpstr>Slide 48</vt:lpstr>
      <vt:lpstr>An example of the eventual consistency property of BASE.</vt:lpstr>
      <vt:lpstr>Slide 50</vt:lpstr>
      <vt:lpstr>Quiz</vt:lpstr>
      <vt:lpstr>Slide 52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Big-Data Analytics</dc:title>
  <dc:creator>Arnab Pattanayak</dc:creator>
  <cp:lastModifiedBy>HP</cp:lastModifiedBy>
  <cp:revision>210</cp:revision>
  <dcterms:created xsi:type="dcterms:W3CDTF">2021-07-22T10:27:59Z</dcterms:created>
  <dcterms:modified xsi:type="dcterms:W3CDTF">2022-02-09T09:17:00Z</dcterms:modified>
</cp:coreProperties>
</file>